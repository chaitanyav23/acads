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5"/>
  </p:notesMasterIdLst>
  <p:sldIdLst>
    <p:sldId id="492" r:id="rId2"/>
    <p:sldId id="724" r:id="rId3"/>
    <p:sldId id="725" r:id="rId4"/>
    <p:sldId id="727" r:id="rId5"/>
    <p:sldId id="726" r:id="rId6"/>
    <p:sldId id="711" r:id="rId7"/>
    <p:sldId id="537" r:id="rId8"/>
    <p:sldId id="472" r:id="rId9"/>
    <p:sldId id="731" r:id="rId10"/>
    <p:sldId id="687" r:id="rId11"/>
    <p:sldId id="551" r:id="rId12"/>
    <p:sldId id="562" r:id="rId13"/>
    <p:sldId id="561" r:id="rId14"/>
    <p:sldId id="552" r:id="rId15"/>
    <p:sldId id="555" r:id="rId16"/>
    <p:sldId id="695" r:id="rId17"/>
    <p:sldId id="542" r:id="rId18"/>
    <p:sldId id="699" r:id="rId19"/>
    <p:sldId id="557" r:id="rId20"/>
    <p:sldId id="540" r:id="rId21"/>
    <p:sldId id="544" r:id="rId22"/>
    <p:sldId id="545" r:id="rId23"/>
    <p:sldId id="701" r:id="rId24"/>
    <p:sldId id="547" r:id="rId25"/>
    <p:sldId id="549" r:id="rId26"/>
    <p:sldId id="479" r:id="rId27"/>
    <p:sldId id="703" r:id="rId28"/>
    <p:sldId id="721" r:id="rId29"/>
    <p:sldId id="719" r:id="rId30"/>
    <p:sldId id="732" r:id="rId31"/>
    <p:sldId id="498" r:id="rId32"/>
    <p:sldId id="720" r:id="rId33"/>
    <p:sldId id="50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5" autoAdjust="0"/>
    <p:restoredTop sz="92051" autoAdjust="0"/>
  </p:normalViewPr>
  <p:slideViewPr>
    <p:cSldViewPr>
      <p:cViewPr varScale="1">
        <p:scale>
          <a:sx n="103" d="100"/>
          <a:sy n="103" d="100"/>
        </p:scale>
        <p:origin x="130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3" Type="http://schemas.openxmlformats.org/officeDocument/2006/relationships/image" Target="../media/image290.png"/><Relationship Id="rId12" Type="http://schemas.openxmlformats.org/officeDocument/2006/relationships/image" Target="../media/image2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33.png"/><Relationship Id="rId15" Type="http://schemas.openxmlformats.org/officeDocument/2006/relationships/image" Target="../media/image310.png"/><Relationship Id="rId10" Type="http://schemas.openxmlformats.org/officeDocument/2006/relationships/image" Target="../media/image323.png"/><Relationship Id="rId9" Type="http://schemas.openxmlformats.org/officeDocument/2006/relationships/image" Target="../media/image2400.png"/><Relationship Id="rId14" Type="http://schemas.openxmlformats.org/officeDocument/2006/relationships/image" Target="../media/image30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1310.png"/><Relationship Id="rId7" Type="http://schemas.openxmlformats.org/officeDocument/2006/relationships/image" Target="../media/image121.png"/><Relationship Id="rId12" Type="http://schemas.openxmlformats.org/officeDocument/2006/relationships/image" Target="../media/image181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5" Type="http://schemas.openxmlformats.org/officeDocument/2006/relationships/image" Target="../media/image101.png"/><Relationship Id="rId10" Type="http://schemas.openxmlformats.org/officeDocument/2006/relationships/image" Target="../media/image81.png"/><Relationship Id="rId9" Type="http://schemas.openxmlformats.org/officeDocument/2006/relationships/image" Target="../media/image70.png"/><Relationship Id="rId14" Type="http://schemas.openxmlformats.org/officeDocument/2006/relationships/image" Target="../media/image51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12" Type="http://schemas.openxmlformats.org/officeDocument/2006/relationships/image" Target="../media/image510.png"/><Relationship Id="rId17" Type="http://schemas.openxmlformats.org/officeDocument/2006/relationships/image" Target="../media/image290.png"/><Relationship Id="rId2" Type="http://schemas.openxmlformats.org/officeDocument/2006/relationships/image" Target="../media/image142.png"/><Relationship Id="rId16" Type="http://schemas.openxmlformats.org/officeDocument/2006/relationships/image" Target="../media/image280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5" Type="http://schemas.openxmlformats.org/officeDocument/2006/relationships/image" Target="../media/image101.png"/><Relationship Id="rId15" Type="http://schemas.openxmlformats.org/officeDocument/2006/relationships/image" Target="../media/image1410.png"/><Relationship Id="rId10" Type="http://schemas.openxmlformats.org/officeDocument/2006/relationships/image" Target="../media/image81.png"/><Relationship Id="rId19" Type="http://schemas.openxmlformats.org/officeDocument/2006/relationships/image" Target="../media/image310.png"/><Relationship Id="rId9" Type="http://schemas.openxmlformats.org/officeDocument/2006/relationships/image" Target="../media/image70.png"/><Relationship Id="rId14" Type="http://schemas.openxmlformats.org/officeDocument/2006/relationships/image" Target="../media/image16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311.png"/><Relationship Id="rId7" Type="http://schemas.openxmlformats.org/officeDocument/2006/relationships/image" Target="../media/image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4" Type="http://schemas.openxmlformats.org/officeDocument/2006/relationships/image" Target="../media/image410.png"/><Relationship Id="rId9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image" Target="../media/image311.png"/><Relationship Id="rId7" Type="http://schemas.openxmlformats.org/officeDocument/2006/relationships/image" Target="../media/image71.png"/><Relationship Id="rId12" Type="http://schemas.openxmlformats.org/officeDocument/2006/relationships/image" Target="../media/image13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12.png"/><Relationship Id="rId5" Type="http://schemas.openxmlformats.org/officeDocument/2006/relationships/image" Target="../media/image54.png"/><Relationship Id="rId10" Type="http://schemas.openxmlformats.org/officeDocument/2006/relationships/image" Target="../media/image110.png"/><Relationship Id="rId4" Type="http://schemas.openxmlformats.org/officeDocument/2006/relationships/image" Target="../media/image410.png"/><Relationship Id="rId9" Type="http://schemas.openxmlformats.org/officeDocument/2006/relationships/image" Target="../media/image10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42" Type="http://schemas.openxmlformats.org/officeDocument/2006/relationships/image" Target="../media/image22.png"/><Relationship Id="rId34" Type="http://schemas.openxmlformats.org/officeDocument/2006/relationships/image" Target="../media/image80.png"/><Relationship Id="rId38" Type="http://schemas.openxmlformats.org/officeDocument/2006/relationships/image" Target="../media/image180.png"/><Relationship Id="rId33" Type="http://schemas.openxmlformats.org/officeDocument/2006/relationships/image" Target="../media/image50.png"/><Relationship Id="rId46" Type="http://schemas.openxmlformats.org/officeDocument/2006/relationships/image" Target="../media/image5.png"/><Relationship Id="rId2" Type="http://schemas.openxmlformats.org/officeDocument/2006/relationships/image" Target="../media/image172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410.png"/><Relationship Id="rId37" Type="http://schemas.openxmlformats.org/officeDocument/2006/relationships/image" Target="../media/image170.png"/><Relationship Id="rId40" Type="http://schemas.openxmlformats.org/officeDocument/2006/relationships/image" Target="../media/image700.png"/><Relationship Id="rId32" Type="http://schemas.openxmlformats.org/officeDocument/2006/relationships/image" Target="../media/image41.png"/><Relationship Id="rId45" Type="http://schemas.openxmlformats.org/officeDocument/2006/relationships/image" Target="../media/image25.png"/><Relationship Id="rId36" Type="http://schemas.openxmlformats.org/officeDocument/2006/relationships/image" Target="../media/image1600.png"/><Relationship Id="rId44" Type="http://schemas.openxmlformats.org/officeDocument/2006/relationships/image" Target="../media/image4.png"/><Relationship Id="rId43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90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42" Type="http://schemas.openxmlformats.org/officeDocument/2006/relationships/image" Target="../media/image22.png"/><Relationship Id="rId34" Type="http://schemas.openxmlformats.org/officeDocument/2006/relationships/image" Target="../media/image80.png"/><Relationship Id="rId47" Type="http://schemas.openxmlformats.org/officeDocument/2006/relationships/image" Target="../media/image5.png"/><Relationship Id="rId38" Type="http://schemas.openxmlformats.org/officeDocument/2006/relationships/image" Target="../media/image180.png"/><Relationship Id="rId33" Type="http://schemas.openxmlformats.org/officeDocument/2006/relationships/image" Target="../media/image50.png"/><Relationship Id="rId46" Type="http://schemas.openxmlformats.org/officeDocument/2006/relationships/image" Target="../media/image25.png"/><Relationship Id="rId2" Type="http://schemas.openxmlformats.org/officeDocument/2006/relationships/image" Target="../media/image27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70.png"/><Relationship Id="rId40" Type="http://schemas.openxmlformats.org/officeDocument/2006/relationships/image" Target="../media/image700.png"/><Relationship Id="rId32" Type="http://schemas.openxmlformats.org/officeDocument/2006/relationships/image" Target="../media/image41.png"/><Relationship Id="rId45" Type="http://schemas.openxmlformats.org/officeDocument/2006/relationships/image" Target="../media/image21.png"/><Relationship Id="rId36" Type="http://schemas.openxmlformats.org/officeDocument/2006/relationships/image" Target="../media/image1600.png"/><Relationship Id="rId44" Type="http://schemas.openxmlformats.org/officeDocument/2006/relationships/image" Target="../media/image4.png"/><Relationship Id="rId43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90.png"/><Relationship Id="rId9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51" Type="http://schemas.openxmlformats.org/officeDocument/2006/relationships/image" Target="../media/image312.png"/><Relationship Id="rId42" Type="http://schemas.openxmlformats.org/officeDocument/2006/relationships/image" Target="../media/image22.png"/><Relationship Id="rId34" Type="http://schemas.openxmlformats.org/officeDocument/2006/relationships/image" Target="../media/image80.png"/><Relationship Id="rId21" Type="http://schemas.openxmlformats.org/officeDocument/2006/relationships/image" Target="../media/image23000.png"/><Relationship Id="rId47" Type="http://schemas.openxmlformats.org/officeDocument/2006/relationships/image" Target="../media/image30.png"/><Relationship Id="rId50" Type="http://schemas.openxmlformats.org/officeDocument/2006/relationships/image" Target="../media/image214.png"/><Relationship Id="rId38" Type="http://schemas.openxmlformats.org/officeDocument/2006/relationships/image" Target="../media/image180.png"/><Relationship Id="rId33" Type="http://schemas.openxmlformats.org/officeDocument/2006/relationships/image" Target="../media/image50.png"/><Relationship Id="rId25" Type="http://schemas.openxmlformats.org/officeDocument/2006/relationships/image" Target="../media/image2700.png"/><Relationship Id="rId46" Type="http://schemas.openxmlformats.org/officeDocument/2006/relationships/image" Target="../media/image25.png"/><Relationship Id="rId2" Type="http://schemas.openxmlformats.org/officeDocument/2006/relationships/image" Target="../media/image28.png"/><Relationship Id="rId41" Type="http://schemas.openxmlformats.org/officeDocument/2006/relationships/image" Target="../media/image24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70.png"/><Relationship Id="rId40" Type="http://schemas.openxmlformats.org/officeDocument/2006/relationships/image" Target="../media/image700.png"/><Relationship Id="rId32" Type="http://schemas.openxmlformats.org/officeDocument/2006/relationships/image" Target="../media/image41.png"/><Relationship Id="rId45" Type="http://schemas.openxmlformats.org/officeDocument/2006/relationships/image" Target="../media/image29.png"/><Relationship Id="rId24" Type="http://schemas.openxmlformats.org/officeDocument/2006/relationships/image" Target="../media/image260.png"/><Relationship Id="rId53" Type="http://schemas.openxmlformats.org/officeDocument/2006/relationships/image" Target="../media/image6.png"/><Relationship Id="rId36" Type="http://schemas.openxmlformats.org/officeDocument/2006/relationships/image" Target="../media/image1600.png"/><Relationship Id="rId23" Type="http://schemas.openxmlformats.org/officeDocument/2006/relationships/image" Target="../media/image2500.png"/><Relationship Id="rId44" Type="http://schemas.openxmlformats.org/officeDocument/2006/relationships/image" Target="../media/image4.png"/><Relationship Id="rId52" Type="http://schemas.openxmlformats.org/officeDocument/2006/relationships/image" Target="../media/image413.png"/><Relationship Id="rId43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90.png"/><Relationship Id="rId9" Type="http://schemas.openxmlformats.org/officeDocument/2006/relationships/image" Target="../media/image100.png"/><Relationship Id="rId22" Type="http://schemas.openxmlformats.org/officeDocument/2006/relationships/image" Target="../media/image24000.png"/></Relationships>
</file>

<file path=ppt/slides/_rels/slide24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3" Type="http://schemas.openxmlformats.org/officeDocument/2006/relationships/image" Target="../media/image27.png"/><Relationship Id="rId42" Type="http://schemas.openxmlformats.org/officeDocument/2006/relationships/image" Target="../media/image22.png"/><Relationship Id="rId34" Type="http://schemas.openxmlformats.org/officeDocument/2006/relationships/image" Target="../media/image80.png"/><Relationship Id="rId21" Type="http://schemas.openxmlformats.org/officeDocument/2006/relationships/image" Target="../media/image23000.png"/><Relationship Id="rId47" Type="http://schemas.openxmlformats.org/officeDocument/2006/relationships/image" Target="../media/image25.png"/><Relationship Id="rId38" Type="http://schemas.openxmlformats.org/officeDocument/2006/relationships/image" Target="../media/image180.png"/><Relationship Id="rId33" Type="http://schemas.openxmlformats.org/officeDocument/2006/relationships/image" Target="../media/image50.png"/><Relationship Id="rId25" Type="http://schemas.openxmlformats.org/officeDocument/2006/relationships/image" Target="../media/image2700.png"/><Relationship Id="rId46" Type="http://schemas.openxmlformats.org/officeDocument/2006/relationships/image" Target="../media/image320.png"/><Relationship Id="rId41" Type="http://schemas.openxmlformats.org/officeDocument/2006/relationships/image" Target="../media/image24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70.png"/><Relationship Id="rId40" Type="http://schemas.openxmlformats.org/officeDocument/2006/relationships/image" Target="../media/image700.png"/><Relationship Id="rId32" Type="http://schemas.openxmlformats.org/officeDocument/2006/relationships/image" Target="../media/image41.png"/><Relationship Id="rId45" Type="http://schemas.openxmlformats.org/officeDocument/2006/relationships/image" Target="../media/image3100.png"/><Relationship Id="rId24" Type="http://schemas.openxmlformats.org/officeDocument/2006/relationships/image" Target="../media/image260.png"/><Relationship Id="rId36" Type="http://schemas.openxmlformats.org/officeDocument/2006/relationships/image" Target="../media/image1600.png"/><Relationship Id="rId23" Type="http://schemas.openxmlformats.org/officeDocument/2006/relationships/image" Target="../media/image2500.png"/><Relationship Id="rId49" Type="http://schemas.openxmlformats.org/officeDocument/2006/relationships/image" Target="../media/image34.png"/><Relationship Id="rId44" Type="http://schemas.openxmlformats.org/officeDocument/2006/relationships/image" Target="../media/image4.png"/><Relationship Id="rId43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90.png"/><Relationship Id="rId9" Type="http://schemas.openxmlformats.org/officeDocument/2006/relationships/image" Target="../media/image100.png"/><Relationship Id="rId22" Type="http://schemas.openxmlformats.org/officeDocument/2006/relationships/image" Target="../media/image24000.png"/><Relationship Id="rId48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51" Type="http://schemas.openxmlformats.org/officeDocument/2006/relationships/image" Target="../media/image43.png"/><Relationship Id="rId3" Type="http://schemas.openxmlformats.org/officeDocument/2006/relationships/image" Target="../media/image27.png"/><Relationship Id="rId42" Type="http://schemas.openxmlformats.org/officeDocument/2006/relationships/image" Target="../media/image22.png"/><Relationship Id="rId47" Type="http://schemas.openxmlformats.org/officeDocument/2006/relationships/image" Target="../media/image38.png"/><Relationship Id="rId50" Type="http://schemas.openxmlformats.org/officeDocument/2006/relationships/image" Target="../media/image42.png"/><Relationship Id="rId38" Type="http://schemas.openxmlformats.org/officeDocument/2006/relationships/image" Target="../media/image180.png"/><Relationship Id="rId46" Type="http://schemas.openxmlformats.org/officeDocument/2006/relationships/image" Target="../media/image37.png"/><Relationship Id="rId2" Type="http://schemas.openxmlformats.org/officeDocument/2006/relationships/image" Target="../media/image350.png"/><Relationship Id="rId41" Type="http://schemas.openxmlformats.org/officeDocument/2006/relationships/image" Target="../media/image24.png"/><Relationship Id="rId54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70.png"/><Relationship Id="rId40" Type="http://schemas.openxmlformats.org/officeDocument/2006/relationships/image" Target="../media/image700.png"/><Relationship Id="rId45" Type="http://schemas.openxmlformats.org/officeDocument/2006/relationships/image" Target="../media/image36.png"/><Relationship Id="rId53" Type="http://schemas.openxmlformats.org/officeDocument/2006/relationships/image" Target="../media/image45.png"/><Relationship Id="rId36" Type="http://schemas.openxmlformats.org/officeDocument/2006/relationships/image" Target="../media/image1600.png"/><Relationship Id="rId49" Type="http://schemas.openxmlformats.org/officeDocument/2006/relationships/image" Target="../media/image40.png"/><Relationship Id="rId44" Type="http://schemas.openxmlformats.org/officeDocument/2006/relationships/image" Target="../media/image3100.png"/><Relationship Id="rId52" Type="http://schemas.openxmlformats.org/officeDocument/2006/relationships/image" Target="../media/image44.png"/><Relationship Id="rId43" Type="http://schemas.openxmlformats.org/officeDocument/2006/relationships/image" Target="../media/image23.png"/><Relationship Id="rId48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70.png"/><Relationship Id="rId7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91.png"/><Relationship Id="rId4" Type="http://schemas.openxmlformats.org/officeDocument/2006/relationships/image" Target="../media/image382.png"/><Relationship Id="rId9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0.png"/><Relationship Id="rId18" Type="http://schemas.openxmlformats.org/officeDocument/2006/relationships/image" Target="../media/image201.png"/><Relationship Id="rId26" Type="http://schemas.openxmlformats.org/officeDocument/2006/relationships/image" Target="../media/image251.png"/><Relationship Id="rId3" Type="http://schemas.openxmlformats.org/officeDocument/2006/relationships/image" Target="../media/image4.png"/><Relationship Id="rId21" Type="http://schemas.openxmlformats.org/officeDocument/2006/relationships/image" Target="../media/image2310.png"/><Relationship Id="rId34" Type="http://schemas.openxmlformats.org/officeDocument/2006/relationships/image" Target="../media/image35.png"/><Relationship Id="rId7" Type="http://schemas.openxmlformats.org/officeDocument/2006/relationships/image" Target="../media/image911.png"/><Relationship Id="rId12" Type="http://schemas.openxmlformats.org/officeDocument/2006/relationships/image" Target="../media/image141.png"/><Relationship Id="rId17" Type="http://schemas.openxmlformats.org/officeDocument/2006/relationships/image" Target="../media/image1910.png"/><Relationship Id="rId25" Type="http://schemas.openxmlformats.org/officeDocument/2006/relationships/image" Target="../media/image252.png"/><Relationship Id="rId33" Type="http://schemas.openxmlformats.org/officeDocument/2006/relationships/image" Target="../media/image32.png"/><Relationship Id="rId2" Type="http://schemas.openxmlformats.org/officeDocument/2006/relationships/image" Target="../media/image2110.png"/><Relationship Id="rId16" Type="http://schemas.openxmlformats.org/officeDocument/2006/relationships/image" Target="../media/image1811.png"/><Relationship Id="rId20" Type="http://schemas.openxmlformats.org/officeDocument/2006/relationships/image" Target="../media/image2220.png"/><Relationship Id="rId29" Type="http://schemas.openxmlformats.org/officeDocument/2006/relationships/image" Target="../media/image2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1.png"/><Relationship Id="rId11" Type="http://schemas.openxmlformats.org/officeDocument/2006/relationships/image" Target="../media/image131.png"/><Relationship Id="rId24" Type="http://schemas.openxmlformats.org/officeDocument/2006/relationships/image" Target="../media/image2411.png"/><Relationship Id="rId32" Type="http://schemas.openxmlformats.org/officeDocument/2006/relationships/image" Target="../media/image31.png"/><Relationship Id="rId5" Type="http://schemas.openxmlformats.org/officeDocument/2006/relationships/image" Target="../media/image511.png"/><Relationship Id="rId15" Type="http://schemas.openxmlformats.org/officeDocument/2006/relationships/image" Target="../media/image1710.png"/><Relationship Id="rId23" Type="http://schemas.openxmlformats.org/officeDocument/2006/relationships/image" Target="../media/image221.png"/><Relationship Id="rId28" Type="http://schemas.openxmlformats.org/officeDocument/2006/relationships/image" Target="../media/image2710.png"/><Relationship Id="rId10" Type="http://schemas.openxmlformats.org/officeDocument/2006/relationships/image" Target="../media/image1211.png"/><Relationship Id="rId19" Type="http://schemas.openxmlformats.org/officeDocument/2006/relationships/image" Target="../media/image212.png"/><Relationship Id="rId31" Type="http://schemas.openxmlformats.org/officeDocument/2006/relationships/image" Target="../media/image20.png"/><Relationship Id="rId4" Type="http://schemas.openxmlformats.org/officeDocument/2006/relationships/image" Target="../media/image411.png"/><Relationship Id="rId9" Type="http://schemas.openxmlformats.org/officeDocument/2006/relationships/image" Target="../media/image111.png"/><Relationship Id="rId14" Type="http://schemas.openxmlformats.org/officeDocument/2006/relationships/image" Target="../media/image161.png"/><Relationship Id="rId22" Type="http://schemas.openxmlformats.org/officeDocument/2006/relationships/image" Target="../media/image210.png"/><Relationship Id="rId30" Type="http://schemas.openxmlformats.org/officeDocument/2006/relationships/image" Target="../media/image291.png"/><Relationship Id="rId8" Type="http://schemas.openxmlformats.org/officeDocument/2006/relationships/image" Target="../media/image10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1.png"/><Relationship Id="rId13" Type="http://schemas.openxmlformats.org/officeDocument/2006/relationships/image" Target="../media/image1400.png"/><Relationship Id="rId26" Type="http://schemas.openxmlformats.org/officeDocument/2006/relationships/image" Target="../media/image1700.png"/><Relationship Id="rId3" Type="http://schemas.openxmlformats.org/officeDocument/2006/relationships/image" Target="../media/image2110.png"/><Relationship Id="rId21" Type="http://schemas.openxmlformats.org/officeDocument/2006/relationships/image" Target="../media/image230.png"/><Relationship Id="rId34" Type="http://schemas.openxmlformats.org/officeDocument/2006/relationships/image" Target="../media/image2710.png"/><Relationship Id="rId7" Type="http://schemas.openxmlformats.org/officeDocument/2006/relationships/image" Target="../media/image811.png"/><Relationship Id="rId12" Type="http://schemas.openxmlformats.org/officeDocument/2006/relationships/image" Target="../media/image130.png"/><Relationship Id="rId25" Type="http://schemas.openxmlformats.org/officeDocument/2006/relationships/image" Target="../media/image270.png"/><Relationship Id="rId33" Type="http://schemas.openxmlformats.org/officeDocument/2006/relationships/image" Target="../media/image300.png"/><Relationship Id="rId2" Type="http://schemas.openxmlformats.org/officeDocument/2006/relationships/image" Target="../media/image51.png"/><Relationship Id="rId20" Type="http://schemas.openxmlformats.org/officeDocument/2006/relationships/image" Target="../media/image2200.png"/><Relationship Id="rId29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1.png"/><Relationship Id="rId11" Type="http://schemas.openxmlformats.org/officeDocument/2006/relationships/image" Target="../media/image120.png"/><Relationship Id="rId24" Type="http://schemas.openxmlformats.org/officeDocument/2006/relationships/image" Target="../media/image2600.png"/><Relationship Id="rId32" Type="http://schemas.openxmlformats.org/officeDocument/2006/relationships/image" Target="../media/image2900.png"/><Relationship Id="rId5" Type="http://schemas.openxmlformats.org/officeDocument/2006/relationships/image" Target="../media/image411.png"/><Relationship Id="rId15" Type="http://schemas.openxmlformats.org/officeDocument/2006/relationships/image" Target="../media/image160.png"/><Relationship Id="rId23" Type="http://schemas.openxmlformats.org/officeDocument/2006/relationships/image" Target="../media/image250.png"/><Relationship Id="rId28" Type="http://schemas.openxmlformats.org/officeDocument/2006/relationships/image" Target="../media/image190.png"/><Relationship Id="rId36" Type="http://schemas.openxmlformats.org/officeDocument/2006/relationships/image" Target="../media/image321.png"/><Relationship Id="rId10" Type="http://schemas.openxmlformats.org/officeDocument/2006/relationships/image" Target="../media/image1100.png"/><Relationship Id="rId31" Type="http://schemas.openxmlformats.org/officeDocument/2006/relationships/image" Target="../media/image252.png"/><Relationship Id="rId4" Type="http://schemas.openxmlformats.org/officeDocument/2006/relationships/image" Target="../media/image4.png"/><Relationship Id="rId9" Type="http://schemas.openxmlformats.org/officeDocument/2006/relationships/image" Target="../media/image1011.png"/><Relationship Id="rId14" Type="http://schemas.openxmlformats.org/officeDocument/2006/relationships/image" Target="../media/image150.png"/><Relationship Id="rId22" Type="http://schemas.openxmlformats.org/officeDocument/2006/relationships/image" Target="../media/image240.png"/><Relationship Id="rId27" Type="http://schemas.openxmlformats.org/officeDocument/2006/relationships/image" Target="../media/image1800.png"/><Relationship Id="rId30" Type="http://schemas.openxmlformats.org/officeDocument/2006/relationships/image" Target="../media/image210.png"/><Relationship Id="rId35" Type="http://schemas.openxmlformats.org/officeDocument/2006/relationships/image" Target="../media/image31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30.png"/><Relationship Id="rId39" Type="http://schemas.openxmlformats.org/officeDocument/2006/relationships/image" Target="../media/image56.png"/><Relationship Id="rId34" Type="http://schemas.openxmlformats.org/officeDocument/2006/relationships/image" Target="../media/image351.png"/><Relationship Id="rId38" Type="http://schemas.openxmlformats.org/officeDocument/2006/relationships/image" Target="../media/image401.png"/><Relationship Id="rId2" Type="http://schemas.openxmlformats.org/officeDocument/2006/relationships/image" Target="../media/image331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0.png"/><Relationship Id="rId37" Type="http://schemas.openxmlformats.org/officeDocument/2006/relationships/image" Target="../media/image390.png"/><Relationship Id="rId28" Type="http://schemas.openxmlformats.org/officeDocument/2006/relationships/image" Target="../media/image352.png"/><Relationship Id="rId36" Type="http://schemas.openxmlformats.org/officeDocument/2006/relationships/image" Target="../media/image383.png"/><Relationship Id="rId10" Type="http://schemas.openxmlformats.org/officeDocument/2006/relationships/image" Target="../media/image1100.png"/><Relationship Id="rId27" Type="http://schemas.openxmlformats.org/officeDocument/2006/relationships/image" Target="../media/image341.png"/><Relationship Id="rId35" Type="http://schemas.openxmlformats.org/officeDocument/2006/relationships/image" Target="../media/image3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0.png"/><Relationship Id="rId7" Type="http://schemas.openxmlformats.org/officeDocument/2006/relationships/image" Target="../media/image412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3910.png"/><Relationship Id="rId4" Type="http://schemas.openxmlformats.org/officeDocument/2006/relationships/image" Target="../media/image38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0.png"/><Relationship Id="rId7" Type="http://schemas.openxmlformats.org/officeDocument/2006/relationships/image" Target="../media/image79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3910.png"/><Relationship Id="rId4" Type="http://schemas.openxmlformats.org/officeDocument/2006/relationships/image" Target="../media/image38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1508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19 </a:t>
            </a:r>
          </a:p>
          <a:p>
            <a:pPr algn="l">
              <a:defRPr/>
            </a:pPr>
            <a:r>
              <a:rPr lang="en-US" sz="2400" b="1" dirty="0">
                <a:solidFill>
                  <a:srgbClr val="7030A0"/>
                </a:solidFill>
              </a:rPr>
              <a:t>        Fast Matrix Multiplication  </a:t>
            </a:r>
          </a:p>
          <a:p>
            <a:pPr>
              <a:defRPr/>
            </a:pPr>
            <a:r>
              <a:rPr lang="en-US" sz="2400" b="1" dirty="0">
                <a:solidFill>
                  <a:srgbClr val="7030A0"/>
                </a:solidFill>
              </a:rPr>
              <a:t>I</a:t>
            </a:r>
          </a:p>
          <a:p>
            <a:pPr>
              <a:defRPr/>
            </a:pP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307412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DD21B-6333-A203-2D9E-3CF07069BDCF}"/>
              </a:ext>
            </a:extLst>
          </p:cNvPr>
          <p:cNvSpPr txBox="1"/>
          <p:nvPr/>
        </p:nvSpPr>
        <p:spPr>
          <a:xfrm>
            <a:off x="4800600" y="4953000"/>
            <a:ext cx="269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and its Applications</a:t>
            </a:r>
            <a:endParaRPr lang="en-I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219325"/>
            <a:ext cx="7772400" cy="136207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shortest paths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/>
              <a:t>in a graph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Negative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weights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BUT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No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negative cycle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DB8B8-7A6C-0EC6-ACDD-CE182ED176D8}"/>
              </a:ext>
            </a:extLst>
          </p:cNvPr>
          <p:cNvSpPr txBox="1"/>
          <p:nvPr/>
        </p:nvSpPr>
        <p:spPr>
          <a:xfrm>
            <a:off x="998358" y="479986"/>
            <a:ext cx="7220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Last Lecture </a:t>
            </a:r>
            <a:r>
              <a:rPr lang="en-US" sz="2800" dirty="0"/>
              <a:t>before the </a:t>
            </a:r>
            <a:r>
              <a:rPr lang="en-US" sz="2800" b="1" dirty="0">
                <a:solidFill>
                  <a:srgbClr val="7030A0"/>
                </a:solidFill>
              </a:rPr>
              <a:t>mid-semester exam</a:t>
            </a:r>
            <a:endParaRPr lang="en-IN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9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Exploiting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edges,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edges.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5519307" y="3755827"/>
            <a:ext cx="13716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828800" y="2448044"/>
            <a:ext cx="5380036" cy="445532"/>
            <a:chOff x="1828800" y="2740223"/>
            <a:chExt cx="5380036" cy="445532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2740223"/>
              <a:ext cx="352981" cy="445532"/>
              <a:chOff x="1828800" y="2831068"/>
              <a:chExt cx="352981" cy="4455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981200" y="2831068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6833413" y="2740223"/>
              <a:ext cx="375423" cy="445532"/>
              <a:chOff x="6833413" y="2983468"/>
              <a:chExt cx="375423" cy="445532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7010400" y="2983468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70C0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14516" t="-8197" r="-2580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Oval 32"/>
          <p:cNvSpPr/>
          <p:nvPr/>
        </p:nvSpPr>
        <p:spPr>
          <a:xfrm>
            <a:off x="28194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6576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1336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718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3246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4958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8100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40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46482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1722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4864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938816" y="16764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816" y="1676400"/>
                <a:ext cx="928459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019800" y="2524244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524244"/>
                <a:ext cx="3706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67200" y="3810000"/>
            <a:ext cx="2743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288788" y="2024539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Rectangle 31"/>
          <p:cNvSpPr/>
          <p:nvPr/>
        </p:nvSpPr>
        <p:spPr>
          <a:xfrm>
            <a:off x="1981200" y="3810000"/>
            <a:ext cx="2209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322BA-0C26-D00D-C7C7-6A099EBA9E65}"/>
              </a:ext>
            </a:extLst>
          </p:cNvPr>
          <p:cNvSpPr/>
          <p:nvPr/>
        </p:nvSpPr>
        <p:spPr>
          <a:xfrm>
            <a:off x="2151199" y="4495800"/>
            <a:ext cx="336810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C67A83-E3C0-16AC-C4BA-E2CF8665563D}"/>
              </a:ext>
            </a:extLst>
          </p:cNvPr>
          <p:cNvSpPr/>
          <p:nvPr/>
        </p:nvSpPr>
        <p:spPr>
          <a:xfrm>
            <a:off x="5524782" y="4510119"/>
            <a:ext cx="336810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0D1259-DAF7-3DAD-0DE6-04D2DB685FDD}"/>
              </a:ext>
            </a:extLst>
          </p:cNvPr>
          <p:cNvSpPr/>
          <p:nvPr/>
        </p:nvSpPr>
        <p:spPr>
          <a:xfrm>
            <a:off x="1832610" y="4983837"/>
            <a:ext cx="5376226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3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48" grpId="0" animBg="1"/>
      <p:bldP spid="33" grpId="0" animBg="1"/>
      <p:bldP spid="34" grpId="0" animBg="1"/>
      <p:bldP spid="44" grpId="0" animBg="1"/>
      <p:bldP spid="46" grpId="0" animBg="1"/>
      <p:bldP spid="49" grpId="0" animBg="1"/>
      <p:bldP spid="51" grpId="0"/>
      <p:bldP spid="52" grpId="0"/>
      <p:bldP spid="1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1600200"/>
            <a:ext cx="4648200" cy="44958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paths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09" t="-6349" r="-509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8"/>
              <p:cNvSpPr/>
              <p:nvPr/>
            </p:nvSpPr>
            <p:spPr>
              <a:xfrm>
                <a:off x="3200400" y="5486400"/>
                <a:ext cx="5867400" cy="12192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search for 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shortest paths </a:t>
                </a:r>
                <a:r>
                  <a:rPr lang="en-US" dirty="0">
                    <a:solidFill>
                      <a:schemeClr val="tx1"/>
                    </a:solidFill>
                  </a:rPr>
                  <a:t>from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among exponential number of paths?</a:t>
                </a:r>
              </a:p>
            </p:txBody>
          </p:sp>
        </mc:Choice>
        <mc:Fallback xmlns="">
          <p:sp>
            <p:nvSpPr>
              <p:cNvPr id="9" name="Cloud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486400"/>
                <a:ext cx="5867400" cy="1219200"/>
              </a:xfrm>
              <a:prstGeom prst="cloudCallou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667000" y="2057400"/>
            <a:ext cx="3581400" cy="3657600"/>
            <a:chOff x="2667000" y="2057400"/>
            <a:chExt cx="3581400" cy="3657600"/>
          </a:xfrm>
        </p:grpSpPr>
        <p:sp>
          <p:nvSpPr>
            <p:cNvPr id="10" name="Oval 9"/>
            <p:cNvSpPr/>
            <p:nvPr/>
          </p:nvSpPr>
          <p:spPr>
            <a:xfrm>
              <a:off x="4953000" y="2971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667760" y="3505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581400" y="4572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181600" y="461264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648200" y="3956566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876800" y="2057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2667000" y="2590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038600" y="4114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819400" y="42672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29000" y="5638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886200" y="25908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172200" y="3581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1508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: the shortest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path having </a:t>
                </a:r>
                <a:r>
                  <a:rPr lang="en-US" sz="1800" b="1" dirty="0"/>
                  <a:t>at most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edges.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: length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10200"/>
              </a:xfrm>
              <a:blipFill rotWithShape="1">
                <a:blip r:embed="rId2"/>
                <a:stretch>
                  <a:fillRect l="-593" t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981200" y="1600200"/>
            <a:ext cx="4648200" cy="4495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286000" y="1905000"/>
            <a:ext cx="4038600" cy="3886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916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paths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909" t="-6349" r="-509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267200" y="1905000"/>
            <a:ext cx="76200" cy="381000"/>
            <a:chOff x="4267200" y="1905000"/>
            <a:chExt cx="76200" cy="381000"/>
          </a:xfrm>
        </p:grpSpPr>
        <p:sp>
          <p:nvSpPr>
            <p:cNvPr id="27" name="Oval 26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4267200" y="3048000"/>
            <a:ext cx="76200" cy="381000"/>
            <a:chOff x="4267200" y="1905000"/>
            <a:chExt cx="76200" cy="381000"/>
          </a:xfrm>
        </p:grpSpPr>
        <p:sp>
          <p:nvSpPr>
            <p:cNvPr id="32" name="Oval 31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91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71600" y="6096000"/>
            <a:ext cx="2286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657600" y="6172200"/>
            <a:ext cx="2743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295400" y="6629400"/>
            <a:ext cx="1869634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918272" y="926068"/>
            <a:ext cx="6832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Aim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46592" y="926068"/>
                <a:ext cx="3335208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 compute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92" y="926068"/>
                <a:ext cx="333520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460" t="-8197" r="-20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4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2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0" grpId="0" animBg="1"/>
      <p:bldP spid="10" grpId="0" animBg="1"/>
      <p:bldP spid="24" grpId="0" animBg="1"/>
      <p:bldP spid="25" grpId="0" animBg="1"/>
      <p:bldP spid="30" grpId="0"/>
      <p:bldP spid="33" grpId="0" animBg="1"/>
      <p:bldP spid="35" grpId="0" animBg="1"/>
      <p:bldP spid="26" grpId="0" animBg="1"/>
      <p:bldP spid="38" grpId="0" animBg="1"/>
      <p:bldP spid="3" grpId="0"/>
      <p:bldP spid="16" grpId="0"/>
      <p:bldP spid="41" grpId="0"/>
      <p:bldP spid="42" grpId="0"/>
      <p:bldP spid="2" grpId="0" animBg="1"/>
      <p:bldP spid="39" grpId="0" animBg="1"/>
      <p:bldP spid="44" grpId="0" animBg="1"/>
      <p:bldP spid="8" grpId="0" animBg="1"/>
      <p:bldP spid="8" grpId="1" animBg="1"/>
      <p:bldP spid="9" grpId="0" animBg="1"/>
      <p:bldP spid="9" grpId="1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1800" dirty="0"/>
                  <a:t>: 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edges </a:t>
                </a:r>
                <a:r>
                  <a:rPr lang="en-US" sz="1800" dirty="0"/>
                  <a:t>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exactly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 edges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  <a:blipFill rotWithShape="1"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4953000" y="2971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953000" y="3352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loud Callout 45"/>
              <p:cNvSpPr/>
              <p:nvPr/>
            </p:nvSpPr>
            <p:spPr>
              <a:xfrm>
                <a:off x="6019800" y="1295400"/>
                <a:ext cx="3124200" cy="1371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cases for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Can you spot them ?</a:t>
                </a:r>
              </a:p>
            </p:txBody>
          </p:sp>
        </mc:Choice>
        <mc:Fallback xmlns="">
          <p:sp>
            <p:nvSpPr>
              <p:cNvPr id="46" name="Cloud Callout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295400"/>
                <a:ext cx="3124200" cy="1371600"/>
              </a:xfrm>
              <a:prstGeom prst="cloudCallou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1295400" y="9144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019800" y="838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05400" y="838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04800" y="9144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295400" y="1219200"/>
            <a:ext cx="264185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57200" y="1219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1828800" y="5945090"/>
            <a:ext cx="5410200" cy="533400"/>
            <a:chOff x="1828800" y="2435423"/>
            <a:chExt cx="5410200" cy="533400"/>
          </a:xfrm>
        </p:grpSpPr>
        <p:grpSp>
          <p:nvGrpSpPr>
            <p:cNvPr id="55" name="Group 54"/>
            <p:cNvGrpSpPr/>
            <p:nvPr/>
          </p:nvGrpSpPr>
          <p:grpSpPr>
            <a:xfrm>
              <a:off x="1828800" y="2435423"/>
              <a:ext cx="5410200" cy="533400"/>
              <a:chOff x="1828800" y="2740223"/>
              <a:chExt cx="5410200" cy="533400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1828800" y="2740223"/>
                <a:ext cx="352981" cy="445532"/>
                <a:chOff x="1828800" y="2831068"/>
                <a:chExt cx="352981" cy="445532"/>
              </a:xfrm>
            </p:grpSpPr>
            <p:sp>
              <p:nvSpPr>
                <p:cNvPr id="61" name="Oval 60"/>
                <p:cNvSpPr/>
                <p:nvPr/>
              </p:nvSpPr>
              <p:spPr>
                <a:xfrm>
                  <a:off x="1981200" y="283106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" name="Group 57"/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59" name="Oval 58"/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/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6" name="Straight Arrow Connector 55"/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ight Brace 63"/>
          <p:cNvSpPr/>
          <p:nvPr/>
        </p:nvSpPr>
        <p:spPr>
          <a:xfrm rot="5400000" flipH="1">
            <a:off x="3985854" y="3710346"/>
            <a:ext cx="334091" cy="41910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/>
          <p:cNvGrpSpPr/>
          <p:nvPr/>
        </p:nvGrpSpPr>
        <p:grpSpPr>
          <a:xfrm>
            <a:off x="2288788" y="5403373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2133600" y="6021290"/>
            <a:ext cx="4876800" cy="152400"/>
            <a:chOff x="2133600" y="6065224"/>
            <a:chExt cx="4876800" cy="152400"/>
          </a:xfrm>
        </p:grpSpPr>
        <p:grpSp>
          <p:nvGrpSpPr>
            <p:cNvPr id="66" name="Group 65"/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67" name="Oval 66"/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/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/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/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Arrow Connector 74"/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2" name="Straight Arrow Connector 81"/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/>
          <p:cNvSpPr txBox="1"/>
          <p:nvPr/>
        </p:nvSpPr>
        <p:spPr>
          <a:xfrm>
            <a:off x="3636155" y="5257800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0" y="5943600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857500" y="5119324"/>
            <a:ext cx="1286538" cy="521766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9629B9-0298-4297-4845-7867E2606D61}"/>
                  </a:ext>
                </a:extLst>
              </p:cNvPr>
              <p:cNvSpPr txBox="1"/>
              <p:nvPr/>
            </p:nvSpPr>
            <p:spPr>
              <a:xfrm>
                <a:off x="2050553" y="4743030"/>
                <a:ext cx="131157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9629B9-0298-4297-4845-7867E260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553" y="4743030"/>
                <a:ext cx="1311578" cy="369332"/>
              </a:xfrm>
              <a:prstGeom prst="rect">
                <a:avLst/>
              </a:prstGeom>
              <a:blipFill>
                <a:blip r:embed="rId20"/>
                <a:stretch>
                  <a:fillRect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4425C97-3CAA-9ADF-3ECF-A86796436EB5}"/>
              </a:ext>
            </a:extLst>
          </p:cNvPr>
          <p:cNvSpPr txBox="1"/>
          <p:nvPr/>
        </p:nvSpPr>
        <p:spPr>
          <a:xfrm>
            <a:off x="152400" y="6457949"/>
            <a:ext cx="717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Prove it and use this observation for the recursive formulation.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7277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64" grpId="0" animBg="1"/>
      <p:bldP spid="83" grpId="0"/>
      <p:bldP spid="15" grpId="0" animBg="1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B1CB91-8887-294E-AC80-984C989D6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Algorithms for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82A764-BDE8-7B4B-A8BF-1FDD163F2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Fast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44253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  Multiplication</a:t>
            </a:r>
            <a:r>
              <a:rPr lang="en-US" sz="3600" b="1" dirty="0"/>
              <a:t> of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2000" y="1524000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200400" y="1524000"/>
          <a:ext cx="181419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5867400" y="1524000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Multiply 6"/>
          <p:cNvSpPr/>
          <p:nvPr/>
        </p:nvSpPr>
        <p:spPr>
          <a:xfrm>
            <a:off x="2590800" y="21336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181600" y="21336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6072" y="35052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2690" y="35052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90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0" y="4495800"/>
                <a:ext cx="2041008" cy="76450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495800"/>
                <a:ext cx="2041008" cy="764505"/>
              </a:xfrm>
              <a:prstGeom prst="rect">
                <a:avLst/>
              </a:prstGeom>
              <a:blipFill>
                <a:blip r:embed="rId2"/>
                <a:stretch>
                  <a:fillRect l="-6748" t="-117460" b="-16190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88115E-9A9E-AB47-A6AA-2C3E0500FEB0}"/>
                  </a:ext>
                </a:extLst>
              </p:cNvPr>
              <p:cNvSpPr txBox="1"/>
              <p:nvPr/>
            </p:nvSpPr>
            <p:spPr>
              <a:xfrm>
                <a:off x="2388219" y="5650758"/>
                <a:ext cx="3074881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/>
                  <a:t>Time complexity: </a:t>
                </a:r>
                <a:r>
                  <a:rPr lang="en-US" sz="1800" b="1" i="1" dirty="0"/>
                  <a:t>O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time 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88115E-9A9E-AB47-A6AA-2C3E0500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219" y="5650758"/>
                <a:ext cx="3074881" cy="375552"/>
              </a:xfrm>
              <a:prstGeom prst="rect">
                <a:avLst/>
              </a:prstGeom>
              <a:blipFill>
                <a:blip r:embed="rId3"/>
                <a:stretch>
                  <a:fillRect l="-2058" t="-3226" r="-823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61919D1-C5C4-A85C-FF9E-3F8508D29C9F}"/>
              </a:ext>
            </a:extLst>
          </p:cNvPr>
          <p:cNvSpPr txBox="1"/>
          <p:nvPr/>
        </p:nvSpPr>
        <p:spPr>
          <a:xfrm>
            <a:off x="1716054" y="6159333"/>
            <a:ext cx="506574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But </a:t>
            </a:r>
            <a:r>
              <a:rPr lang="en-US" dirty="0"/>
              <a:t>faster algorithms exist for more than </a:t>
            </a:r>
            <a:r>
              <a:rPr lang="en-US" dirty="0">
                <a:solidFill>
                  <a:srgbClr val="0070C0"/>
                </a:solidFill>
              </a:rPr>
              <a:t>50</a:t>
            </a:r>
            <a:r>
              <a:rPr lang="en-US" dirty="0"/>
              <a:t> years.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003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3" grpId="0" animBg="1"/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ED37-3E43-F4AE-C1FE-86976520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1D70-0053-7741-94B2-9C273859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 Fast Matrix Multiplication</a:t>
            </a:r>
            <a:endParaRPr lang="en-US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141AA6-32E7-95A4-6177-3CEF85C4B9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1524000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0A65A53-30B6-24E3-1675-F9FA8B96E918}"/>
              </a:ext>
            </a:extLst>
          </p:cNvPr>
          <p:cNvGraphicFramePr>
            <a:graphicFrameLocks/>
          </p:cNvGraphicFramePr>
          <p:nvPr/>
        </p:nvGraphicFramePr>
        <p:xfrm>
          <a:off x="3200400" y="1524000"/>
          <a:ext cx="181419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6ECEF52-223C-BF19-E80F-BD468C024BE8}"/>
              </a:ext>
            </a:extLst>
          </p:cNvPr>
          <p:cNvGraphicFramePr>
            <a:graphicFrameLocks/>
          </p:cNvGraphicFramePr>
          <p:nvPr/>
        </p:nvGraphicFramePr>
        <p:xfrm>
          <a:off x="5867400" y="1524000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Multiply 6">
            <a:extLst>
              <a:ext uri="{FF2B5EF4-FFF2-40B4-BE49-F238E27FC236}">
                <a16:creationId xmlns:a16="http://schemas.microsoft.com/office/drawing/2014/main" id="{19DA346B-F259-C8B9-2D29-1FC1BB8FA0D2}"/>
              </a:ext>
            </a:extLst>
          </p:cNvPr>
          <p:cNvSpPr/>
          <p:nvPr/>
        </p:nvSpPr>
        <p:spPr>
          <a:xfrm>
            <a:off x="2590800" y="21336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>
            <a:extLst>
              <a:ext uri="{FF2B5EF4-FFF2-40B4-BE49-F238E27FC236}">
                <a16:creationId xmlns:a16="http://schemas.microsoft.com/office/drawing/2014/main" id="{821FA4AA-A517-F06A-5FC8-AE947F820B2B}"/>
              </a:ext>
            </a:extLst>
          </p:cNvPr>
          <p:cNvSpPr/>
          <p:nvPr/>
        </p:nvSpPr>
        <p:spPr>
          <a:xfrm>
            <a:off x="5181600" y="21336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1C13B-617A-E785-646C-14B57760907C}"/>
              </a:ext>
            </a:extLst>
          </p:cNvPr>
          <p:cNvSpPr txBox="1"/>
          <p:nvPr/>
        </p:nvSpPr>
        <p:spPr>
          <a:xfrm>
            <a:off x="1276072" y="35052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A9AD1-608B-8140-67AD-081068FD182E}"/>
              </a:ext>
            </a:extLst>
          </p:cNvPr>
          <p:cNvSpPr txBox="1"/>
          <p:nvPr/>
        </p:nvSpPr>
        <p:spPr>
          <a:xfrm>
            <a:off x="3952690" y="35052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A1807-818B-D459-6FD1-E8BEAB682557}"/>
              </a:ext>
            </a:extLst>
          </p:cNvPr>
          <p:cNvSpPr txBox="1"/>
          <p:nvPr/>
        </p:nvSpPr>
        <p:spPr>
          <a:xfrm>
            <a:off x="6629400" y="34290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</a:t>
            </a:r>
          </a:p>
        </p:txBody>
      </p:sp>
      <p:sp>
        <p:nvSpPr>
          <p:cNvPr id="14" name="Cloud Callout 4">
            <a:extLst>
              <a:ext uri="{FF2B5EF4-FFF2-40B4-BE49-F238E27FC236}">
                <a16:creationId xmlns:a16="http://schemas.microsoft.com/office/drawing/2014/main" id="{25C14B6D-FC11-7A7D-DA7E-B14395801CED}"/>
              </a:ext>
            </a:extLst>
          </p:cNvPr>
          <p:cNvSpPr/>
          <p:nvPr/>
        </p:nvSpPr>
        <p:spPr>
          <a:xfrm>
            <a:off x="3352800" y="5257800"/>
            <a:ext cx="5760671" cy="744602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 recall a similar problem we discussed in this course ?</a:t>
            </a:r>
          </a:p>
        </p:txBody>
      </p:sp>
    </p:spTree>
    <p:extLst>
      <p:ext uri="{BB962C8B-B14F-4D97-AF65-F5344CB8AC3E}">
        <p14:creationId xmlns:p14="http://schemas.microsoft.com/office/powerpoint/2010/main" val="78624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ECC9-7008-BA6B-5F5E-194AB10A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Fast Polynomial Multiplication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06037-3436-B355-11EC-32AD13980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first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second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=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06037-3436-B355-11EC-32AD13980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9827-0901-6EF8-5907-5BBFC74C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908A36-A5C2-2740-F6C5-279DC8330884}"/>
              </a:ext>
            </a:extLst>
          </p:cNvPr>
          <p:cNvCxnSpPr/>
          <p:nvPr/>
        </p:nvCxnSpPr>
        <p:spPr>
          <a:xfrm>
            <a:off x="3857393" y="2178570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0B14AC-D62F-DEA7-C64A-40913C14F169}"/>
              </a:ext>
            </a:extLst>
          </p:cNvPr>
          <p:cNvCxnSpPr/>
          <p:nvPr/>
        </p:nvCxnSpPr>
        <p:spPr>
          <a:xfrm>
            <a:off x="5620249" y="2210958"/>
            <a:ext cx="8817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7DF87E-2FE8-74E2-57C1-0AAE41451A7B}"/>
              </a:ext>
            </a:extLst>
          </p:cNvPr>
          <p:cNvCxnSpPr/>
          <p:nvPr/>
        </p:nvCxnSpPr>
        <p:spPr>
          <a:xfrm>
            <a:off x="3886200" y="2209800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30FE61-B0EB-5620-92E0-5B0B21154C68}"/>
              </a:ext>
            </a:extLst>
          </p:cNvPr>
          <p:cNvCxnSpPr/>
          <p:nvPr/>
        </p:nvCxnSpPr>
        <p:spPr>
          <a:xfrm flipH="1">
            <a:off x="3876205" y="2194719"/>
            <a:ext cx="1728463" cy="6858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106BE4-5399-00B5-EFDC-F52CC0A96843}"/>
                  </a:ext>
                </a:extLst>
              </p:cNvPr>
              <p:cNvSpPr txBox="1"/>
              <p:nvPr/>
            </p:nvSpPr>
            <p:spPr>
              <a:xfrm>
                <a:off x="3124200" y="4724400"/>
                <a:ext cx="274947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8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𝒄𝒏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106BE4-5399-00B5-EFDC-F52CC0A96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24400"/>
                <a:ext cx="2749471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AEA7E2B-FE5D-FCCF-B9BC-F0B5372AE224}"/>
                  </a:ext>
                </a:extLst>
              </p:cNvPr>
              <p:cNvSpPr/>
              <p:nvPr/>
            </p:nvSpPr>
            <p:spPr>
              <a:xfrm>
                <a:off x="2819400" y="3871799"/>
                <a:ext cx="3276600" cy="56578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Multiplication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polynomials of degree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BAEA7E2B-FE5D-FCCF-B9BC-F0B5372AE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871799"/>
                <a:ext cx="3276600" cy="565788"/>
              </a:xfrm>
              <a:prstGeom prst="roundRect">
                <a:avLst/>
              </a:prstGeom>
              <a:blipFill>
                <a:blip r:embed="rId5"/>
                <a:stretch>
                  <a:fillRect t="-6250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A26405-6247-9EE2-5E1B-2232B4AD74E8}"/>
                  </a:ext>
                </a:extLst>
              </p:cNvPr>
              <p:cNvSpPr txBox="1"/>
              <p:nvPr/>
            </p:nvSpPr>
            <p:spPr>
              <a:xfrm>
                <a:off x="2003151" y="3943270"/>
                <a:ext cx="724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</m:oMath>
                  </m:oMathPara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A26405-6247-9EE2-5E1B-2232B4AD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151" y="3943270"/>
                <a:ext cx="724878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n Arrow 14">
            <a:extLst>
              <a:ext uri="{FF2B5EF4-FFF2-40B4-BE49-F238E27FC236}">
                <a16:creationId xmlns:a16="http://schemas.microsoft.com/office/drawing/2014/main" id="{D17F82ED-3C4B-E5C4-09A2-5C79FF02409A}"/>
              </a:ext>
            </a:extLst>
          </p:cNvPr>
          <p:cNvSpPr/>
          <p:nvPr/>
        </p:nvSpPr>
        <p:spPr>
          <a:xfrm>
            <a:off x="4734665" y="5046549"/>
            <a:ext cx="228600" cy="7764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87F4E-A03B-8909-9694-5B2FAFE9D4BF}"/>
                  </a:ext>
                </a:extLst>
              </p:cNvPr>
              <p:cNvSpPr txBox="1"/>
              <p:nvPr/>
            </p:nvSpPr>
            <p:spPr>
              <a:xfrm>
                <a:off x="4650834" y="5958494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F87F4E-A03B-8909-9694-5B2FAFE9D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34" y="5958494"/>
                <a:ext cx="39626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3A961CA-41AD-053C-4F52-CBC0E243CED8}"/>
              </a:ext>
            </a:extLst>
          </p:cNvPr>
          <p:cNvSpPr txBox="1"/>
          <p:nvPr/>
        </p:nvSpPr>
        <p:spPr>
          <a:xfrm>
            <a:off x="0" y="274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CAC8F-E976-0CCB-9BCE-F717D12C1070}"/>
                  </a:ext>
                </a:extLst>
              </p:cNvPr>
              <p:cNvSpPr txBox="1"/>
              <p:nvPr/>
            </p:nvSpPr>
            <p:spPr>
              <a:xfrm>
                <a:off x="6096000" y="5679234"/>
                <a:ext cx="2517356" cy="77713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1.58 </m:t>
                          </m:r>
                        </m:sup>
                      </m:sSup>
                      <m:r>
                        <a:rPr lang="en-US" sz="4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CAC8F-E976-0CCB-9BCE-F717D12C1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79234"/>
                <a:ext cx="2517356" cy="777136"/>
              </a:xfrm>
              <a:prstGeom prst="rect">
                <a:avLst/>
              </a:prstGeom>
              <a:blipFill>
                <a:blip r:embed="rId8"/>
                <a:stretch>
                  <a:fillRect l="-1508" t="-6452" r="-4020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2F94571-4AF1-83EF-D4E5-599AEE1D0F4F}"/>
              </a:ext>
            </a:extLst>
          </p:cNvPr>
          <p:cNvSpPr/>
          <p:nvPr/>
        </p:nvSpPr>
        <p:spPr>
          <a:xfrm>
            <a:off x="3592311" y="1632298"/>
            <a:ext cx="9144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075521-8E71-938C-7014-27A4FF9F9A39}"/>
              </a:ext>
            </a:extLst>
          </p:cNvPr>
          <p:cNvSpPr/>
          <p:nvPr/>
        </p:nvSpPr>
        <p:spPr>
          <a:xfrm>
            <a:off x="4572000" y="1644347"/>
            <a:ext cx="19050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75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4" grpId="0"/>
      <p:bldP spid="15" grpId="0" animBg="1"/>
      <p:bldP spid="16" grpId="0"/>
      <p:bldP spid="1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7B66-4DEA-714D-A1D4-CAEB5AF7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Fast Matrix Multiplication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16769444"/>
                  </p:ext>
                </p:extLst>
              </p:nvPr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10345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110345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210345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310345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410345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48" t="-510345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448" t="-510345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448" t="-510345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3448" t="-510345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3448" t="-510345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448" t="-510345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69684135"/>
                  </p:ext>
                </p:extLst>
              </p:nvPr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3448" t="-10345" r="-6897" b="-5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510345" r="-5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Multiply 40">
            <a:extLst>
              <a:ext uri="{FF2B5EF4-FFF2-40B4-BE49-F238E27FC236}">
                <a16:creationId xmlns:a16="http://schemas.microsoft.com/office/drawing/2014/main" id="{C05174EB-AB60-AB4F-99A1-8542BBA7BBB2}"/>
              </a:ext>
            </a:extLst>
          </p:cNvPr>
          <p:cNvSpPr/>
          <p:nvPr/>
        </p:nvSpPr>
        <p:spPr>
          <a:xfrm>
            <a:off x="3048000" y="25146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62F85446-DF93-85EE-0E04-AABCF966FA01}"/>
              </a:ext>
            </a:extLst>
          </p:cNvPr>
          <p:cNvGraphicFramePr>
            <a:graphicFrameLocks/>
          </p:cNvGraphicFramePr>
          <p:nvPr/>
        </p:nvGraphicFramePr>
        <p:xfrm>
          <a:off x="6781800" y="1752600"/>
          <a:ext cx="2209800" cy="220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Equal 7">
            <a:extLst>
              <a:ext uri="{FF2B5EF4-FFF2-40B4-BE49-F238E27FC236}">
                <a16:creationId xmlns:a16="http://schemas.microsoft.com/office/drawing/2014/main" id="{E765A8B2-A0DE-0307-29B4-51B86A79A28B}"/>
              </a:ext>
            </a:extLst>
          </p:cNvPr>
          <p:cNvSpPr/>
          <p:nvPr/>
        </p:nvSpPr>
        <p:spPr>
          <a:xfrm>
            <a:off x="6176682" y="25527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/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Divide each matrix into </a:t>
                </a:r>
                <a:r>
                  <a:rPr lang="en-US" b="1" dirty="0"/>
                  <a:t>four</a:t>
                </a:r>
                <a:r>
                  <a:rPr lang="en-US" dirty="0"/>
                  <a:t> n/2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n/2 matrices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blipFill>
                <a:blip r:embed="rId6"/>
                <a:stretch>
                  <a:fillRect l="-104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647562E-9664-C0D8-A910-3275CE2D949E}"/>
              </a:ext>
            </a:extLst>
          </p:cNvPr>
          <p:cNvSpPr txBox="1"/>
          <p:nvPr/>
        </p:nvSpPr>
        <p:spPr>
          <a:xfrm>
            <a:off x="1504672" y="39740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43A870-9A88-77CE-A579-D28F389CF3E8}"/>
              </a:ext>
            </a:extLst>
          </p:cNvPr>
          <p:cNvSpPr txBox="1"/>
          <p:nvPr/>
        </p:nvSpPr>
        <p:spPr>
          <a:xfrm>
            <a:off x="4732661" y="40005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F2F5C-440E-A8B6-D71E-D4F1490B12B6}"/>
              </a:ext>
            </a:extLst>
          </p:cNvPr>
          <p:cNvSpPr txBox="1"/>
          <p:nvPr/>
        </p:nvSpPr>
        <p:spPr>
          <a:xfrm>
            <a:off x="7758580" y="39817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B420AA-E489-4BA8-8498-534BF31C1A34}"/>
              </a:ext>
            </a:extLst>
          </p:cNvPr>
          <p:cNvSpPr/>
          <p:nvPr/>
        </p:nvSpPr>
        <p:spPr>
          <a:xfrm>
            <a:off x="533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D44842-2525-DB65-B814-A7B424B3A6A1}"/>
              </a:ext>
            </a:extLst>
          </p:cNvPr>
          <p:cNvSpPr/>
          <p:nvPr/>
        </p:nvSpPr>
        <p:spPr>
          <a:xfrm>
            <a:off x="1676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61593F-0966-B001-96AE-D62347EB4F39}"/>
              </a:ext>
            </a:extLst>
          </p:cNvPr>
          <p:cNvSpPr/>
          <p:nvPr/>
        </p:nvSpPr>
        <p:spPr>
          <a:xfrm>
            <a:off x="533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C64F11-1F0E-29EF-91F7-673F6CEFABD4}"/>
              </a:ext>
            </a:extLst>
          </p:cNvPr>
          <p:cNvSpPr/>
          <p:nvPr/>
        </p:nvSpPr>
        <p:spPr>
          <a:xfrm>
            <a:off x="1676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A7A102-BD71-4FFA-7441-E40DACDF4D61}"/>
              </a:ext>
            </a:extLst>
          </p:cNvPr>
          <p:cNvSpPr/>
          <p:nvPr/>
        </p:nvSpPr>
        <p:spPr>
          <a:xfrm>
            <a:off x="38100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E63894-B08F-5FE4-178E-4EDAEAA516FC}"/>
              </a:ext>
            </a:extLst>
          </p:cNvPr>
          <p:cNvSpPr/>
          <p:nvPr/>
        </p:nvSpPr>
        <p:spPr>
          <a:xfrm>
            <a:off x="4944035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FEF160-46CA-6542-5198-7170289C2436}"/>
              </a:ext>
            </a:extLst>
          </p:cNvPr>
          <p:cNvSpPr/>
          <p:nvPr/>
        </p:nvSpPr>
        <p:spPr>
          <a:xfrm>
            <a:off x="3823116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B21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867E10-14EA-55E4-E278-80C8B3FCF10D}"/>
              </a:ext>
            </a:extLst>
          </p:cNvPr>
          <p:cNvSpPr/>
          <p:nvPr/>
        </p:nvSpPr>
        <p:spPr>
          <a:xfrm>
            <a:off x="4944035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B22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211FBA-D3D3-FF5E-0EC5-6E80972DF610}"/>
              </a:ext>
            </a:extLst>
          </p:cNvPr>
          <p:cNvSpPr/>
          <p:nvPr/>
        </p:nvSpPr>
        <p:spPr>
          <a:xfrm>
            <a:off x="6781800" y="17526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7C88F0-27A2-B63A-D463-02ED5C7B33B1}"/>
              </a:ext>
            </a:extLst>
          </p:cNvPr>
          <p:cNvSpPr/>
          <p:nvPr/>
        </p:nvSpPr>
        <p:spPr>
          <a:xfrm>
            <a:off x="7915835" y="17526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17CA71-68D5-9F5A-E562-F0A3FE4867E2}"/>
              </a:ext>
            </a:extLst>
          </p:cNvPr>
          <p:cNvSpPr/>
          <p:nvPr/>
        </p:nvSpPr>
        <p:spPr>
          <a:xfrm>
            <a:off x="6794916" y="28575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C21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DCB68B-11F0-3F5F-8BA9-DDE720B8C858}"/>
              </a:ext>
            </a:extLst>
          </p:cNvPr>
          <p:cNvSpPr/>
          <p:nvPr/>
        </p:nvSpPr>
        <p:spPr>
          <a:xfrm>
            <a:off x="7915835" y="28575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C22</a:t>
            </a:r>
          </a:p>
        </p:txBody>
      </p:sp>
      <p:sp>
        <p:nvSpPr>
          <p:cNvPr id="5" name="Cloud Callout 4">
            <a:extLst>
              <a:ext uri="{FF2B5EF4-FFF2-40B4-BE49-F238E27FC236}">
                <a16:creationId xmlns:a16="http://schemas.microsoft.com/office/drawing/2014/main" id="{E7795FCB-3DD3-C816-CD17-66547067F4D4}"/>
              </a:ext>
            </a:extLst>
          </p:cNvPr>
          <p:cNvSpPr/>
          <p:nvPr/>
        </p:nvSpPr>
        <p:spPr>
          <a:xfrm>
            <a:off x="3352800" y="5257800"/>
            <a:ext cx="5760671" cy="744602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divide the problem instance ?</a:t>
            </a:r>
          </a:p>
        </p:txBody>
      </p:sp>
    </p:spTree>
    <p:extLst>
      <p:ext uri="{BB962C8B-B14F-4D97-AF65-F5344CB8AC3E}">
        <p14:creationId xmlns:p14="http://schemas.microsoft.com/office/powerpoint/2010/main" val="3785169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21" grpId="0" animBg="1"/>
      <p:bldP spid="26" grpId="0" animBg="1"/>
      <p:bldP spid="32" grpId="0"/>
      <p:bldP spid="33" grpId="0"/>
      <p:bldP spid="34" grpId="0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5" grpId="0" animBg="1"/>
      <p:bldP spid="36" grpId="0" animBg="1"/>
      <p:bldP spid="37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7B66-4DEA-714D-A1D4-CAEB5AF7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Fast Matrix Multiplication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1800" dirty="0"/>
                  <a:t>C11 = A11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B11  + A12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B21</a:t>
                </a:r>
              </a:p>
              <a:p>
                <a:r>
                  <a:rPr lang="en-US" sz="1800" dirty="0"/>
                  <a:t>C12 = A11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B12  + A12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B22</a:t>
                </a:r>
              </a:p>
              <a:p>
                <a:r>
                  <a:rPr lang="en-US" sz="1800" dirty="0"/>
                  <a:t>C21 = A21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B11  + A22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B21 </a:t>
                </a:r>
              </a:p>
              <a:p>
                <a:r>
                  <a:rPr lang="en-US" sz="1800" dirty="0"/>
                  <a:t>C22 = A21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B12  + A22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B22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93310948"/>
                  </p:ext>
                </p:extLst>
              </p:nvPr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39" r="-2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639" r="-10327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639" r="-5000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3333" r="-2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03333" r="-10327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03333" r="-5000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0000" r="-2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200000" r="-10327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200000" r="-5000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05000" r="-2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05000" r="-10327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05000" r="-50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98361" r="-2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98361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98361" r="-500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506667" r="-2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506667" r="-10327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506667" r="-5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E0C32A3-B8AC-FC49-B449-6E2739057F0B}"/>
              </a:ext>
            </a:extLst>
          </p:cNvPr>
          <p:cNvSpPr/>
          <p:nvPr/>
        </p:nvSpPr>
        <p:spPr>
          <a:xfrm>
            <a:off x="533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80DB9-EBDE-9E48-9AAC-5EE6B8DD5447}"/>
              </a:ext>
            </a:extLst>
          </p:cNvPr>
          <p:cNvSpPr/>
          <p:nvPr/>
        </p:nvSpPr>
        <p:spPr>
          <a:xfrm>
            <a:off x="1676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8CF14-A8BD-2344-8BE0-9D1258625016}"/>
              </a:ext>
            </a:extLst>
          </p:cNvPr>
          <p:cNvSpPr/>
          <p:nvPr/>
        </p:nvSpPr>
        <p:spPr>
          <a:xfrm>
            <a:off x="533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D8F2C-4CC0-1647-972B-A520C4C4C33E}"/>
              </a:ext>
            </a:extLst>
          </p:cNvPr>
          <p:cNvSpPr/>
          <p:nvPr/>
        </p:nvSpPr>
        <p:spPr>
          <a:xfrm>
            <a:off x="1676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3679509"/>
                  </p:ext>
                </p:extLst>
              </p:nvPr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1639" r="-498361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1639" r="-4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1639" r="-3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1639" r="-205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1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1639" r="-3333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103333" r="-498361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103333" r="-4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103333" r="-3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103333" r="-205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3333" r="-1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103333" r="-3333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200000" r="-498361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200000" r="-4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200000" r="-3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200000" r="-205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00000" r="-1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200000" r="-3333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305000" r="-498361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305000" r="-4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305000" r="-3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305000" r="-205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05000" r="-1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305000" r="-3333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398361" r="-4983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398361" r="-4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398361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398361" r="-205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98361" r="-1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398361" r="-3333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506667" r="-498361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506667" r="-4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506667" r="-3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506667" r="-205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506667" r="-1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506667" r="-3333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FDFF170-89CE-A944-B06A-9D9DA36B5360}"/>
              </a:ext>
            </a:extLst>
          </p:cNvPr>
          <p:cNvSpPr/>
          <p:nvPr/>
        </p:nvSpPr>
        <p:spPr>
          <a:xfrm>
            <a:off x="38100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DA5DA2-9008-294E-98F4-CE2F05AA4C98}"/>
              </a:ext>
            </a:extLst>
          </p:cNvPr>
          <p:cNvSpPr/>
          <p:nvPr/>
        </p:nvSpPr>
        <p:spPr>
          <a:xfrm>
            <a:off x="4944035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15BA2-19E7-8842-AFC3-2D9E190F1327}"/>
              </a:ext>
            </a:extLst>
          </p:cNvPr>
          <p:cNvSpPr/>
          <p:nvPr/>
        </p:nvSpPr>
        <p:spPr>
          <a:xfrm>
            <a:off x="3823116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B21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61AF1-878A-4F4B-9304-3AE532191FB7}"/>
              </a:ext>
            </a:extLst>
          </p:cNvPr>
          <p:cNvSpPr/>
          <p:nvPr/>
        </p:nvSpPr>
        <p:spPr>
          <a:xfrm>
            <a:off x="4944035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B22</a:t>
            </a:r>
          </a:p>
        </p:txBody>
      </p:sp>
      <p:sp>
        <p:nvSpPr>
          <p:cNvPr id="14" name="Multiply 40">
            <a:extLst>
              <a:ext uri="{FF2B5EF4-FFF2-40B4-BE49-F238E27FC236}">
                <a16:creationId xmlns:a16="http://schemas.microsoft.com/office/drawing/2014/main" id="{C05174EB-AB60-AB4F-99A1-8542BBA7BBB2}"/>
              </a:ext>
            </a:extLst>
          </p:cNvPr>
          <p:cNvSpPr/>
          <p:nvPr/>
        </p:nvSpPr>
        <p:spPr>
          <a:xfrm>
            <a:off x="3048000" y="25146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62F85446-DF93-85EE-0E04-AABCF966FA0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7818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62F85446-DF93-85EE-0E04-AABCF966FA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46561372"/>
                  </p:ext>
                </p:extLst>
              </p:nvPr>
            </p:nvGraphicFramePr>
            <p:xfrm>
              <a:off x="67818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39" r="-2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639" r="-10327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639" r="-5000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3333" r="-2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03333" r="-10327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03333" r="-5000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0000" r="-2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200000" r="-10327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200000" r="-5000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05000" r="-2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05000" r="-10327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05000" r="-50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98361" r="-2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98361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98361" r="-500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506667" r="-2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506667" r="-10327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506667" r="-5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35D57610-B227-BF39-1E22-ACF9ECAEE83C}"/>
              </a:ext>
            </a:extLst>
          </p:cNvPr>
          <p:cNvSpPr/>
          <p:nvPr/>
        </p:nvSpPr>
        <p:spPr>
          <a:xfrm>
            <a:off x="6781800" y="17526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39099F-8C25-D179-FA92-1113C4EA919B}"/>
              </a:ext>
            </a:extLst>
          </p:cNvPr>
          <p:cNvSpPr/>
          <p:nvPr/>
        </p:nvSpPr>
        <p:spPr>
          <a:xfrm>
            <a:off x="7915835" y="17526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5CA5C8-2C1C-728C-FC15-3626119055C1}"/>
              </a:ext>
            </a:extLst>
          </p:cNvPr>
          <p:cNvSpPr/>
          <p:nvPr/>
        </p:nvSpPr>
        <p:spPr>
          <a:xfrm>
            <a:off x="6794916" y="28575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C21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708EA3-FB58-9B15-C2BA-239B80B15875}"/>
              </a:ext>
            </a:extLst>
          </p:cNvPr>
          <p:cNvSpPr/>
          <p:nvPr/>
        </p:nvSpPr>
        <p:spPr>
          <a:xfrm>
            <a:off x="7915835" y="285750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C22</a:t>
            </a:r>
          </a:p>
        </p:txBody>
      </p:sp>
      <p:sp>
        <p:nvSpPr>
          <p:cNvPr id="21" name="Equal 7">
            <a:extLst>
              <a:ext uri="{FF2B5EF4-FFF2-40B4-BE49-F238E27FC236}">
                <a16:creationId xmlns:a16="http://schemas.microsoft.com/office/drawing/2014/main" id="{E765A8B2-A0DE-0307-29B4-51B86A79A28B}"/>
              </a:ext>
            </a:extLst>
          </p:cNvPr>
          <p:cNvSpPr/>
          <p:nvPr/>
        </p:nvSpPr>
        <p:spPr>
          <a:xfrm>
            <a:off x="6176682" y="25527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/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Divide each matrix into </a:t>
                </a:r>
                <a:r>
                  <a:rPr lang="en-US" b="1" dirty="0"/>
                  <a:t>four</a:t>
                </a:r>
                <a:r>
                  <a:rPr lang="en-US" dirty="0"/>
                  <a:t> n/2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n/2 matrices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blipFill>
                <a:blip r:embed="rId6"/>
                <a:stretch>
                  <a:fillRect l="-104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647562E-9664-C0D8-A910-3275CE2D949E}"/>
              </a:ext>
            </a:extLst>
          </p:cNvPr>
          <p:cNvSpPr txBox="1"/>
          <p:nvPr/>
        </p:nvSpPr>
        <p:spPr>
          <a:xfrm>
            <a:off x="1504672" y="39740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43A870-9A88-77CE-A579-D28F389CF3E8}"/>
              </a:ext>
            </a:extLst>
          </p:cNvPr>
          <p:cNvSpPr txBox="1"/>
          <p:nvPr/>
        </p:nvSpPr>
        <p:spPr>
          <a:xfrm>
            <a:off x="4732661" y="40005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F2F5C-440E-A8B6-D71E-D4F1490B12B6}"/>
              </a:ext>
            </a:extLst>
          </p:cNvPr>
          <p:cNvSpPr txBox="1"/>
          <p:nvPr/>
        </p:nvSpPr>
        <p:spPr>
          <a:xfrm>
            <a:off x="7758580" y="39817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CD9F9E-C54A-708D-E274-8AF45E9BCD59}"/>
              </a:ext>
            </a:extLst>
          </p:cNvPr>
          <p:cNvSpPr/>
          <p:nvPr/>
        </p:nvSpPr>
        <p:spPr>
          <a:xfrm>
            <a:off x="1447800" y="46482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62B5CE-1FFF-E7F4-97FD-0913058AC9D9}"/>
              </a:ext>
            </a:extLst>
          </p:cNvPr>
          <p:cNvSpPr/>
          <p:nvPr/>
        </p:nvSpPr>
        <p:spPr>
          <a:xfrm>
            <a:off x="1461247" y="4986010"/>
            <a:ext cx="2438400" cy="3149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F19971-D780-4A8F-B058-7FF57FF3DE13}"/>
              </a:ext>
            </a:extLst>
          </p:cNvPr>
          <p:cNvSpPr/>
          <p:nvPr/>
        </p:nvSpPr>
        <p:spPr>
          <a:xfrm>
            <a:off x="1447800" y="5342756"/>
            <a:ext cx="2438400" cy="3149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CE8307-5710-B992-EDC5-A608A9090F2C}"/>
              </a:ext>
            </a:extLst>
          </p:cNvPr>
          <p:cNvSpPr/>
          <p:nvPr/>
        </p:nvSpPr>
        <p:spPr>
          <a:xfrm>
            <a:off x="1407128" y="5676900"/>
            <a:ext cx="2438400" cy="3149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80046C-DE22-6DDF-6943-96B54B1B9A7F}"/>
              </a:ext>
            </a:extLst>
          </p:cNvPr>
          <p:cNvSpPr/>
          <p:nvPr/>
        </p:nvSpPr>
        <p:spPr>
          <a:xfrm>
            <a:off x="7137816" y="2136962"/>
            <a:ext cx="381000" cy="3361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75123D-1091-060B-F4C4-1085FD6C9FFA}"/>
              </a:ext>
            </a:extLst>
          </p:cNvPr>
          <p:cNvSpPr/>
          <p:nvPr/>
        </p:nvSpPr>
        <p:spPr>
          <a:xfrm>
            <a:off x="533400" y="2168442"/>
            <a:ext cx="2209800" cy="3361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8D8FF5-5DE7-7346-E85E-310BA758D48D}"/>
              </a:ext>
            </a:extLst>
          </p:cNvPr>
          <p:cNvSpPr/>
          <p:nvPr/>
        </p:nvSpPr>
        <p:spPr>
          <a:xfrm>
            <a:off x="4152900" y="1752600"/>
            <a:ext cx="381000" cy="2171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115F328-4A08-7ACF-6796-3C51D720B419}"/>
                  </a:ext>
                </a:extLst>
              </p:cNvPr>
              <p:cNvSpPr txBox="1"/>
              <p:nvPr/>
            </p:nvSpPr>
            <p:spPr>
              <a:xfrm>
                <a:off x="7080469" y="2078225"/>
                <a:ext cx="490904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115F328-4A08-7ACF-6796-3C51D720B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469" y="2078225"/>
                <a:ext cx="490904" cy="391646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3141C24-9135-95A9-2500-D225ECA57F18}"/>
                  </a:ext>
                </a:extLst>
              </p:cNvPr>
              <p:cNvSpPr txBox="1"/>
              <p:nvPr/>
            </p:nvSpPr>
            <p:spPr>
              <a:xfrm>
                <a:off x="4129979" y="2642627"/>
                <a:ext cx="45307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3141C24-9135-95A9-2500-D225ECA57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79" y="2642627"/>
                <a:ext cx="453073" cy="391646"/>
              </a:xfrm>
              <a:prstGeom prst="rect">
                <a:avLst/>
              </a:prstGeom>
              <a:blipFill>
                <a:blip r:embed="rId8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3F8EA40-E178-5505-E866-3EA0ABC58069}"/>
                  </a:ext>
                </a:extLst>
              </p:cNvPr>
              <p:cNvSpPr txBox="1"/>
              <p:nvPr/>
            </p:nvSpPr>
            <p:spPr>
              <a:xfrm>
                <a:off x="1440199" y="2140707"/>
                <a:ext cx="4580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3F8EA40-E178-5505-E866-3EA0ABC58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99" y="2140707"/>
                <a:ext cx="45807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F32E60E3-8C7F-EF13-A2B9-CF1E968F2A27}"/>
              </a:ext>
            </a:extLst>
          </p:cNvPr>
          <p:cNvSpPr/>
          <p:nvPr/>
        </p:nvSpPr>
        <p:spPr>
          <a:xfrm>
            <a:off x="524435" y="2168441"/>
            <a:ext cx="1075765" cy="3361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5387D2-486D-E546-C9A4-CD5674F73A85}"/>
              </a:ext>
            </a:extLst>
          </p:cNvPr>
          <p:cNvSpPr/>
          <p:nvPr/>
        </p:nvSpPr>
        <p:spPr>
          <a:xfrm>
            <a:off x="1667435" y="2158019"/>
            <a:ext cx="1075765" cy="3361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7927F9-0AE9-E69D-9E71-55E73480F384}"/>
              </a:ext>
            </a:extLst>
          </p:cNvPr>
          <p:cNvSpPr/>
          <p:nvPr/>
        </p:nvSpPr>
        <p:spPr>
          <a:xfrm>
            <a:off x="4161864" y="1752600"/>
            <a:ext cx="381000" cy="1066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A838B6-2526-D965-5546-19D5F4FBA46E}"/>
              </a:ext>
            </a:extLst>
          </p:cNvPr>
          <p:cNvSpPr/>
          <p:nvPr/>
        </p:nvSpPr>
        <p:spPr>
          <a:xfrm>
            <a:off x="4152900" y="2863920"/>
            <a:ext cx="381000" cy="1066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65329C-9C71-EC6E-55D4-25B024C6A1BD}"/>
              </a:ext>
            </a:extLst>
          </p:cNvPr>
          <p:cNvSpPr/>
          <p:nvPr/>
        </p:nvSpPr>
        <p:spPr>
          <a:xfrm>
            <a:off x="2514600" y="46482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14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1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1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4" grpId="1" animBg="1"/>
      <p:bldP spid="46" grpId="0" animBg="1"/>
      <p:bldP spid="46" grpId="1" animBg="1"/>
      <p:bldP spid="47" grpId="0"/>
      <p:bldP spid="48" grpId="0"/>
      <p:bldP spid="48" grpId="1"/>
      <p:bldP spid="49" grpId="0"/>
      <p:bldP spid="49" grpId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7B66-4DEA-714D-A1D4-CAEB5AF7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Fast Matrix Multiplication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1800" dirty="0"/>
                  <a:t>C11 = A11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B11  + A12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B21</a:t>
                </a:r>
              </a:p>
              <a:p>
                <a:r>
                  <a:rPr lang="en-US" sz="1800" dirty="0"/>
                  <a:t>C12 = A11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B12  + A12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B22</a:t>
                </a:r>
              </a:p>
              <a:p>
                <a:r>
                  <a:rPr lang="en-US" sz="1800" dirty="0"/>
                  <a:t>C21 = A21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B11  + A22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B21 </a:t>
                </a:r>
              </a:p>
              <a:p>
                <a:r>
                  <a:rPr lang="en-US" sz="1800" dirty="0"/>
                  <a:t>C22 = A21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B12  + A22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800" dirty="0"/>
                  <a:t> B22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/2) +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354B31B-D472-8446-8912-A305E63BCE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93310948"/>
                  </p:ext>
                </p:extLst>
              </p:nvPr>
            </p:nvGraphicFramePr>
            <p:xfrm>
              <a:off x="5334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39" r="-2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639" r="-10327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639" r="-5000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3333" r="-2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03333" r="-10327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03333" r="-5000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0000" r="-2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200000" r="-10327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200000" r="-5000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05000" r="-2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05000" r="-10327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05000" r="-50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98361" r="-2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98361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98361" r="-500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506667" r="-2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506667" r="-10327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506667" r="-5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E0C32A3-B8AC-FC49-B449-6E2739057F0B}"/>
              </a:ext>
            </a:extLst>
          </p:cNvPr>
          <p:cNvSpPr/>
          <p:nvPr/>
        </p:nvSpPr>
        <p:spPr>
          <a:xfrm>
            <a:off x="533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80DB9-EBDE-9E48-9AAC-5EE6B8DD5447}"/>
              </a:ext>
            </a:extLst>
          </p:cNvPr>
          <p:cNvSpPr/>
          <p:nvPr/>
        </p:nvSpPr>
        <p:spPr>
          <a:xfrm>
            <a:off x="16764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8CF14-A8BD-2344-8BE0-9D1258625016}"/>
              </a:ext>
            </a:extLst>
          </p:cNvPr>
          <p:cNvSpPr/>
          <p:nvPr/>
        </p:nvSpPr>
        <p:spPr>
          <a:xfrm>
            <a:off x="533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D8F2C-4CC0-1647-972B-A520C4C4C33E}"/>
              </a:ext>
            </a:extLst>
          </p:cNvPr>
          <p:cNvSpPr/>
          <p:nvPr/>
        </p:nvSpPr>
        <p:spPr>
          <a:xfrm>
            <a:off x="1676400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00B8F1FE-33F9-0F4B-81A7-E3CCC8D1D8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3679509"/>
                  </p:ext>
                </p:extLst>
              </p:nvPr>
            </p:nvGraphicFramePr>
            <p:xfrm>
              <a:off x="38100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1639" r="-498361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1639" r="-4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1639" r="-3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1639" r="-205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1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1639" r="-3333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103333" r="-498361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103333" r="-4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103333" r="-3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103333" r="-205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3333" r="-1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103333" r="-3333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200000" r="-498361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200000" r="-4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200000" r="-3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200000" r="-205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00000" r="-1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200000" r="-3333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305000" r="-498361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305000" r="-4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305000" r="-3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305000" r="-205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05000" r="-1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305000" r="-3333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398361" r="-49836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398361" r="-4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398361" r="-3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398361" r="-205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98361" r="-1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398361" r="-3333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79" t="-506667" r="-498361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5000" t="-506667" r="-4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639" t="-506667" r="-3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6667" t="-506667" r="-205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506667" r="-1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8333" t="-506667" r="-3333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FDFF170-89CE-A944-B06A-9D9DA36B5360}"/>
              </a:ext>
            </a:extLst>
          </p:cNvPr>
          <p:cNvSpPr/>
          <p:nvPr/>
        </p:nvSpPr>
        <p:spPr>
          <a:xfrm>
            <a:off x="38100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DA5DA2-9008-294E-98F4-CE2F05AA4C98}"/>
              </a:ext>
            </a:extLst>
          </p:cNvPr>
          <p:cNvSpPr/>
          <p:nvPr/>
        </p:nvSpPr>
        <p:spPr>
          <a:xfrm>
            <a:off x="4944035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15BA2-19E7-8842-AFC3-2D9E190F1327}"/>
              </a:ext>
            </a:extLst>
          </p:cNvPr>
          <p:cNvSpPr/>
          <p:nvPr/>
        </p:nvSpPr>
        <p:spPr>
          <a:xfrm>
            <a:off x="3823116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B21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61AF1-878A-4F4B-9304-3AE532191FB7}"/>
              </a:ext>
            </a:extLst>
          </p:cNvPr>
          <p:cNvSpPr/>
          <p:nvPr/>
        </p:nvSpPr>
        <p:spPr>
          <a:xfrm>
            <a:off x="4944035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B22</a:t>
            </a:r>
          </a:p>
        </p:txBody>
      </p:sp>
      <p:sp>
        <p:nvSpPr>
          <p:cNvPr id="14" name="Multiply 40">
            <a:extLst>
              <a:ext uri="{FF2B5EF4-FFF2-40B4-BE49-F238E27FC236}">
                <a16:creationId xmlns:a16="http://schemas.microsoft.com/office/drawing/2014/main" id="{C05174EB-AB60-AB4F-99A1-8542BBA7BBB2}"/>
              </a:ext>
            </a:extLst>
          </p:cNvPr>
          <p:cNvSpPr/>
          <p:nvPr/>
        </p:nvSpPr>
        <p:spPr>
          <a:xfrm>
            <a:off x="3048000" y="25146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F0F891-F3C4-6345-9D48-4623268BFFE6}"/>
                  </a:ext>
                </a:extLst>
              </p:cNvPr>
              <p:cNvSpPr txBox="1"/>
              <p:nvPr/>
            </p:nvSpPr>
            <p:spPr>
              <a:xfrm>
                <a:off x="3886200" y="6182380"/>
                <a:ext cx="465191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F0F891-F3C4-6345-9D48-4623268BF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6182380"/>
                <a:ext cx="4651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62F85446-DF93-85EE-0E04-AABCF966FA0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7818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62F85446-DF93-85EE-0E04-AABCF966FA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46561372"/>
                  </p:ext>
                </p:extLst>
              </p:nvPr>
            </p:nvGraphicFramePr>
            <p:xfrm>
              <a:off x="6781800" y="17526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39" r="-2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639" r="-10327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639" r="-5000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3333" r="-2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103333" r="-10327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103333" r="-5000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0000" r="-2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200000" r="-10327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200000" r="-5000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05000" r="-2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05000" r="-10327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05000" r="-50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398361" r="-2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398361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398361" r="-500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506667" r="-2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8361" t="-506667" r="-10327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6667" t="-506667" r="-5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35D57610-B227-BF39-1E22-ACF9ECAEE83C}"/>
              </a:ext>
            </a:extLst>
          </p:cNvPr>
          <p:cNvSpPr/>
          <p:nvPr/>
        </p:nvSpPr>
        <p:spPr>
          <a:xfrm>
            <a:off x="6781800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39099F-8C25-D179-FA92-1113C4EA919B}"/>
              </a:ext>
            </a:extLst>
          </p:cNvPr>
          <p:cNvSpPr/>
          <p:nvPr/>
        </p:nvSpPr>
        <p:spPr>
          <a:xfrm>
            <a:off x="7915835" y="17526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5CA5C8-2C1C-728C-FC15-3626119055C1}"/>
              </a:ext>
            </a:extLst>
          </p:cNvPr>
          <p:cNvSpPr/>
          <p:nvPr/>
        </p:nvSpPr>
        <p:spPr>
          <a:xfrm>
            <a:off x="6794916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C21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708EA3-FB58-9B15-C2BA-239B80B15875}"/>
              </a:ext>
            </a:extLst>
          </p:cNvPr>
          <p:cNvSpPr/>
          <p:nvPr/>
        </p:nvSpPr>
        <p:spPr>
          <a:xfrm>
            <a:off x="7915835" y="2857500"/>
            <a:ext cx="1066800" cy="106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C22</a:t>
            </a:r>
          </a:p>
        </p:txBody>
      </p:sp>
      <p:sp>
        <p:nvSpPr>
          <p:cNvPr id="21" name="Equal 7">
            <a:extLst>
              <a:ext uri="{FF2B5EF4-FFF2-40B4-BE49-F238E27FC236}">
                <a16:creationId xmlns:a16="http://schemas.microsoft.com/office/drawing/2014/main" id="{E765A8B2-A0DE-0307-29B4-51B86A79A28B}"/>
              </a:ext>
            </a:extLst>
          </p:cNvPr>
          <p:cNvSpPr/>
          <p:nvPr/>
        </p:nvSpPr>
        <p:spPr>
          <a:xfrm>
            <a:off x="6176682" y="25527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/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Divide each matrix into </a:t>
                </a:r>
                <a:r>
                  <a:rPr lang="en-US" b="1" dirty="0"/>
                  <a:t>four</a:t>
                </a:r>
                <a:r>
                  <a:rPr lang="en-US" dirty="0"/>
                  <a:t> n/2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n/2 matrices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5FF124-55AC-EEF7-7E30-0EFDCAFAF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761" y="934574"/>
                <a:ext cx="4687373" cy="369332"/>
              </a:xfrm>
              <a:prstGeom prst="rect">
                <a:avLst/>
              </a:prstGeom>
              <a:blipFill>
                <a:blip r:embed="rId6"/>
                <a:stretch>
                  <a:fillRect l="-104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Brace 26">
            <a:extLst>
              <a:ext uri="{FF2B5EF4-FFF2-40B4-BE49-F238E27FC236}">
                <a16:creationId xmlns:a16="http://schemas.microsoft.com/office/drawing/2014/main" id="{B0E5AB3C-79A5-B9CE-9EC4-CF12BD70860F}"/>
              </a:ext>
            </a:extLst>
          </p:cNvPr>
          <p:cNvSpPr/>
          <p:nvPr/>
        </p:nvSpPr>
        <p:spPr>
          <a:xfrm>
            <a:off x="3581400" y="4647384"/>
            <a:ext cx="397116" cy="149027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58A953-A24D-185F-604E-DB773F83DAAF}"/>
                  </a:ext>
                </a:extLst>
              </p:cNvPr>
              <p:cNvSpPr txBox="1"/>
              <p:nvPr/>
            </p:nvSpPr>
            <p:spPr>
              <a:xfrm>
                <a:off x="3969337" y="4574528"/>
                <a:ext cx="4366901" cy="42050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IN" sz="1600" dirty="0"/>
                  <a:t> multiplications &amp;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IN" sz="1600" dirty="0"/>
                  <a:t> additions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600" dirty="0"/>
                  <a:t> matrices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58A953-A24D-185F-604E-DB773F83D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337" y="4574528"/>
                <a:ext cx="4366901" cy="420500"/>
              </a:xfrm>
              <a:prstGeom prst="rect">
                <a:avLst/>
              </a:prstGeom>
              <a:blipFill>
                <a:blip r:embed="rId7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310F45-C723-2D63-76D3-1B454BDA340E}"/>
                  </a:ext>
                </a:extLst>
              </p:cNvPr>
              <p:cNvSpPr txBox="1"/>
              <p:nvPr/>
            </p:nvSpPr>
            <p:spPr>
              <a:xfrm>
                <a:off x="3839776" y="5693935"/>
                <a:ext cx="1637263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IN" sz="1600" dirty="0"/>
                  <a:t> multiplications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310F45-C723-2D63-76D3-1B454BDA3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776" y="5693935"/>
                <a:ext cx="1637263" cy="338554"/>
              </a:xfrm>
              <a:prstGeom prst="rect">
                <a:avLst/>
              </a:prstGeom>
              <a:blipFill>
                <a:blip r:embed="rId8"/>
                <a:stretch>
                  <a:fillRect t="-714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Down 29">
            <a:extLst>
              <a:ext uri="{FF2B5EF4-FFF2-40B4-BE49-F238E27FC236}">
                <a16:creationId xmlns:a16="http://schemas.microsoft.com/office/drawing/2014/main" id="{4ED8B9D5-86AD-72D3-73A9-1DFB8AC7B28E}"/>
              </a:ext>
            </a:extLst>
          </p:cNvPr>
          <p:cNvSpPr/>
          <p:nvPr/>
        </p:nvSpPr>
        <p:spPr>
          <a:xfrm>
            <a:off x="6073919" y="4986010"/>
            <a:ext cx="378955" cy="7079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F7FAD0-60A9-1A4D-3BA2-0FF744E762BD}"/>
                  </a:ext>
                </a:extLst>
              </p:cNvPr>
              <p:cNvSpPr txBox="1"/>
              <p:nvPr/>
            </p:nvSpPr>
            <p:spPr>
              <a:xfrm>
                <a:off x="8205436" y="6313683"/>
                <a:ext cx="10782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F7FAD0-60A9-1A4D-3BA2-0FF744E76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436" y="6313683"/>
                <a:ext cx="1078244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647562E-9664-C0D8-A910-3275CE2D949E}"/>
              </a:ext>
            </a:extLst>
          </p:cNvPr>
          <p:cNvSpPr txBox="1"/>
          <p:nvPr/>
        </p:nvSpPr>
        <p:spPr>
          <a:xfrm>
            <a:off x="1504672" y="39740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43A870-9A88-77CE-A579-D28F389CF3E8}"/>
              </a:ext>
            </a:extLst>
          </p:cNvPr>
          <p:cNvSpPr txBox="1"/>
          <p:nvPr/>
        </p:nvSpPr>
        <p:spPr>
          <a:xfrm>
            <a:off x="4732661" y="40005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F2F5C-440E-A8B6-D71E-D4F1490B12B6}"/>
              </a:ext>
            </a:extLst>
          </p:cNvPr>
          <p:cNvSpPr txBox="1"/>
          <p:nvPr/>
        </p:nvSpPr>
        <p:spPr>
          <a:xfrm>
            <a:off x="7758580" y="39817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FA6A83-8FD0-BC77-DFF2-D5B4C10DB974}"/>
                  </a:ext>
                </a:extLst>
              </p:cNvPr>
              <p:cNvSpPr txBox="1"/>
              <p:nvPr/>
            </p:nvSpPr>
            <p:spPr>
              <a:xfrm>
                <a:off x="6687612" y="6307527"/>
                <a:ext cx="1452321" cy="38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8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FA6A83-8FD0-BC77-DFF2-D5B4C10DB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612" y="6307527"/>
                <a:ext cx="1452321" cy="381643"/>
              </a:xfrm>
              <a:prstGeom prst="rect">
                <a:avLst/>
              </a:prstGeom>
              <a:blipFill>
                <a:blip r:embed="rId10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1116051-5D46-1453-842B-31340391BF7D}"/>
                  </a:ext>
                </a:extLst>
              </p:cNvPr>
              <p:cNvSpPr txBox="1"/>
              <p:nvPr/>
            </p:nvSpPr>
            <p:spPr>
              <a:xfrm>
                <a:off x="7994824" y="6330113"/>
                <a:ext cx="13090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2.81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1116051-5D46-1453-842B-31340391B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824" y="6330113"/>
                <a:ext cx="1309076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A4978A-374B-1E17-2D25-E830921C8D57}"/>
                  </a:ext>
                </a:extLst>
              </p:cNvPr>
              <p:cNvSpPr txBox="1"/>
              <p:nvPr/>
            </p:nvSpPr>
            <p:spPr>
              <a:xfrm>
                <a:off x="6477000" y="6323957"/>
                <a:ext cx="1452321" cy="38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7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5A4978A-374B-1E17-2D25-E830921C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6323957"/>
                <a:ext cx="1452321" cy="381643"/>
              </a:xfrm>
              <a:prstGeom prst="rect">
                <a:avLst/>
              </a:prstGeom>
              <a:blipFill>
                <a:blip r:embed="rId1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842CF08-A33E-6374-DA03-788BA82DDEDB}"/>
              </a:ext>
            </a:extLst>
          </p:cNvPr>
          <p:cNvSpPr/>
          <p:nvPr/>
        </p:nvSpPr>
        <p:spPr>
          <a:xfrm>
            <a:off x="6633882" y="5147105"/>
            <a:ext cx="2371164" cy="378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Volker Strassen, 1969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93CFEA-234B-5C47-F38B-6E26B46DED2E}"/>
                  </a:ext>
                </a:extLst>
              </p:cNvPr>
              <p:cNvSpPr txBox="1"/>
              <p:nvPr/>
            </p:nvSpPr>
            <p:spPr>
              <a:xfrm>
                <a:off x="5334000" y="5634527"/>
                <a:ext cx="3973204" cy="42050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&amp;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en-IN" sz="1600" dirty="0"/>
                  <a:t> additions/subtractions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600" dirty="0"/>
                  <a:t> matrices</a:t>
                </a:r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93CFEA-234B-5C47-F38B-6E26B46D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5634527"/>
                <a:ext cx="3973204" cy="420500"/>
              </a:xfrm>
              <a:prstGeom prst="rect">
                <a:avLst/>
              </a:prstGeom>
              <a:blipFill>
                <a:blip r:embed="rId13"/>
                <a:stretch>
                  <a:fillRect l="-958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34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27" grpId="0" animBg="1"/>
      <p:bldP spid="28" grpId="0" animBg="1"/>
      <p:bldP spid="29" grpId="0" animBg="1"/>
      <p:bldP spid="30" grpId="0" animBg="1"/>
      <p:bldP spid="31" grpId="0"/>
      <p:bldP spid="31" grpId="1"/>
      <p:bldP spid="35" grpId="0"/>
      <p:bldP spid="35" grpId="1"/>
      <p:bldP spid="36" grpId="0"/>
      <p:bldP spid="37" grpId="0"/>
      <p:bldP spid="37" grpId="1"/>
      <p:bldP spid="38" grpId="0" animBg="1"/>
      <p:bldP spid="22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E9E1C5-D236-0395-B1C8-993AA2F3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Fast Matrix Multiplication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67E0C1-186D-7470-1FE2-E86CF698E9E0}"/>
              </a:ext>
            </a:extLst>
          </p:cNvPr>
          <p:cNvSpPr/>
          <p:nvPr/>
        </p:nvSpPr>
        <p:spPr>
          <a:xfrm>
            <a:off x="2895600" y="1876660"/>
            <a:ext cx="2371164" cy="378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Volker Strassen, 1969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386392-3F1B-3CDC-FC29-ECC8EA49F690}"/>
                  </a:ext>
                </a:extLst>
              </p:cNvPr>
              <p:cNvSpPr txBox="1"/>
              <p:nvPr/>
            </p:nvSpPr>
            <p:spPr>
              <a:xfrm>
                <a:off x="6397591" y="3733800"/>
                <a:ext cx="16024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2.37286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386392-3F1B-3CDC-FC29-ECC8EA49F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591" y="3733800"/>
                <a:ext cx="1602426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610D97-EE2D-FCED-95EB-420983E1F09D}"/>
              </a:ext>
            </a:extLst>
          </p:cNvPr>
          <p:cNvSpPr/>
          <p:nvPr/>
        </p:nvSpPr>
        <p:spPr>
          <a:xfrm>
            <a:off x="2362200" y="3733800"/>
            <a:ext cx="3514164" cy="378297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Virginia </a:t>
            </a:r>
            <a:r>
              <a:rPr lang="en-US" dirty="0" err="1"/>
              <a:t>Vassilevska</a:t>
            </a:r>
            <a:r>
              <a:rPr lang="en-US" dirty="0"/>
              <a:t> Williams, 2020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A9D6F5-1AA4-EA92-CBA1-431C015EBA76}"/>
                  </a:ext>
                </a:extLst>
              </p:cNvPr>
              <p:cNvSpPr txBox="1"/>
              <p:nvPr/>
            </p:nvSpPr>
            <p:spPr>
              <a:xfrm>
                <a:off x="6393109" y="1876660"/>
                <a:ext cx="13090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2.81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A9D6F5-1AA4-EA92-CBA1-431C015EB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109" y="1876660"/>
                <a:ext cx="130907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1A52B590-7A32-0376-1B4E-0068630A1528}"/>
              </a:ext>
            </a:extLst>
          </p:cNvPr>
          <p:cNvSpPr/>
          <p:nvPr/>
        </p:nvSpPr>
        <p:spPr>
          <a:xfrm>
            <a:off x="3874384" y="2307189"/>
            <a:ext cx="489796" cy="137408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6DB06A-0C53-6C70-1F0C-04C76ABAB22B}"/>
                  </a:ext>
                </a:extLst>
              </p:cNvPr>
              <p:cNvSpPr txBox="1"/>
              <p:nvPr/>
            </p:nvSpPr>
            <p:spPr>
              <a:xfrm>
                <a:off x="3505200" y="4782113"/>
                <a:ext cx="1528239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2.37286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6DB06A-0C53-6C70-1F0C-04C76ABAB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782113"/>
                <a:ext cx="152823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27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B1CB91-8887-294E-AC80-984C989D6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Amazing Applications of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82A764-BDE8-7B4B-A8BF-1FDD163F2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Fast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60534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C79B-CF45-AB90-115F-47C47720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The main insight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49D5AA-03B7-270A-FA7E-2B11306BD3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915400" cy="4525963"/>
              </a:xfrm>
            </p:spPr>
            <p:txBody>
              <a:bodyPr>
                <a:normAutofit/>
              </a:bodyPr>
              <a:lstStyle/>
              <a:p>
                <a:endParaRPr lang="en-US" sz="2000" dirty="0"/>
              </a:p>
              <a:p>
                <a:r>
                  <a:rPr lang="en-US" sz="2000" dirty="0"/>
                  <a:t>There are many fundamental graph algorithmic problems that take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endParaRPr lang="en-US" sz="2000" dirty="0"/>
              </a:p>
              <a:p>
                <a:pPr>
                  <a:buFont typeface="Wingdings" pitchFamily="2" charset="2"/>
                  <a:buChar char="è"/>
                </a:pPr>
                <a:r>
                  <a:rPr lang="en-US" sz="2000" dirty="0"/>
                  <a:t>The fast algorithm for matrix multiplication leads to the following question.</a:t>
                </a:r>
              </a:p>
              <a:p>
                <a:pPr>
                  <a:buFont typeface="Wingdings" pitchFamily="2" charset="2"/>
                  <a:buChar char="è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Can we solve a graph algorithmic problem using fast matrix multiplication ?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49D5AA-03B7-270A-FA7E-2B11306BD3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915400" cy="4525963"/>
              </a:xfrm>
              <a:blipFill>
                <a:blip r:embed="rId2"/>
                <a:stretch>
                  <a:fillRect l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18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All Pairs Reachability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BFS </a:t>
                </a:r>
                <a:r>
                  <a:rPr lang="en-US" sz="2000" dirty="0"/>
                  <a:t>or </a:t>
                </a:r>
                <a:r>
                  <a:rPr lang="en-US" sz="2000" b="1" dirty="0"/>
                  <a:t>DFS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   </a:t>
                </a:r>
                <a:r>
                  <a:rPr lang="en-US" sz="2000" b="1" dirty="0">
                    <a:sym typeface="Wingdings" pitchFamily="2" charset="2"/>
                  </a:rPr>
                  <a:t> 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in the worst case.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Time complexity for APR: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𝝎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49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All Pairs Shortest Paths (APSP)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Standard Algorithms:</a:t>
                </a:r>
              </a:p>
              <a:p>
                <a:r>
                  <a:rPr lang="en-US" sz="2000" b="1" dirty="0"/>
                  <a:t>Floyd </a:t>
                </a:r>
                <a:r>
                  <a:rPr lang="en-US" sz="2000" b="1" dirty="0" err="1"/>
                  <a:t>Warshal</a:t>
                </a:r>
                <a:r>
                  <a:rPr lang="en-US" sz="2000" b="1" dirty="0"/>
                  <a:t> </a:t>
                </a:r>
                <a:r>
                  <a:rPr lang="en-US" sz="2000" dirty="0"/>
                  <a:t>Algorithm</a:t>
                </a:r>
              </a:p>
              <a:p>
                <a:r>
                  <a:rPr lang="en-US" sz="2000" b="1" dirty="0" err="1"/>
                  <a:t>Dijkstra</a:t>
                </a:r>
                <a:r>
                  <a:rPr lang="en-US" sz="2000" dirty="0" err="1"/>
                  <a:t>’s</a:t>
                </a:r>
                <a:r>
                  <a:rPr lang="en-US" sz="2000" dirty="0"/>
                  <a:t> Algorithm</a:t>
                </a:r>
              </a:p>
              <a:p>
                <a:r>
                  <a:rPr lang="en-US" sz="2000" dirty="0"/>
                  <a:t>BFS traversal (for </a:t>
                </a:r>
                <a:r>
                  <a:rPr lang="en-US" sz="2000" dirty="0" err="1"/>
                  <a:t>unweighted</a:t>
                </a:r>
                <a:r>
                  <a:rPr lang="en-US" sz="2000" dirty="0"/>
                  <a:t> graphs)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7030A0"/>
                    </a:solidFill>
                  </a:rPr>
                  <a:t>Raimund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Seidel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On the All-Pairs-Shortest-Path Problem in </a:t>
                </a:r>
                <a:r>
                  <a:rPr lang="en-US" sz="2000" dirty="0" err="1"/>
                  <a:t>Unweighted</a:t>
                </a:r>
                <a:r>
                  <a:rPr lang="en-US" sz="2000" dirty="0"/>
                  <a:t> Undirected Graphs,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JCSS,</a:t>
                </a:r>
                <a:r>
                  <a:rPr lang="en-US" sz="2000" dirty="0"/>
                  <a:t> 51(3): 400-403 (1995)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Time complexity for APSP: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𝝎</m:t>
                        </m:r>
                      </m:sup>
                    </m:sSup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log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4875276" y="1981200"/>
            <a:ext cx="3140473" cy="990600"/>
            <a:chOff x="4875276" y="1981200"/>
            <a:chExt cx="3140473" cy="990600"/>
          </a:xfrm>
        </p:grpSpPr>
        <p:sp>
          <p:nvSpPr>
            <p:cNvPr id="6" name="Right Brace 5"/>
            <p:cNvSpPr/>
            <p:nvPr/>
          </p:nvSpPr>
          <p:spPr>
            <a:xfrm>
              <a:off x="4875276" y="1981200"/>
              <a:ext cx="230124" cy="99060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105400" y="2286000"/>
                  <a:ext cx="2910349" cy="3755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/>
                    <a:t>O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time in the worst case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286000"/>
                  <a:ext cx="2910349" cy="37555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887" t="-6452" r="-2725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2925337" y="838200"/>
            <a:ext cx="3359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Matrix Multiplication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E76D2-0B98-F8F5-8FA2-04EDDEF7D6FB}"/>
              </a:ext>
            </a:extLst>
          </p:cNvPr>
          <p:cNvSpPr/>
          <p:nvPr/>
        </p:nvSpPr>
        <p:spPr>
          <a:xfrm>
            <a:off x="4572000" y="3733800"/>
            <a:ext cx="37338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5A295-C3F7-23D0-D628-792A214206DB}"/>
              </a:ext>
            </a:extLst>
          </p:cNvPr>
          <p:cNvSpPr/>
          <p:nvPr/>
        </p:nvSpPr>
        <p:spPr>
          <a:xfrm>
            <a:off x="3352800" y="4822506"/>
            <a:ext cx="37338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7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But why did anyone think of this approach 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must have been some obvious connection between graphs and matrices.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Indeed, there is such a connection.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Can you spot it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Answer: </a:t>
            </a:r>
          </a:p>
          <a:p>
            <a:pPr marL="0" indent="0">
              <a:buNone/>
            </a:pPr>
            <a:r>
              <a:rPr lang="en-US" sz="2000" dirty="0"/>
              <a:t>                Each graph is represented as </a:t>
            </a:r>
            <a:r>
              <a:rPr lang="en-US" sz="2000" u="sng" dirty="0"/>
              <a:t>an adjacency matrix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But which matrices should be multiplied to solve a given graph problem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Ponder over it before going to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19888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A5D2-1E89-0D4D-956E-55855BCE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Transitive Closure </a:t>
            </a:r>
            <a:r>
              <a:rPr lang="en-US" sz="3600" b="1" dirty="0"/>
              <a:t>of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9A4EC-F4D5-1F4B-8DAF-E8D3078BE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2000" dirty="0"/>
                  <a:t>) be a directed graph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/>
                  <a:t> vertices.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:</a:t>
                </a:r>
                <a:r>
                  <a:rPr lang="en-US" sz="2000" dirty="0"/>
                  <a:t> </a:t>
                </a: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000" dirty="0"/>
                  <a:t>) is the transitive closure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if the following condition holds.</a:t>
                </a:r>
              </a:p>
              <a:p>
                <a:pPr marL="0" indent="0">
                  <a:buNone/>
                </a:pP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000" dirty="0"/>
                  <a:t>  if and only if there is a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𝝎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9A4EC-F4D5-1F4B-8DAF-E8D3078BE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1963424-F135-EA46-92BB-3E99D70196AF}"/>
              </a:ext>
            </a:extLst>
          </p:cNvPr>
          <p:cNvSpPr/>
          <p:nvPr/>
        </p:nvSpPr>
        <p:spPr>
          <a:xfrm>
            <a:off x="4572000" y="3297393"/>
            <a:ext cx="37338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A10A6-10A4-42B4-3563-3CAC8867008F}"/>
              </a:ext>
            </a:extLst>
          </p:cNvPr>
          <p:cNvSpPr/>
          <p:nvPr/>
        </p:nvSpPr>
        <p:spPr>
          <a:xfrm>
            <a:off x="1676400" y="3396612"/>
            <a:ext cx="37338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C1D38-0C78-D3EC-DB7F-4502853DCBE5}"/>
              </a:ext>
            </a:extLst>
          </p:cNvPr>
          <p:cNvSpPr/>
          <p:nvPr/>
        </p:nvSpPr>
        <p:spPr>
          <a:xfrm>
            <a:off x="3048000" y="3853850"/>
            <a:ext cx="3733800" cy="565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24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2B92C4F-24AC-A55F-B98C-D46896A74429}"/>
              </a:ext>
            </a:extLst>
          </p:cNvPr>
          <p:cNvSpPr/>
          <p:nvPr/>
        </p:nvSpPr>
        <p:spPr>
          <a:xfrm>
            <a:off x="8596278" y="1568824"/>
            <a:ext cx="257245" cy="240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63980770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63980770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279" r="-4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279" r="-406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279" r="-3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279" r="-2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279" r="-101639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3279" r="-3333" b="-5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105000" r="-4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105000" r="-406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105000" r="-3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105000" r="-2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05000" r="-10163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105000" r="-3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201639" r="-4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201639" r="-406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201639" r="-3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201639" r="-2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01639" r="-101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201639" r="-33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06667" r="-4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06667" r="-406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06667" r="-3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06667" r="-2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06667" r="-1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400000" r="-4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400000" r="-406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400000" r="-3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400000" r="-2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00000" r="-10163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400000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508333" r="-4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508333" r="-406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508333" r="-3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08333" r="-1016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508333" r="-333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4" name="Equal 43"/>
          <p:cNvSpPr/>
          <p:nvPr/>
        </p:nvSpPr>
        <p:spPr>
          <a:xfrm>
            <a:off x="56388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225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6667" r="-14286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106667" r="-14286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206667" r="-14286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306667" r="-14286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406667" r="-14286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506667" r="-14286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Multiply 40">
            <a:extLst>
              <a:ext uri="{FF2B5EF4-FFF2-40B4-BE49-F238E27FC236}">
                <a16:creationId xmlns:a16="http://schemas.microsoft.com/office/drawing/2014/main" id="{5F01895B-BE7F-54F9-8C9F-EB6277B97714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42299200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42299200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4911829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4911829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448" r="-3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448" r="-2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448" r="-1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448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103448" r="-3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103448" r="-2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103448" r="-1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103448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203448" r="-3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203448" r="-2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203448" r="-1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203448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03448" r="-3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03448" r="-2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03448" r="-1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03448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403448" r="-3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403448" r="-2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403448" r="-1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403448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503448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503448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503448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503448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115981"/>
                  </p:ext>
                </p:extLst>
              </p:nvPr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6667" r="-12500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106667" r="-12500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206667" r="-12500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306667" r="-12500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406667" r="-12500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506667" r="-12500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4548446"/>
                  </p:ext>
                </p:extLst>
              </p:nvPr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A1F357A-456E-734B-893A-2EA689738A03}"/>
              </a:ext>
            </a:extLst>
          </p:cNvPr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635022-0A17-7E9D-D693-0399842FCE0C}"/>
                </a:ext>
              </a:extLst>
            </p:cNvPr>
            <p:cNvGrpSpPr/>
            <p:nvPr/>
          </p:nvGrpSpPr>
          <p:grpSpPr>
            <a:xfrm>
              <a:off x="228600" y="4355068"/>
              <a:ext cx="3899651" cy="2121932"/>
              <a:chOff x="228600" y="4355068"/>
              <a:chExt cx="3899651" cy="21219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24D58871-B013-D76A-1D52-ABA87D16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0033943-52E7-B430-9F66-4DAEBA1F178D}"/>
                  </a:ext>
                </a:extLst>
              </p:cNvPr>
              <p:cNvGrpSpPr/>
              <p:nvPr/>
            </p:nvGrpSpPr>
            <p:grpSpPr>
              <a:xfrm>
                <a:off x="228600" y="4648200"/>
                <a:ext cx="3899651" cy="1828800"/>
                <a:chOff x="2866955" y="4648200"/>
                <a:chExt cx="3899651" cy="1828800"/>
              </a:xfrm>
            </p:grpSpPr>
            <p:pic>
              <p:nvPicPr>
                <p:cNvPr id="6" name="Picture 2">
                  <a:extLst>
                    <a:ext uri="{FF2B5EF4-FFF2-40B4-BE49-F238E27FC236}">
                      <a16:creationId xmlns:a16="http://schemas.microsoft.com/office/drawing/2014/main" id="{E86BD420-7478-4C9C-0DF3-34A186E992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567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4186ED0E-1DA0-55CA-98DC-D16F8DAF34C4}"/>
                    </a:ext>
                  </a:extLst>
                </p:cNvPr>
                <p:cNvCxnSpPr>
                  <a:stCxn id="6" idx="0"/>
                  <a:endCxn id="9" idx="1"/>
                </p:cNvCxnSpPr>
                <p:nvPr/>
              </p:nvCxnSpPr>
              <p:spPr>
                <a:xfrm flipV="1">
                  <a:off x="5034776" y="4724400"/>
                  <a:ext cx="600307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2">
                  <a:extLst>
                    <a:ext uri="{FF2B5EF4-FFF2-40B4-BE49-F238E27FC236}">
                      <a16:creationId xmlns:a16="http://schemas.microsoft.com/office/drawing/2014/main" id="{7E670898-177A-5645-4605-9EBEBB7BB4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283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" name="Picture 2">
                  <a:extLst>
                    <a:ext uri="{FF2B5EF4-FFF2-40B4-BE49-F238E27FC236}">
                      <a16:creationId xmlns:a16="http://schemas.microsoft.com/office/drawing/2014/main" id="{033344FC-8C9A-E9F9-DA5D-559179BAE6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5083" y="4648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15C85396-90E0-47D6-9471-14351EE5D1E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8800" y="59436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B56E7E0-9BB1-08AA-F980-6364D78185C3}"/>
                    </a:ext>
                  </a:extLst>
                </p:cNvPr>
                <p:cNvCxnSpPr>
                  <a:stCxn id="9" idx="3"/>
                  <a:endCxn id="8" idx="0"/>
                </p:cNvCxnSpPr>
                <p:nvPr/>
              </p:nvCxnSpPr>
              <p:spPr>
                <a:xfrm>
                  <a:off x="5791200" y="4724400"/>
                  <a:ext cx="615176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B3D53B9-15F3-F574-3488-C9420C79C9B4}"/>
                    </a:ext>
                  </a:extLst>
                </p:cNvPr>
                <p:cNvCxnSpPr>
                  <a:stCxn id="6" idx="2"/>
                  <a:endCxn id="10" idx="1"/>
                </p:cNvCxnSpPr>
                <p:nvPr/>
              </p:nvCxnSpPr>
              <p:spPr>
                <a:xfrm>
                  <a:off x="5034776" y="5486400"/>
                  <a:ext cx="604024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4A9D68A-4C88-5B1E-33B8-4A73D2F6BA36}"/>
                    </a:ext>
                  </a:extLst>
                </p:cNvPr>
                <p:cNvCxnSpPr>
                  <a:cxnSpLocks/>
                  <a:stCxn id="10" idx="3"/>
                  <a:endCxn id="8" idx="2"/>
                </p:cNvCxnSpPr>
                <p:nvPr/>
              </p:nvCxnSpPr>
              <p:spPr>
                <a:xfrm flipV="1">
                  <a:off x="5794917" y="5486400"/>
                  <a:ext cx="611459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4" name="Picture 2">
                  <a:extLst>
                    <a:ext uri="{FF2B5EF4-FFF2-40B4-BE49-F238E27FC236}">
                      <a16:creationId xmlns:a16="http://schemas.microsoft.com/office/drawing/2014/main" id="{32F4183A-D4AB-B381-B5D9-634B336117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24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A5EC3534-5E56-4947-ADBF-077BAED19D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718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30C2B40-C92A-B14E-20DA-ACE30D8D19A5}"/>
                    </a:ext>
                  </a:extLst>
                </p:cNvPr>
                <p:cNvCxnSpPr>
                  <a:endCxn id="6" idx="1"/>
                </p:cNvCxnSpPr>
                <p:nvPr/>
              </p:nvCxnSpPr>
              <p:spPr>
                <a:xfrm>
                  <a:off x="4118517" y="5410200"/>
                  <a:ext cx="838200" cy="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0B9B560-CF59-1C85-3A18-B7C6B914D2BD}"/>
                    </a:ext>
                  </a:extLst>
                </p:cNvPr>
                <p:cNvCxnSpPr/>
                <p:nvPr/>
              </p:nvCxnSpPr>
              <p:spPr>
                <a:xfrm>
                  <a:off x="3124200" y="5410200"/>
                  <a:ext cx="838200" cy="0"/>
                </a:xfrm>
                <a:prstGeom prst="line">
                  <a:avLst/>
                </a:prstGeom>
                <a:ln w="19050">
                  <a:headEnd type="none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4E9FDFA-2160-2BAC-D663-46E60D120762}"/>
                    </a:ext>
                  </a:extLst>
                </p:cNvPr>
                <p:cNvCxnSpPr>
                  <a:stCxn id="9" idx="2"/>
                  <a:endCxn id="10" idx="0"/>
                </p:cNvCxnSpPr>
                <p:nvPr/>
              </p:nvCxnSpPr>
              <p:spPr>
                <a:xfrm>
                  <a:off x="5713142" y="4800600"/>
                  <a:ext cx="3717" cy="1143000"/>
                </a:xfrm>
                <a:prstGeom prst="line">
                  <a:avLst/>
                </a:prstGeom>
                <a:ln w="1905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F9D75FF4-8B22-DDBF-D5B4-84E73E5ABF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blipFill rotWithShape="1">
                      <a:blip r:embed="rId32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243C466-0993-F5CB-4DEC-6679A54AC5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3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0DB17AD-B2C2-1A1C-2654-FAE48F3B5A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4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95F30E3-D018-47D4-1FEA-6D2D6B4BC0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5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5" name="TextBox 3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5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6908119A-9032-A295-8770-6F0B49896C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6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DC0ED89F-1920-7106-BD3C-00B45AF7DBBC}"/>
                </a:ext>
              </a:extLst>
            </p:cNvPr>
            <p:cNvSpPr/>
            <p:nvPr/>
          </p:nvSpPr>
          <p:spPr>
            <a:xfrm>
              <a:off x="2520963" y="4673840"/>
              <a:ext cx="1258535" cy="1193560"/>
            </a:xfrm>
            <a:prstGeom prst="arc">
              <a:avLst>
                <a:gd name="adj1" fmla="val 16200000"/>
                <a:gd name="adj2" fmla="val 353743"/>
              </a:avLst>
            </a:prstGeom>
            <a:ln w="15875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13CFF2-35C3-8D4D-B961-7E16C4C1DD8C}"/>
                  </a:ext>
                </a:extLst>
              </p:cNvPr>
              <p:cNvSpPr txBox="1"/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13CFF2-35C3-8D4D-B961-7E16C4C1D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B74A283-4470-7DB3-0264-C97A034D3688}"/>
              </a:ext>
            </a:extLst>
          </p:cNvPr>
          <p:cNvSpPr txBox="1"/>
          <p:nvPr/>
        </p:nvSpPr>
        <p:spPr>
          <a:xfrm>
            <a:off x="228600" y="3528536"/>
            <a:ext cx="384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/>
              </a:rPr>
              <a:t>𝒁 </a:t>
            </a:r>
            <a:r>
              <a:rPr lang="en-US" dirty="0">
                <a:latin typeface="Cambria Math"/>
              </a:rPr>
              <a:t>has some entries which are </a:t>
            </a:r>
            <a:r>
              <a:rPr lang="en-US" b="1" dirty="0">
                <a:latin typeface="Cambria Math"/>
              </a:rPr>
              <a:t>not 0-1.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loud Callout 55">
                <a:extLst>
                  <a:ext uri="{FF2B5EF4-FFF2-40B4-BE49-F238E27FC236}">
                    <a16:creationId xmlns:a16="http://schemas.microsoft.com/office/drawing/2014/main" id="{CFA9E847-44F0-4A2E-2E1D-4DE2707BCBA8}"/>
                  </a:ext>
                </a:extLst>
              </p:cNvPr>
              <p:cNvSpPr/>
              <p:nvPr/>
            </p:nvSpPr>
            <p:spPr>
              <a:xfrm>
                <a:off x="4200734" y="4785555"/>
                <a:ext cx="5155963" cy="131613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can we interpret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adjacency matrix </a:t>
                </a:r>
                <a:r>
                  <a:rPr lang="en-US" dirty="0">
                    <a:solidFill>
                      <a:schemeClr val="tx1"/>
                    </a:solidFill>
                  </a:rPr>
                  <a:t>of a graph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39" name="Cloud Callout 55">
                <a:extLst>
                  <a:ext uri="{FF2B5EF4-FFF2-40B4-BE49-F238E27FC236}">
                    <a16:creationId xmlns:a16="http://schemas.microsoft.com/office/drawing/2014/main" id="{CFA9E847-44F0-4A2E-2E1D-4DE2707BC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734" y="4785555"/>
                <a:ext cx="5155963" cy="131613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20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4" grpId="0" animBg="1"/>
      <p:bldP spid="82" grpId="0"/>
      <p:bldP spid="27" grpId="0" animBg="1"/>
      <p:bldP spid="28" grpId="0"/>
      <p:bldP spid="29" grpId="0"/>
      <p:bldP spid="54" grpId="0"/>
      <p:bldP spid="38" grpId="0"/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 rot="2687660">
            <a:off x="6236300" y="1709326"/>
            <a:ext cx="3219295" cy="391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4" name="Equal 43"/>
          <p:cNvSpPr/>
          <p:nvPr/>
        </p:nvSpPr>
        <p:spPr>
          <a:xfrm>
            <a:off x="56388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43800" y="30480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048000"/>
                <a:ext cx="40427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6667" r="-14286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106667" r="-14286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206667" r="-14286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306667" r="-14286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406667" r="-14286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506667" r="-14286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Multiply 40">
            <a:extLst>
              <a:ext uri="{FF2B5EF4-FFF2-40B4-BE49-F238E27FC236}">
                <a16:creationId xmlns:a16="http://schemas.microsoft.com/office/drawing/2014/main" id="{5F01895B-BE7F-54F9-8C9F-EB6277B97714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448" r="-3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448" r="-2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448" r="-1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448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103448" r="-3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103448" r="-2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103448" r="-1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103448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203448" r="-3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203448" r="-2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203448" r="-1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203448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03448" r="-3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03448" r="-2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03448" r="-1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03448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403448" r="-3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403448" r="-2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403448" r="-1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403448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503448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503448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503448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503448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115981"/>
                  </p:ext>
                </p:extLst>
              </p:nvPr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6667" r="-12500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106667" r="-12500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206667" r="-12500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306667" r="-12500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406667" r="-12500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506667" r="-12500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4548446"/>
                  </p:ext>
                </p:extLst>
              </p:nvPr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A1F357A-456E-734B-893A-2EA689738A03}"/>
              </a:ext>
            </a:extLst>
          </p:cNvPr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635022-0A17-7E9D-D693-0399842FCE0C}"/>
                </a:ext>
              </a:extLst>
            </p:cNvPr>
            <p:cNvGrpSpPr/>
            <p:nvPr/>
          </p:nvGrpSpPr>
          <p:grpSpPr>
            <a:xfrm>
              <a:off x="228600" y="4355068"/>
              <a:ext cx="3899651" cy="2121932"/>
              <a:chOff x="228600" y="4355068"/>
              <a:chExt cx="3899651" cy="21219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24D58871-B013-D76A-1D52-ABA87D16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0033943-52E7-B430-9F66-4DAEBA1F178D}"/>
                  </a:ext>
                </a:extLst>
              </p:cNvPr>
              <p:cNvGrpSpPr/>
              <p:nvPr/>
            </p:nvGrpSpPr>
            <p:grpSpPr>
              <a:xfrm>
                <a:off x="228600" y="4648200"/>
                <a:ext cx="3899651" cy="1828800"/>
                <a:chOff x="2866955" y="4648200"/>
                <a:chExt cx="3899651" cy="1828800"/>
              </a:xfrm>
            </p:grpSpPr>
            <p:pic>
              <p:nvPicPr>
                <p:cNvPr id="6" name="Picture 2">
                  <a:extLst>
                    <a:ext uri="{FF2B5EF4-FFF2-40B4-BE49-F238E27FC236}">
                      <a16:creationId xmlns:a16="http://schemas.microsoft.com/office/drawing/2014/main" id="{E86BD420-7478-4C9C-0DF3-34A186E992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567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4186ED0E-1DA0-55CA-98DC-D16F8DAF34C4}"/>
                    </a:ext>
                  </a:extLst>
                </p:cNvPr>
                <p:cNvCxnSpPr>
                  <a:stCxn id="6" idx="0"/>
                  <a:endCxn id="9" idx="1"/>
                </p:cNvCxnSpPr>
                <p:nvPr/>
              </p:nvCxnSpPr>
              <p:spPr>
                <a:xfrm flipV="1">
                  <a:off x="5034776" y="4724400"/>
                  <a:ext cx="600307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2">
                  <a:extLst>
                    <a:ext uri="{FF2B5EF4-FFF2-40B4-BE49-F238E27FC236}">
                      <a16:creationId xmlns:a16="http://schemas.microsoft.com/office/drawing/2014/main" id="{7E670898-177A-5645-4605-9EBEBB7BB4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283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" name="Picture 2">
                  <a:extLst>
                    <a:ext uri="{FF2B5EF4-FFF2-40B4-BE49-F238E27FC236}">
                      <a16:creationId xmlns:a16="http://schemas.microsoft.com/office/drawing/2014/main" id="{033344FC-8C9A-E9F9-DA5D-559179BAE6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5083" y="4648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15C85396-90E0-47D6-9471-14351EE5D1E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8800" y="59436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B56E7E0-9BB1-08AA-F980-6364D78185C3}"/>
                    </a:ext>
                  </a:extLst>
                </p:cNvPr>
                <p:cNvCxnSpPr>
                  <a:stCxn id="9" idx="3"/>
                  <a:endCxn id="8" idx="0"/>
                </p:cNvCxnSpPr>
                <p:nvPr/>
              </p:nvCxnSpPr>
              <p:spPr>
                <a:xfrm>
                  <a:off x="5791200" y="4724400"/>
                  <a:ext cx="615176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B3D53B9-15F3-F574-3488-C9420C79C9B4}"/>
                    </a:ext>
                  </a:extLst>
                </p:cNvPr>
                <p:cNvCxnSpPr>
                  <a:stCxn id="6" idx="2"/>
                  <a:endCxn id="10" idx="1"/>
                </p:cNvCxnSpPr>
                <p:nvPr/>
              </p:nvCxnSpPr>
              <p:spPr>
                <a:xfrm>
                  <a:off x="5034776" y="5486400"/>
                  <a:ext cx="604024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4A9D68A-4C88-5B1E-33B8-4A73D2F6BA36}"/>
                    </a:ext>
                  </a:extLst>
                </p:cNvPr>
                <p:cNvCxnSpPr>
                  <a:cxnSpLocks/>
                  <a:stCxn id="10" idx="3"/>
                  <a:endCxn id="8" idx="2"/>
                </p:cNvCxnSpPr>
                <p:nvPr/>
              </p:nvCxnSpPr>
              <p:spPr>
                <a:xfrm flipV="1">
                  <a:off x="5794917" y="5486400"/>
                  <a:ext cx="611459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4" name="Picture 2">
                  <a:extLst>
                    <a:ext uri="{FF2B5EF4-FFF2-40B4-BE49-F238E27FC236}">
                      <a16:creationId xmlns:a16="http://schemas.microsoft.com/office/drawing/2014/main" id="{32F4183A-D4AB-B381-B5D9-634B336117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24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A5EC3534-5E56-4947-ADBF-077BAED19D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718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30C2B40-C92A-B14E-20DA-ACE30D8D19A5}"/>
                    </a:ext>
                  </a:extLst>
                </p:cNvPr>
                <p:cNvCxnSpPr>
                  <a:endCxn id="6" idx="1"/>
                </p:cNvCxnSpPr>
                <p:nvPr/>
              </p:nvCxnSpPr>
              <p:spPr>
                <a:xfrm>
                  <a:off x="4118517" y="5410200"/>
                  <a:ext cx="838200" cy="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0B9B560-CF59-1C85-3A18-B7C6B914D2BD}"/>
                    </a:ext>
                  </a:extLst>
                </p:cNvPr>
                <p:cNvCxnSpPr/>
                <p:nvPr/>
              </p:nvCxnSpPr>
              <p:spPr>
                <a:xfrm>
                  <a:off x="3124200" y="5410200"/>
                  <a:ext cx="838200" cy="0"/>
                </a:xfrm>
                <a:prstGeom prst="line">
                  <a:avLst/>
                </a:prstGeom>
                <a:ln w="19050">
                  <a:headEnd type="none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4E9FDFA-2160-2BAC-D663-46E60D120762}"/>
                    </a:ext>
                  </a:extLst>
                </p:cNvPr>
                <p:cNvCxnSpPr>
                  <a:stCxn id="9" idx="2"/>
                  <a:endCxn id="10" idx="0"/>
                </p:cNvCxnSpPr>
                <p:nvPr/>
              </p:nvCxnSpPr>
              <p:spPr>
                <a:xfrm>
                  <a:off x="5713142" y="4800600"/>
                  <a:ext cx="3717" cy="1143000"/>
                </a:xfrm>
                <a:prstGeom prst="line">
                  <a:avLst/>
                </a:prstGeom>
                <a:ln w="1905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F9D75FF4-8B22-DDBF-D5B4-84E73E5ABF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blipFill rotWithShape="1">
                      <a:blip r:embed="rId32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243C466-0993-F5CB-4DEC-6679A54AC5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3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0DB17AD-B2C2-1A1C-2654-FAE48F3B5A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4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95F30E3-D018-47D4-1FEA-6D2D6B4BC0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5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5" name="TextBox 3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5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6908119A-9032-A295-8770-6F0B49896C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6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DC0ED89F-1920-7106-BD3C-00B45AF7DBBC}"/>
                </a:ext>
              </a:extLst>
            </p:cNvPr>
            <p:cNvSpPr/>
            <p:nvPr/>
          </p:nvSpPr>
          <p:spPr>
            <a:xfrm>
              <a:off x="2520963" y="4673840"/>
              <a:ext cx="1258535" cy="1193560"/>
            </a:xfrm>
            <a:prstGeom prst="arc">
              <a:avLst>
                <a:gd name="adj1" fmla="val 16200000"/>
                <a:gd name="adj2" fmla="val 353743"/>
              </a:avLst>
            </a:prstGeom>
            <a:ln w="15875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59795490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59795490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3279" r="-4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3279" r="-406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3279" r="-3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3279" r="-2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3279" r="-101639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3279" r="-3333" b="-5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105000" r="-4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105000" r="-406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105000" r="-3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105000" r="-2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105000" r="-10163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105000" r="-3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201639" r="-4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201639" r="-406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201639" r="-3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201639" r="-2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201639" r="-101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201639" r="-33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306667" r="-4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306667" r="-406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306667" r="-3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306667" r="-2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306667" r="-1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400000" r="-4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400000" r="-406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400000" r="-3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400000" r="-2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400000" r="-10163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400000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508333" r="-4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508333" r="-406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508333" r="-3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508333" r="-1016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508333" r="-333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0AA062-8088-D044-8D25-FA6CACE13470}"/>
                  </a:ext>
                </a:extLst>
              </p:cNvPr>
              <p:cNvSpPr txBox="1"/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0AA062-8088-D044-8D25-FA6CACE13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D460DC0-7075-1241-0D53-7CAB83AA768A}"/>
              </a:ext>
            </a:extLst>
          </p:cNvPr>
          <p:cNvSpPr txBox="1"/>
          <p:nvPr/>
        </p:nvSpPr>
        <p:spPr>
          <a:xfrm>
            <a:off x="228600" y="3581400"/>
            <a:ext cx="3321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/>
              </a:rPr>
              <a:t>𝒁 </a:t>
            </a:r>
            <a:r>
              <a:rPr lang="en-US" dirty="0">
                <a:latin typeface="Cambria Math"/>
              </a:rPr>
              <a:t>has diagonal entries </a:t>
            </a:r>
            <a:r>
              <a:rPr lang="en-US" b="1" dirty="0">
                <a:latin typeface="Cambria Math"/>
              </a:rPr>
              <a:t>non-zero.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loud Callout 55">
                <a:extLst>
                  <a:ext uri="{FF2B5EF4-FFF2-40B4-BE49-F238E27FC236}">
                    <a16:creationId xmlns:a16="http://schemas.microsoft.com/office/drawing/2014/main" id="{D9A4CC26-2A88-EBE9-2918-5C6C1E8BE2D4}"/>
                  </a:ext>
                </a:extLst>
              </p:cNvPr>
              <p:cNvSpPr/>
              <p:nvPr/>
            </p:nvSpPr>
            <p:spPr>
              <a:xfrm>
                <a:off x="4200734" y="4785555"/>
                <a:ext cx="5155963" cy="131613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can we interpret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adjacency matrix </a:t>
                </a:r>
                <a:r>
                  <a:rPr lang="en-US" dirty="0">
                    <a:solidFill>
                      <a:schemeClr val="tx1"/>
                    </a:solidFill>
                  </a:rPr>
                  <a:t>of a graph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26" name="Cloud Callout 55">
                <a:extLst>
                  <a:ext uri="{FF2B5EF4-FFF2-40B4-BE49-F238E27FC236}">
                    <a16:creationId xmlns:a16="http://schemas.microsoft.com/office/drawing/2014/main" id="{D9A4CC26-2A88-EBE9-2918-5C6C1E8BE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734" y="4785555"/>
                <a:ext cx="5155963" cy="131613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83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E82E-9F44-704D-9A26-07143EB3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6C6D-E0A0-101E-3110-1C9E59248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There is an edge 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) in the graph corresponding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𝑩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if and only if </a:t>
                </a:r>
                <a:r>
                  <a:rPr lang="en-US" sz="2000" dirty="0"/>
                  <a:t>there is a path of length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qual 43">
            <a:extLst>
              <a:ext uri="{FF2B5EF4-FFF2-40B4-BE49-F238E27FC236}">
                <a16:creationId xmlns:a16="http://schemas.microsoft.com/office/drawing/2014/main" id="{4372625D-8497-6145-2BAC-C7559CAA7F6F}"/>
              </a:ext>
            </a:extLst>
          </p:cNvPr>
          <p:cNvSpPr/>
          <p:nvPr/>
        </p:nvSpPr>
        <p:spPr>
          <a:xfrm>
            <a:off x="56388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F1E47B85-DA64-7322-3DF1-964D5DBEA5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6667" r="-14286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106667" r="-14286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206667" r="-14286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306667" r="-14286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406667" r="-14286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506667" r="-14286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3B551721-CB8F-2CD8-59B2-9432EE4C9B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Multiply 40">
            <a:extLst>
              <a:ext uri="{FF2B5EF4-FFF2-40B4-BE49-F238E27FC236}">
                <a16:creationId xmlns:a16="http://schemas.microsoft.com/office/drawing/2014/main" id="{FCC887E5-CC64-F7C5-8674-DCA7025959AF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63E503-26A6-2542-7C87-3BB518BB7CF2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4F62FD-D12C-ABE2-1393-8FAE25B2C4A9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9E89F077-E013-2171-2AAA-73FB1FE828E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6732E3C7-9B13-30E5-DFE6-B09469C459A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448" r="-3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448" r="-2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448" r="-1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448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103448" r="-3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103448" r="-2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103448" r="-1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103448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203448" r="-3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203448" r="-2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203448" r="-1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203448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03448" r="-3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03448" r="-2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03448" r="-1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03448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403448" r="-3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403448" r="-2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403448" r="-1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403448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503448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503448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503448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503448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E48E134A-DB6E-BA0F-6F98-F6620F5007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115981"/>
                  </p:ext>
                </p:extLst>
              </p:nvPr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6667" r="-12500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106667" r="-12500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206667" r="-12500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306667" r="-12500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406667" r="-12500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506667" r="-12500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330B7E72-0F25-E198-61CD-6DF5668115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4548446"/>
                  </p:ext>
                </p:extLst>
              </p:nvPr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563F8CE-12E2-074F-1B0D-94C528717FC5}"/>
              </a:ext>
            </a:extLst>
          </p:cNvPr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290C1B-18DA-2B15-6F83-3109C3AAB341}"/>
                </a:ext>
              </a:extLst>
            </p:cNvPr>
            <p:cNvGrpSpPr/>
            <p:nvPr/>
          </p:nvGrpSpPr>
          <p:grpSpPr>
            <a:xfrm>
              <a:off x="228600" y="4355068"/>
              <a:ext cx="3899651" cy="2121932"/>
              <a:chOff x="228600" y="4355068"/>
              <a:chExt cx="3899651" cy="21219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CF1DBF44-0B35-8A4D-278D-916B6F4E78AB}"/>
                      </a:ext>
                    </a:extLst>
                  </p:cNvPr>
                  <p:cNvSpPr txBox="1"/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DBA3253-116C-78B9-D32D-414419AD6518}"/>
                  </a:ext>
                </a:extLst>
              </p:cNvPr>
              <p:cNvGrpSpPr/>
              <p:nvPr/>
            </p:nvGrpSpPr>
            <p:grpSpPr>
              <a:xfrm>
                <a:off x="228600" y="4648200"/>
                <a:ext cx="3899651" cy="1828800"/>
                <a:chOff x="2866955" y="4648200"/>
                <a:chExt cx="3899651" cy="1828800"/>
              </a:xfrm>
            </p:grpSpPr>
            <p:pic>
              <p:nvPicPr>
                <p:cNvPr id="6" name="Picture 2">
                  <a:extLst>
                    <a:ext uri="{FF2B5EF4-FFF2-40B4-BE49-F238E27FC236}">
                      <a16:creationId xmlns:a16="http://schemas.microsoft.com/office/drawing/2014/main" id="{A97A0BE3-8759-35B4-3319-16CAAAF3A33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567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C98C0E3B-5D88-0586-C555-02D0C63DA601}"/>
                    </a:ext>
                  </a:extLst>
                </p:cNvPr>
                <p:cNvCxnSpPr>
                  <a:stCxn id="6" idx="0"/>
                  <a:endCxn id="9" idx="1"/>
                </p:cNvCxnSpPr>
                <p:nvPr/>
              </p:nvCxnSpPr>
              <p:spPr>
                <a:xfrm flipV="1">
                  <a:off x="5034776" y="4724400"/>
                  <a:ext cx="600307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2">
                  <a:extLst>
                    <a:ext uri="{FF2B5EF4-FFF2-40B4-BE49-F238E27FC236}">
                      <a16:creationId xmlns:a16="http://schemas.microsoft.com/office/drawing/2014/main" id="{B069D522-F21E-4EE4-55C5-11D7920797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283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" name="Picture 2">
                  <a:extLst>
                    <a:ext uri="{FF2B5EF4-FFF2-40B4-BE49-F238E27FC236}">
                      <a16:creationId xmlns:a16="http://schemas.microsoft.com/office/drawing/2014/main" id="{2D3BA8C4-ABBB-DCF9-5432-DDC26B2FBF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5083" y="4648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E455D7F5-E570-ABC8-0EC2-41A4F296B8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8800" y="59436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C2B5DC67-B3BD-B017-1A5B-15A1FDDAE89D}"/>
                    </a:ext>
                  </a:extLst>
                </p:cNvPr>
                <p:cNvCxnSpPr>
                  <a:stCxn id="9" idx="3"/>
                  <a:endCxn id="8" idx="0"/>
                </p:cNvCxnSpPr>
                <p:nvPr/>
              </p:nvCxnSpPr>
              <p:spPr>
                <a:xfrm>
                  <a:off x="5791200" y="4724400"/>
                  <a:ext cx="615176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9CBAD145-217D-DC6A-DA22-A11A3691BBD1}"/>
                    </a:ext>
                  </a:extLst>
                </p:cNvPr>
                <p:cNvCxnSpPr>
                  <a:stCxn id="6" idx="2"/>
                  <a:endCxn id="10" idx="1"/>
                </p:cNvCxnSpPr>
                <p:nvPr/>
              </p:nvCxnSpPr>
              <p:spPr>
                <a:xfrm>
                  <a:off x="5034776" y="5486400"/>
                  <a:ext cx="604024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7379BA8A-2589-E885-4366-BD867EA0E69B}"/>
                    </a:ext>
                  </a:extLst>
                </p:cNvPr>
                <p:cNvCxnSpPr>
                  <a:cxnSpLocks/>
                  <a:stCxn id="10" idx="3"/>
                  <a:endCxn id="8" idx="2"/>
                </p:cNvCxnSpPr>
                <p:nvPr/>
              </p:nvCxnSpPr>
              <p:spPr>
                <a:xfrm flipV="1">
                  <a:off x="5794917" y="5486400"/>
                  <a:ext cx="611459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4" name="Picture 2">
                  <a:extLst>
                    <a:ext uri="{FF2B5EF4-FFF2-40B4-BE49-F238E27FC236}">
                      <a16:creationId xmlns:a16="http://schemas.microsoft.com/office/drawing/2014/main" id="{630744C2-FC43-CAA6-A610-CD90FF9850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24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6C9161AF-F51E-1EE2-23BD-73733AAFCE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718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68BB9B0-52E2-8B9E-831D-948F82F5E0B1}"/>
                    </a:ext>
                  </a:extLst>
                </p:cNvPr>
                <p:cNvCxnSpPr>
                  <a:endCxn id="6" idx="1"/>
                </p:cNvCxnSpPr>
                <p:nvPr/>
              </p:nvCxnSpPr>
              <p:spPr>
                <a:xfrm>
                  <a:off x="4118517" y="5410200"/>
                  <a:ext cx="838200" cy="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94369C1-E45E-FCEF-86A7-CE8A443483FF}"/>
                    </a:ext>
                  </a:extLst>
                </p:cNvPr>
                <p:cNvCxnSpPr/>
                <p:nvPr/>
              </p:nvCxnSpPr>
              <p:spPr>
                <a:xfrm>
                  <a:off x="3124200" y="5410200"/>
                  <a:ext cx="838200" cy="0"/>
                </a:xfrm>
                <a:prstGeom prst="line">
                  <a:avLst/>
                </a:prstGeom>
                <a:ln w="19050">
                  <a:headEnd type="none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9A8075D-0D1C-ED08-33DD-74291F49BA1E}"/>
                    </a:ext>
                  </a:extLst>
                </p:cNvPr>
                <p:cNvCxnSpPr>
                  <a:stCxn id="9" idx="2"/>
                  <a:endCxn id="10" idx="0"/>
                </p:cNvCxnSpPr>
                <p:nvPr/>
              </p:nvCxnSpPr>
              <p:spPr>
                <a:xfrm>
                  <a:off x="5713142" y="4800600"/>
                  <a:ext cx="3717" cy="1143000"/>
                </a:xfrm>
                <a:prstGeom prst="line">
                  <a:avLst/>
                </a:prstGeom>
                <a:ln w="1905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DB4182BB-4B21-38DA-AD57-335C789C7A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blipFill rotWithShape="1">
                      <a:blip r:embed="rId32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157F5169-E225-C7D4-6F3A-1F3885F3AE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3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FF80035-2438-9F9B-E816-BE32EE1289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4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4BE5F4C1-3882-00F3-8658-136655C0F2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5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5" name="TextBox 3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5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9C22FB6F-08B5-B5EA-637F-D43A48CB36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6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1CAB303D-219E-5E3C-08F6-45A8C694F8A7}"/>
                </a:ext>
              </a:extLst>
            </p:cNvPr>
            <p:cNvSpPr/>
            <p:nvPr/>
          </p:nvSpPr>
          <p:spPr>
            <a:xfrm>
              <a:off x="2520963" y="4673840"/>
              <a:ext cx="1258535" cy="1193560"/>
            </a:xfrm>
            <a:prstGeom prst="arc">
              <a:avLst>
                <a:gd name="adj1" fmla="val 16200000"/>
                <a:gd name="adj2" fmla="val 353743"/>
              </a:avLst>
            </a:prstGeom>
            <a:ln w="15875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>
                <a:extLst>
                  <a:ext uri="{FF2B5EF4-FFF2-40B4-BE49-F238E27FC236}">
                    <a16:creationId xmlns:a16="http://schemas.microsoft.com/office/drawing/2014/main" id="{8B9D01B4-E10A-5D73-EDC1-C5256787C73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55893891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3279" r="-4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3279" r="-406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3279" r="-3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3279" r="-2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3279" r="-101639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3279" r="-3333" b="-5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105000" r="-4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105000" r="-406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105000" r="-3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105000" r="-2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105000" r="-10163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105000" r="-3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201639" r="-4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201639" r="-406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201639" r="-3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201639" r="-2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201639" r="-101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201639" r="-33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306667" r="-4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306667" r="-406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306667" r="-3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306667" r="-2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306667" r="-1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400000" r="-4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400000" r="-406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400000" r="-3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6667" t="-400000" r="-2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400000" r="-10163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400000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508333" r="-4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5000" t="-508333" r="-406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1639" t="-508333" r="-3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0000" t="-508333" r="-1016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8333" t="-508333" r="-333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28401A2-C8DE-0D4A-4D3B-47DCE05D7759}"/>
              </a:ext>
            </a:extLst>
          </p:cNvPr>
          <p:cNvGrpSpPr/>
          <p:nvPr/>
        </p:nvGrpSpPr>
        <p:grpSpPr>
          <a:xfrm>
            <a:off x="5091949" y="4343400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0621E95-771A-CCFC-D425-978113634551}"/>
                    </a:ext>
                  </a:extLst>
                </p:cNvPr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333" r="-2333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6BEF465-703F-AA33-18B4-D5C6B507CEDD}"/>
                </a:ext>
              </a:extLst>
            </p:cNvPr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5" name="Picture 2">
                <a:extLst>
                  <a:ext uri="{FF2B5EF4-FFF2-40B4-BE49-F238E27FC236}">
                    <a16:creationId xmlns:a16="http://schemas.microsoft.com/office/drawing/2014/main" id="{F2FCC39C-CB86-A5D0-680E-AB369F3E3C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6" name="Picture 2">
                <a:extLst>
                  <a:ext uri="{FF2B5EF4-FFF2-40B4-BE49-F238E27FC236}">
                    <a16:creationId xmlns:a16="http://schemas.microsoft.com/office/drawing/2014/main" id="{E7762353-2DE1-6C12-B5BD-8E936EE2C8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7" name="Picture 2">
                <a:extLst>
                  <a:ext uri="{FF2B5EF4-FFF2-40B4-BE49-F238E27FC236}">
                    <a16:creationId xmlns:a16="http://schemas.microsoft.com/office/drawing/2014/main" id="{F2F21A99-5F86-817F-71D5-E18FAB076D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8" name="Picture 2">
                <a:extLst>
                  <a:ext uri="{FF2B5EF4-FFF2-40B4-BE49-F238E27FC236}">
                    <a16:creationId xmlns:a16="http://schemas.microsoft.com/office/drawing/2014/main" id="{2A8C3F61-7498-AC40-B1D6-8F68A04BF4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9" name="Picture 2">
                <a:extLst>
                  <a:ext uri="{FF2B5EF4-FFF2-40B4-BE49-F238E27FC236}">
                    <a16:creationId xmlns:a16="http://schemas.microsoft.com/office/drawing/2014/main" id="{329F1143-C49D-0744-BB8B-65A6414C4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0" name="Picture 2">
                <a:extLst>
                  <a:ext uri="{FF2B5EF4-FFF2-40B4-BE49-F238E27FC236}">
                    <a16:creationId xmlns:a16="http://schemas.microsoft.com/office/drawing/2014/main" id="{2E960F44-7380-2460-F5DF-D792171203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97AA2AFB-A645-4870-67D6-6A47CF25F84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E1ED9EBF-914B-5F69-05D3-F4F211A98B3C}"/>
                      </a:ext>
                    </a:extLst>
                  </p:cNvPr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FAE9D4-658E-7147-8EA5-BC701ACEAB46}"/>
                      </a:ext>
                    </a:extLst>
                  </p:cNvPr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TextBox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DF45B115-8A53-4340-6E8D-8EA1DA0B3E9C}"/>
                      </a:ext>
                    </a:extLst>
                  </p:cNvPr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4D18035-62E4-F5FA-E34E-ECB309C12CE7}"/>
                      </a:ext>
                    </a:extLst>
                  </p:cNvPr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8" name="Arc 57">
            <a:extLst>
              <a:ext uri="{FF2B5EF4-FFF2-40B4-BE49-F238E27FC236}">
                <a16:creationId xmlns:a16="http://schemas.microsoft.com/office/drawing/2014/main" id="{9E51B41C-092A-93C0-6019-D4827B7B6A1F}"/>
              </a:ext>
            </a:extLst>
          </p:cNvPr>
          <p:cNvSpPr/>
          <p:nvPr/>
        </p:nvSpPr>
        <p:spPr>
          <a:xfrm>
            <a:off x="5029200" y="5017532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3EE49CB-8693-1C25-1BD0-6BE06D29081A}"/>
              </a:ext>
            </a:extLst>
          </p:cNvPr>
          <p:cNvGrpSpPr/>
          <p:nvPr/>
        </p:nvGrpSpPr>
        <p:grpSpPr>
          <a:xfrm>
            <a:off x="6343511" y="4712732"/>
            <a:ext cx="1520283" cy="1295400"/>
            <a:chOff x="6343511" y="4712732"/>
            <a:chExt cx="1520283" cy="129540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106DC9C-1453-98E7-B6E0-FB8F13B4DAC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6344335" y="4712732"/>
              <a:ext cx="1515742" cy="647089"/>
            </a:xfrm>
            <a:prstGeom prst="line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1487A07-F1CC-3841-8000-D9656738FFA9}"/>
                </a:ext>
              </a:extLst>
            </p:cNvPr>
            <p:cNvCxnSpPr>
              <a:stCxn id="49" idx="3"/>
              <a:endCxn id="48" idx="1"/>
            </p:cNvCxnSpPr>
            <p:nvPr/>
          </p:nvCxnSpPr>
          <p:spPr>
            <a:xfrm>
              <a:off x="6343511" y="5398532"/>
              <a:ext cx="1520283" cy="609600"/>
            </a:xfrm>
            <a:prstGeom prst="line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3748ACE-FFFC-F6B8-5852-F1F1B22C90D5}"/>
              </a:ext>
            </a:extLst>
          </p:cNvPr>
          <p:cNvGrpSpPr/>
          <p:nvPr/>
        </p:nvGrpSpPr>
        <p:grpSpPr>
          <a:xfrm>
            <a:off x="7315200" y="4739481"/>
            <a:ext cx="1238111" cy="659051"/>
            <a:chOff x="7315200" y="4739481"/>
            <a:chExt cx="1238111" cy="65905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470B45-C606-1A36-B0F2-1B858CF1E5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5200" y="4739481"/>
              <a:ext cx="625722" cy="594519"/>
            </a:xfrm>
            <a:prstGeom prst="line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D69CD5E-F63A-96E6-6832-F24EF0390AE6}"/>
                </a:ext>
              </a:extLst>
            </p:cNvPr>
            <p:cNvCxnSpPr/>
            <p:nvPr/>
          </p:nvCxnSpPr>
          <p:spPr>
            <a:xfrm>
              <a:off x="7330394" y="5398532"/>
              <a:ext cx="1222917" cy="0"/>
            </a:xfrm>
            <a:prstGeom prst="line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5ADACD0-5FD4-D53A-E05A-CDA55A5E50DE}"/>
              </a:ext>
            </a:extLst>
          </p:cNvPr>
          <p:cNvCxnSpPr/>
          <p:nvPr/>
        </p:nvCxnSpPr>
        <p:spPr>
          <a:xfrm flipH="1">
            <a:off x="8019911" y="5474732"/>
            <a:ext cx="611459" cy="533400"/>
          </a:xfrm>
          <a:prstGeom prst="line">
            <a:avLst/>
          </a:prstGeom>
          <a:ln w="19050"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4751F5-97E4-4896-0200-1AA3C64EB70B}"/>
              </a:ext>
            </a:extLst>
          </p:cNvPr>
          <p:cNvCxnSpPr/>
          <p:nvPr/>
        </p:nvCxnSpPr>
        <p:spPr>
          <a:xfrm>
            <a:off x="1480162" y="5410200"/>
            <a:ext cx="838200" cy="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8EC7B96-C097-B80E-332A-8004BDABD101}"/>
              </a:ext>
            </a:extLst>
          </p:cNvPr>
          <p:cNvCxnSpPr/>
          <p:nvPr/>
        </p:nvCxnSpPr>
        <p:spPr>
          <a:xfrm>
            <a:off x="485845" y="5410200"/>
            <a:ext cx="838200" cy="0"/>
          </a:xfrm>
          <a:prstGeom prst="line">
            <a:avLst/>
          </a:prstGeom>
          <a:ln w="190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0BA8167-365A-6519-10AF-2660F2BC437E}"/>
              </a:ext>
            </a:extLst>
          </p:cNvPr>
          <p:cNvCxnSpPr/>
          <p:nvPr/>
        </p:nvCxnSpPr>
        <p:spPr>
          <a:xfrm>
            <a:off x="3062720" y="4800600"/>
            <a:ext cx="3717" cy="1143000"/>
          </a:xfrm>
          <a:prstGeom prst="line">
            <a:avLst/>
          </a:prstGeom>
          <a:ln w="1905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B6DB400-3357-B10A-DCF5-22AE0527D6FC}"/>
              </a:ext>
            </a:extLst>
          </p:cNvPr>
          <p:cNvCxnSpPr/>
          <p:nvPr/>
        </p:nvCxnSpPr>
        <p:spPr>
          <a:xfrm>
            <a:off x="2383489" y="5474732"/>
            <a:ext cx="604024" cy="53340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9779032-3474-245B-767F-5BBCBAC5FD9F}"/>
              </a:ext>
            </a:extLst>
          </p:cNvPr>
          <p:cNvCxnSpPr/>
          <p:nvPr/>
        </p:nvCxnSpPr>
        <p:spPr>
          <a:xfrm>
            <a:off x="3146482" y="4724400"/>
            <a:ext cx="615176" cy="60960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c 74">
            <a:extLst>
              <a:ext uri="{FF2B5EF4-FFF2-40B4-BE49-F238E27FC236}">
                <a16:creationId xmlns:a16="http://schemas.microsoft.com/office/drawing/2014/main" id="{D63C7146-C70C-4F44-D359-491707680AED}"/>
              </a:ext>
            </a:extLst>
          </p:cNvPr>
          <p:cNvSpPr/>
          <p:nvPr/>
        </p:nvSpPr>
        <p:spPr>
          <a:xfrm>
            <a:off x="2514600" y="4673840"/>
            <a:ext cx="1258535" cy="1193560"/>
          </a:xfrm>
          <a:prstGeom prst="arc">
            <a:avLst>
              <a:gd name="adj1" fmla="val 16200000"/>
              <a:gd name="adj2" fmla="val 353743"/>
            </a:avLst>
          </a:prstGeom>
          <a:ln w="158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2580C43-C637-64C2-671C-1D032AE6542E}"/>
                  </a:ext>
                </a:extLst>
              </p:cNvPr>
              <p:cNvSpPr txBox="1"/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11A0CE-1C3A-254B-84C5-C42671646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C1D10C-B18C-9A9C-F7F7-B2C70DE2EFD7}"/>
              </a:ext>
            </a:extLst>
          </p:cNvPr>
          <p:cNvCxnSpPr/>
          <p:nvPr/>
        </p:nvCxnSpPr>
        <p:spPr>
          <a:xfrm>
            <a:off x="7930701" y="4788932"/>
            <a:ext cx="3717" cy="1143000"/>
          </a:xfrm>
          <a:prstGeom prst="line">
            <a:avLst/>
          </a:prstGeom>
          <a:ln w="1905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4A3BE09-D2A0-80D7-F73E-38BC45E75C52}"/>
                  </a:ext>
                </a:extLst>
              </p:cNvPr>
              <p:cNvSpPr txBox="1"/>
              <p:nvPr/>
            </p:nvSpPr>
            <p:spPr>
              <a:xfrm>
                <a:off x="7543800" y="30480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FAB44D-E3CA-D226-6073-460C217CF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048000"/>
                <a:ext cx="404277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C17A69-834F-4357-2BC8-21D688159618}"/>
                  </a:ext>
                </a:extLst>
              </p:cNvPr>
              <p:cNvSpPr txBox="1"/>
              <p:nvPr/>
            </p:nvSpPr>
            <p:spPr>
              <a:xfrm>
                <a:off x="152400" y="6465332"/>
                <a:ext cx="1370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𝑩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/>
                  <a:t> if</a:t>
                </a:r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79D3BC-1C1A-32E4-0728-941DE557A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465332"/>
                <a:ext cx="1370632" cy="369332"/>
              </a:xfrm>
              <a:prstGeom prst="rect">
                <a:avLst/>
              </a:prstGeom>
              <a:blipFill>
                <a:blip r:embed="rId50"/>
                <a:stretch>
                  <a:fillRect l="-3556" t="-13333" r="-2667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3146FD-3D66-D589-5DC5-77D1B830F625}"/>
                  </a:ext>
                </a:extLst>
              </p:cNvPr>
              <p:cNvSpPr txBox="1"/>
              <p:nvPr/>
            </p:nvSpPr>
            <p:spPr>
              <a:xfrm>
                <a:off x="1366543" y="6488668"/>
                <a:ext cx="13755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such that</a:t>
                </a:r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D062E7-EDFD-C37A-E564-8BCE074B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543" y="6488668"/>
                <a:ext cx="1375505" cy="369332"/>
              </a:xfrm>
              <a:prstGeom prst="rect">
                <a:avLst/>
              </a:prstGeom>
              <a:blipFill>
                <a:blip r:embed="rId51"/>
                <a:stretch>
                  <a:fillRect t="-8197" r="-354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C81DCB7-0AA1-80DE-B57F-69F1EF025FB0}"/>
                  </a:ext>
                </a:extLst>
              </p:cNvPr>
              <p:cNvSpPr txBox="1"/>
              <p:nvPr/>
            </p:nvSpPr>
            <p:spPr>
              <a:xfrm>
                <a:off x="2590800" y="6473624"/>
                <a:ext cx="27383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2F751BA-0236-D103-7FB1-D1DEF7401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6473624"/>
                <a:ext cx="2738314" cy="369332"/>
              </a:xfrm>
              <a:prstGeom prst="rect">
                <a:avLst/>
              </a:prstGeom>
              <a:blipFill>
                <a:blip r:embed="rId5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DFE0F25-43DC-BA39-9423-06B850F46916}"/>
              </a:ext>
            </a:extLst>
          </p:cNvPr>
          <p:cNvSpPr txBox="1"/>
          <p:nvPr/>
        </p:nvSpPr>
        <p:spPr>
          <a:xfrm>
            <a:off x="114067" y="6098926"/>
            <a:ext cx="641009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Hint: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loud Callout 55">
                <a:extLst>
                  <a:ext uri="{FF2B5EF4-FFF2-40B4-BE49-F238E27FC236}">
                    <a16:creationId xmlns:a16="http://schemas.microsoft.com/office/drawing/2014/main" id="{1B5015AD-2877-CDE5-D957-937A18B754C4}"/>
                  </a:ext>
                </a:extLst>
              </p:cNvPr>
              <p:cNvSpPr/>
              <p:nvPr/>
            </p:nvSpPr>
            <p:spPr>
              <a:xfrm>
                <a:off x="2987513" y="5943600"/>
                <a:ext cx="4825386" cy="736360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if we add the missing edges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>
          <p:sp>
            <p:nvSpPr>
              <p:cNvPr id="37" name="Cloud Callout 55">
                <a:extLst>
                  <a:ext uri="{FF2B5EF4-FFF2-40B4-BE49-F238E27FC236}">
                    <a16:creationId xmlns:a16="http://schemas.microsoft.com/office/drawing/2014/main" id="{1B5015AD-2877-CDE5-D957-937A18B75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513" y="5943600"/>
                <a:ext cx="4825386" cy="736360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Cloud Callout 55">
            <a:extLst>
              <a:ext uri="{FF2B5EF4-FFF2-40B4-BE49-F238E27FC236}">
                <a16:creationId xmlns:a16="http://schemas.microsoft.com/office/drawing/2014/main" id="{27D15364-F3F9-36C3-B8E5-48D7396A9851}"/>
              </a:ext>
            </a:extLst>
          </p:cNvPr>
          <p:cNvSpPr/>
          <p:nvPr/>
        </p:nvSpPr>
        <p:spPr>
          <a:xfrm>
            <a:off x="4144055" y="3928144"/>
            <a:ext cx="5155963" cy="795509"/>
          </a:xfrm>
          <a:prstGeom prst="cloudCallout">
            <a:avLst>
              <a:gd name="adj1" fmla="val -23217"/>
              <a:gd name="adj2" fmla="val 8544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do we have an edge in this graph ? Explore this question. </a:t>
            </a:r>
          </a:p>
        </p:txBody>
      </p:sp>
    </p:spTree>
    <p:extLst>
      <p:ext uri="{BB962C8B-B14F-4D97-AF65-F5344CB8AC3E}">
        <p14:creationId xmlns:p14="http://schemas.microsoft.com/office/powerpoint/2010/main" val="246633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8" grpId="0" animBg="1"/>
      <p:bldP spid="35" grpId="0"/>
      <p:bldP spid="35" grpId="1"/>
      <p:bldP spid="39" grpId="0"/>
      <p:bldP spid="39" grpId="1"/>
      <p:bldP spid="53" grpId="0"/>
      <p:bldP spid="53" grpId="1"/>
      <p:bldP spid="62" grpId="0" animBg="1"/>
      <p:bldP spid="62" grpId="1" animBg="1"/>
      <p:bldP spid="37" grpId="0" animBg="1"/>
      <p:bldP spid="37" grpId="1" animBg="1"/>
      <p:bldP spid="66" grpId="0" animBg="1"/>
      <p:bldP spid="6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4" name="Equal 43"/>
          <p:cNvSpPr/>
          <p:nvPr/>
        </p:nvSpPr>
        <p:spPr>
          <a:xfrm>
            <a:off x="56388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6667" r="-14286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106667" r="-14286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206667" r="-14286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306667" r="-14286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406667" r="-14286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506667" r="-14286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Multiply 40">
            <a:extLst>
              <a:ext uri="{FF2B5EF4-FFF2-40B4-BE49-F238E27FC236}">
                <a16:creationId xmlns:a16="http://schemas.microsoft.com/office/drawing/2014/main" id="{5F01895B-BE7F-54F9-8C9F-EB6277B97714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448" r="-3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448" r="-2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448" r="-1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448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103448" r="-3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103448" r="-2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103448" r="-1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103448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203448" r="-3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203448" r="-2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203448" r="-1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203448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03448" r="-3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03448" r="-2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03448" r="-1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03448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403448" r="-3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403448" r="-2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403448" r="-1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403448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503448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503448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503448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503448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115981"/>
                  </p:ext>
                </p:extLst>
              </p:nvPr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6667" r="-12500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106667" r="-12500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206667" r="-12500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306667" r="-12500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406667" r="-12500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506667" r="-12500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4548446"/>
                  </p:ext>
                </p:extLst>
              </p:nvPr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A1F357A-456E-734B-893A-2EA689738A03}"/>
              </a:ext>
            </a:extLst>
          </p:cNvPr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635022-0A17-7E9D-D693-0399842FCE0C}"/>
                </a:ext>
              </a:extLst>
            </p:cNvPr>
            <p:cNvGrpSpPr/>
            <p:nvPr/>
          </p:nvGrpSpPr>
          <p:grpSpPr>
            <a:xfrm>
              <a:off x="228600" y="4355068"/>
              <a:ext cx="3899651" cy="2121932"/>
              <a:chOff x="228600" y="4355068"/>
              <a:chExt cx="3899651" cy="21219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24D58871-B013-D76A-1D52-ABA87D16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1883" y="43550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0033943-52E7-B430-9F66-4DAEBA1F178D}"/>
                  </a:ext>
                </a:extLst>
              </p:cNvPr>
              <p:cNvGrpSpPr/>
              <p:nvPr/>
            </p:nvGrpSpPr>
            <p:grpSpPr>
              <a:xfrm>
                <a:off x="228600" y="4648200"/>
                <a:ext cx="3899651" cy="1828800"/>
                <a:chOff x="2866955" y="4648200"/>
                <a:chExt cx="3899651" cy="1828800"/>
              </a:xfrm>
            </p:grpSpPr>
            <p:pic>
              <p:nvPicPr>
                <p:cNvPr id="6" name="Picture 2">
                  <a:extLst>
                    <a:ext uri="{FF2B5EF4-FFF2-40B4-BE49-F238E27FC236}">
                      <a16:creationId xmlns:a16="http://schemas.microsoft.com/office/drawing/2014/main" id="{E86BD420-7478-4C9C-0DF3-34A186E992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567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4186ED0E-1DA0-55CA-98DC-D16F8DAF34C4}"/>
                    </a:ext>
                  </a:extLst>
                </p:cNvPr>
                <p:cNvCxnSpPr>
                  <a:stCxn id="6" idx="0"/>
                  <a:endCxn id="9" idx="1"/>
                </p:cNvCxnSpPr>
                <p:nvPr/>
              </p:nvCxnSpPr>
              <p:spPr>
                <a:xfrm flipV="1">
                  <a:off x="5034776" y="4724400"/>
                  <a:ext cx="600307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2">
                  <a:extLst>
                    <a:ext uri="{FF2B5EF4-FFF2-40B4-BE49-F238E27FC236}">
                      <a16:creationId xmlns:a16="http://schemas.microsoft.com/office/drawing/2014/main" id="{7E670898-177A-5645-4605-9EBEBB7BB4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28317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" name="Picture 2">
                  <a:extLst>
                    <a:ext uri="{FF2B5EF4-FFF2-40B4-BE49-F238E27FC236}">
                      <a16:creationId xmlns:a16="http://schemas.microsoft.com/office/drawing/2014/main" id="{033344FC-8C9A-E9F9-DA5D-559179BAE6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5083" y="4648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0" name="Picture 2">
                  <a:extLst>
                    <a:ext uri="{FF2B5EF4-FFF2-40B4-BE49-F238E27FC236}">
                      <a16:creationId xmlns:a16="http://schemas.microsoft.com/office/drawing/2014/main" id="{15C85396-90E0-47D6-9471-14351EE5D1E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8800" y="59436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B56E7E0-9BB1-08AA-F980-6364D78185C3}"/>
                    </a:ext>
                  </a:extLst>
                </p:cNvPr>
                <p:cNvCxnSpPr>
                  <a:stCxn id="9" idx="3"/>
                  <a:endCxn id="8" idx="0"/>
                </p:cNvCxnSpPr>
                <p:nvPr/>
              </p:nvCxnSpPr>
              <p:spPr>
                <a:xfrm>
                  <a:off x="5791200" y="4724400"/>
                  <a:ext cx="615176" cy="6096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B3D53B9-15F3-F574-3488-C9420C79C9B4}"/>
                    </a:ext>
                  </a:extLst>
                </p:cNvPr>
                <p:cNvCxnSpPr>
                  <a:stCxn id="6" idx="2"/>
                  <a:endCxn id="10" idx="1"/>
                </p:cNvCxnSpPr>
                <p:nvPr/>
              </p:nvCxnSpPr>
              <p:spPr>
                <a:xfrm>
                  <a:off x="5034776" y="5486400"/>
                  <a:ext cx="604024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4A9D68A-4C88-5B1E-33B8-4A73D2F6BA36}"/>
                    </a:ext>
                  </a:extLst>
                </p:cNvPr>
                <p:cNvCxnSpPr>
                  <a:cxnSpLocks/>
                  <a:stCxn id="10" idx="3"/>
                  <a:endCxn id="8" idx="2"/>
                </p:cNvCxnSpPr>
                <p:nvPr/>
              </p:nvCxnSpPr>
              <p:spPr>
                <a:xfrm flipV="1">
                  <a:off x="5794917" y="5486400"/>
                  <a:ext cx="611459" cy="53340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4" name="Picture 2">
                  <a:extLst>
                    <a:ext uri="{FF2B5EF4-FFF2-40B4-BE49-F238E27FC236}">
                      <a16:creationId xmlns:a16="http://schemas.microsoft.com/office/drawing/2014/main" id="{32F4183A-D4AB-B381-B5D9-634B336117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24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A5EC3534-5E56-4947-ADBF-077BAED19D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71800" y="5334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30C2B40-C92A-B14E-20DA-ACE30D8D19A5}"/>
                    </a:ext>
                  </a:extLst>
                </p:cNvPr>
                <p:cNvCxnSpPr>
                  <a:endCxn id="6" idx="1"/>
                </p:cNvCxnSpPr>
                <p:nvPr/>
              </p:nvCxnSpPr>
              <p:spPr>
                <a:xfrm>
                  <a:off x="4118517" y="5410200"/>
                  <a:ext cx="838200" cy="0"/>
                </a:xfrm>
                <a:prstGeom prst="line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0B9B560-CF59-1C85-3A18-B7C6B914D2BD}"/>
                    </a:ext>
                  </a:extLst>
                </p:cNvPr>
                <p:cNvCxnSpPr/>
                <p:nvPr/>
              </p:nvCxnSpPr>
              <p:spPr>
                <a:xfrm>
                  <a:off x="3124200" y="5410200"/>
                  <a:ext cx="838200" cy="0"/>
                </a:xfrm>
                <a:prstGeom prst="line">
                  <a:avLst/>
                </a:prstGeom>
                <a:ln w="19050">
                  <a:headEnd type="none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4E9FDFA-2160-2BAC-D663-46E60D120762}"/>
                    </a:ext>
                  </a:extLst>
                </p:cNvPr>
                <p:cNvCxnSpPr>
                  <a:stCxn id="9" idx="2"/>
                  <a:endCxn id="10" idx="0"/>
                </p:cNvCxnSpPr>
                <p:nvPr/>
              </p:nvCxnSpPr>
              <p:spPr>
                <a:xfrm>
                  <a:off x="5713142" y="4800600"/>
                  <a:ext cx="3717" cy="1143000"/>
                </a:xfrm>
                <a:prstGeom prst="line">
                  <a:avLst/>
                </a:prstGeom>
                <a:ln w="19050"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F9D75FF4-8B22-DDBF-D5B4-84E73E5ABF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6955" y="5486400"/>
                      <a:ext cx="365805" cy="369332"/>
                    </a:xfrm>
                    <a:prstGeom prst="rect">
                      <a:avLst/>
                    </a:prstGeom>
                    <a:blipFill rotWithShape="1">
                      <a:blip r:embed="rId32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243C466-0993-F5CB-4DEC-6679A54AC5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86200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3"/>
                      <a:stretch>
                        <a:fillRect t="-8197" r="-2166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0DB17AD-B2C2-1A1C-2654-FAE48F3B5A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15794" y="5486400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4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95F30E3-D018-47D4-1FEA-6D2D6B4BC0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5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5" name="TextBox 3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6400" y="61076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35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6908119A-9032-A295-8770-6F0B49896C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/>
                              </a:rPr>
                              <m:t>6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00800" y="5193268"/>
                      <a:ext cx="365806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333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DC0ED89F-1920-7106-BD3C-00B45AF7DBBC}"/>
                </a:ext>
              </a:extLst>
            </p:cNvPr>
            <p:cNvSpPr/>
            <p:nvPr/>
          </p:nvSpPr>
          <p:spPr>
            <a:xfrm>
              <a:off x="2520963" y="4673840"/>
              <a:ext cx="1258535" cy="1193560"/>
            </a:xfrm>
            <a:prstGeom prst="arc">
              <a:avLst>
                <a:gd name="adj1" fmla="val 16200000"/>
                <a:gd name="adj2" fmla="val 353743"/>
              </a:avLst>
            </a:prstGeom>
            <a:ln w="15875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31619086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31619086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3448" r="-5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3448" r="-4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3448" r="-3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3448" t="-3448" r="-2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3448" r="-1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3448" t="-3448" r="-6897" b="-5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103448" r="-5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103448" r="-4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103448" r="-3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3448" t="-103448" r="-2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103448" r="-1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3448" t="-103448" r="-6897" b="-4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203448" r="-5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203448" r="-4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203448" r="-3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3448" t="-203448" r="-2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203448" r="-1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3448" t="-203448" r="-6897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303448" r="-5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303448" r="-4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303448" r="-3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3448" t="-303448" r="-2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303448" r="-1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403448" r="-5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403448" r="-4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403448" r="-3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3448" t="-403448" r="-2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403448" r="-1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3448" t="-403448" r="-6897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448" t="-503448" r="-5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3448" t="-503448" r="-4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3448" t="-503448" r="-3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3448" t="-503448" r="-1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503448" t="-503448" r="-6897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0D998A9-EAE0-724F-BB2F-EDAB65CE3A54}"/>
              </a:ext>
            </a:extLst>
          </p:cNvPr>
          <p:cNvGrpSpPr/>
          <p:nvPr/>
        </p:nvGrpSpPr>
        <p:grpSpPr>
          <a:xfrm>
            <a:off x="5091949" y="4343400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6D5A8E-4EA2-1441-87B1-8E53B5191E30}"/>
                    </a:ext>
                  </a:extLst>
                </p:cNvPr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333" r="-2333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5EE37F3-7304-C548-84CC-A606FAB46E18}"/>
                </a:ext>
              </a:extLst>
            </p:cNvPr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5" name="Picture 2">
                <a:extLst>
                  <a:ext uri="{FF2B5EF4-FFF2-40B4-BE49-F238E27FC236}">
                    <a16:creationId xmlns:a16="http://schemas.microsoft.com/office/drawing/2014/main" id="{ACA5AE9D-EEF2-6B43-B96E-0B53EAD4E5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6" name="Picture 2">
                <a:extLst>
                  <a:ext uri="{FF2B5EF4-FFF2-40B4-BE49-F238E27FC236}">
                    <a16:creationId xmlns:a16="http://schemas.microsoft.com/office/drawing/2014/main" id="{D6065332-0798-4741-89AA-D4AC85278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7" name="Picture 2">
                <a:extLst>
                  <a:ext uri="{FF2B5EF4-FFF2-40B4-BE49-F238E27FC236}">
                    <a16:creationId xmlns:a16="http://schemas.microsoft.com/office/drawing/2014/main" id="{B5D6B66A-3F4F-8B4B-9643-DDBD947F93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8" name="Picture 2">
                <a:extLst>
                  <a:ext uri="{FF2B5EF4-FFF2-40B4-BE49-F238E27FC236}">
                    <a16:creationId xmlns:a16="http://schemas.microsoft.com/office/drawing/2014/main" id="{1A0F4C56-D33D-E941-8E30-3C949AFB57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9" name="Picture 2">
                <a:extLst>
                  <a:ext uri="{FF2B5EF4-FFF2-40B4-BE49-F238E27FC236}">
                    <a16:creationId xmlns:a16="http://schemas.microsoft.com/office/drawing/2014/main" id="{D90D4825-5C6F-C346-B9BB-6628C9252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0" name="Picture 2">
                <a:extLst>
                  <a:ext uri="{FF2B5EF4-FFF2-40B4-BE49-F238E27FC236}">
                    <a16:creationId xmlns:a16="http://schemas.microsoft.com/office/drawing/2014/main" id="{4C5BF68C-57AA-1244-A594-5AB994DE61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FEEFCE02-530C-3948-A421-28940D89E22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4FC49B-C944-6347-987F-5FFA3C027F78}"/>
                      </a:ext>
                    </a:extLst>
                  </p:cNvPr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24A2C447-4A99-7645-B95F-271FCA631614}"/>
                      </a:ext>
                    </a:extLst>
                  </p:cNvPr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TextBox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E8B34B06-CD21-FC4B-BD66-6B354094A5D7}"/>
                      </a:ext>
                    </a:extLst>
                  </p:cNvPr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A7F870A-1DF3-3D47-9A3D-D053B8F1C48E}"/>
                      </a:ext>
                    </a:extLst>
                  </p:cNvPr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8" name="Arc 57">
            <a:extLst>
              <a:ext uri="{FF2B5EF4-FFF2-40B4-BE49-F238E27FC236}">
                <a16:creationId xmlns:a16="http://schemas.microsoft.com/office/drawing/2014/main" id="{628D83D3-F8FF-504E-B65B-7F7251A21E7F}"/>
              </a:ext>
            </a:extLst>
          </p:cNvPr>
          <p:cNvSpPr/>
          <p:nvPr/>
        </p:nvSpPr>
        <p:spPr>
          <a:xfrm>
            <a:off x="5029200" y="5017532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51A5FBF-3B07-0F4B-AFDF-3A7F62E7C3B6}"/>
              </a:ext>
            </a:extLst>
          </p:cNvPr>
          <p:cNvGrpSpPr/>
          <p:nvPr/>
        </p:nvGrpSpPr>
        <p:grpSpPr>
          <a:xfrm>
            <a:off x="7315200" y="4739481"/>
            <a:ext cx="1238111" cy="659051"/>
            <a:chOff x="7315200" y="4739481"/>
            <a:chExt cx="1238111" cy="659051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7802DDA-D85D-EF48-8F5F-9E4ABB1F6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5200" y="4739481"/>
              <a:ext cx="625722" cy="594519"/>
            </a:xfrm>
            <a:prstGeom prst="line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05CE3E9-1D4F-A74A-9AF6-14B9211A4AA2}"/>
                </a:ext>
              </a:extLst>
            </p:cNvPr>
            <p:cNvCxnSpPr/>
            <p:nvPr/>
          </p:nvCxnSpPr>
          <p:spPr>
            <a:xfrm>
              <a:off x="7330394" y="5398532"/>
              <a:ext cx="1222917" cy="0"/>
            </a:xfrm>
            <a:prstGeom prst="line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A79642B-D039-DC4B-B4A4-454E17469251}"/>
              </a:ext>
            </a:extLst>
          </p:cNvPr>
          <p:cNvCxnSpPr/>
          <p:nvPr/>
        </p:nvCxnSpPr>
        <p:spPr>
          <a:xfrm flipH="1">
            <a:off x="8019911" y="5474732"/>
            <a:ext cx="611459" cy="533400"/>
          </a:xfrm>
          <a:prstGeom prst="line">
            <a:avLst/>
          </a:prstGeom>
          <a:ln w="19050"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BCFE31-C0AE-3A4F-B658-7E1618D499F1}"/>
              </a:ext>
            </a:extLst>
          </p:cNvPr>
          <p:cNvCxnSpPr/>
          <p:nvPr/>
        </p:nvCxnSpPr>
        <p:spPr>
          <a:xfrm>
            <a:off x="6328317" y="5410200"/>
            <a:ext cx="838200" cy="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D0601B-7568-0B46-8C4E-F44A382C824B}"/>
              </a:ext>
            </a:extLst>
          </p:cNvPr>
          <p:cNvCxnSpPr/>
          <p:nvPr/>
        </p:nvCxnSpPr>
        <p:spPr>
          <a:xfrm>
            <a:off x="5334000" y="5410200"/>
            <a:ext cx="838200" cy="0"/>
          </a:xfrm>
          <a:prstGeom prst="line">
            <a:avLst/>
          </a:prstGeom>
          <a:ln w="190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DF5924C-7CC9-934D-8A2C-3D9DD7804833}"/>
              </a:ext>
            </a:extLst>
          </p:cNvPr>
          <p:cNvCxnSpPr/>
          <p:nvPr/>
        </p:nvCxnSpPr>
        <p:spPr>
          <a:xfrm>
            <a:off x="7924800" y="4800600"/>
            <a:ext cx="3717" cy="1143000"/>
          </a:xfrm>
          <a:prstGeom prst="line">
            <a:avLst/>
          </a:prstGeom>
          <a:ln w="1905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767E3FC-7EB7-0944-8F77-189FEA3A9D32}"/>
              </a:ext>
            </a:extLst>
          </p:cNvPr>
          <p:cNvCxnSpPr/>
          <p:nvPr/>
        </p:nvCxnSpPr>
        <p:spPr>
          <a:xfrm>
            <a:off x="7320776" y="5474732"/>
            <a:ext cx="604024" cy="53340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A2AE05B-D378-774A-8A5E-82C3F54A2A3D}"/>
              </a:ext>
            </a:extLst>
          </p:cNvPr>
          <p:cNvCxnSpPr/>
          <p:nvPr/>
        </p:nvCxnSpPr>
        <p:spPr>
          <a:xfrm>
            <a:off x="8023282" y="4774960"/>
            <a:ext cx="615176" cy="609600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rc 73">
            <a:extLst>
              <a:ext uri="{FF2B5EF4-FFF2-40B4-BE49-F238E27FC236}">
                <a16:creationId xmlns:a16="http://schemas.microsoft.com/office/drawing/2014/main" id="{9874E89C-5F61-5140-B570-B8111BF482DB}"/>
              </a:ext>
            </a:extLst>
          </p:cNvPr>
          <p:cNvSpPr/>
          <p:nvPr/>
        </p:nvSpPr>
        <p:spPr>
          <a:xfrm>
            <a:off x="7391400" y="4724400"/>
            <a:ext cx="1258535" cy="1193560"/>
          </a:xfrm>
          <a:prstGeom prst="arc">
            <a:avLst>
              <a:gd name="adj1" fmla="val 16200000"/>
              <a:gd name="adj2" fmla="val 353743"/>
            </a:avLst>
          </a:prstGeom>
          <a:ln w="158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D9AB986-7248-0D44-A266-B1E0FA825213}"/>
                  </a:ext>
                </a:extLst>
              </p:cNvPr>
              <p:cNvSpPr txBox="1"/>
              <p:nvPr/>
            </p:nvSpPr>
            <p:spPr>
              <a:xfrm>
                <a:off x="7379344" y="6400800"/>
                <a:ext cx="503599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D9AB986-7248-0D44-A266-B1E0FA82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44" y="6400800"/>
                <a:ext cx="503599" cy="37555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56CF8-75D0-3542-9833-D1B943468D1D}"/>
                  </a:ext>
                </a:extLst>
              </p:cNvPr>
              <p:cNvSpPr txBox="1"/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6056CF8-75D0-3542-9833-D1B94346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8" y="6308543"/>
                <a:ext cx="393056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15504EC-2F6A-3A18-AD58-EEB4CA5172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570037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There is an edge 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) in the graph corresponding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𝑩</m:t>
                    </m:r>
                  </m:oMath>
                </a14:m>
                <a:endParaRPr lang="en-US" sz="20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000" b="1" dirty="0"/>
                  <a:t>if and only if </a:t>
                </a:r>
                <a:r>
                  <a:rPr lang="en-US" sz="2000" dirty="0"/>
                  <a:t>there is a path of length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15504EC-2F6A-3A18-AD58-EEB4CA517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70037"/>
                <a:ext cx="8229600" cy="4525963"/>
              </a:xfrm>
              <a:prstGeom prst="rect">
                <a:avLst/>
              </a:prstGeom>
              <a:blipFill>
                <a:blip r:embed="rId48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B71BA1-3814-9BE7-32B3-0BD0E66E9774}"/>
                  </a:ext>
                </a:extLst>
              </p:cNvPr>
              <p:cNvSpPr txBox="1"/>
              <p:nvPr/>
            </p:nvSpPr>
            <p:spPr>
              <a:xfrm>
                <a:off x="4361369" y="3645349"/>
                <a:ext cx="2862322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at most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  <a:endParaRPr lang="en-IN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B71BA1-3814-9BE7-32B3-0BD0E66E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369" y="3645349"/>
                <a:ext cx="2862322" cy="400110"/>
              </a:xfrm>
              <a:prstGeom prst="rect">
                <a:avLst/>
              </a:prstGeom>
              <a:blipFill>
                <a:blip r:embed="rId49"/>
                <a:stretch>
                  <a:fillRect l="-2128" t="-9091" r="-1489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514EA97C-A613-FBF9-7420-02066FD5BA29}"/>
              </a:ext>
            </a:extLst>
          </p:cNvPr>
          <p:cNvGrpSpPr/>
          <p:nvPr/>
        </p:nvGrpSpPr>
        <p:grpSpPr>
          <a:xfrm>
            <a:off x="6343511" y="4712732"/>
            <a:ext cx="1520283" cy="1295400"/>
            <a:chOff x="6343511" y="4712732"/>
            <a:chExt cx="1520283" cy="12954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4E94477-CF17-6EC3-C6CA-ACD79B53A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4335" y="4712732"/>
              <a:ext cx="1515742" cy="647089"/>
            </a:xfrm>
            <a:prstGeom prst="line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072ECA-21D0-9EB3-A940-7CD6D30582E0}"/>
                </a:ext>
              </a:extLst>
            </p:cNvPr>
            <p:cNvCxnSpPr/>
            <p:nvPr/>
          </p:nvCxnSpPr>
          <p:spPr>
            <a:xfrm>
              <a:off x="6343511" y="5398532"/>
              <a:ext cx="1520283" cy="609600"/>
            </a:xfrm>
            <a:prstGeom prst="line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5679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dirty="0"/>
                  <a:t> ?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800" dirty="0"/>
                  <a:t> ?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compute Transitive Closure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>
                <a:blip r:embed="rId2"/>
                <a:stretch>
                  <a:fillRect l="-5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qual 43"/>
          <p:cNvSpPr/>
          <p:nvPr/>
        </p:nvSpPr>
        <p:spPr>
          <a:xfrm>
            <a:off x="56388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7A9696-E5C9-D1E7-0FF4-CB1A13084B5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6667" r="-14286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106667" r="-14286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206667" r="-14286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306667" r="-14286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406667" r="-14286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6"/>
                          <a:stretch>
                            <a:fillRect l="-12698" t="-506667" r="-14286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C1CA2F2-318E-1C90-B711-5A9B1F22E4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7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Multiply 40">
            <a:extLst>
              <a:ext uri="{FF2B5EF4-FFF2-40B4-BE49-F238E27FC236}">
                <a16:creationId xmlns:a16="http://schemas.microsoft.com/office/drawing/2014/main" id="{5F01895B-BE7F-54F9-8C9F-EB6277B97714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F38FF7-1268-08CF-D4A1-2B9B6D65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2695A1-8071-3C68-00C0-63C3028F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Content Placeholder 3">
                <a:extLst>
                  <a:ext uri="{FF2B5EF4-FFF2-40B4-BE49-F238E27FC236}">
                    <a16:creationId xmlns:a16="http://schemas.microsoft.com/office/drawing/2014/main" id="{7861762F-248B-9585-DCE8-E0B0606D8A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0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Content Placeholder 3">
                <a:extLst>
                  <a:ext uri="{FF2B5EF4-FFF2-40B4-BE49-F238E27FC236}">
                    <a16:creationId xmlns:a16="http://schemas.microsoft.com/office/drawing/2014/main" id="{3648FD93-6DE9-4978-242C-DE95E5400AB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448" r="-3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448" r="-2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448" r="-1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448" r="-6897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103448" r="-3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103448" r="-2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103448" r="-1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103448" r="-6897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203448" r="-3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203448" r="-2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203448" r="-1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203448" r="-689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303448" r="-3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303448" r="-2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303448" r="-1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303448" r="-689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403448" r="-3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403448" r="-2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403448" r="-1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403448" r="-6897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03448" t="-503448" r="-3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303448" t="-503448" r="-2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403448" t="-503448" r="-1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503448" t="-503448" r="-6897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7C3EBD0-9E01-3BDF-2FB0-66BD1E13AF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115981"/>
                  </p:ext>
                </p:extLst>
              </p:nvPr>
            </p:nvGraphicFramePr>
            <p:xfrm>
              <a:off x="6216042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6667" r="-12500" b="-5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106667" r="-12500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206667" r="-12500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306667" r="-12500" b="-2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406667" r="-12500" b="-1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2"/>
                          <a:stretch>
                            <a:fillRect l="-10938" t="-506667" r="-12500" b="-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4503BFD4-5ADB-9478-D481-FDCFD368F1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4548446"/>
                  </p:ext>
                </p:extLst>
              </p:nvPr>
            </p:nvGraphicFramePr>
            <p:xfrm>
              <a:off x="6707622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639" t="-3175" r="-498361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103333" t="-3175" r="-40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200000" t="-3175" r="-3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05000" t="-3175" r="-205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398361" t="-3175" r="-1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3"/>
                          <a:stretch>
                            <a:fillRect l="-506667" t="-3175" r="-333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/>
              <p:cNvGraphicFramePr>
                <a:graphicFrameLocks/>
              </p:cNvGraphicFramePr>
              <p:nvPr/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/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3448" r="-5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3448" r="-4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3448" r="-3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03448" t="-3448" r="-2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3448" r="-106897" b="-5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503448" t="-3448" r="-6897" b="-5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103448" r="-5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103448" r="-4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103448" r="-3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03448" t="-103448" r="-2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103448" r="-106897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503448" t="-103448" r="-6897" b="-4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203448" r="-5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203448" r="-4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203448" r="-3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03448" t="-203448" r="-2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203448" r="-106897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503448" t="-203448" r="-6897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303448" r="-5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303448" r="-4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303448" r="-3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03448" t="-303448" r="-2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303448" r="-106897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403448" r="-5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403448" r="-4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403448" r="-3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03448" t="-403448" r="-2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403448" r="-106897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503448" t="-403448" r="-6897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3448" t="-503448" r="-5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3448" t="-503448" r="-4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3448" t="-503448" r="-3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3448" t="-503448" r="-10689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503448" t="-503448" r="-6897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28C8E1D-0DF2-A54E-93FD-52F9DBCD213A}"/>
                  </a:ext>
                </a:extLst>
              </p:cNvPr>
              <p:cNvSpPr txBox="1"/>
              <p:nvPr/>
            </p:nvSpPr>
            <p:spPr>
              <a:xfrm>
                <a:off x="4186626" y="3581400"/>
                <a:ext cx="185217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28C8E1D-0DF2-A54E-93FD-52F9DBCD2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626" y="3581400"/>
                <a:ext cx="1852174" cy="369332"/>
              </a:xfrm>
              <a:prstGeom prst="rect">
                <a:avLst/>
              </a:prstGeom>
              <a:blipFill>
                <a:blip r:embed="rId45"/>
                <a:stretch>
                  <a:fillRect l="-2961" t="-10000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134C037-AA8F-834D-8734-7AF30B75F502}"/>
                  </a:ext>
                </a:extLst>
              </p:cNvPr>
              <p:cNvSpPr txBox="1"/>
              <p:nvPr/>
            </p:nvSpPr>
            <p:spPr>
              <a:xfrm>
                <a:off x="4125441" y="5568861"/>
                <a:ext cx="165942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134C037-AA8F-834D-8734-7AF30B75F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441" y="5568861"/>
                <a:ext cx="1659429" cy="369332"/>
              </a:xfrm>
              <a:prstGeom prst="rect">
                <a:avLst/>
              </a:prstGeom>
              <a:blipFill>
                <a:blip r:embed="rId46"/>
                <a:stretch>
                  <a:fillRect l="-2920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734163-F40A-BB48-B748-DA0C1AC5C80D}"/>
                  </a:ext>
                </a:extLst>
              </p:cNvPr>
              <p:cNvSpPr txBox="1"/>
              <p:nvPr/>
            </p:nvSpPr>
            <p:spPr>
              <a:xfrm>
                <a:off x="5996426" y="5568861"/>
                <a:ext cx="3215945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1" dirty="0"/>
                  <a:t> Matrix Multiplications  </a:t>
                </a:r>
                <a:r>
                  <a:rPr lang="en-US" b="1" dirty="0">
                    <a:sym typeface="Wingdings" pitchFamily="2" charset="2"/>
                  </a:rPr>
                  <a:t></a:t>
                </a:r>
                <a:endParaRPr lang="en-US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E734163-F40A-BB48-B748-DA0C1AC5C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26" y="5568861"/>
                <a:ext cx="3215945" cy="369332"/>
              </a:xfrm>
              <a:prstGeom prst="rect">
                <a:avLst/>
              </a:prstGeom>
              <a:blipFill>
                <a:blip r:embed="rId47"/>
                <a:stretch>
                  <a:fillRect t="-9677" r="-378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C5F4D3-873C-8176-9AF8-BE2234FF93EF}"/>
                  </a:ext>
                </a:extLst>
              </p:cNvPr>
              <p:cNvSpPr txBox="1"/>
              <p:nvPr/>
            </p:nvSpPr>
            <p:spPr>
              <a:xfrm>
                <a:off x="5996426" y="3581400"/>
                <a:ext cx="236904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and take </a:t>
                </a:r>
                <a:r>
                  <a:rPr lang="en-US" b="1" dirty="0"/>
                  <a:t>union </a:t>
                </a:r>
                <a:r>
                  <a:rPr lang="en-US" dirty="0"/>
                  <a:t>with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C5F4D3-873C-8176-9AF8-BE2234FF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26" y="3581400"/>
                <a:ext cx="2369046" cy="369332"/>
              </a:xfrm>
              <a:prstGeom prst="rect">
                <a:avLst/>
              </a:prstGeom>
              <a:blipFill>
                <a:blip r:embed="rId48"/>
                <a:stretch>
                  <a:fillRect l="-2320" t="-10000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D86BD8-17FA-2EC6-DA3B-215D5F024DBA}"/>
                  </a:ext>
                </a:extLst>
              </p:cNvPr>
              <p:cNvSpPr txBox="1"/>
              <p:nvPr/>
            </p:nvSpPr>
            <p:spPr>
              <a:xfrm>
                <a:off x="4126954" y="4507468"/>
                <a:ext cx="191148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D86BD8-17FA-2EC6-DA3B-215D5F024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54" y="4507468"/>
                <a:ext cx="1911485" cy="369332"/>
              </a:xfrm>
              <a:prstGeom prst="rect">
                <a:avLst/>
              </a:prstGeom>
              <a:blipFill>
                <a:blip r:embed="rId49"/>
                <a:stretch>
                  <a:fillRect l="-2866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9B1F82-744D-24E6-B1B4-E019FF69FA87}"/>
                  </a:ext>
                </a:extLst>
              </p:cNvPr>
              <p:cNvSpPr txBox="1"/>
              <p:nvPr/>
            </p:nvSpPr>
            <p:spPr>
              <a:xfrm>
                <a:off x="5936754" y="4507468"/>
                <a:ext cx="239296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and take </a:t>
                </a:r>
                <a:r>
                  <a:rPr lang="en-US" b="1" dirty="0"/>
                  <a:t>union </a:t>
                </a:r>
                <a:r>
                  <a:rPr lang="en-US" dirty="0"/>
                  <a:t>with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9B1F82-744D-24E6-B1B4-E019FF69F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754" y="4507468"/>
                <a:ext cx="2392963" cy="369332"/>
              </a:xfrm>
              <a:prstGeom prst="rect">
                <a:avLst/>
              </a:prstGeom>
              <a:blipFill>
                <a:blip r:embed="rId50"/>
                <a:stretch>
                  <a:fillRect l="-2296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48EAEC-273E-F7D6-F5E9-51C630AA3842}"/>
                  </a:ext>
                </a:extLst>
              </p:cNvPr>
              <p:cNvSpPr txBox="1"/>
              <p:nvPr/>
            </p:nvSpPr>
            <p:spPr>
              <a:xfrm>
                <a:off x="4186626" y="3601958"/>
                <a:ext cx="365465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be the Adjacency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48EAEC-273E-F7D6-F5E9-51C630AA3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626" y="3601958"/>
                <a:ext cx="3654655" cy="369332"/>
              </a:xfrm>
              <a:prstGeom prst="rect">
                <a:avLst/>
              </a:prstGeom>
              <a:blipFill>
                <a:blip r:embed="rId51"/>
                <a:stretch>
                  <a:fillRect l="-1503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loud Callout 55">
                <a:extLst>
                  <a:ext uri="{FF2B5EF4-FFF2-40B4-BE49-F238E27FC236}">
                    <a16:creationId xmlns:a16="http://schemas.microsoft.com/office/drawing/2014/main" id="{40E6E030-9F94-145F-C422-E82E4CD8B916}"/>
                  </a:ext>
                </a:extLst>
              </p:cNvPr>
              <p:cNvSpPr/>
              <p:nvPr/>
            </p:nvSpPr>
            <p:spPr>
              <a:xfrm>
                <a:off x="2535772" y="5997081"/>
                <a:ext cx="6053656" cy="73868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Hint</a:t>
                </a:r>
                <a:r>
                  <a:rPr lang="en-US" sz="1400" dirty="0">
                    <a:solidFill>
                      <a:schemeClr val="tx1"/>
                    </a:solidFill>
                  </a:rPr>
                  <a:t>: Can we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1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1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in a </a:t>
                </a:r>
                <a:r>
                  <a:rPr lang="en-US" sz="1400" u="sng" dirty="0">
                    <a:solidFill>
                      <a:schemeClr val="tx1"/>
                    </a:solidFill>
                  </a:rPr>
                  <a:t>single</a:t>
                </a:r>
                <a:r>
                  <a:rPr lang="en-US" sz="1400" dirty="0">
                    <a:solidFill>
                      <a:schemeClr val="tx1"/>
                    </a:solidFill>
                  </a:rPr>
                  <a:t> matrix multiplication than 2 multiplications ?</a:t>
                </a:r>
              </a:p>
            </p:txBody>
          </p:sp>
        </mc:Choice>
        <mc:Fallback xmlns="">
          <p:sp>
            <p:nvSpPr>
              <p:cNvPr id="8" name="Cloud Callout 55">
                <a:extLst>
                  <a:ext uri="{FF2B5EF4-FFF2-40B4-BE49-F238E27FC236}">
                    <a16:creationId xmlns:a16="http://schemas.microsoft.com/office/drawing/2014/main" id="{40E6E030-9F94-145F-C422-E82E4CD8B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772" y="5997081"/>
                <a:ext cx="6053656" cy="73868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E22D36-0EF2-C55E-B5E9-294A18D57EEF}"/>
                  </a:ext>
                </a:extLst>
              </p:cNvPr>
              <p:cNvSpPr txBox="1"/>
              <p:nvPr/>
            </p:nvSpPr>
            <p:spPr>
              <a:xfrm>
                <a:off x="4114800" y="4495800"/>
                <a:ext cx="192591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E22D36-0EF2-C55E-B5E9-294A18D57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495800"/>
                <a:ext cx="1925912" cy="369332"/>
              </a:xfrm>
              <a:prstGeom prst="rect">
                <a:avLst/>
              </a:prstGeom>
              <a:blipFill>
                <a:blip r:embed="rId53"/>
                <a:stretch>
                  <a:fillRect l="-2532" t="-10000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80B28C-7765-F50B-D690-0487AA2BD9E5}"/>
                  </a:ext>
                </a:extLst>
              </p:cNvPr>
              <p:cNvSpPr txBox="1"/>
              <p:nvPr/>
            </p:nvSpPr>
            <p:spPr>
              <a:xfrm>
                <a:off x="5924600" y="4495800"/>
                <a:ext cx="239296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and take </a:t>
                </a:r>
                <a:r>
                  <a:rPr lang="en-US" b="1" dirty="0"/>
                  <a:t>union </a:t>
                </a:r>
                <a:r>
                  <a:rPr lang="en-US" dirty="0"/>
                  <a:t>with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80B28C-7765-F50B-D690-0487AA2B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600" y="4495800"/>
                <a:ext cx="2392963" cy="369332"/>
              </a:xfrm>
              <a:prstGeom prst="rect">
                <a:avLst/>
              </a:prstGeom>
              <a:blipFill>
                <a:blip r:embed="rId54"/>
                <a:stretch>
                  <a:fillRect l="-2296" t="-10000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715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6" grpId="0" animBg="1"/>
      <p:bldP spid="36" grpId="1" animBg="1"/>
      <p:bldP spid="77" grpId="0" animBg="1"/>
      <p:bldP spid="78" grpId="0" animBg="1"/>
      <p:bldP spid="2" grpId="0" animBg="1"/>
      <p:bldP spid="2" grpId="1" animBg="1"/>
      <p:bldP spid="4" grpId="0" animBg="1"/>
      <p:bldP spid="5" grpId="0" animBg="1"/>
      <p:bldP spid="6" grpId="0" animBg="1"/>
      <p:bldP spid="8" grpId="0" animBg="1"/>
      <p:bldP spid="8" grpId="1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transitive closure of graph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4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96DC4-AC23-2842-835F-3F346AC31794}"/>
                  </a:ext>
                </a:extLst>
              </p:cNvPr>
              <p:cNvSpPr txBox="1"/>
              <p:nvPr/>
            </p:nvSpPr>
            <p:spPr>
              <a:xfrm>
                <a:off x="3003301" y="3059668"/>
                <a:ext cx="3137397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b="1" dirty="0"/>
                  <a:t> Matrix Multiplications  </a:t>
                </a:r>
                <a:r>
                  <a:rPr lang="en-US" b="1" dirty="0">
                    <a:sym typeface="Wingdings" pitchFamily="2" charset="2"/>
                  </a:rPr>
                  <a:t></a:t>
                </a:r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96DC4-AC23-2842-835F-3F346AC31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301" y="3059668"/>
                <a:ext cx="3137397" cy="369332"/>
              </a:xfrm>
              <a:prstGeom prst="rect">
                <a:avLst/>
              </a:prstGeom>
              <a:blipFill>
                <a:blip r:embed="rId7"/>
                <a:stretch>
                  <a:fillRect l="-388" t="-9524" r="-77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Callout 55">
                <a:extLst>
                  <a:ext uri="{FF2B5EF4-FFF2-40B4-BE49-F238E27FC236}">
                    <a16:creationId xmlns:a16="http://schemas.microsoft.com/office/drawing/2014/main" id="{E05AE737-EC6A-B8B3-B869-464719EE338E}"/>
                  </a:ext>
                </a:extLst>
              </p:cNvPr>
              <p:cNvSpPr/>
              <p:nvPr/>
            </p:nvSpPr>
            <p:spPr>
              <a:xfrm>
                <a:off x="3115636" y="4668040"/>
                <a:ext cx="3636428" cy="73227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How to eliminate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b="1" dirty="0">
                    <a:solidFill>
                      <a:schemeClr val="tx1"/>
                    </a:solidFill>
                  </a:rPr>
                  <a:t> factor ?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loud Callout 55">
                <a:extLst>
                  <a:ext uri="{FF2B5EF4-FFF2-40B4-BE49-F238E27FC236}">
                    <a16:creationId xmlns:a16="http://schemas.microsoft.com/office/drawing/2014/main" id="{E05AE737-EC6A-B8B3-B869-464719EE3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636" y="4668040"/>
                <a:ext cx="3636428" cy="732272"/>
              </a:xfrm>
              <a:prstGeom prst="cloudCallout">
                <a:avLst>
                  <a:gd name="adj1" fmla="val -23217"/>
                  <a:gd name="adj2" fmla="val 85442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7B0D67-A9ED-37EA-03BD-66386958498B}"/>
                  </a:ext>
                </a:extLst>
              </p:cNvPr>
              <p:cNvSpPr txBox="1"/>
              <p:nvPr/>
            </p:nvSpPr>
            <p:spPr>
              <a:xfrm>
                <a:off x="152400" y="6457949"/>
                <a:ext cx="8454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dirty="0"/>
                  <a:t>: What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not power of 2. Write neat pseudocode for the general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7B0D67-A9ED-37EA-03BD-663869584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457949"/>
                <a:ext cx="8454559" cy="369332"/>
              </a:xfrm>
              <a:prstGeom prst="rect">
                <a:avLst/>
              </a:prstGeom>
              <a:blipFill>
                <a:blip r:embed="rId9"/>
                <a:stretch>
                  <a:fillRect l="-577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5F91F2F-40C7-9A33-EC8C-4A8939DA4C0C}"/>
              </a:ext>
            </a:extLst>
          </p:cNvPr>
          <p:cNvSpPr txBox="1"/>
          <p:nvPr/>
        </p:nvSpPr>
        <p:spPr>
          <a:xfrm>
            <a:off x="1273434" y="5795866"/>
            <a:ext cx="600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will be the 4</a:t>
            </a:r>
            <a:r>
              <a:rPr lang="en-US" baseline="30000" dirty="0"/>
              <a:t>th</a:t>
            </a:r>
            <a:r>
              <a:rPr lang="en-US" dirty="0"/>
              <a:t> worked out assignment, to be posted soon.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09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1" animBg="1"/>
      <p:bldP spid="4" grpId="0" animBg="1"/>
      <p:bldP spid="4" grpId="1" animBg="1"/>
      <p:bldP spid="10" grpId="0"/>
      <p:bldP spid="10" grpId="1"/>
      <p:bldP spid="16" grpId="0"/>
      <p:bldP spid="1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322D-F66D-0CEB-8B6E-CCADBCFC1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F9524F-04E9-900B-520C-43AC7E41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24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All-Pairs Shortest Paths </a:t>
            </a:r>
            <a:r>
              <a:rPr lang="en-US" sz="3600" b="1" dirty="0"/>
              <a:t>in </a:t>
            </a:r>
            <a:br>
              <a:rPr lang="en-US" sz="3600" b="1" dirty="0"/>
            </a:br>
            <a:r>
              <a:rPr lang="en-US" sz="3600" b="1" dirty="0">
                <a:solidFill>
                  <a:srgbClr val="0070C0"/>
                </a:solidFill>
              </a:rPr>
              <a:t>undirected unweighted </a:t>
            </a:r>
            <a:r>
              <a:rPr lang="en-US" sz="3600" b="1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336046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DD1C0-3DD6-ADED-7411-53966E62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08A1B30-DF91-8DBD-499F-1DEF03989535}"/>
              </a:ext>
            </a:extLst>
          </p:cNvPr>
          <p:cNvSpPr/>
          <p:nvPr/>
        </p:nvSpPr>
        <p:spPr>
          <a:xfrm rot="2687660">
            <a:off x="6223688" y="1686885"/>
            <a:ext cx="3219295" cy="391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0F413-CC58-4C4D-4FC0-9BB2A925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B8D281-03E1-DB01-712B-B40A36273E59}"/>
              </a:ext>
            </a:extLst>
          </p:cNvPr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36761C4-A9E0-B3C9-90D8-0B104549CD36}"/>
                    </a:ext>
                  </a:extLst>
                </p:cNvPr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6A0EA81-4BFE-28AA-6CBA-C7DDF53E0B51}"/>
                </a:ext>
              </a:extLst>
            </p:cNvPr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A0EAE909-01BA-142B-9C9C-014EA4A254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77F4D9A-770D-B373-C1D1-FD04C20CBEF4}"/>
                  </a:ext>
                </a:extLst>
              </p:cNvPr>
              <p:cNvCxnSpPr>
                <a:stCxn id="4" idx="0"/>
                <a:endCxn id="8" idx="1"/>
              </p:cNvCxnSpPr>
              <p:nvPr/>
            </p:nvCxnSpPr>
            <p:spPr>
              <a:xfrm flipV="1">
                <a:off x="5034776" y="4724400"/>
                <a:ext cx="600307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33783FFB-6C9E-A9D1-0FC8-C98F267CEF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1EE43499-E6D4-1E8E-3F42-6FBDC0ADA4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603FF2B3-4600-3C3C-3055-AA2E270C19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1EB6954-EF7E-DFC6-1C9B-D6DDB9858460}"/>
                  </a:ext>
                </a:extLst>
              </p:cNvPr>
              <p:cNvCxnSpPr>
                <a:stCxn id="8" idx="3"/>
                <a:endCxn id="7" idx="0"/>
              </p:cNvCxnSpPr>
              <p:nvPr/>
            </p:nvCxnSpPr>
            <p:spPr>
              <a:xfrm>
                <a:off x="5791200" y="4724400"/>
                <a:ext cx="615176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D85573F-0BF5-7ABC-66A6-4E7E768C8034}"/>
                  </a:ext>
                </a:extLst>
              </p:cNvPr>
              <p:cNvCxnSpPr>
                <a:stCxn id="4" idx="2"/>
                <a:endCxn id="9" idx="1"/>
              </p:cNvCxnSpPr>
              <p:nvPr/>
            </p:nvCxnSpPr>
            <p:spPr>
              <a:xfrm>
                <a:off x="5034776" y="5486400"/>
                <a:ext cx="604024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320FAC3-0C9A-8961-96D2-71C05AA2A5D6}"/>
                  </a:ext>
                </a:extLst>
              </p:cNvPr>
              <p:cNvCxnSpPr>
                <a:stCxn id="7" idx="2"/>
                <a:endCxn id="9" idx="3"/>
              </p:cNvCxnSpPr>
              <p:nvPr/>
            </p:nvCxnSpPr>
            <p:spPr>
              <a:xfrm flipH="1">
                <a:off x="5794917" y="5486400"/>
                <a:ext cx="611459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Picture 2">
                <a:extLst>
                  <a:ext uri="{FF2B5EF4-FFF2-40B4-BE49-F238E27FC236}">
                    <a16:creationId xmlns:a16="http://schemas.microsoft.com/office/drawing/2014/main" id="{3D15BB01-9A48-E24E-5111-F77BB1D617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>
                <a:extLst>
                  <a:ext uri="{FF2B5EF4-FFF2-40B4-BE49-F238E27FC236}">
                    <a16:creationId xmlns:a16="http://schemas.microsoft.com/office/drawing/2014/main" id="{E52C9692-E2A5-9681-B164-EA9B509FBA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A15127A-2B90-CB98-18D4-6B553162EE52}"/>
                  </a:ext>
                </a:extLst>
              </p:cNvPr>
              <p:cNvCxnSpPr>
                <a:endCxn id="4" idx="1"/>
              </p:cNvCxnSpPr>
              <p:nvPr/>
            </p:nvCxnSpPr>
            <p:spPr>
              <a:xfrm>
                <a:off x="4118517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C6C0B38-3CE3-BB4A-4B11-379479D97CBA}"/>
                  </a:ext>
                </a:extLst>
              </p:cNvPr>
              <p:cNvCxnSpPr/>
              <p:nvPr/>
            </p:nvCxnSpPr>
            <p:spPr>
              <a:xfrm>
                <a:off x="3124200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85F0ECD-2631-78B3-C8BD-CA2A3BC3813C}"/>
                  </a:ext>
                </a:extLst>
              </p:cNvPr>
              <p:cNvCxnSpPr>
                <a:stCxn id="8" idx="2"/>
                <a:endCxn id="9" idx="0"/>
              </p:cNvCxnSpPr>
              <p:nvPr/>
            </p:nvCxnSpPr>
            <p:spPr>
              <a:xfrm>
                <a:off x="5713142" y="4800600"/>
                <a:ext cx="3717" cy="1143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D0C9C18-1ED5-63A1-DA4E-5E5D79DB2249}"/>
                      </a:ext>
                    </a:extLst>
                  </p:cNvPr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D533279-E005-8366-5B58-D75B321B5FF1}"/>
                      </a:ext>
                    </a:extLst>
                  </p:cNvPr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8BFB932-37D4-F7A1-5DA8-E504EA774B97}"/>
                      </a:ext>
                    </a:extLst>
                  </p:cNvPr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BE88E83-6E10-7830-1125-5B0FFF0F8DB1}"/>
                      </a:ext>
                    </a:extLst>
                  </p:cNvPr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7E551DA9-F714-D9F9-D2A4-29D96FE9B338}"/>
                      </a:ext>
                    </a:extLst>
                  </p:cNvPr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Content Placeholder 3">
                <a:extLst>
                  <a:ext uri="{FF2B5EF4-FFF2-40B4-BE49-F238E27FC236}">
                    <a16:creationId xmlns:a16="http://schemas.microsoft.com/office/drawing/2014/main" id="{6D41D502-74FF-7F96-918D-31EDE41DBA9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22874138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>
                <a:extLst>
                  <a:ext uri="{FF2B5EF4-FFF2-40B4-BE49-F238E27FC236}">
                    <a16:creationId xmlns:a16="http://schemas.microsoft.com/office/drawing/2014/main" id="{9A097528-E768-99EB-7B98-1D401F5D34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08354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58418AD3-CAD7-117B-AF91-600AEDE250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2258743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>
            <a:extLst>
              <a:ext uri="{FF2B5EF4-FFF2-40B4-BE49-F238E27FC236}">
                <a16:creationId xmlns:a16="http://schemas.microsoft.com/office/drawing/2014/main" id="{E9A691C1-AB8C-2B61-D934-F005CAA1B097}"/>
              </a:ext>
            </a:extLst>
          </p:cNvPr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Content Placeholder 3">
                <a:extLst>
                  <a:ext uri="{FF2B5EF4-FFF2-40B4-BE49-F238E27FC236}">
                    <a16:creationId xmlns:a16="http://schemas.microsoft.com/office/drawing/2014/main" id="{F5A55508-93CB-D544-9B35-7ECF2E5DD85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89522102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>
                <a:extLst>
                  <a:ext uri="{FF2B5EF4-FFF2-40B4-BE49-F238E27FC236}">
                    <a16:creationId xmlns:a16="http://schemas.microsoft.com/office/drawing/2014/main" id="{10AB4393-B263-13C3-FA7B-081EEECD93F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10022677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4" name="Equal 43">
            <a:extLst>
              <a:ext uri="{FF2B5EF4-FFF2-40B4-BE49-F238E27FC236}">
                <a16:creationId xmlns:a16="http://schemas.microsoft.com/office/drawing/2014/main" id="{97DFAB76-1E40-6FE5-495B-56E0068C1E41}"/>
              </a:ext>
            </a:extLst>
          </p:cNvPr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FADDFA-AAA7-29B1-393D-1A047F9AAC98}"/>
                  </a:ext>
                </a:extLst>
              </p:cNvPr>
              <p:cNvSpPr txBox="1"/>
              <p:nvPr/>
            </p:nvSpPr>
            <p:spPr>
              <a:xfrm>
                <a:off x="6705600" y="762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762000"/>
                <a:ext cx="304800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F72A504-676B-131B-C32C-06A8C37DF771}"/>
                  </a:ext>
                </a:extLst>
              </p:cNvPr>
              <p:cNvSpPr txBox="1"/>
              <p:nvPr/>
            </p:nvSpPr>
            <p:spPr>
              <a:xfrm>
                <a:off x="7068015" y="113133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015" y="1131332"/>
                <a:ext cx="304800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40A99FE-BC96-2F8B-A8D0-D4636ECA56FB}"/>
                  </a:ext>
                </a:extLst>
              </p:cNvPr>
              <p:cNvSpPr txBox="1"/>
              <p:nvPr/>
            </p:nvSpPr>
            <p:spPr>
              <a:xfrm>
                <a:off x="7449015" y="151233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015" y="1512332"/>
                <a:ext cx="304800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120A8C-7466-E346-EBCA-F68D7498FD8D}"/>
                  </a:ext>
                </a:extLst>
              </p:cNvPr>
              <p:cNvSpPr txBox="1"/>
              <p:nvPr/>
            </p:nvSpPr>
            <p:spPr>
              <a:xfrm>
                <a:off x="7830015" y="185957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015" y="1859578"/>
                <a:ext cx="304800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5357" r="-24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E31BE9F-14D3-62E0-2FA7-9D18705C190B}"/>
                  </a:ext>
                </a:extLst>
              </p:cNvPr>
              <p:cNvSpPr txBox="1"/>
              <p:nvPr/>
            </p:nvSpPr>
            <p:spPr>
              <a:xfrm>
                <a:off x="8211015" y="224057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015" y="2240578"/>
                <a:ext cx="304800" cy="338554"/>
              </a:xfrm>
              <a:prstGeom prst="rect">
                <a:avLst/>
              </a:prstGeom>
              <a:blipFill rotWithShape="1">
                <a:blip r:embed="rId16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9F52B18-DBAB-00F0-449B-3AA2677967AE}"/>
                  </a:ext>
                </a:extLst>
              </p:cNvPr>
              <p:cNvSpPr txBox="1"/>
              <p:nvPr/>
            </p:nvSpPr>
            <p:spPr>
              <a:xfrm>
                <a:off x="8559653" y="2601134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653" y="2601134"/>
                <a:ext cx="304800" cy="338554"/>
              </a:xfrm>
              <a:prstGeom prst="rect">
                <a:avLst/>
              </a:prstGeom>
              <a:blipFill rotWithShape="1">
                <a:blip r:embed="rId17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03B398B-0147-223E-2CE3-3907ACBC4E4E}"/>
                  </a:ext>
                </a:extLst>
              </p:cNvPr>
              <p:cNvSpPr txBox="1"/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blipFill rotWithShape="1">
                <a:blip r:embed="rId18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2D17F25-70A5-F800-7613-E871FDCDFA18}"/>
                  </a:ext>
                </a:extLst>
              </p:cNvPr>
              <p:cNvSpPr txBox="1"/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blipFill rotWithShape="1">
                <a:blip r:embed="rId19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D08681F-8E66-2710-2FB5-E335DFD524C3}"/>
                  </a:ext>
                </a:extLst>
              </p:cNvPr>
              <p:cNvSpPr txBox="1"/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blipFill rotWithShape="1">
                <a:blip r:embed="rId20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39367DB-5B89-7DB5-39B0-61F8652B8947}"/>
                  </a:ext>
                </a:extLst>
              </p:cNvPr>
              <p:cNvSpPr txBox="1"/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blipFill rotWithShape="1">
                <a:blip r:embed="rId21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061627A-9026-88CE-CE9A-2469F0765382}"/>
                  </a:ext>
                </a:extLst>
              </p:cNvPr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5986E7A-43FB-0AEE-C1F7-C46D3FA06B7D}"/>
                  </a:ext>
                </a:extLst>
              </p:cNvPr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FDB5675-A4DB-CAF2-D07F-1EE3699C0797}"/>
                  </a:ext>
                </a:extLst>
              </p:cNvPr>
              <p:cNvSpPr txBox="1"/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225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8BC1F56-C787-424E-3B24-BF3BB1A978F9}"/>
                  </a:ext>
                </a:extLst>
              </p:cNvPr>
              <p:cNvSpPr txBox="1"/>
              <p:nvPr/>
            </p:nvSpPr>
            <p:spPr>
              <a:xfrm>
                <a:off x="3475591" y="3657600"/>
                <a:ext cx="2424573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91" y="3657600"/>
                <a:ext cx="2424573" cy="604717"/>
              </a:xfrm>
              <a:prstGeom prst="rect">
                <a:avLst/>
              </a:prstGeom>
              <a:blipFill rotWithShape="1">
                <a:blip r:embed="rId25"/>
                <a:stretch>
                  <a:fillRect r="-201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3BB59BD-13C5-1FEE-EF3F-8E12E7A16690}"/>
                  </a:ext>
                </a:extLst>
              </p:cNvPr>
              <p:cNvSpPr txBox="1"/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203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25C12E-BD26-7ADB-2247-38B37353DEB6}"/>
                  </a:ext>
                </a:extLst>
              </p:cNvPr>
              <p:cNvSpPr txBox="1"/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333" r="-196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ine Callout 2 53">
                <a:extLst>
                  <a:ext uri="{FF2B5EF4-FFF2-40B4-BE49-F238E27FC236}">
                    <a16:creationId xmlns:a16="http://schemas.microsoft.com/office/drawing/2014/main" id="{2E675812-327E-4CC1-CA1E-4F457613CC8C}"/>
                  </a:ext>
                </a:extLst>
              </p:cNvPr>
              <p:cNvSpPr/>
              <p:nvPr/>
            </p:nvSpPr>
            <p:spPr>
              <a:xfrm>
                <a:off x="3733800" y="76200"/>
                <a:ext cx="2438400" cy="612648"/>
              </a:xfrm>
              <a:prstGeom prst="borderCallout2">
                <a:avLst>
                  <a:gd name="adj1" fmla="val 49693"/>
                  <a:gd name="adj2" fmla="val 100508"/>
                  <a:gd name="adj3" fmla="val 49693"/>
                  <a:gd name="adj4" fmla="val 110009"/>
                  <a:gd name="adj5" fmla="val 94299"/>
                  <a:gd name="adj6" fmla="val 12299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Degree of each vertex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  <m:r>
                      <a:rPr lang="en-US" b="1" i="0" dirty="0" smtClean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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Line Callout 2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76200"/>
                <a:ext cx="2438400" cy="612648"/>
              </a:xfrm>
              <a:prstGeom prst="borderCallout2">
                <a:avLst>
                  <a:gd name="adj1" fmla="val 49693"/>
                  <a:gd name="adj2" fmla="val 100508"/>
                  <a:gd name="adj3" fmla="val 49693"/>
                  <a:gd name="adj4" fmla="val 110009"/>
                  <a:gd name="adj5" fmla="val 94299"/>
                  <a:gd name="adj6" fmla="val 122997"/>
                </a:avLst>
              </a:prstGeom>
              <a:blipFill rotWithShape="1">
                <a:blip r:embed="rId29"/>
                <a:stretch>
                  <a:fillRect t="-576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46EFE55-ED1E-9CBB-7DD9-48ED88869E63}"/>
                  </a:ext>
                </a:extLst>
              </p:cNvPr>
              <p:cNvSpPr txBox="1"/>
              <p:nvPr/>
            </p:nvSpPr>
            <p:spPr>
              <a:xfrm>
                <a:off x="4800600" y="3591580"/>
                <a:ext cx="3128292" cy="52322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800" dirty="0"/>
                  <a:t> : degree of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591580"/>
                <a:ext cx="3128292" cy="523220"/>
              </a:xfrm>
              <a:prstGeom prst="rect">
                <a:avLst/>
              </a:prstGeom>
              <a:blipFill rotWithShape="1">
                <a:blip r:embed="rId30"/>
                <a:stretch>
                  <a:fillRect t="-9091" r="-6214" b="-306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loud Callout 51">
                <a:extLst>
                  <a:ext uri="{FF2B5EF4-FFF2-40B4-BE49-F238E27FC236}">
                    <a16:creationId xmlns:a16="http://schemas.microsoft.com/office/drawing/2014/main" id="{D1824C5F-5759-EACF-0DE5-3B1A0F2C268C}"/>
                  </a:ext>
                </a:extLst>
              </p:cNvPr>
              <p:cNvSpPr/>
              <p:nvPr/>
            </p:nvSpPr>
            <p:spPr>
              <a:xfrm>
                <a:off x="4770071" y="4554602"/>
                <a:ext cx="4343400" cy="1172066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you interpret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𝒁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for some parameter of the graph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2" name="Cloud Callout 51">
                <a:extLst>
                  <a:ext uri="{FF2B5EF4-FFF2-40B4-BE49-F238E27FC236}">
                    <a16:creationId xmlns:a16="http://schemas.microsoft.com/office/drawing/2014/main" id="{D1824C5F-5759-EACF-0DE5-3B1A0F2C2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1" y="4554602"/>
                <a:ext cx="4343400" cy="1172066"/>
              </a:xfrm>
              <a:prstGeom prst="cloudCallou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E3C527-5E26-63FF-8EA4-F9C016FEFFA1}"/>
                  </a:ext>
                </a:extLst>
              </p:cNvPr>
              <p:cNvSpPr txBox="1"/>
              <p:nvPr/>
            </p:nvSpPr>
            <p:spPr>
              <a:xfrm>
                <a:off x="152057" y="6494429"/>
                <a:ext cx="10068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Z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E3C527-5E26-63FF-8EA4-F9C016FEF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57" y="6494429"/>
                <a:ext cx="1006879" cy="369332"/>
              </a:xfrm>
              <a:prstGeom prst="rect">
                <a:avLst/>
              </a:prstGeom>
              <a:blipFill>
                <a:blip r:embed="rId32"/>
                <a:stretch>
                  <a:fillRect l="-5455" t="-11475" b="-213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C16411-ECD3-8432-884F-4B89164BACC9}"/>
                  </a:ext>
                </a:extLst>
              </p:cNvPr>
              <p:cNvSpPr txBox="1"/>
              <p:nvPr/>
            </p:nvSpPr>
            <p:spPr>
              <a:xfrm>
                <a:off x="1366543" y="6488668"/>
                <a:ext cx="30132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dirty="0"/>
                  <a:t>Number of entries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such that</a:t>
                </a:r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C16411-ECD3-8432-884F-4B89164BA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543" y="6488668"/>
                <a:ext cx="3013261" cy="369332"/>
              </a:xfrm>
              <a:prstGeom prst="rect">
                <a:avLst/>
              </a:prstGeom>
              <a:blipFill>
                <a:blip r:embed="rId33"/>
                <a:stretch>
                  <a:fillRect l="-1619" t="-8197" r="-121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69E386-4D59-7277-5ACF-C1EB2F44C877}"/>
                  </a:ext>
                </a:extLst>
              </p:cNvPr>
              <p:cNvSpPr txBox="1"/>
              <p:nvPr/>
            </p:nvSpPr>
            <p:spPr>
              <a:xfrm>
                <a:off x="4419600" y="6473624"/>
                <a:ext cx="28153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69E386-4D59-7277-5ACF-C1EB2F44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6473624"/>
                <a:ext cx="2815386" cy="369332"/>
              </a:xfrm>
              <a:prstGeom prst="rect">
                <a:avLst/>
              </a:prstGeom>
              <a:blipFill>
                <a:blip r:embed="rId34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CA694C4-02FF-84E7-FFBE-D89DF6759E46}"/>
              </a:ext>
            </a:extLst>
          </p:cNvPr>
          <p:cNvSpPr txBox="1"/>
          <p:nvPr/>
        </p:nvSpPr>
        <p:spPr>
          <a:xfrm>
            <a:off x="114067" y="6098926"/>
            <a:ext cx="641009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Hint: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20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" dur="1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8" grpId="1" animBg="1"/>
      <p:bldP spid="41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73" grpId="0" animBg="1"/>
      <p:bldP spid="74" grpId="0" animBg="1"/>
      <p:bldP spid="75" grpId="0" animBg="1"/>
      <p:bldP spid="76" grpId="0" animBg="1"/>
      <p:bldP spid="78" grpId="0"/>
      <p:bldP spid="80" grpId="0"/>
      <p:bldP spid="82" grpId="0"/>
      <p:bldP spid="82" grpId="1"/>
      <p:bldP spid="83" grpId="0"/>
      <p:bldP spid="53" grpId="0"/>
      <p:bldP spid="54" grpId="0" animBg="1"/>
      <p:bldP spid="54" grpId="1" animBg="1"/>
      <p:bldP spid="55" grpId="0" animBg="1"/>
      <p:bldP spid="55" grpId="1" animBg="1"/>
      <p:bldP spid="2" grpId="0" animBg="1"/>
      <p:bldP spid="2" grpId="1" animBg="1"/>
      <p:bldP spid="6" grpId="0"/>
      <p:bldP spid="6" grpId="1"/>
      <p:bldP spid="10" grpId="0"/>
      <p:bldP spid="10" grpId="1"/>
      <p:bldP spid="11" grpId="0"/>
      <p:bldP spid="11" grpId="1"/>
      <p:bldP spid="12" grpId="0" animBg="1"/>
      <p:bldP spid="1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90539208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90539208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279" r="-4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279" r="-406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279" r="-3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279" r="-2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279" r="-101639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3279" r="-3333" b="-5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105000" r="-4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105000" r="-406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105000" r="-3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105000" r="-2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05000" r="-10163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105000" r="-3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201639" r="-4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201639" r="-406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201639" r="-3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201639" r="-2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01639" r="-101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201639" r="-33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06667" r="-4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06667" r="-406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06667" r="-3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06667" r="-2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06667" r="-1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400000" r="-4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400000" r="-406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400000" r="-3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400000" r="-2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00000" r="-10163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400000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508333" r="-4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508333" r="-406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508333" r="-3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08333" r="-1016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508333" r="-333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" name="Group 36"/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5" name="Straight Connector 4"/>
              <p:cNvCxnSpPr>
                <a:stCxn id="4" idx="0"/>
                <a:endCxn id="8" idx="1"/>
              </p:cNvCxnSpPr>
              <p:nvPr/>
            </p:nvCxnSpPr>
            <p:spPr>
              <a:xfrm flipV="1">
                <a:off x="5034776" y="4724400"/>
                <a:ext cx="600307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Connector 13"/>
              <p:cNvCxnSpPr>
                <a:stCxn id="8" idx="3"/>
                <a:endCxn id="7" idx="0"/>
              </p:cNvCxnSpPr>
              <p:nvPr/>
            </p:nvCxnSpPr>
            <p:spPr>
              <a:xfrm>
                <a:off x="5791200" y="4724400"/>
                <a:ext cx="615176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>
                <a:stCxn id="4" idx="2"/>
                <a:endCxn id="9" idx="1"/>
              </p:cNvCxnSpPr>
              <p:nvPr/>
            </p:nvCxnSpPr>
            <p:spPr>
              <a:xfrm>
                <a:off x="5034776" y="5486400"/>
                <a:ext cx="604024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2"/>
                <a:endCxn id="9" idx="3"/>
              </p:cNvCxnSpPr>
              <p:nvPr/>
            </p:nvCxnSpPr>
            <p:spPr>
              <a:xfrm flipH="1">
                <a:off x="5794917" y="5486400"/>
                <a:ext cx="611459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Connector 24"/>
              <p:cNvCxnSpPr>
                <a:endCxn id="4" idx="1"/>
              </p:cNvCxnSpPr>
              <p:nvPr/>
            </p:nvCxnSpPr>
            <p:spPr>
              <a:xfrm>
                <a:off x="4118517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124200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8" idx="2"/>
                <a:endCxn id="9" idx="0"/>
              </p:cNvCxnSpPr>
              <p:nvPr/>
            </p:nvCxnSpPr>
            <p:spPr>
              <a:xfrm>
                <a:off x="5713142" y="4800600"/>
                <a:ext cx="3717" cy="1143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424471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616517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/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qual 43"/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24185" y="77366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185" y="773668"/>
                <a:ext cx="304800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086600" y="1143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1143000"/>
                <a:ext cx="304800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455" r="-22000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467600" y="1524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1524000"/>
                <a:ext cx="304800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848600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1871246"/>
                <a:ext cx="304800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229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2252246"/>
                <a:ext cx="304800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8578238" y="261280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238" y="2612802"/>
                <a:ext cx="304800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/>
          <p:cNvGrpSpPr/>
          <p:nvPr/>
        </p:nvGrpSpPr>
        <p:grpSpPr>
          <a:xfrm>
            <a:off x="5091949" y="4343400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333" r="-2333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/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55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8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9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TextBox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blipFill rotWithShape="1">
                <a:blip r:embed="rId26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blipFill rotWithShape="1">
                <a:blip r:embed="rId27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blipFill rotWithShape="1">
                <a:blip r:embed="rId28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blipFill rotWithShape="1">
                <a:blip r:embed="rId29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Arc 76"/>
          <p:cNvSpPr/>
          <p:nvPr/>
        </p:nvSpPr>
        <p:spPr>
          <a:xfrm>
            <a:off x="5029200" y="5017532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6333893" y="4712732"/>
            <a:ext cx="1529901" cy="1295400"/>
            <a:chOff x="6333893" y="4712732"/>
            <a:chExt cx="1529901" cy="1295400"/>
          </a:xfrm>
        </p:grpSpPr>
        <p:cxnSp>
          <p:nvCxnSpPr>
            <p:cNvPr id="79" name="Straight Connector 78"/>
            <p:cNvCxnSpPr>
              <a:endCxn id="58" idx="1"/>
            </p:cNvCxnSpPr>
            <p:nvPr/>
          </p:nvCxnSpPr>
          <p:spPr>
            <a:xfrm flipV="1">
              <a:off x="6333893" y="4712732"/>
              <a:ext cx="1526184" cy="62126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63" idx="3"/>
              <a:endCxn id="59" idx="1"/>
            </p:cNvCxnSpPr>
            <p:nvPr/>
          </p:nvCxnSpPr>
          <p:spPr>
            <a:xfrm>
              <a:off x="6343511" y="5398532"/>
              <a:ext cx="1520283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Straight Connector 86"/>
          <p:cNvCxnSpPr>
            <a:stCxn id="59" idx="0"/>
            <a:endCxn id="58" idx="2"/>
          </p:cNvCxnSpPr>
          <p:nvPr/>
        </p:nvCxnSpPr>
        <p:spPr>
          <a:xfrm flipH="1" flipV="1">
            <a:off x="7938136" y="4788932"/>
            <a:ext cx="3717" cy="1143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7259770" y="4712732"/>
            <a:ext cx="1293541" cy="1295400"/>
            <a:chOff x="7259770" y="4712732"/>
            <a:chExt cx="1293541" cy="1295400"/>
          </a:xfrm>
        </p:grpSpPr>
        <p:cxnSp>
          <p:nvCxnSpPr>
            <p:cNvPr id="90" name="Straight Connector 89"/>
            <p:cNvCxnSpPr/>
            <p:nvPr/>
          </p:nvCxnSpPr>
          <p:spPr>
            <a:xfrm flipV="1">
              <a:off x="7259770" y="4712732"/>
              <a:ext cx="600307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259770" y="5474732"/>
              <a:ext cx="604024" cy="533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7330394" y="5398532"/>
              <a:ext cx="122291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Right Arrow 96"/>
          <p:cNvSpPr/>
          <p:nvPr/>
        </p:nvSpPr>
        <p:spPr>
          <a:xfrm>
            <a:off x="4254631" y="5156216"/>
            <a:ext cx="622169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016194" y="4712732"/>
            <a:ext cx="615176" cy="1295400"/>
            <a:chOff x="8016194" y="4712732"/>
            <a:chExt cx="615176" cy="12954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8016194" y="4712732"/>
              <a:ext cx="615176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8019911" y="5474732"/>
              <a:ext cx="611459" cy="533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 rotWithShape="1">
                <a:blip r:embed="rId30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475591" y="3657600"/>
                <a:ext cx="2424574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91" y="3657600"/>
                <a:ext cx="2424574" cy="604717"/>
              </a:xfrm>
              <a:prstGeom prst="rect">
                <a:avLst/>
              </a:prstGeom>
              <a:blipFill rotWithShape="1">
                <a:blip r:embed="rId31"/>
                <a:stretch>
                  <a:fillRect r="-201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03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226944" y="6248400"/>
                <a:ext cx="503599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44" y="6248400"/>
                <a:ext cx="503599" cy="375552"/>
              </a:xfrm>
              <a:prstGeom prst="rect">
                <a:avLst/>
              </a:prstGeom>
              <a:blipFill rotWithShape="1">
                <a:blip r:embed="rId32"/>
                <a:stretch>
                  <a:fillRect t="-6452" r="-15854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Connector 88"/>
          <p:cNvCxnSpPr/>
          <p:nvPr/>
        </p:nvCxnSpPr>
        <p:spPr>
          <a:xfrm>
            <a:off x="6328317" y="5410200"/>
            <a:ext cx="838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334000" y="5410200"/>
            <a:ext cx="838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3383" y="3646954"/>
                <a:ext cx="1174617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383" y="3646954"/>
                <a:ext cx="1174617" cy="391646"/>
              </a:xfrm>
              <a:prstGeom prst="rect">
                <a:avLst/>
              </a:prstGeom>
              <a:blipFill rotWithShape="1">
                <a:blip r:embed="rId33"/>
                <a:stretch>
                  <a:fillRect l="-4145" t="-6154" r="-829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3" name="Content Placeholder 3"/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45640889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Content Placeholder 3"/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10656837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7543800" y="3124200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8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333" r="-196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59799" y="5855732"/>
                <a:ext cx="3569062" cy="9233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pair of vertices connected </a:t>
                </a:r>
              </a:p>
              <a:p>
                <a:r>
                  <a:rPr lang="en-US" dirty="0"/>
                  <a:t>by a path of length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appear adjacent in this graph.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799" y="5855732"/>
                <a:ext cx="3569062" cy="923330"/>
              </a:xfrm>
              <a:prstGeom prst="rect">
                <a:avLst/>
              </a:prstGeom>
              <a:blipFill rotWithShape="1">
                <a:blip r:embed="rId35"/>
                <a:stretch>
                  <a:fillRect l="-1363" t="-2614" b="-9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3505200" y="5867400"/>
                <a:ext cx="3775778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us also add each edge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as well to this graph if it is not already there</a:t>
                </a: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5867400"/>
                <a:ext cx="3775778" cy="646331"/>
              </a:xfrm>
              <a:prstGeom prst="rect">
                <a:avLst/>
              </a:prstGeom>
              <a:blipFill rotWithShape="1">
                <a:blip r:embed="rId36"/>
                <a:stretch>
                  <a:fillRect l="-1127" t="-3704" r="-322" b="-120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Cloud Callout 104"/>
          <p:cNvSpPr/>
          <p:nvPr/>
        </p:nvSpPr>
        <p:spPr>
          <a:xfrm>
            <a:off x="2968408" y="5766309"/>
            <a:ext cx="4187283" cy="1102176"/>
          </a:xfrm>
          <a:prstGeom prst="cloudCallout">
            <a:avLst>
              <a:gd name="adj1" fmla="val -19768"/>
              <a:gd name="adj2" fmla="val 6857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would  you interpret this row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1561" y="1515965"/>
            <a:ext cx="2206083" cy="3552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6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97" grpId="0" animBg="1"/>
      <p:bldP spid="88" grpId="0"/>
      <p:bldP spid="6" grpId="0" animBg="1"/>
      <p:bldP spid="11" grpId="0" animBg="1"/>
      <p:bldP spid="11" grpId="1" animBg="1"/>
      <p:bldP spid="104" grpId="0" animBg="1"/>
      <p:bldP spid="104" grpId="1" animBg="1"/>
      <p:bldP spid="105" grpId="0" animBg="1"/>
      <p:bldP spid="105" grpId="1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E6DD9D-F8EA-CEB5-823C-1BF394DAD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IN" dirty="0"/>
                  <a:t> 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E6DD9D-F8EA-CEB5-823C-1BF394DAD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69125-56C5-3A84-6AC4-CB3C0D442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There is an edge between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/>
                  <a:t> if </a:t>
                </a:r>
              </a:p>
              <a:p>
                <a:pPr marL="0" indent="0">
                  <a:buNone/>
                </a:pPr>
                <a:r>
                  <a:rPr lang="en-IN" sz="2000" dirty="0"/>
                  <a:t>there is a path of length </a:t>
                </a:r>
                <a:r>
                  <a:rPr lang="en-IN" sz="2000" b="1" dirty="0"/>
                  <a:t>at most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/>
                  <a:t> between them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69125-56C5-3A84-6AC4-CB3C0D442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117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Content Placeholder 3"/>
          <p:cNvGraphicFramePr>
            <a:graphicFrameLocks/>
          </p:cNvGraphicFramePr>
          <p:nvPr/>
        </p:nvGraphicFramePr>
        <p:xfrm>
          <a:off x="6705600" y="762000"/>
          <a:ext cx="2209800" cy="220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23762" y="1515965"/>
            <a:ext cx="348638" cy="3552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 if and only if  there is a path between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+ℓ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424471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616517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/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qual 43"/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276072" y="3059668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449162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175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24072" y="3048000"/>
                <a:ext cx="4812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481222" cy="369332"/>
              </a:xfrm>
              <a:prstGeom prst="rect">
                <a:avLst/>
              </a:prstGeom>
              <a:blipFill rotWithShape="1">
                <a:blip r:embed="rId27"/>
                <a:stretch>
                  <a:fillRect t="-8197" r="-177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200400" y="4424483"/>
                <a:ext cx="2439001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424483"/>
                <a:ext cx="2439001" cy="604717"/>
              </a:xfrm>
              <a:prstGeom prst="rect">
                <a:avLst/>
              </a:prstGeom>
              <a:blipFill rotWithShape="1">
                <a:blip r:embed="rId28"/>
                <a:stretch>
                  <a:fillRect r="-15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501951" y="4430767"/>
                <a:ext cx="1237134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r>
                          <a:rPr lang="en-US" b="1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51" y="4430767"/>
                <a:ext cx="1237134" cy="391646"/>
              </a:xfrm>
              <a:prstGeom prst="rect">
                <a:avLst/>
              </a:prstGeom>
              <a:blipFill>
                <a:blip r:embed="rId29"/>
                <a:stretch>
                  <a:fillRect l="-4455" t="-7813" b="-20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3" name="Content Placeholder 3"/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45640889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Content Placeholder 3"/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10656837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7543800" y="3124200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383438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333" r="-2258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1820" y="3408556"/>
                <a:ext cx="1900905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Adj.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20" y="3408556"/>
                <a:ext cx="1900905" cy="379784"/>
              </a:xfrm>
              <a:prstGeom prst="rect">
                <a:avLst/>
              </a:prstGeom>
              <a:blipFill rotWithShape="1">
                <a:blip r:embed="rId35"/>
                <a:stretch>
                  <a:fillRect l="-2885" t="-4839" r="-128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581400" y="3433615"/>
                <a:ext cx="1888081" cy="379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Adj.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433615"/>
                <a:ext cx="1888081" cy="379206"/>
              </a:xfrm>
              <a:prstGeom prst="rect">
                <a:avLst/>
              </a:prstGeom>
              <a:blipFill rotWithShape="1">
                <a:blip r:embed="rId36"/>
                <a:stretch>
                  <a:fillRect l="-2913" t="-4839" r="-1618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282614" y="5105400"/>
            <a:ext cx="1403274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685888" y="5181600"/>
            <a:ext cx="333391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5105400"/>
            <a:ext cx="990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934200" y="5105400"/>
            <a:ext cx="990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65889" y="1527116"/>
                <a:ext cx="318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889" y="1527116"/>
                <a:ext cx="318613" cy="369332"/>
              </a:xfrm>
              <a:prstGeom prst="rect">
                <a:avLst/>
              </a:prstGeom>
              <a:blipFill rotWithShape="1">
                <a:blip r:embed="rId37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7447503" y="381000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503" y="381000"/>
                <a:ext cx="324897" cy="369332"/>
              </a:xfrm>
              <a:prstGeom prst="rect">
                <a:avLst/>
              </a:prstGeom>
              <a:blipFill rotWithShape="1">
                <a:blip r:embed="rId38"/>
                <a:stretch>
                  <a:fillRect t="-8333" r="-226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1EA219-3748-0FB3-9A12-7EBCDF89C94C}"/>
                  </a:ext>
                </a:extLst>
              </p:cNvPr>
              <p:cNvSpPr txBox="1"/>
              <p:nvPr/>
            </p:nvSpPr>
            <p:spPr>
              <a:xfrm>
                <a:off x="6620743" y="4430767"/>
                <a:ext cx="1264385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1EA219-3748-0FB3-9A12-7EBCDF89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743" y="4430767"/>
                <a:ext cx="1264385" cy="391646"/>
              </a:xfrm>
              <a:prstGeom prst="rect">
                <a:avLst/>
              </a:prstGeom>
              <a:blipFill>
                <a:blip r:embed="rId39"/>
                <a:stretch>
                  <a:fillRect l="-3865" t="-7813" b="-20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97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2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7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2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build="p"/>
      <p:bldP spid="41" grpId="0" animBg="1"/>
      <p:bldP spid="44" grpId="0" animBg="1"/>
      <p:bldP spid="78" grpId="0"/>
      <p:bldP spid="80" grpId="0"/>
      <p:bldP spid="83" grpId="0"/>
      <p:bldP spid="6" grpId="0" animBg="1"/>
      <p:bldP spid="103" grpId="0"/>
      <p:bldP spid="12" grpId="0"/>
      <p:bldP spid="74" grpId="0"/>
      <p:bldP spid="13" grpId="0" animBg="1"/>
      <p:bldP spid="76" grpId="0" animBg="1"/>
      <p:bldP spid="82" grpId="0" animBg="1"/>
      <p:bldP spid="84" grpId="0" animBg="1"/>
      <p:bldP spid="15" grpId="0"/>
      <p:bldP spid="102" grpId="0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FE2BB87-085E-48E7-E106-225D43C4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0" dirty="0"/>
                  <a:t>: If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/>
                  <a:t>is connected, how will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000" b="0" dirty="0"/>
                  <a:t> look like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b="0" dirty="0"/>
                  <a:t>:  </a:t>
                </a:r>
                <a:r>
                  <a:rPr lang="en-US" sz="2000" dirty="0"/>
                  <a:t>Complete graph.</a:t>
                </a:r>
                <a:endParaRPr lang="en-US" sz="2000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So, we have the exact distance information for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We wish to find exact distance information for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>
                    <a:solidFill>
                      <a:srgbClr val="006C3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5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4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3"/>
              <p:cNvGraphicFramePr>
                <a:graphicFrameLocks/>
              </p:cNvGraphicFramePr>
              <p:nvPr/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6404222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1639" r="-2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1639" r="-105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1639" r="-3279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103333" r="-2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103333" r="-105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103333" r="-3279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200000" r="-2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200000" r="-105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200000" r="-3279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305000" r="-2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305000" r="-105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305000" r="-3279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398361" r="-2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398361" r="-105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398361" r="-327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506667" r="-2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506667" r="-105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506667" r="-3279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DF8-53C1-7048-30BE-22CBFA11F77D}"/>
              </a:ext>
            </a:extLst>
          </p:cNvPr>
          <p:cNvSpPr txBox="1"/>
          <p:nvPr/>
        </p:nvSpPr>
        <p:spPr>
          <a:xfrm>
            <a:off x="476045" y="28866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6" name="Cloud Callout 15">
            <a:extLst>
              <a:ext uri="{FF2B5EF4-FFF2-40B4-BE49-F238E27FC236}">
                <a16:creationId xmlns:a16="http://schemas.microsoft.com/office/drawing/2014/main" id="{408B716D-963C-53D4-2F6A-EF44C62196AA}"/>
              </a:ext>
            </a:extLst>
          </p:cNvPr>
          <p:cNvSpPr/>
          <p:nvPr/>
        </p:nvSpPr>
        <p:spPr>
          <a:xfrm>
            <a:off x="2286000" y="5828364"/>
            <a:ext cx="4876800" cy="877235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 we proceed ?</a:t>
            </a:r>
          </a:p>
        </p:txBody>
      </p:sp>
    </p:spTree>
    <p:extLst>
      <p:ext uri="{BB962C8B-B14F-4D97-AF65-F5344CB8AC3E}">
        <p14:creationId xmlns:p14="http://schemas.microsoft.com/office/powerpoint/2010/main" val="3164912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4" grpId="0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222" t="-674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4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3"/>
              <p:cNvGraphicFramePr>
                <a:graphicFrameLocks/>
              </p:cNvGraphicFramePr>
              <p:nvPr/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19279496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Left Arrow 3"/>
          <p:cNvSpPr/>
          <p:nvPr/>
        </p:nvSpPr>
        <p:spPr>
          <a:xfrm>
            <a:off x="647700" y="5861674"/>
            <a:ext cx="7848600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07660-5A3F-1DD2-B104-3D65A3E19752}"/>
              </a:ext>
            </a:extLst>
          </p:cNvPr>
          <p:cNvSpPr txBox="1"/>
          <p:nvPr/>
        </p:nvSpPr>
        <p:spPr>
          <a:xfrm>
            <a:off x="476045" y="28866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B8386E85-1EC5-0E29-B646-07B57D20702F}"/>
              </a:ext>
            </a:extLst>
          </p:cNvPr>
          <p:cNvSpPr/>
          <p:nvPr/>
        </p:nvSpPr>
        <p:spPr>
          <a:xfrm flipH="1" flipV="1">
            <a:off x="6699092" y="4231241"/>
            <a:ext cx="1689057" cy="721759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U-turn Arrow 17">
            <a:extLst>
              <a:ext uri="{FF2B5EF4-FFF2-40B4-BE49-F238E27FC236}">
                <a16:creationId xmlns:a16="http://schemas.microsoft.com/office/drawing/2014/main" id="{22C9175A-0D0A-C9C4-D70C-B193BAC5D36B}"/>
              </a:ext>
            </a:extLst>
          </p:cNvPr>
          <p:cNvSpPr/>
          <p:nvPr/>
        </p:nvSpPr>
        <p:spPr>
          <a:xfrm flipH="1" flipV="1">
            <a:off x="4190999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U-turn Arrow 18">
            <a:extLst>
              <a:ext uri="{FF2B5EF4-FFF2-40B4-BE49-F238E27FC236}">
                <a16:creationId xmlns:a16="http://schemas.microsoft.com/office/drawing/2014/main" id="{7087A88D-B316-AC8A-164F-03B34F42FD17}"/>
              </a:ext>
            </a:extLst>
          </p:cNvPr>
          <p:cNvSpPr/>
          <p:nvPr/>
        </p:nvSpPr>
        <p:spPr>
          <a:xfrm flipH="1" flipV="1">
            <a:off x="2320739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U-turn Arrow 19">
            <a:extLst>
              <a:ext uri="{FF2B5EF4-FFF2-40B4-BE49-F238E27FC236}">
                <a16:creationId xmlns:a16="http://schemas.microsoft.com/office/drawing/2014/main" id="{E8897121-D278-C1C9-DA10-CA7FDED08EAC}"/>
              </a:ext>
            </a:extLst>
          </p:cNvPr>
          <p:cNvSpPr/>
          <p:nvPr/>
        </p:nvSpPr>
        <p:spPr>
          <a:xfrm flipH="1" flipV="1">
            <a:off x="464880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18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8" grpId="0" animBg="1"/>
      <p:bldP spid="19" grpId="0" animBg="1"/>
      <p:bldP spid="2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6952</TotalTime>
  <Words>3117</Words>
  <Application>Microsoft Office PowerPoint</Application>
  <PresentationFormat>On-screen Show (4:3)</PresentationFormat>
  <Paragraphs>1975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shortest paths in a graph </vt:lpstr>
      <vt:lpstr>Exploiting the Optimal subpath property </vt:lpstr>
      <vt:lpstr>The brilliant idea of Bellman Ford </vt:lpstr>
      <vt:lpstr>The brilliant idea of Bellman Ford </vt:lpstr>
      <vt:lpstr>The brilliant idea of Bellman Ford </vt:lpstr>
      <vt:lpstr>Algorithms for </vt:lpstr>
      <vt:lpstr>  Multiplication of Matrices</vt:lpstr>
      <vt:lpstr> Fast Matrix Multiplication</vt:lpstr>
      <vt:lpstr>Fast Polynomial Multiplication </vt:lpstr>
      <vt:lpstr>Fast Matrix Multiplication </vt:lpstr>
      <vt:lpstr>Fast Matrix Multiplication </vt:lpstr>
      <vt:lpstr>Fast Matrix Multiplication </vt:lpstr>
      <vt:lpstr>Fast Matrix Multiplication </vt:lpstr>
      <vt:lpstr>Amazing Applications of</vt:lpstr>
      <vt:lpstr>The main insight</vt:lpstr>
      <vt:lpstr>All Pairs Reachability</vt:lpstr>
      <vt:lpstr>All Pairs Shortest Paths (APSP) </vt:lpstr>
      <vt:lpstr>But why did anyone think of this approach ?</vt:lpstr>
      <vt:lpstr>Transitive Closure of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All-Pairs Shortest Paths in  undirected unweighted Graph</vt:lpstr>
      <vt:lpstr>PowerPoint Presentation</vt:lpstr>
      <vt:lpstr>PowerPoint Presentation</vt:lpstr>
      <vt:lpstr>What is G^k 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490</cp:revision>
  <dcterms:created xsi:type="dcterms:W3CDTF">2011-12-03T04:13:03Z</dcterms:created>
  <dcterms:modified xsi:type="dcterms:W3CDTF">2025-09-24T06:05:08Z</dcterms:modified>
</cp:coreProperties>
</file>