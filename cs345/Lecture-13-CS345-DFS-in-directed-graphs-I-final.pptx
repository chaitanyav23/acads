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1"/>
  </p:notesMasterIdLst>
  <p:sldIdLst>
    <p:sldId id="443" r:id="rId2"/>
    <p:sldId id="538" r:id="rId3"/>
    <p:sldId id="540" r:id="rId4"/>
    <p:sldId id="539" r:id="rId5"/>
    <p:sldId id="507" r:id="rId6"/>
    <p:sldId id="508" r:id="rId7"/>
    <p:sldId id="592" r:id="rId8"/>
    <p:sldId id="589" r:id="rId9"/>
    <p:sldId id="332" r:id="rId10"/>
    <p:sldId id="392" r:id="rId11"/>
    <p:sldId id="355" r:id="rId12"/>
    <p:sldId id="400" r:id="rId13"/>
    <p:sldId id="541" r:id="rId14"/>
    <p:sldId id="580" r:id="rId15"/>
    <p:sldId id="550" r:id="rId16"/>
    <p:sldId id="553" r:id="rId17"/>
    <p:sldId id="552" r:id="rId18"/>
    <p:sldId id="554" r:id="rId19"/>
    <p:sldId id="551" r:id="rId20"/>
    <p:sldId id="410" r:id="rId21"/>
    <p:sldId id="407" r:id="rId22"/>
    <p:sldId id="408" r:id="rId23"/>
    <p:sldId id="409" r:id="rId24"/>
    <p:sldId id="432" r:id="rId25"/>
    <p:sldId id="387" r:id="rId26"/>
    <p:sldId id="433" r:id="rId27"/>
    <p:sldId id="434" r:id="rId28"/>
    <p:sldId id="442" r:id="rId29"/>
    <p:sldId id="412" r:id="rId30"/>
    <p:sldId id="582" r:id="rId31"/>
    <p:sldId id="358" r:id="rId32"/>
    <p:sldId id="459" r:id="rId33"/>
    <p:sldId id="462" r:id="rId34"/>
    <p:sldId id="461" r:id="rId35"/>
    <p:sldId id="426" r:id="rId36"/>
    <p:sldId id="484" r:id="rId37"/>
    <p:sldId id="483" r:id="rId38"/>
    <p:sldId id="504" r:id="rId39"/>
    <p:sldId id="48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4610" autoAdjust="0"/>
  </p:normalViewPr>
  <p:slideViewPr>
    <p:cSldViewPr>
      <p:cViewPr varScale="1">
        <p:scale>
          <a:sx n="106" d="100"/>
          <a:sy n="106" d="100"/>
        </p:scale>
        <p:origin x="169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Interestingly,</a:t>
            </a:r>
            <a:r>
              <a:rPr lang="en-US" baseline="0" dirty="0"/>
              <a:t> adding only a few statements in the code DFS(v) leads to efficient algorithms for a variety of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EC465-8393-41C9-A06D-CEF1E64A536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1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Interestingly,</a:t>
            </a:r>
            <a:r>
              <a:rPr lang="en-US" baseline="0" dirty="0"/>
              <a:t> adding only a few statements in the code DFS(v) leads to efficient algorithms for a variety of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EC465-8393-41C9-A06D-CEF1E64A536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1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0.png"/><Relationship Id="rId7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10" Type="http://schemas.openxmlformats.org/officeDocument/2006/relationships/image" Target="../media/image7.png"/><Relationship Id="rId4" Type="http://schemas.openxmlformats.org/officeDocument/2006/relationships/image" Target="../media/image120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7" Type="http://schemas.openxmlformats.org/officeDocument/2006/relationships/image" Target="../media/image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0.png"/><Relationship Id="rId5" Type="http://schemas.openxmlformats.org/officeDocument/2006/relationships/image" Target="../media/image102.png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9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1.png"/><Relationship Id="rId5" Type="http://schemas.openxmlformats.org/officeDocument/2006/relationships/image" Target="../media/image143.png"/><Relationship Id="rId4" Type="http://schemas.openxmlformats.org/officeDocument/2006/relationships/image" Target="../media/image1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1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0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image" Target="../media/image9.png"/><Relationship Id="rId7" Type="http://schemas.openxmlformats.org/officeDocument/2006/relationships/image" Target="../media/image60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9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9.png"/><Relationship Id="rId7" Type="http://schemas.openxmlformats.org/officeDocument/2006/relationships/image" Target="../media/image120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42.png"/><Relationship Id="rId5" Type="http://schemas.openxmlformats.org/officeDocument/2006/relationships/image" Target="../media/image91.png"/><Relationship Id="rId10" Type="http://schemas.openxmlformats.org/officeDocument/2006/relationships/image" Target="../media/image132.png"/><Relationship Id="rId4" Type="http://schemas.openxmlformats.org/officeDocument/2006/relationships/image" Target="../media/image312.png"/><Relationship Id="rId9" Type="http://schemas.openxmlformats.org/officeDocument/2006/relationships/image" Target="../media/image37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0.png"/><Relationship Id="rId13" Type="http://schemas.openxmlformats.org/officeDocument/2006/relationships/image" Target="../media/image211.png"/><Relationship Id="rId3" Type="http://schemas.openxmlformats.org/officeDocument/2006/relationships/image" Target="../media/image1410.png"/><Relationship Id="rId7" Type="http://schemas.openxmlformats.org/officeDocument/2006/relationships/image" Target="../media/image150.png"/><Relationship Id="rId2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0.png"/><Relationship Id="rId15" Type="http://schemas.openxmlformats.org/officeDocument/2006/relationships/image" Target="../media/image200.png"/><Relationship Id="rId10" Type="http://schemas.openxmlformats.org/officeDocument/2006/relationships/image" Target="../media/image180.png"/><Relationship Id="rId4" Type="http://schemas.openxmlformats.org/officeDocument/2006/relationships/image" Target="../media/image9.png"/><Relationship Id="rId9" Type="http://schemas.openxmlformats.org/officeDocument/2006/relationships/image" Target="../media/image1700.png"/><Relationship Id="rId14" Type="http://schemas.openxmlformats.org/officeDocument/2006/relationships/image" Target="../media/image19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png"/><Relationship Id="rId21" Type="http://schemas.openxmlformats.org/officeDocument/2006/relationships/image" Target="../media/image28.png"/><Relationship Id="rId7" Type="http://schemas.openxmlformats.org/officeDocument/2006/relationships/image" Target="../media/image24.png"/><Relationship Id="rId17" Type="http://schemas.openxmlformats.org/officeDocument/2006/relationships/image" Target="../media/image900.png"/><Relationship Id="rId2" Type="http://schemas.openxmlformats.org/officeDocument/2006/relationships/image" Target="../media/image220.png"/><Relationship Id="rId16" Type="http://schemas.openxmlformats.org/officeDocument/2006/relationships/image" Target="../media/image800.png"/><Relationship Id="rId20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1.png"/><Relationship Id="rId4" Type="http://schemas.openxmlformats.org/officeDocument/2006/relationships/image" Target="../media/image212.png"/><Relationship Id="rId22" Type="http://schemas.openxmlformats.org/officeDocument/2006/relationships/image" Target="../media/image3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C00000"/>
                </a:solidFill>
              </a:rPr>
              <a:t>Lecture 13 </a:t>
            </a:r>
          </a:p>
          <a:p>
            <a:pPr algn="l">
              <a:defRPr/>
            </a:pPr>
            <a:r>
              <a:rPr lang="en-US" sz="1800" b="1" dirty="0">
                <a:solidFill>
                  <a:schemeClr val="tx1"/>
                </a:solidFill>
              </a:rPr>
              <a:t>    </a:t>
            </a:r>
          </a:p>
          <a:p>
            <a:pPr marL="342900" indent="-342900" algn="l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</a:rPr>
              <a:t>A powerful technique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                 </a:t>
            </a:r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19600" y="5334000"/>
            <a:ext cx="3368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traverse </a:t>
            </a:r>
            <a:r>
              <a:rPr lang="en-US" sz="2400" b="1" dirty="0"/>
              <a:t>a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/>
              <a:t>directed graph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563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1DEDEC-E73E-784B-9D57-9F2971699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Recap</a:t>
            </a:r>
            <a:r>
              <a:rPr lang="en-US" b="1" dirty="0"/>
              <a:t> of last lecture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B3897CD-7E8B-CB43-99A6-410C50566A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A3E41-F7F0-0C4E-88A2-F5C683DE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Algorithm for </a:t>
            </a:r>
            <a:r>
              <a:rPr lang="en-US" sz="3200" b="1" dirty="0">
                <a:solidFill>
                  <a:srgbClr val="7030A0"/>
                </a:solidFill>
              </a:rPr>
              <a:t>Topological ordering 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Time complexity of the algorithm:  </a:t>
            </a:r>
            <a:r>
              <a:rPr lang="en-US" sz="20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iamond 4"/>
              <p:cNvSpPr/>
              <p:nvPr/>
            </p:nvSpPr>
            <p:spPr>
              <a:xfrm>
                <a:off x="3276600" y="5410200"/>
                <a:ext cx="2667000" cy="838200"/>
              </a:xfrm>
              <a:prstGeom prst="diamond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Is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600" dirty="0">
                    <a:solidFill>
                      <a:schemeClr val="bg2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empty ?</a:t>
                </a:r>
                <a:endParaRPr lang="en-US" sz="16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Diamond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410200"/>
                <a:ext cx="2667000" cy="838200"/>
              </a:xfrm>
              <a:prstGeom prst="diamond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581400" y="1981200"/>
                <a:ext cx="2286000" cy="685800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</a:t>
                </a:r>
                <a:r>
                  <a:rPr lang="en-US" dirty="0">
                    <a:solidFill>
                      <a:schemeClr val="tx1"/>
                    </a:solidFill>
                  </a:rPr>
                  <a:t> a vertex with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rgbClr val="7030A0"/>
                    </a:solidFill>
                  </a:rPr>
                  <a:t>in-degree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=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0</a:t>
                </a:r>
                <a:endParaRPr lang="en-US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1981200"/>
                <a:ext cx="2286000" cy="685800"/>
              </a:xfrm>
              <a:prstGeom prst="roundRect">
                <a:avLst/>
              </a:prstGeom>
              <a:blipFill rotWithShape="1">
                <a:blip r:embed="rId3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rved Up Arrow 7"/>
          <p:cNvSpPr/>
          <p:nvPr/>
        </p:nvSpPr>
        <p:spPr>
          <a:xfrm rot="16200000">
            <a:off x="4495800" y="3429000"/>
            <a:ext cx="3886200" cy="1143000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3581400" y="3124200"/>
                <a:ext cx="2286000" cy="685800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  <m:r>
                      <a:rPr lang="en-US" b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 </a:t>
                </a:r>
                <a:r>
                  <a:rPr lang="en-US" b="1" dirty="0" err="1">
                    <a:solidFill>
                      <a:srgbClr val="002060"/>
                    </a:solidFill>
                  </a:rPr>
                  <a:t>num</a:t>
                </a:r>
                <a:r>
                  <a:rPr lang="en-US" dirty="0">
                    <a:solidFill>
                      <a:srgbClr val="002060"/>
                    </a:solidFill>
                  </a:rPr>
                  <a:t>;</a:t>
                </a:r>
                <a:endParaRPr lang="en-US" b="1" dirty="0">
                  <a:solidFill>
                    <a:srgbClr val="00206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b="1" dirty="0" err="1">
                    <a:solidFill>
                      <a:srgbClr val="002060"/>
                    </a:solidFill>
                  </a:rPr>
                  <a:t>num</a:t>
                </a:r>
                <a:r>
                  <a:rPr lang="en-US" b="1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  <a:sym typeface="Wingdings" pitchFamily="2" charset="2"/>
                  </a:rPr>
                  <a:t></a:t>
                </a:r>
                <a:r>
                  <a:rPr lang="en-US" b="1" dirty="0">
                    <a:solidFill>
                      <a:srgbClr val="002060"/>
                    </a:solidFill>
                    <a:sym typeface="Wingdings" pitchFamily="2" charset="2"/>
                  </a:rPr>
                  <a:t> </a:t>
                </a:r>
                <a:r>
                  <a:rPr lang="en-US" b="1" dirty="0" err="1">
                    <a:solidFill>
                      <a:srgbClr val="002060"/>
                    </a:solidFill>
                  </a:rPr>
                  <a:t>num</a:t>
                </a:r>
                <a:r>
                  <a:rPr lang="en-US" b="1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</a:rPr>
                  <a:t>+ 1;</a:t>
                </a:r>
                <a:endParaRPr lang="en-US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124200"/>
                <a:ext cx="2286000" cy="685800"/>
              </a:xfrm>
              <a:prstGeom prst="roundRect">
                <a:avLst/>
              </a:prstGeom>
              <a:blipFill rotWithShape="1">
                <a:blip r:embed="rId4"/>
                <a:stretch>
                  <a:fillRect t="-862"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3581400" y="4267200"/>
                <a:ext cx="2286000" cy="685800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Remove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</a:rPr>
                  <a:t>and all its outgoing edges;</a:t>
                </a:r>
                <a:endParaRPr lang="en-US" dirty="0"/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267200"/>
                <a:ext cx="2286000" cy="685800"/>
              </a:xfrm>
              <a:prstGeom prst="roundRect">
                <a:avLst/>
              </a:prstGeom>
              <a:blipFill rotWithShape="1">
                <a:blip r:embed="rId5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/>
          <p:cNvSpPr/>
          <p:nvPr/>
        </p:nvSpPr>
        <p:spPr>
          <a:xfrm>
            <a:off x="4191000" y="2667000"/>
            <a:ext cx="990600" cy="4572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267200" y="3810000"/>
            <a:ext cx="990600" cy="4572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4191000" y="4953000"/>
            <a:ext cx="990600" cy="4572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943600" y="5257800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17" name="Down Arrow 16"/>
          <p:cNvSpPr/>
          <p:nvPr/>
        </p:nvSpPr>
        <p:spPr>
          <a:xfrm rot="5400000">
            <a:off x="2552700" y="5600700"/>
            <a:ext cx="990600" cy="4572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053153" y="5300246"/>
            <a:ext cx="45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Yes</a:t>
            </a:r>
          </a:p>
        </p:txBody>
      </p:sp>
      <p:sp>
        <p:nvSpPr>
          <p:cNvPr id="19" name="Down Arrow 18"/>
          <p:cNvSpPr/>
          <p:nvPr/>
        </p:nvSpPr>
        <p:spPr>
          <a:xfrm rot="16200000">
            <a:off x="2857500" y="2095501"/>
            <a:ext cx="990600" cy="4572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133600" y="2020669"/>
                <a:ext cx="10775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dirty="0"/>
                  <a:t>;</a:t>
                </a:r>
              </a:p>
              <a:p>
                <a:r>
                  <a:rPr lang="en-US" b="1" dirty="0" err="1"/>
                  <a:t>num</a:t>
                </a:r>
                <a:r>
                  <a:rPr lang="en-US" dirty="0"/>
                  <a:t> </a:t>
                </a:r>
                <a:r>
                  <a:rPr lang="en-US" dirty="0">
                    <a:sym typeface="Wingdings" pitchFamily="2" charset="2"/>
                  </a:rPr>
                  <a:t></a:t>
                </a:r>
                <a:r>
                  <a:rPr lang="en-US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dirty="0">
                    <a:sym typeface="Wingdings" pitchFamily="2" charset="2"/>
                  </a:rPr>
                  <a:t>;</a:t>
                </a:r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2020669"/>
                <a:ext cx="1077539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4520" t="-4673" r="-8475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863138" y="5638800"/>
                <a:ext cx="1032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 valid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138" y="5638800"/>
                <a:ext cx="1032462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5325" t="-8197" r="-94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71336" y="1219200"/>
                <a:ext cx="962123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𝒎𝒏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36" y="1219200"/>
                <a:ext cx="962123" cy="369332"/>
              </a:xfrm>
              <a:prstGeom prst="rect">
                <a:avLst/>
              </a:prstGeom>
              <a:blipFill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llout: Line 8">
                <a:extLst>
                  <a:ext uri="{FF2B5EF4-FFF2-40B4-BE49-F238E27FC236}">
                    <a16:creationId xmlns:a16="http://schemas.microsoft.com/office/drawing/2014/main" id="{A58562E6-8FCC-8804-6CEE-0CF57DE6B526}"/>
                  </a:ext>
                </a:extLst>
              </p:cNvPr>
              <p:cNvSpPr/>
              <p:nvPr/>
            </p:nvSpPr>
            <p:spPr>
              <a:xfrm>
                <a:off x="6438900" y="1209737"/>
                <a:ext cx="1638300" cy="649225"/>
              </a:xfrm>
              <a:prstGeom prst="borderCallout1">
                <a:avLst>
                  <a:gd name="adj1" fmla="val 49341"/>
                  <a:gd name="adj2" fmla="val 283"/>
                  <a:gd name="adj3" fmla="val 120705"/>
                  <a:gd name="adj4" fmla="val -4375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time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9" name="Callout: Line 8">
                <a:extLst>
                  <a:ext uri="{FF2B5EF4-FFF2-40B4-BE49-F238E27FC236}">
                    <a16:creationId xmlns:a16="http://schemas.microsoft.com/office/drawing/2014/main" id="{A58562E6-8FCC-8804-6CEE-0CF57DE6B5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1209737"/>
                <a:ext cx="1638300" cy="649225"/>
              </a:xfrm>
              <a:prstGeom prst="borderCallout1">
                <a:avLst>
                  <a:gd name="adj1" fmla="val 49341"/>
                  <a:gd name="adj2" fmla="val 283"/>
                  <a:gd name="adj3" fmla="val 120705"/>
                  <a:gd name="adj4" fmla="val -43752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15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/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B10B-EE25-2E30-72E8-C52B337F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188E4-E7A0-7F08-B85E-C4FD05381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How to </a:t>
            </a:r>
            <a:r>
              <a:rPr lang="en-US" sz="2800" u="sng" dirty="0"/>
              <a:t>efficiently </a:t>
            </a:r>
            <a:r>
              <a:rPr lang="en-US" sz="2800" dirty="0"/>
              <a:t>maintain </a:t>
            </a:r>
          </a:p>
          <a:p>
            <a:pPr marL="0" indent="0" algn="ctr">
              <a:buNone/>
            </a:pPr>
            <a:r>
              <a:rPr lang="en-US" sz="2800" dirty="0"/>
              <a:t>the set of vertices with in-degree=0?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28E881-C0F0-F6EE-E391-165C3BB2FBD4}"/>
              </a:ext>
            </a:extLst>
          </p:cNvPr>
          <p:cNvGrpSpPr/>
          <p:nvPr/>
        </p:nvGrpSpPr>
        <p:grpSpPr>
          <a:xfrm>
            <a:off x="2971800" y="3886200"/>
            <a:ext cx="2667000" cy="609600"/>
            <a:chOff x="2971800" y="2971800"/>
            <a:chExt cx="2667000" cy="6096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E1BB3AF-A4DE-699F-1E9D-D679D16D2C6E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2971800"/>
              <a:ext cx="2667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3EE9C36-0311-0837-7C1E-263CBE4A35BA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581400"/>
              <a:ext cx="2667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2D4EA0-6757-A1EF-F618-E6EB5A09C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1800" y="2971800"/>
              <a:ext cx="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E1C0FEE-149D-E343-AA3A-F917E7A2753A}"/>
              </a:ext>
            </a:extLst>
          </p:cNvPr>
          <p:cNvSpPr txBox="1"/>
          <p:nvPr/>
        </p:nvSpPr>
        <p:spPr>
          <a:xfrm>
            <a:off x="3897976" y="4508090"/>
            <a:ext cx="81464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429064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</a:rPr>
              <a:t>Algorithm </a:t>
            </a:r>
            <a:r>
              <a:rPr lang="en-US" sz="3200" b="1" dirty="0"/>
              <a:t>for</a:t>
            </a:r>
            <a:r>
              <a:rPr lang="en-US" sz="3200" b="1" dirty="0">
                <a:solidFill>
                  <a:srgbClr val="7030A0"/>
                </a:solidFill>
              </a:rPr>
              <a:t> Topological ordering 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Topological-ordering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dirty="0"/>
                  <a:t>{ </a:t>
                </a:r>
                <a:r>
                  <a:rPr lang="en-US" sz="1800" b="1" dirty="0"/>
                  <a:t>Create-queue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</a:t>
                </a:r>
                <a:r>
                  <a:rPr lang="en-US" sz="1800" b="1" dirty="0">
                    <a:sym typeface="Wingdings" pitchFamily="2" charset="2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 dirty="0"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 {  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   </a:t>
                </a:r>
                <a:r>
                  <a:rPr lang="en-US" sz="1800" b="1" dirty="0">
                    <a:sym typeface="Wingdings" pitchFamily="2" charset="2"/>
                  </a:rPr>
                  <a:t>if</a:t>
                </a:r>
                <a:r>
                  <a:rPr lang="en-US" sz="1800" dirty="0">
                    <a:sym typeface="Wingdings" pitchFamily="2" charset="2"/>
                  </a:rPr>
                  <a:t> (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in-degree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 = </a:t>
                </a:r>
                <a:r>
                  <a:rPr lang="en-US" sz="1800" dirty="0">
                    <a:solidFill>
                      <a:srgbClr val="0070C0"/>
                    </a:solidFill>
                  </a:rPr>
                  <a:t>0</a:t>
                </a:r>
                <a:r>
                  <a:rPr lang="en-US" sz="1800" dirty="0">
                    <a:sym typeface="Wingdings" pitchFamily="2" charset="2"/>
                  </a:rPr>
                  <a:t>)          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                                        </a:t>
                </a:r>
                <a:r>
                  <a:rPr lang="en-US" sz="1800" b="1" dirty="0"/>
                  <a:t>En-queue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800" dirty="0"/>
                  <a:t>)   }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</a:t>
                </a:r>
                <a:r>
                  <a:rPr lang="en-US" sz="1800" b="1" dirty="0" err="1"/>
                  <a:t>num</a:t>
                </a:r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sz="18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1800" dirty="0">
                    <a:sym typeface="Wingdings" pitchFamily="2" charset="2"/>
                  </a:rPr>
                  <a:t>;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</a:t>
                </a:r>
                <a:r>
                  <a:rPr lang="en-US" sz="1800" b="1" dirty="0"/>
                  <a:t>While</a:t>
                </a:r>
                <a:r>
                  <a:rPr lang="en-US" sz="1800" dirty="0"/>
                  <a:t>(           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</a:t>
                </a:r>
                <a:r>
                  <a:rPr lang="en-US" sz="1800" dirty="0"/>
                  <a:t>             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        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sz="1800" b="1" dirty="0"/>
                  <a:t>De-queue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  </a:t>
                </a:r>
                <a:r>
                  <a:rPr lang="en-US" sz="1800" b="1" dirty="0" err="1"/>
                  <a:t>num</a:t>
                </a:r>
                <a:r>
                  <a:rPr lang="en-US" sz="1800" dirty="0"/>
                  <a:t>;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      </a:t>
                </a:r>
                <a:r>
                  <a:rPr lang="en-US" sz="1800" b="1" dirty="0" err="1"/>
                  <a:t>num</a:t>
                </a:r>
                <a:r>
                  <a:rPr lang="en-US" sz="1800" b="1" dirty="0"/>
                  <a:t> </a:t>
                </a:r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ym typeface="Wingdings" pitchFamily="2" charset="2"/>
                  </a:rPr>
                  <a:t> </a:t>
                </a:r>
                <a:r>
                  <a:rPr lang="en-US" sz="1800" b="1" dirty="0" err="1"/>
                  <a:t>num</a:t>
                </a:r>
                <a:r>
                  <a:rPr lang="en-US" sz="1800" b="1" dirty="0"/>
                  <a:t> </a:t>
                </a:r>
                <a:r>
                  <a:rPr lang="en-US" sz="1800" dirty="0"/>
                  <a:t>+ </a:t>
                </a:r>
                <a:r>
                  <a:rPr lang="en-US" sz="1800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</a:t>
                </a:r>
                <a:r>
                  <a:rPr lang="en-US" sz="1800" b="1" dirty="0">
                    <a:sym typeface="Wingdings" pitchFamily="2" charset="2"/>
                  </a:rPr>
                  <a:t>For each </a:t>
                </a:r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do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	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in-degree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 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in-degree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 – </a:t>
                </a:r>
                <a:r>
                  <a:rPr lang="en-US" sz="18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18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 </a:t>
                </a:r>
                <a:r>
                  <a:rPr lang="en-US" sz="1800" b="1" dirty="0">
                    <a:sym typeface="Wingdings" pitchFamily="2" charset="2"/>
                  </a:rPr>
                  <a:t>if</a:t>
                </a:r>
                <a:r>
                  <a:rPr lang="en-US" sz="1800" dirty="0">
                    <a:sym typeface="Wingdings" pitchFamily="2" charset="2"/>
                  </a:rPr>
                  <a:t> (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in-degree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 = </a:t>
                </a:r>
                <a:r>
                  <a:rPr lang="en-US" sz="1800" dirty="0">
                    <a:solidFill>
                      <a:srgbClr val="0070C0"/>
                    </a:solidFill>
                  </a:rPr>
                  <a:t>0</a:t>
                </a:r>
                <a:r>
                  <a:rPr lang="en-US" sz="1800" dirty="0">
                    <a:sym typeface="Wingdings" pitchFamily="2" charset="2"/>
                  </a:rPr>
                  <a:t>) </a:t>
                </a:r>
                <a:r>
                  <a:rPr lang="en-US" sz="1800" b="1" dirty="0"/>
                  <a:t>En-queue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593" t="-612" b="-1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0600" y="546729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6482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49584" y="5848290"/>
                <a:ext cx="1354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} return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</m:oMath>
                </a14:m>
                <a:r>
                  <a:rPr lang="en-US" sz="2000" dirty="0"/>
                  <a:t> ;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84" y="5848290"/>
                <a:ext cx="1354923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4955" t="-7576" r="-810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81160" y="3135868"/>
                <a:ext cx="1362040" cy="33855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not-empty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600" dirty="0"/>
                  <a:t>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160" y="3135868"/>
                <a:ext cx="1362040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2691" t="-5357" r="-403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4527198" y="3588842"/>
            <a:ext cx="2330802" cy="2278558"/>
            <a:chOff x="5257800" y="3341132"/>
            <a:chExt cx="2330802" cy="2278558"/>
          </a:xfrm>
        </p:grpSpPr>
        <p:sp>
          <p:nvSpPr>
            <p:cNvPr id="11" name="Right Brace 10"/>
            <p:cNvSpPr/>
            <p:nvPr/>
          </p:nvSpPr>
          <p:spPr>
            <a:xfrm>
              <a:off x="5257800" y="3341132"/>
              <a:ext cx="612648" cy="2278558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943600" y="4248090"/>
                  <a:ext cx="16450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O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deg</m:t>
                      </m:r>
                      <m:r>
                        <a:rPr lang="en-US" b="0" i="0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dirty="0"/>
                    <a:t>) time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0" y="4248090"/>
                  <a:ext cx="1645002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2963" t="-8333" r="-629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/>
          <p:cNvSpPr txBox="1"/>
          <p:nvPr/>
        </p:nvSpPr>
        <p:spPr>
          <a:xfrm>
            <a:off x="609600" y="3364468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own Ribbon 9"/>
              <p:cNvSpPr/>
              <p:nvPr/>
            </p:nvSpPr>
            <p:spPr>
              <a:xfrm>
                <a:off x="5562600" y="6092952"/>
                <a:ext cx="3810000" cy="7650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How to show that  time complexity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0" name="Down Ribbon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6092952"/>
                <a:ext cx="3810000" cy="7650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327045" y="5101134"/>
            <a:ext cx="3489501" cy="5979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5856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 animBg="1"/>
      <p:bldP spid="5" grpId="0"/>
      <p:bldP spid="10" grpId="0" animBg="1"/>
      <p:bldP spid="15" grpId="0" animBg="1"/>
      <p:bldP spid="1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</a:rPr>
              <a:t>Algorithm </a:t>
            </a:r>
            <a:r>
              <a:rPr lang="en-US" sz="3200" b="1" dirty="0"/>
              <a:t>for</a:t>
            </a:r>
            <a:r>
              <a:rPr lang="en-US" sz="3200" b="1" dirty="0">
                <a:solidFill>
                  <a:srgbClr val="7030A0"/>
                </a:solidFill>
              </a:rPr>
              <a:t> Topological ordering 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Topological-ordering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dirty="0"/>
                  <a:t>{ </a:t>
                </a:r>
                <a:r>
                  <a:rPr lang="en-US" sz="1800" b="1" dirty="0"/>
                  <a:t>Create-queue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</a:t>
                </a:r>
                <a:r>
                  <a:rPr lang="en-US" sz="1800" b="1" dirty="0">
                    <a:sym typeface="Wingdings" pitchFamily="2" charset="2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 dirty="0"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 {  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   </a:t>
                </a:r>
                <a:r>
                  <a:rPr lang="en-US" sz="1800" b="1" dirty="0">
                    <a:sym typeface="Wingdings" pitchFamily="2" charset="2"/>
                  </a:rPr>
                  <a:t>if</a:t>
                </a:r>
                <a:r>
                  <a:rPr lang="en-US" sz="1800" dirty="0">
                    <a:sym typeface="Wingdings" pitchFamily="2" charset="2"/>
                  </a:rPr>
                  <a:t> (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in-degree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 = </a:t>
                </a:r>
                <a:r>
                  <a:rPr lang="en-US" sz="1800" dirty="0">
                    <a:solidFill>
                      <a:srgbClr val="0070C0"/>
                    </a:solidFill>
                  </a:rPr>
                  <a:t>0</a:t>
                </a:r>
                <a:r>
                  <a:rPr lang="en-US" sz="1800" dirty="0">
                    <a:sym typeface="Wingdings" pitchFamily="2" charset="2"/>
                  </a:rPr>
                  <a:t>)          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                                        </a:t>
                </a:r>
                <a:r>
                  <a:rPr lang="en-US" sz="1800" b="1" dirty="0"/>
                  <a:t>En-queue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800" dirty="0"/>
                  <a:t>)   }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</a:t>
                </a:r>
                <a:r>
                  <a:rPr lang="en-US" sz="1800" b="1" dirty="0" err="1"/>
                  <a:t>num</a:t>
                </a:r>
                <a:r>
                  <a:rPr lang="en-US" sz="1800" dirty="0"/>
                  <a:t> </a:t>
                </a:r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sz="18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1800" dirty="0">
                    <a:sym typeface="Wingdings" pitchFamily="2" charset="2"/>
                  </a:rPr>
                  <a:t>;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</a:t>
                </a:r>
                <a:r>
                  <a:rPr lang="en-US" sz="1800" b="1" dirty="0"/>
                  <a:t>While</a:t>
                </a:r>
                <a:r>
                  <a:rPr lang="en-US" sz="1800" dirty="0"/>
                  <a:t>(           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</a:t>
                </a:r>
                <a:r>
                  <a:rPr lang="en-US" sz="1800" dirty="0"/>
                  <a:t>             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        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sz="1800" b="1" dirty="0"/>
                  <a:t>De-queue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  </a:t>
                </a:r>
                <a:r>
                  <a:rPr lang="en-US" sz="1800" b="1" dirty="0" err="1"/>
                  <a:t>num</a:t>
                </a:r>
                <a:r>
                  <a:rPr lang="en-US" sz="1800" dirty="0"/>
                  <a:t>;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      </a:t>
                </a:r>
                <a:r>
                  <a:rPr lang="en-US" sz="1800" b="1" dirty="0" err="1"/>
                  <a:t>num</a:t>
                </a:r>
                <a:r>
                  <a:rPr lang="en-US" sz="1800" b="1" dirty="0"/>
                  <a:t> </a:t>
                </a:r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ym typeface="Wingdings" pitchFamily="2" charset="2"/>
                  </a:rPr>
                  <a:t> </a:t>
                </a:r>
                <a:r>
                  <a:rPr lang="en-US" sz="1800" b="1" dirty="0" err="1"/>
                  <a:t>num</a:t>
                </a:r>
                <a:r>
                  <a:rPr lang="en-US" sz="1800" b="1" dirty="0"/>
                  <a:t> </a:t>
                </a:r>
                <a:r>
                  <a:rPr lang="en-US" sz="1800" dirty="0"/>
                  <a:t>+ </a:t>
                </a:r>
                <a:r>
                  <a:rPr lang="en-US" sz="1800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</a:t>
                </a:r>
                <a:r>
                  <a:rPr lang="en-US" sz="1800" b="1" dirty="0">
                    <a:sym typeface="Wingdings" pitchFamily="2" charset="2"/>
                  </a:rPr>
                  <a:t>For each </a:t>
                </a:r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do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	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in-degree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 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in-degree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 – </a:t>
                </a:r>
                <a:r>
                  <a:rPr lang="en-US" sz="18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18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 </a:t>
                </a:r>
                <a:r>
                  <a:rPr lang="en-US" sz="1800" b="1" dirty="0">
                    <a:sym typeface="Wingdings" pitchFamily="2" charset="2"/>
                  </a:rPr>
                  <a:t>if</a:t>
                </a:r>
                <a:r>
                  <a:rPr lang="en-US" sz="1800" dirty="0">
                    <a:sym typeface="Wingdings" pitchFamily="2" charset="2"/>
                  </a:rPr>
                  <a:t> (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in-degree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 = </a:t>
                </a:r>
                <a:r>
                  <a:rPr lang="en-US" sz="1800" dirty="0">
                    <a:solidFill>
                      <a:srgbClr val="0070C0"/>
                    </a:solidFill>
                  </a:rPr>
                  <a:t>0</a:t>
                </a:r>
                <a:r>
                  <a:rPr lang="en-US" sz="1800" dirty="0">
                    <a:sym typeface="Wingdings" pitchFamily="2" charset="2"/>
                  </a:rPr>
                  <a:t>) </a:t>
                </a:r>
                <a:r>
                  <a:rPr lang="en-US" sz="1800" b="1" dirty="0"/>
                  <a:t>En-queue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593" t="-612" b="-1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0600" y="546729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6482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49584" y="5848290"/>
                <a:ext cx="1354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} return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</m:oMath>
                </a14:m>
                <a:r>
                  <a:rPr lang="en-US" sz="2000" dirty="0"/>
                  <a:t> ;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84" y="5848290"/>
                <a:ext cx="1354923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4955" t="-7576" r="-810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81160" y="3135868"/>
                <a:ext cx="1362040" cy="33855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not-empty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𝑸</m:t>
                    </m:r>
                  </m:oMath>
                </a14:m>
                <a:r>
                  <a:rPr lang="en-US" sz="1600" dirty="0"/>
                  <a:t>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160" y="3135868"/>
                <a:ext cx="1362040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2691" t="-5357" r="-403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9600" y="3364468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86006C-DAC3-9843-878B-3DD90884AB9A}"/>
              </a:ext>
            </a:extLst>
          </p:cNvPr>
          <p:cNvSpPr txBox="1"/>
          <p:nvPr/>
        </p:nvSpPr>
        <p:spPr>
          <a:xfrm>
            <a:off x="866402" y="6153271"/>
            <a:ext cx="8267328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: make sincere attempts to prove these assertions. Just sincere attempts…</a:t>
            </a:r>
          </a:p>
          <a:p>
            <a:r>
              <a:rPr lang="en-US" dirty="0"/>
              <a:t>Proof will be discussed after a week in a lecture.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A87F8C7D-E04B-F344-21AF-AB2A77698758}"/>
                  </a:ext>
                </a:extLst>
              </p:cNvPr>
              <p:cNvSpPr/>
              <p:nvPr/>
            </p:nvSpPr>
            <p:spPr>
              <a:xfrm>
                <a:off x="5257800" y="1417638"/>
                <a:ext cx="3886200" cy="86836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Assertion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0" indent="0">
                  <a:buNone/>
                </a:pPr>
                <a:endParaRPr lang="en-US" sz="7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</a:rPr>
                  <a:t>For each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,  </a:t>
                </a:r>
                <a:r>
                  <a:rPr lang="en-US" sz="1800" dirty="0"/>
                  <a:t> 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sym typeface="Wingdings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800" b="1" i="1" dirty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sym typeface="Wingdings" pitchFamily="2" charset="2"/>
                  </a:rPr>
                  <a:t>).</a:t>
                </a: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A87F8C7D-E04B-F344-21AF-AB2A776987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417638"/>
                <a:ext cx="3886200" cy="868362"/>
              </a:xfrm>
              <a:prstGeom prst="roundRect">
                <a:avLst/>
              </a:prstGeom>
              <a:blipFill>
                <a:blip r:embed="rId5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8CCB2211-3521-5670-A5ED-F6A8B307325C}"/>
                  </a:ext>
                </a:extLst>
              </p:cNvPr>
              <p:cNvSpPr/>
              <p:nvPr/>
            </p:nvSpPr>
            <p:spPr>
              <a:xfrm>
                <a:off x="5257800" y="2700678"/>
                <a:ext cx="3886200" cy="868362"/>
              </a:xfrm>
              <a:prstGeom prst="roundRect">
                <a:avLst/>
              </a:prstGeom>
              <a:solidFill>
                <a:srgbClr val="FFC000"/>
              </a:solidFill>
              <a:ln>
                <a:solidFill>
                  <a:srgbClr val="006C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Assertion </a:t>
                </a:r>
                <a:r>
                  <a:rPr lang="en-US" b="1" dirty="0">
                    <a:solidFill>
                      <a:srgbClr val="0070C0"/>
                    </a:solidFill>
                  </a:rPr>
                  <a:t>2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  is </a:t>
                </a:r>
                <a:r>
                  <a:rPr lang="en-US" dirty="0">
                    <a:solidFill>
                      <a:schemeClr val="tx1"/>
                    </a:solidFill>
                  </a:rPr>
                  <a:t>assigned a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number.</a:t>
                </a:r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8CCB2211-3521-5670-A5ED-F6A8B30732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700678"/>
                <a:ext cx="3886200" cy="868362"/>
              </a:xfrm>
              <a:prstGeom prst="roundRect">
                <a:avLst/>
              </a:prstGeom>
              <a:blipFill>
                <a:blip r:embed="rId6"/>
                <a:stretch>
                  <a:fillRect t="-4225" b="-12676"/>
                </a:stretch>
              </a:blipFill>
              <a:ln>
                <a:solidFill>
                  <a:srgbClr val="006C3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loud Callout 9">
            <a:extLst>
              <a:ext uri="{FF2B5EF4-FFF2-40B4-BE49-F238E27FC236}">
                <a16:creationId xmlns:a16="http://schemas.microsoft.com/office/drawing/2014/main" id="{73644421-44DC-706F-FC23-A7277843D918}"/>
              </a:ext>
            </a:extLst>
          </p:cNvPr>
          <p:cNvSpPr/>
          <p:nvPr/>
        </p:nvSpPr>
        <p:spPr>
          <a:xfrm>
            <a:off x="5786883" y="4568543"/>
            <a:ext cx="3201340" cy="672790"/>
          </a:xfrm>
          <a:prstGeom prst="cloudCallout">
            <a:avLst>
              <a:gd name="adj1" fmla="val -53028"/>
              <a:gd name="adj2" fmla="val 8438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proof of correctness ?</a:t>
            </a:r>
          </a:p>
        </p:txBody>
      </p:sp>
    </p:spTree>
    <p:extLst>
      <p:ext uri="{BB962C8B-B14F-4D97-AF65-F5344CB8AC3E}">
        <p14:creationId xmlns:p14="http://schemas.microsoft.com/office/powerpoint/2010/main" val="247990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25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25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4" grpId="0" animBg="1"/>
      <p:bldP spid="1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CCE01-4C10-92F4-6835-102C68C9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CE7E3-AD1D-B48D-B09F-4211B894A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>
            <a:normAutofit/>
          </a:bodyPr>
          <a:lstStyle/>
          <a:p>
            <a:pPr algn="ctr"/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600" dirty="0">
                <a:solidFill>
                  <a:srgbClr val="7030A0"/>
                </a:solidFill>
              </a:rPr>
              <a:t>DEPTH FIRST SEARCH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405E5-70CD-3966-DE49-9A9FD66B8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Why is it worth </a:t>
            </a:r>
            <a:r>
              <a:rPr lang="en-US" sz="2800" b="1" dirty="0">
                <a:solidFill>
                  <a:schemeClr val="tx1"/>
                </a:solidFill>
              </a:rPr>
              <a:t>re-visiting</a:t>
            </a:r>
            <a:r>
              <a:rPr lang="en-US" sz="2800" dirty="0">
                <a:solidFill>
                  <a:schemeClr val="tx1"/>
                </a:solidFill>
              </a:rPr>
              <a:t> in this course ?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D436D-6B6C-FB51-4B66-48FDB3B3F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8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A91E-66BC-2A87-F6FF-1D787896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C910-9B41-1869-5E51-F5A4BC7E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Unique-path</a:t>
            </a:r>
            <a:r>
              <a:rPr lang="en-US" sz="3200" b="1" dirty="0"/>
              <a:t> graph</a:t>
            </a:r>
            <a:br>
              <a:rPr lang="en-US" sz="3200" b="1" dirty="0"/>
            </a:b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7CFA7-978A-E638-E725-1813E7E17E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5344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A directed graph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=(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) is said to be unique-path graph if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For each pair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 there is </a:t>
                </a:r>
                <a:r>
                  <a:rPr lang="en-US" sz="2000" b="1" u="sng" dirty="0"/>
                  <a:t>at most </a:t>
                </a:r>
                <a:r>
                  <a:rPr lang="en-US" sz="2000" u="sng" dirty="0"/>
                  <a:t>one path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In other words,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Aim</a:t>
                </a:r>
                <a:r>
                  <a:rPr lang="en-US" sz="2000" dirty="0"/>
                  <a:t>:  Design an efficient algorithm to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is unique-path graph.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Time complexity: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7CFA7-978A-E638-E725-1813E7E17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534400" cy="4983163"/>
              </a:xfrm>
              <a:blipFill>
                <a:blip r:embed="rId2"/>
                <a:stretch>
                  <a:fillRect l="-714" t="-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95E9E7-B7DA-99E7-C16F-9DA3CED81CFE}"/>
                  </a:ext>
                </a:extLst>
              </p:cNvPr>
              <p:cNvSpPr txBox="1"/>
              <p:nvPr/>
            </p:nvSpPr>
            <p:spPr>
              <a:xfrm>
                <a:off x="2286000" y="2297668"/>
                <a:ext cx="36825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 there is only one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297668"/>
                <a:ext cx="368254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25" t="-9836" r="-182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F9497106-2975-A3BC-B0C4-C7284B3E8AFA}"/>
              </a:ext>
            </a:extLst>
          </p:cNvPr>
          <p:cNvSpPr/>
          <p:nvPr/>
        </p:nvSpPr>
        <p:spPr>
          <a:xfrm>
            <a:off x="4419599" y="1066800"/>
            <a:ext cx="343271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AD7B4A5-A91F-D4ED-335C-08999C0A9B8F}"/>
              </a:ext>
            </a:extLst>
          </p:cNvPr>
          <p:cNvSpPr/>
          <p:nvPr/>
        </p:nvSpPr>
        <p:spPr>
          <a:xfrm>
            <a:off x="3962400" y="1524000"/>
            <a:ext cx="4014556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9EC1B0-94A3-C2AA-9E83-85F0153CCA9A}"/>
                  </a:ext>
                </a:extLst>
              </p:cNvPr>
              <p:cNvSpPr txBox="1"/>
              <p:nvPr/>
            </p:nvSpPr>
            <p:spPr>
              <a:xfrm>
                <a:off x="2362200" y="3756186"/>
                <a:ext cx="1023614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𝑶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 b="1" i="0" smtClean="0">
                          <a:latin typeface="Cambria Math"/>
                          <a:ea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000" b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9EC1B0-94A3-C2AA-9E83-85F0153CC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756186"/>
                <a:ext cx="1023614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95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  <p:bldP spid="6" grpId="0" animBg="1"/>
      <p:bldP spid="67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MIN-Label</a:t>
            </a:r>
            <a:r>
              <a:rPr lang="en-US" sz="3200" b="1" dirty="0">
                <a:solidFill>
                  <a:srgbClr val="7030A0"/>
                </a:solidFill>
              </a:rPr>
              <a:t> Problem</a:t>
            </a:r>
            <a:endParaRPr lang="en-US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200" dirty="0"/>
                  <a:t>Given a directed graph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/>
                      </a:rPr>
                      <m:t>𝑮</m:t>
                    </m:r>
                    <m:r>
                      <a:rPr lang="en-US" sz="2200" i="1">
                        <a:latin typeface="Cambria Math"/>
                      </a:rPr>
                      <m:t>=(</m:t>
                    </m:r>
                    <m:r>
                      <a:rPr lang="en-US" sz="2200" b="1" i="1">
                        <a:latin typeface="Cambria Math"/>
                      </a:rPr>
                      <m:t>𝑽</m:t>
                    </m:r>
                    <m:r>
                      <a:rPr lang="en-US" sz="2200" i="1">
                        <a:latin typeface="Cambria Math"/>
                      </a:rPr>
                      <m:t>,</m:t>
                    </m:r>
                    <m:r>
                      <a:rPr lang="en-US" sz="2200" b="1" i="1">
                        <a:latin typeface="Cambria Math"/>
                      </a:rPr>
                      <m:t>𝑬</m:t>
                    </m:r>
                    <m:r>
                      <a:rPr lang="en-US" sz="22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200" dirty="0"/>
                  <a:t> on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200" dirty="0"/>
                  <a:t> vertices and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200" dirty="0"/>
                  <a:t> edges, </a:t>
                </a:r>
              </a:p>
              <a:p>
                <a:pPr marL="0" indent="0">
                  <a:buNone/>
                </a:pPr>
                <a:r>
                  <a:rPr lang="en-US" sz="2200" dirty="0"/>
                  <a:t>where each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𝑣</m:t>
                    </m:r>
                    <m:r>
                      <a:rPr lang="en-US" sz="22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200" i="1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200" b="1" i="1">
                        <a:latin typeface="Cambria Math"/>
                      </a:rPr>
                      <m:t>𝑽</m:t>
                    </m:r>
                    <m:r>
                      <a:rPr lang="en-US" sz="2200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200" dirty="0"/>
                  <a:t>stores a real number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𝑳</m:t>
                    </m:r>
                    <m:d>
                      <m:d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/>
                  <a:t> , </a:t>
                </a:r>
              </a:p>
              <a:p>
                <a:pPr marL="0" indent="0">
                  <a:buNone/>
                </a:pPr>
                <a:r>
                  <a:rPr lang="en-US" sz="2200" b="0" dirty="0">
                    <a:solidFill>
                      <a:srgbClr val="C00000"/>
                    </a:solidFill>
                    <a:ea typeface="Cambria Math"/>
                  </a:rPr>
                  <a:t>      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rgbClr val="C00000"/>
                    </a:solidFill>
                    <a:ea typeface="Cambria Math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minL</m:t>
                    </m:r>
                    <m:d>
                      <m:d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US" sz="2200" dirty="0"/>
                  <a:t>  ?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C00000"/>
                    </a:solidFill>
                  </a:rPr>
                  <a:t>Problem:  </a:t>
                </a:r>
                <a:r>
                  <a:rPr lang="en-US" sz="2200" dirty="0"/>
                  <a:t>Given a directed graph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/>
                      </a:rPr>
                      <m:t>𝑮</m:t>
                    </m:r>
                    <m:r>
                      <a:rPr lang="en-US" sz="2200" i="1">
                        <a:latin typeface="Cambria Math"/>
                      </a:rPr>
                      <m:t>=(</m:t>
                    </m:r>
                    <m:r>
                      <a:rPr lang="en-US" sz="2200" b="1" i="1">
                        <a:latin typeface="Cambria Math"/>
                      </a:rPr>
                      <m:t>𝑽</m:t>
                    </m:r>
                    <m:r>
                      <a:rPr lang="en-US" sz="2200" i="1">
                        <a:latin typeface="Cambria Math"/>
                      </a:rPr>
                      <m:t>,</m:t>
                    </m:r>
                    <m:r>
                      <a:rPr lang="en-US" sz="2200" b="1" i="1">
                        <a:latin typeface="Cambria Math"/>
                      </a:rPr>
                      <m:t>𝑬</m:t>
                    </m:r>
                    <m:r>
                      <a:rPr lang="en-US" sz="22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200" dirty="0"/>
                  <a:t> on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200" dirty="0"/>
                  <a:t> vertices and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200" dirty="0"/>
                  <a:t> edges, </a:t>
                </a:r>
              </a:p>
              <a:p>
                <a:pPr marL="0" indent="0">
                  <a:buNone/>
                </a:pPr>
                <a:r>
                  <a:rPr lang="en-US" sz="2200" dirty="0"/>
                  <a:t>and array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𝑳</m:t>
                    </m:r>
                  </m:oMath>
                </a14:m>
                <a:r>
                  <a:rPr lang="en-US" sz="2200" dirty="0"/>
                  <a:t>[], </a:t>
                </a:r>
              </a:p>
              <a:p>
                <a:pPr marL="0" indent="0">
                  <a:buNone/>
                </a:pPr>
                <a:r>
                  <a:rPr lang="en-US" sz="2200" dirty="0"/>
                  <a:t>compute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minL</m:t>
                    </m:r>
                    <m:d>
                      <m:d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/>
                  <a:t> for each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𝑣</m:t>
                    </m:r>
                    <m:r>
                      <a:rPr lang="en-US" sz="22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200" i="1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200" b="1" i="1">
                        <a:latin typeface="Cambria Math"/>
                      </a:rPr>
                      <m:t>𝑽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 algn="ctr">
                  <a:buNone/>
                </a:pPr>
                <a:r>
                  <a:rPr lang="en-US" sz="2200" b="1" dirty="0"/>
                  <a:t>Time complexity: </a:t>
                </a:r>
                <a:r>
                  <a:rPr lang="en-US" sz="2200" b="1" i="1" dirty="0"/>
                  <a:t>O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2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200" dirty="0"/>
                  <a:t>)</a:t>
                </a:r>
              </a:p>
              <a:p>
                <a:pPr marL="0" indent="0" algn="ctr">
                  <a:buNone/>
                </a:pPr>
                <a:endParaRPr lang="en-US" sz="2200" dirty="0"/>
              </a:p>
              <a:p>
                <a:pPr marL="0" indent="0" algn="ctr">
                  <a:buNone/>
                </a:pPr>
                <a:r>
                  <a:rPr lang="en-US" sz="2200" dirty="0"/>
                  <a:t> </a:t>
                </a:r>
              </a:p>
              <a:p>
                <a:pPr marL="0" indent="0"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2"/>
                <a:stretch>
                  <a:fillRect l="-741" t="-631" b="-8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67200" y="2724090"/>
                <a:ext cx="3995388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𝒎𝒊𝒏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𝑳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2000" b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1" i="0" smtClean="0">
                          <a:latin typeface="Cambria Math"/>
                          <a:ea typeface="Cambria Math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2000" b="1" i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1" i="0" smtClean="0">
                          <a:latin typeface="Cambria Math"/>
                          <a:ea typeface="Cambria Math"/>
                        </a:rPr>
                        <m:t>reachable</m:t>
                      </m:r>
                      <m:r>
                        <m:rPr>
                          <m:nor/>
                        </m:rPr>
                        <a:rPr lang="en-US" sz="2000" b="1" i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1" i="0" smtClean="0">
                          <a:latin typeface="Cambria Math"/>
                          <a:ea typeface="Cambria Math"/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2000" b="1" i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724090"/>
                <a:ext cx="3995388" cy="400110"/>
              </a:xfrm>
              <a:prstGeom prst="rect">
                <a:avLst/>
              </a:prstGeom>
              <a:blipFill rotWithShape="1">
                <a:blip r:embed="rId3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514600" y="19812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114800" y="16002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05400" y="4953000"/>
                <a:ext cx="1416991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𝑶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𝑛</m:t>
                      </m:r>
                      <m:r>
                        <m:rPr>
                          <m:nor/>
                        </m:rPr>
                        <a:rPr lang="en-US" sz="2000" b="1" i="0" smtClean="0">
                          <a:latin typeface="Cambria Math"/>
                          <a:ea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000" b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4953000"/>
                <a:ext cx="1416991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86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>
            <a:normAutofit/>
          </a:bodyPr>
          <a:lstStyle/>
          <a:p>
            <a:pPr algn="ctr"/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600" dirty="0">
                <a:solidFill>
                  <a:srgbClr val="7030A0"/>
                </a:solidFill>
              </a:rPr>
              <a:t>DEPTH FIRST SEARCH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From a vertex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b="-1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2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Searching </a:t>
                </a:r>
                <a:r>
                  <a:rPr lang="en-US" sz="3200" b="1" dirty="0"/>
                  <a:t>path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3200" b="1" dirty="0"/>
                  <a:t>from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3200" b="1" dirty="0"/>
                  <a:t> to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219200"/>
                <a:ext cx="4038600" cy="5334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Search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=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 print “</a:t>
                </a:r>
                <a:r>
                  <a:rPr lang="en-US" sz="2000" dirty="0">
                    <a:solidFill>
                      <a:srgbClr val="00B050"/>
                    </a:solidFill>
                    <a:sym typeface="Wingdings" pitchFamily="2" charset="2"/>
                  </a:rPr>
                  <a:t>path-found</a:t>
                </a:r>
                <a:r>
                  <a:rPr lang="en-US" sz="2000" dirty="0">
                    <a:sym typeface="Wingdings" pitchFamily="2" charset="2"/>
                  </a:rPr>
                  <a:t>”;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Else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{For</a:t>
                </a:r>
                <a:r>
                  <a:rPr lang="en-US" sz="2000" dirty="0">
                    <a:sym typeface="Wingdings" pitchFamily="2" charset="2"/>
                  </a:rPr>
                  <a:t> each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{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	   Search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</a:t>
                </a:r>
                <a:r>
                  <a:rPr lang="en-US" sz="2000" b="1" dirty="0">
                    <a:sym typeface="Wingdings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Main</a:t>
                </a:r>
                <a:r>
                  <a:rPr lang="en-US" sz="2000" dirty="0"/>
                  <a:t>()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Search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219200"/>
                <a:ext cx="4038600" cy="5334000"/>
              </a:xfrm>
              <a:blipFill rotWithShape="1">
                <a:blip r:embed="rId3"/>
                <a:stretch>
                  <a:fillRect l="-1508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143000" y="3048000"/>
                <a:ext cx="20243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If</a:t>
                </a:r>
                <a:r>
                  <a:rPr lang="en-US" dirty="0">
                    <a:sym typeface="Wingdings" pitchFamily="2" charset="2"/>
                  </a:rPr>
                  <a:t> (Visited[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]=false)</a:t>
                </a:r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048000"/>
                <a:ext cx="202433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11" t="-8197" r="-481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657297" y="1600200"/>
                <a:ext cx="18909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Visited[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 </a:t>
                </a:r>
                <a:r>
                  <a:rPr lang="en-US" dirty="0">
                    <a:sym typeface="Wingdings" pitchFamily="2" charset="2"/>
                  </a:rPr>
                  <a:t> true;</a:t>
                </a:r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97" y="1600200"/>
                <a:ext cx="189096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903" t="-10000" r="-483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57315" y="5257800"/>
                <a:ext cx="3656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For</a:t>
                </a:r>
                <a:r>
                  <a:rPr lang="en-US" dirty="0">
                    <a:sym typeface="Wingdings" pitchFamily="2" charset="2"/>
                  </a:rPr>
                  <a:t> each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     </a:t>
                </a:r>
                <a:r>
                  <a:rPr lang="en-US" dirty="0"/>
                  <a:t>Visited[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 </a:t>
                </a:r>
                <a:r>
                  <a:rPr lang="en-US" dirty="0">
                    <a:sym typeface="Wingdings" pitchFamily="2" charset="2"/>
                  </a:rPr>
                  <a:t> false;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15" y="5257800"/>
                <a:ext cx="3656578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500" t="-10000" r="-18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5560906" y="1143000"/>
            <a:ext cx="2592494" cy="5474732"/>
            <a:chOff x="5560906" y="773668"/>
            <a:chExt cx="2592494" cy="5474732"/>
          </a:xfrm>
        </p:grpSpPr>
        <p:grpSp>
          <p:nvGrpSpPr>
            <p:cNvPr id="15" name="Group 14"/>
            <p:cNvGrpSpPr/>
            <p:nvPr/>
          </p:nvGrpSpPr>
          <p:grpSpPr>
            <a:xfrm>
              <a:off x="6172200" y="4812268"/>
              <a:ext cx="1601894" cy="1436132"/>
              <a:chOff x="6172200" y="4812268"/>
              <a:chExt cx="1601894" cy="1436132"/>
            </a:xfrm>
          </p:grpSpPr>
          <p:grpSp>
            <p:nvGrpSpPr>
              <p:cNvPr id="104" name="Group 103"/>
              <p:cNvGrpSpPr/>
              <p:nvPr/>
            </p:nvGrpSpPr>
            <p:grpSpPr>
              <a:xfrm>
                <a:off x="6402493" y="4910771"/>
                <a:ext cx="1146718" cy="1163444"/>
                <a:chOff x="6705599" y="2308303"/>
                <a:chExt cx="1146718" cy="1163444"/>
              </a:xfrm>
            </p:grpSpPr>
            <p:pic>
              <p:nvPicPr>
                <p:cNvPr id="25" name="Picture 2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05600" y="2308303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6" name="Picture 2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05599" y="3319347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6200" y="3319347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6198" y="2360342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cxnSp>
            <p:nvCxnSpPr>
              <p:cNvPr id="73" name="Straight Arrow Connector 72"/>
              <p:cNvCxnSpPr/>
              <p:nvPr/>
            </p:nvCxnSpPr>
            <p:spPr>
              <a:xfrm flipH="1">
                <a:off x="6480552" y="5040868"/>
                <a:ext cx="24668" cy="88094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/>
              <p:nvPr/>
            </p:nvCxnSpPr>
            <p:spPr>
              <a:xfrm>
                <a:off x="7471151" y="5115210"/>
                <a:ext cx="2" cy="806605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/>
              <p:nvPr/>
            </p:nvCxnSpPr>
            <p:spPr>
              <a:xfrm>
                <a:off x="6558611" y="4986971"/>
                <a:ext cx="834481" cy="5203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/>
              <p:nvPr/>
            </p:nvCxnSpPr>
            <p:spPr>
              <a:xfrm>
                <a:off x="6558611" y="4986971"/>
                <a:ext cx="834483" cy="101104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3" name="Curved Connector 1042"/>
              <p:cNvCxnSpPr/>
              <p:nvPr/>
            </p:nvCxnSpPr>
            <p:spPr>
              <a:xfrm flipH="1" flipV="1">
                <a:off x="6551176" y="4950729"/>
                <a:ext cx="998035" cy="1047286"/>
              </a:xfrm>
              <a:prstGeom prst="curvedConnector4">
                <a:avLst>
                  <a:gd name="adj1" fmla="val -22905"/>
                  <a:gd name="adj2" fmla="val 144144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TextBox 169"/>
              <p:cNvSpPr txBox="1"/>
              <p:nvPr/>
            </p:nvSpPr>
            <p:spPr>
              <a:xfrm>
                <a:off x="6172200" y="48122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</a:t>
                </a:r>
              </a:p>
            </p:txBody>
          </p:sp>
          <p:sp>
            <p:nvSpPr>
              <p:cNvPr id="173" name="TextBox 172"/>
              <p:cNvSpPr txBox="1"/>
              <p:nvPr/>
            </p:nvSpPr>
            <p:spPr>
              <a:xfrm>
                <a:off x="6172200" y="5814536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</a:t>
                </a:r>
              </a:p>
            </p:txBody>
          </p:sp>
          <p:sp>
            <p:nvSpPr>
              <p:cNvPr id="175" name="TextBox 174"/>
              <p:cNvSpPr txBox="1"/>
              <p:nvPr/>
            </p:nvSpPr>
            <p:spPr>
              <a:xfrm>
                <a:off x="7467600" y="48884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</a:t>
                </a:r>
              </a:p>
            </p:txBody>
          </p:sp>
          <p:sp>
            <p:nvSpPr>
              <p:cNvPr id="176" name="TextBox 175"/>
              <p:cNvSpPr txBox="1"/>
              <p:nvPr/>
            </p:nvSpPr>
            <p:spPr>
              <a:xfrm>
                <a:off x="7162800" y="5879068"/>
                <a:ext cx="282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5560906" y="773668"/>
              <a:ext cx="2592494" cy="3417332"/>
              <a:chOff x="5560906" y="773668"/>
              <a:chExt cx="2592494" cy="3417332"/>
            </a:xfrm>
          </p:grpSpPr>
          <p:cxnSp>
            <p:nvCxnSpPr>
              <p:cNvPr id="121" name="Straight Arrow Connector 120"/>
              <p:cNvCxnSpPr>
                <a:endCxn id="122" idx="0"/>
              </p:cNvCxnSpPr>
              <p:nvPr/>
            </p:nvCxnSpPr>
            <p:spPr>
              <a:xfrm flipH="1">
                <a:off x="6636836" y="990600"/>
                <a:ext cx="411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Group 102"/>
              <p:cNvGrpSpPr/>
              <p:nvPr/>
            </p:nvGrpSpPr>
            <p:grpSpPr>
              <a:xfrm>
                <a:off x="6970486" y="838200"/>
                <a:ext cx="568587" cy="914400"/>
                <a:chOff x="2398486" y="685800"/>
                <a:chExt cx="568587" cy="914400"/>
              </a:xfrm>
            </p:grpSpPr>
            <p:pic>
              <p:nvPicPr>
                <p:cNvPr id="120" name="Picture 2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398486" y="685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23" name="Picture 2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10956" y="1447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cxnSp>
            <p:nvCxnSpPr>
              <p:cNvPr id="130" name="Straight Arrow Connector 129"/>
              <p:cNvCxnSpPr/>
              <p:nvPr/>
            </p:nvCxnSpPr>
            <p:spPr>
              <a:xfrm>
                <a:off x="7048545" y="990600"/>
                <a:ext cx="41247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>
                <a:stCxn id="122" idx="2"/>
                <a:endCxn id="124" idx="0"/>
              </p:cNvCxnSpPr>
              <p:nvPr/>
            </p:nvCxnSpPr>
            <p:spPr>
              <a:xfrm flipH="1">
                <a:off x="6333895" y="1676400"/>
                <a:ext cx="302941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/>
              <p:cNvCxnSpPr>
                <a:stCxn id="124" idx="2"/>
                <a:endCxn id="126" idx="0"/>
              </p:cNvCxnSpPr>
              <p:nvPr/>
            </p:nvCxnSpPr>
            <p:spPr>
              <a:xfrm flipH="1">
                <a:off x="6029095" y="2362200"/>
                <a:ext cx="304800" cy="685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>
                <a:stCxn id="124" idx="2"/>
                <a:endCxn id="127" idx="0"/>
              </p:cNvCxnSpPr>
              <p:nvPr/>
            </p:nvCxnSpPr>
            <p:spPr>
              <a:xfrm>
                <a:off x="6333895" y="2362200"/>
                <a:ext cx="465986" cy="685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>
                <a:stCxn id="131" idx="0"/>
                <a:endCxn id="125" idx="1"/>
              </p:cNvCxnSpPr>
              <p:nvPr/>
            </p:nvCxnSpPr>
            <p:spPr>
              <a:xfrm flipV="1">
                <a:off x="7323737" y="2299010"/>
                <a:ext cx="136518" cy="7489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/>
              <p:cNvCxnSpPr>
                <a:stCxn id="125" idx="2"/>
                <a:endCxn id="128" idx="0"/>
              </p:cNvCxnSpPr>
              <p:nvPr/>
            </p:nvCxnSpPr>
            <p:spPr>
              <a:xfrm>
                <a:off x="7538314" y="2375210"/>
                <a:ext cx="384628" cy="6727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/>
              <p:cNvCxnSpPr>
                <a:stCxn id="122" idx="2"/>
                <a:endCxn id="125" idx="1"/>
              </p:cNvCxnSpPr>
              <p:nvPr/>
            </p:nvCxnSpPr>
            <p:spPr>
              <a:xfrm>
                <a:off x="6636836" y="1676400"/>
                <a:ext cx="823419" cy="6226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Curved Connector 137"/>
              <p:cNvCxnSpPr>
                <a:stCxn id="129" idx="1"/>
                <a:endCxn id="122" idx="1"/>
              </p:cNvCxnSpPr>
              <p:nvPr/>
            </p:nvCxnSpPr>
            <p:spPr>
              <a:xfrm rot="10800000" flipH="1">
                <a:off x="5722435" y="1600200"/>
                <a:ext cx="836341" cy="2286000"/>
              </a:xfrm>
              <a:prstGeom prst="curvedConnector3">
                <a:avLst>
                  <a:gd name="adj1" fmla="val -111333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/>
              <p:cNvCxnSpPr>
                <a:stCxn id="126" idx="2"/>
                <a:endCxn id="129" idx="0"/>
              </p:cNvCxnSpPr>
              <p:nvPr/>
            </p:nvCxnSpPr>
            <p:spPr>
              <a:xfrm flipH="1">
                <a:off x="5800495" y="3200400"/>
                <a:ext cx="22860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>
                <a:endCxn id="122" idx="3"/>
              </p:cNvCxnSpPr>
              <p:nvPr/>
            </p:nvCxnSpPr>
            <p:spPr>
              <a:xfrm flipH="1" flipV="1">
                <a:off x="6714894" y="1600200"/>
                <a:ext cx="668062" cy="76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>
                <a:endCxn id="125" idx="0"/>
              </p:cNvCxnSpPr>
              <p:nvPr/>
            </p:nvCxnSpPr>
            <p:spPr>
              <a:xfrm>
                <a:off x="7461015" y="1752600"/>
                <a:ext cx="77299" cy="4702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Curved Connector 141"/>
              <p:cNvCxnSpPr>
                <a:stCxn id="122" idx="2"/>
                <a:endCxn id="126" idx="1"/>
              </p:cNvCxnSpPr>
              <p:nvPr/>
            </p:nvCxnSpPr>
            <p:spPr>
              <a:xfrm rot="5400000">
                <a:off x="5570036" y="2057400"/>
                <a:ext cx="1447800" cy="685800"/>
              </a:xfrm>
              <a:prstGeom prst="curvedConnector4">
                <a:avLst>
                  <a:gd name="adj1" fmla="val 3466"/>
                  <a:gd name="adj2" fmla="val 102439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>
                <a:stCxn id="127" idx="1"/>
                <a:endCxn id="129" idx="3"/>
              </p:cNvCxnSpPr>
              <p:nvPr/>
            </p:nvCxnSpPr>
            <p:spPr>
              <a:xfrm flipH="1">
                <a:off x="5878553" y="3124200"/>
                <a:ext cx="843269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/>
              <p:cNvCxnSpPr>
                <a:stCxn id="127" idx="2"/>
                <a:endCxn id="145" idx="0"/>
              </p:cNvCxnSpPr>
              <p:nvPr/>
            </p:nvCxnSpPr>
            <p:spPr>
              <a:xfrm>
                <a:off x="6799881" y="3200400"/>
                <a:ext cx="63697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2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58777" y="152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4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55836" y="2209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5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0255" y="222281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6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1036" y="3048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7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21822" y="3048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8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4883" y="3048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9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22436" y="3810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1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45678" y="3048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45" name="Picture 2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5519" y="3733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6" name="Straight Arrow Connector 145"/>
              <p:cNvCxnSpPr>
                <a:stCxn id="128" idx="1"/>
                <a:endCxn id="131" idx="3"/>
              </p:cNvCxnSpPr>
              <p:nvPr/>
            </p:nvCxnSpPr>
            <p:spPr>
              <a:xfrm flipH="1">
                <a:off x="7401795" y="3124200"/>
                <a:ext cx="443088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TextBox 186"/>
              <p:cNvSpPr txBox="1"/>
              <p:nvPr/>
            </p:nvSpPr>
            <p:spPr>
              <a:xfrm>
                <a:off x="7162800" y="3124200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6322906" y="16002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</a:t>
                </a: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7031148" y="773668"/>
                <a:ext cx="284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72" name="TextBox 171"/>
              <p:cNvSpPr txBox="1"/>
              <p:nvPr/>
            </p:nvSpPr>
            <p:spPr>
              <a:xfrm>
                <a:off x="7467600" y="1459468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>
                <a:off x="6569138" y="36692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sp>
            <p:nvSpPr>
              <p:cNvPr id="182" name="TextBox 181"/>
              <p:cNvSpPr txBox="1"/>
              <p:nvPr/>
            </p:nvSpPr>
            <p:spPr>
              <a:xfrm>
                <a:off x="5637106" y="2907268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  <p:sp>
            <p:nvSpPr>
              <p:cNvPr id="183" name="TextBox 182"/>
              <p:cNvSpPr txBox="1"/>
              <p:nvPr/>
            </p:nvSpPr>
            <p:spPr>
              <a:xfrm>
                <a:off x="5560906" y="382166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>
                <a:off x="6035738" y="2069068"/>
                <a:ext cx="2744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</a:t>
                </a:r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>
                <a:off x="7618306" y="21336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</a:t>
                </a:r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7846906" y="30596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</a:t>
                </a:r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6477000" y="2907268"/>
                <a:ext cx="239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j</a:t>
                </a:r>
              </a:p>
            </p:txBody>
          </p:sp>
          <p:cxnSp>
            <p:nvCxnSpPr>
              <p:cNvPr id="7" name="Curved Connector 6"/>
              <p:cNvCxnSpPr>
                <a:endCxn id="122" idx="2"/>
              </p:cNvCxnSpPr>
              <p:nvPr/>
            </p:nvCxnSpPr>
            <p:spPr>
              <a:xfrm rot="16200000" flipV="1">
                <a:off x="6029776" y="2283460"/>
                <a:ext cx="1359932" cy="145812"/>
              </a:xfrm>
              <a:prstGeom prst="curvedConnector3">
                <a:avLst>
                  <a:gd name="adj1" fmla="val 50000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5" name="Right Arrow 74"/>
          <p:cNvSpPr/>
          <p:nvPr/>
        </p:nvSpPr>
        <p:spPr>
          <a:xfrm rot="1556459">
            <a:off x="6322033" y="1708066"/>
            <a:ext cx="268608" cy="305997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CA3CDD-DA86-B35C-B7B7-77DADEDA45E3}"/>
              </a:ext>
            </a:extLst>
          </p:cNvPr>
          <p:cNvSpPr/>
          <p:nvPr/>
        </p:nvSpPr>
        <p:spPr>
          <a:xfrm>
            <a:off x="1564263" y="1995183"/>
            <a:ext cx="2169537" cy="3436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7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1" grpId="0"/>
      <p:bldP spid="62" grpId="0"/>
      <p:bldP spid="5" grpId="0"/>
      <p:bldP spid="75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219200"/>
                <a:ext cx="4038600" cy="53340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++ 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dirty="0">
                    <a:sym typeface="Wingdings" pitchFamily="2" charset="2"/>
                  </a:rPr>
                  <a:t>…;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For</a:t>
                </a:r>
                <a:r>
                  <a:rPr lang="en-US" sz="2000" dirty="0">
                    <a:sym typeface="Wingdings" pitchFamily="2" charset="2"/>
                  </a:rPr>
                  <a:t> each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{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	   DFS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…;</a:t>
                </a: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Main</a:t>
                </a:r>
                <a:r>
                  <a:rPr lang="en-US" sz="2000" dirty="0"/>
                  <a:t>()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</a:p>
              <a:p>
                <a:pPr marL="0" indent="0">
                  <a:buNone/>
                </a:pPr>
                <a:r>
                  <a:rPr lang="en-US" sz="2000" dirty="0"/>
                  <a:t>    </a:t>
                </a:r>
                <a:r>
                  <a:rPr lang="en-US" sz="2000" dirty="0">
                    <a:solidFill>
                      <a:srgbClr val="0070C0"/>
                    </a:solidFill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 1;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219200"/>
                <a:ext cx="4038600" cy="5334000"/>
              </a:xfrm>
              <a:blipFill rotWithShape="1">
                <a:blip r:embed="rId3"/>
                <a:stretch>
                  <a:fillRect l="-1508" t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143000" y="2895600"/>
                <a:ext cx="20243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If</a:t>
                </a:r>
                <a:r>
                  <a:rPr lang="en-US" dirty="0">
                    <a:sym typeface="Wingdings" pitchFamily="2" charset="2"/>
                  </a:rPr>
                  <a:t> (Visited[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]=false)</a:t>
                </a:r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895600"/>
                <a:ext cx="202433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11" t="-8197" r="-481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657297" y="1600200"/>
                <a:ext cx="18909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Visited[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 </a:t>
                </a:r>
                <a:r>
                  <a:rPr lang="en-US" dirty="0">
                    <a:sym typeface="Wingdings" pitchFamily="2" charset="2"/>
                  </a:rPr>
                  <a:t> true;</a:t>
                </a:r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97" y="1600200"/>
                <a:ext cx="189096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903" t="-10000" r="-483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57315" y="4964668"/>
                <a:ext cx="36982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For</a:t>
                </a:r>
                <a:r>
                  <a:rPr lang="en-US" dirty="0">
                    <a:sym typeface="Wingdings" pitchFamily="2" charset="2"/>
                  </a:rPr>
                  <a:t> each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      </a:t>
                </a:r>
                <a:r>
                  <a:rPr lang="en-US" dirty="0"/>
                  <a:t>Visited[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 </a:t>
                </a:r>
                <a:r>
                  <a:rPr lang="en-US" dirty="0">
                    <a:sym typeface="Wingdings" pitchFamily="2" charset="2"/>
                  </a:rPr>
                  <a:t> false;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15" y="4964668"/>
                <a:ext cx="3698257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485" t="-9836" r="-19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323EA42-CD1C-6A96-959D-FB9443E5B8D1}"/>
              </a:ext>
            </a:extLst>
          </p:cNvPr>
          <p:cNvGrpSpPr/>
          <p:nvPr/>
        </p:nvGrpSpPr>
        <p:grpSpPr>
          <a:xfrm>
            <a:off x="5560906" y="1143000"/>
            <a:ext cx="2592494" cy="5474732"/>
            <a:chOff x="5560906" y="773668"/>
            <a:chExt cx="2592494" cy="547473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1AE2AAA-F90D-1833-1416-8A1E738B8400}"/>
                </a:ext>
              </a:extLst>
            </p:cNvPr>
            <p:cNvGrpSpPr/>
            <p:nvPr/>
          </p:nvGrpSpPr>
          <p:grpSpPr>
            <a:xfrm>
              <a:off x="6172200" y="4812268"/>
              <a:ext cx="1601894" cy="1436132"/>
              <a:chOff x="6172200" y="4812268"/>
              <a:chExt cx="1601894" cy="1436132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80B95E1B-44AB-B899-552C-A9B01ACEAC7E}"/>
                  </a:ext>
                </a:extLst>
              </p:cNvPr>
              <p:cNvGrpSpPr/>
              <p:nvPr/>
            </p:nvGrpSpPr>
            <p:grpSpPr>
              <a:xfrm>
                <a:off x="6402493" y="4910771"/>
                <a:ext cx="1146718" cy="1163444"/>
                <a:chOff x="6705599" y="2308303"/>
                <a:chExt cx="1146718" cy="1163444"/>
              </a:xfrm>
            </p:grpSpPr>
            <p:pic>
              <p:nvPicPr>
                <p:cNvPr id="68" name="Picture 2">
                  <a:extLst>
                    <a:ext uri="{FF2B5EF4-FFF2-40B4-BE49-F238E27FC236}">
                      <a16:creationId xmlns:a16="http://schemas.microsoft.com/office/drawing/2014/main" id="{FD5CD1E7-CFE7-D592-EC5F-5BDBB4A8EC9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05600" y="2308303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69" name="Picture 2">
                  <a:extLst>
                    <a:ext uri="{FF2B5EF4-FFF2-40B4-BE49-F238E27FC236}">
                      <a16:creationId xmlns:a16="http://schemas.microsoft.com/office/drawing/2014/main" id="{7E22B852-D6E1-5545-A7E6-F7D665B784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05599" y="3319347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0" name="Picture 2">
                  <a:extLst>
                    <a:ext uri="{FF2B5EF4-FFF2-40B4-BE49-F238E27FC236}">
                      <a16:creationId xmlns:a16="http://schemas.microsoft.com/office/drawing/2014/main" id="{5CF920EC-EB1B-3FDD-0955-2D318931984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6200" y="3319347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71" name="Picture 2">
                  <a:extLst>
                    <a:ext uri="{FF2B5EF4-FFF2-40B4-BE49-F238E27FC236}">
                      <a16:creationId xmlns:a16="http://schemas.microsoft.com/office/drawing/2014/main" id="{7A0AA98B-CF8F-3061-D826-B98D67682B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6198" y="2360342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9888D9CD-0175-35BD-20ED-950C966EAF77}"/>
                  </a:ext>
                </a:extLst>
              </p:cNvPr>
              <p:cNvCxnSpPr/>
              <p:nvPr/>
            </p:nvCxnSpPr>
            <p:spPr>
              <a:xfrm flipH="1">
                <a:off x="6480552" y="5040868"/>
                <a:ext cx="24668" cy="88094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16A6B47B-1371-6FB4-46A6-B9BC51260233}"/>
                  </a:ext>
                </a:extLst>
              </p:cNvPr>
              <p:cNvCxnSpPr/>
              <p:nvPr/>
            </p:nvCxnSpPr>
            <p:spPr>
              <a:xfrm>
                <a:off x="7471151" y="5115210"/>
                <a:ext cx="2" cy="806605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F2CF1C7-6BD6-EEFE-AD3B-1D2D1C4B13D0}"/>
                  </a:ext>
                </a:extLst>
              </p:cNvPr>
              <p:cNvCxnSpPr/>
              <p:nvPr/>
            </p:nvCxnSpPr>
            <p:spPr>
              <a:xfrm>
                <a:off x="6558611" y="4986971"/>
                <a:ext cx="834481" cy="5203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D4F0E93-B233-3793-4431-11EB4AC39254}"/>
                  </a:ext>
                </a:extLst>
              </p:cNvPr>
              <p:cNvCxnSpPr/>
              <p:nvPr/>
            </p:nvCxnSpPr>
            <p:spPr>
              <a:xfrm>
                <a:off x="6558611" y="4986971"/>
                <a:ext cx="834483" cy="101104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urved Connector 1042">
                <a:extLst>
                  <a:ext uri="{FF2B5EF4-FFF2-40B4-BE49-F238E27FC236}">
                    <a16:creationId xmlns:a16="http://schemas.microsoft.com/office/drawing/2014/main" id="{1DF28067-C9C4-5376-385C-426D488A26DE}"/>
                  </a:ext>
                </a:extLst>
              </p:cNvPr>
              <p:cNvCxnSpPr/>
              <p:nvPr/>
            </p:nvCxnSpPr>
            <p:spPr>
              <a:xfrm flipH="1" flipV="1">
                <a:off x="6551176" y="4950729"/>
                <a:ext cx="998035" cy="1047286"/>
              </a:xfrm>
              <a:prstGeom prst="curvedConnector4">
                <a:avLst>
                  <a:gd name="adj1" fmla="val -22905"/>
                  <a:gd name="adj2" fmla="val 144144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0438C6F-41D8-16AF-F789-0C5F6904710B}"/>
                  </a:ext>
                </a:extLst>
              </p:cNvPr>
              <p:cNvSpPr txBox="1"/>
              <p:nvPr/>
            </p:nvSpPr>
            <p:spPr>
              <a:xfrm>
                <a:off x="6172200" y="48122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703E26A-5506-C8EB-A193-518623DA4611}"/>
                  </a:ext>
                </a:extLst>
              </p:cNvPr>
              <p:cNvSpPr txBox="1"/>
              <p:nvPr/>
            </p:nvSpPr>
            <p:spPr>
              <a:xfrm>
                <a:off x="6172200" y="5814536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B15ABBD-B1E8-2D16-A0A8-AD023DE4C7A7}"/>
                  </a:ext>
                </a:extLst>
              </p:cNvPr>
              <p:cNvSpPr txBox="1"/>
              <p:nvPr/>
            </p:nvSpPr>
            <p:spPr>
              <a:xfrm>
                <a:off x="7467600" y="48884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5CD0353-AE21-AC86-FF92-DBFFF1215C58}"/>
                  </a:ext>
                </a:extLst>
              </p:cNvPr>
              <p:cNvSpPr txBox="1"/>
              <p:nvPr/>
            </p:nvSpPr>
            <p:spPr>
              <a:xfrm>
                <a:off x="7162800" y="5879068"/>
                <a:ext cx="282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972235-EE81-EF1B-AFC7-6DAE7A96B3C2}"/>
                </a:ext>
              </a:extLst>
            </p:cNvPr>
            <p:cNvGrpSpPr/>
            <p:nvPr/>
          </p:nvGrpSpPr>
          <p:grpSpPr>
            <a:xfrm>
              <a:off x="5560906" y="773668"/>
              <a:ext cx="2592494" cy="3417332"/>
              <a:chOff x="5560906" y="773668"/>
              <a:chExt cx="2592494" cy="3417332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DC1678F-F86B-1F8F-159B-56CD0E1B0350}"/>
                  </a:ext>
                </a:extLst>
              </p:cNvPr>
              <p:cNvCxnSpPr>
                <a:endCxn id="32" idx="0"/>
              </p:cNvCxnSpPr>
              <p:nvPr/>
            </p:nvCxnSpPr>
            <p:spPr>
              <a:xfrm flipH="1">
                <a:off x="6636836" y="990600"/>
                <a:ext cx="411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1420F07-1605-55D0-8457-7E57464B26EF}"/>
                  </a:ext>
                </a:extLst>
              </p:cNvPr>
              <p:cNvGrpSpPr/>
              <p:nvPr/>
            </p:nvGrpSpPr>
            <p:grpSpPr>
              <a:xfrm>
                <a:off x="6970486" y="838200"/>
                <a:ext cx="568587" cy="914400"/>
                <a:chOff x="2398486" y="685800"/>
                <a:chExt cx="568587" cy="914400"/>
              </a:xfrm>
            </p:grpSpPr>
            <p:pic>
              <p:nvPicPr>
                <p:cNvPr id="54" name="Picture 2">
                  <a:extLst>
                    <a:ext uri="{FF2B5EF4-FFF2-40B4-BE49-F238E27FC236}">
                      <a16:creationId xmlns:a16="http://schemas.microsoft.com/office/drawing/2014/main" id="{30B016F6-3880-821D-80E4-70BA7C59333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398486" y="685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55" name="Picture 2">
                  <a:extLst>
                    <a:ext uri="{FF2B5EF4-FFF2-40B4-BE49-F238E27FC236}">
                      <a16:creationId xmlns:a16="http://schemas.microsoft.com/office/drawing/2014/main" id="{72E3C49F-9F71-86B6-A88E-662417E0066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10956" y="1447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31DC0E9-57C2-2427-09C7-15439FFE207A}"/>
                  </a:ext>
                </a:extLst>
              </p:cNvPr>
              <p:cNvCxnSpPr/>
              <p:nvPr/>
            </p:nvCxnSpPr>
            <p:spPr>
              <a:xfrm>
                <a:off x="7048545" y="990600"/>
                <a:ext cx="41247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6DB9ED0B-2CB1-BC2A-7DF2-B9D0AB4056FA}"/>
                  </a:ext>
                </a:extLst>
              </p:cNvPr>
              <p:cNvCxnSpPr>
                <a:stCxn id="32" idx="2"/>
                <a:endCxn id="33" idx="0"/>
              </p:cNvCxnSpPr>
              <p:nvPr/>
            </p:nvCxnSpPr>
            <p:spPr>
              <a:xfrm flipH="1">
                <a:off x="6333895" y="1676400"/>
                <a:ext cx="302941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8398BAE-BFB7-CCD3-A318-E39171AAE159}"/>
                  </a:ext>
                </a:extLst>
              </p:cNvPr>
              <p:cNvCxnSpPr>
                <a:stCxn id="33" idx="2"/>
                <a:endCxn id="35" idx="0"/>
              </p:cNvCxnSpPr>
              <p:nvPr/>
            </p:nvCxnSpPr>
            <p:spPr>
              <a:xfrm flipH="1">
                <a:off x="6029095" y="2362200"/>
                <a:ext cx="304800" cy="685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95D65407-220F-7BEE-FEBC-EF7A35183EEB}"/>
                  </a:ext>
                </a:extLst>
              </p:cNvPr>
              <p:cNvCxnSpPr>
                <a:stCxn id="33" idx="2"/>
                <a:endCxn id="36" idx="0"/>
              </p:cNvCxnSpPr>
              <p:nvPr/>
            </p:nvCxnSpPr>
            <p:spPr>
              <a:xfrm>
                <a:off x="6333895" y="2362200"/>
                <a:ext cx="465986" cy="685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48DCF73-CAB6-A797-898F-186BE7B91CEA}"/>
                  </a:ext>
                </a:extLst>
              </p:cNvPr>
              <p:cNvCxnSpPr>
                <a:stCxn id="39" idx="0"/>
                <a:endCxn id="34" idx="1"/>
              </p:cNvCxnSpPr>
              <p:nvPr/>
            </p:nvCxnSpPr>
            <p:spPr>
              <a:xfrm flipV="1">
                <a:off x="7323737" y="2299010"/>
                <a:ext cx="136518" cy="7489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B2DB37C8-BC05-C4E2-5A5E-6682A3F8D396}"/>
                  </a:ext>
                </a:extLst>
              </p:cNvPr>
              <p:cNvCxnSpPr>
                <a:stCxn id="34" idx="2"/>
                <a:endCxn id="37" idx="0"/>
              </p:cNvCxnSpPr>
              <p:nvPr/>
            </p:nvCxnSpPr>
            <p:spPr>
              <a:xfrm>
                <a:off x="7538314" y="2375210"/>
                <a:ext cx="384628" cy="6727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413C597-9E37-38DC-450E-93D1F6999AF6}"/>
                  </a:ext>
                </a:extLst>
              </p:cNvPr>
              <p:cNvCxnSpPr>
                <a:stCxn id="32" idx="2"/>
                <a:endCxn id="34" idx="1"/>
              </p:cNvCxnSpPr>
              <p:nvPr/>
            </p:nvCxnSpPr>
            <p:spPr>
              <a:xfrm>
                <a:off x="6636836" y="1676400"/>
                <a:ext cx="823419" cy="6226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urved Connector 137">
                <a:extLst>
                  <a:ext uri="{FF2B5EF4-FFF2-40B4-BE49-F238E27FC236}">
                    <a16:creationId xmlns:a16="http://schemas.microsoft.com/office/drawing/2014/main" id="{57E57921-55DC-8EA1-3CDA-52B33BE29080}"/>
                  </a:ext>
                </a:extLst>
              </p:cNvPr>
              <p:cNvCxnSpPr>
                <a:stCxn id="38" idx="1"/>
                <a:endCxn id="32" idx="1"/>
              </p:cNvCxnSpPr>
              <p:nvPr/>
            </p:nvCxnSpPr>
            <p:spPr>
              <a:xfrm rot="10800000" flipH="1">
                <a:off x="5722435" y="1600200"/>
                <a:ext cx="836341" cy="2286000"/>
              </a:xfrm>
              <a:prstGeom prst="curvedConnector3">
                <a:avLst>
                  <a:gd name="adj1" fmla="val -111333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D780FCE-1FBB-568C-41B9-35FFB17BAC15}"/>
                  </a:ext>
                </a:extLst>
              </p:cNvPr>
              <p:cNvCxnSpPr>
                <a:stCxn id="35" idx="2"/>
                <a:endCxn id="38" idx="0"/>
              </p:cNvCxnSpPr>
              <p:nvPr/>
            </p:nvCxnSpPr>
            <p:spPr>
              <a:xfrm flipH="1">
                <a:off x="5800495" y="3200400"/>
                <a:ext cx="22860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3533714-3E2C-A98C-C49D-9D629C599422}"/>
                  </a:ext>
                </a:extLst>
              </p:cNvPr>
              <p:cNvCxnSpPr>
                <a:endCxn id="32" idx="3"/>
              </p:cNvCxnSpPr>
              <p:nvPr/>
            </p:nvCxnSpPr>
            <p:spPr>
              <a:xfrm flipH="1" flipV="1">
                <a:off x="6714894" y="1600200"/>
                <a:ext cx="668062" cy="76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D0C6CDE9-C880-7D7F-6922-FF30674FCE62}"/>
                  </a:ext>
                </a:extLst>
              </p:cNvPr>
              <p:cNvCxnSpPr>
                <a:endCxn id="34" idx="0"/>
              </p:cNvCxnSpPr>
              <p:nvPr/>
            </p:nvCxnSpPr>
            <p:spPr>
              <a:xfrm>
                <a:off x="7461015" y="1752600"/>
                <a:ext cx="77299" cy="4702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urved Connector 141">
                <a:extLst>
                  <a:ext uri="{FF2B5EF4-FFF2-40B4-BE49-F238E27FC236}">
                    <a16:creationId xmlns:a16="http://schemas.microsoft.com/office/drawing/2014/main" id="{F6DF07DF-092A-6F66-0681-54AD2A3FBE45}"/>
                  </a:ext>
                </a:extLst>
              </p:cNvPr>
              <p:cNvCxnSpPr>
                <a:stCxn id="32" idx="2"/>
                <a:endCxn id="35" idx="1"/>
              </p:cNvCxnSpPr>
              <p:nvPr/>
            </p:nvCxnSpPr>
            <p:spPr>
              <a:xfrm rot="5400000">
                <a:off x="5570036" y="2057400"/>
                <a:ext cx="1447800" cy="685800"/>
              </a:xfrm>
              <a:prstGeom prst="curvedConnector4">
                <a:avLst>
                  <a:gd name="adj1" fmla="val 3466"/>
                  <a:gd name="adj2" fmla="val 102439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C4C5BA4-EF73-2E13-8E48-F081280511E4}"/>
                  </a:ext>
                </a:extLst>
              </p:cNvPr>
              <p:cNvCxnSpPr>
                <a:stCxn id="36" idx="1"/>
                <a:endCxn id="38" idx="3"/>
              </p:cNvCxnSpPr>
              <p:nvPr/>
            </p:nvCxnSpPr>
            <p:spPr>
              <a:xfrm flipH="1">
                <a:off x="5878553" y="3124200"/>
                <a:ext cx="843269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46EFFAF-6FC5-A6A8-5F47-BD0072EEB9E0}"/>
                  </a:ext>
                </a:extLst>
              </p:cNvPr>
              <p:cNvCxnSpPr>
                <a:stCxn id="36" idx="2"/>
                <a:endCxn id="40" idx="0"/>
              </p:cNvCxnSpPr>
              <p:nvPr/>
            </p:nvCxnSpPr>
            <p:spPr>
              <a:xfrm>
                <a:off x="6799881" y="3200400"/>
                <a:ext cx="63697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2" name="Picture 2">
                <a:extLst>
                  <a:ext uri="{FF2B5EF4-FFF2-40B4-BE49-F238E27FC236}">
                    <a16:creationId xmlns:a16="http://schemas.microsoft.com/office/drawing/2014/main" id="{37920D32-F6B9-CC78-4F6F-D20A928FC1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58777" y="152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3" name="Picture 2">
                <a:extLst>
                  <a:ext uri="{FF2B5EF4-FFF2-40B4-BE49-F238E27FC236}">
                    <a16:creationId xmlns:a16="http://schemas.microsoft.com/office/drawing/2014/main" id="{062A982D-ED47-D5D6-0817-77E2DC0E76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55836" y="2209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4" name="Picture 2">
                <a:extLst>
                  <a:ext uri="{FF2B5EF4-FFF2-40B4-BE49-F238E27FC236}">
                    <a16:creationId xmlns:a16="http://schemas.microsoft.com/office/drawing/2014/main" id="{BF983725-C79B-E527-4831-C906EABF37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0255" y="222281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5" name="Picture 2">
                <a:extLst>
                  <a:ext uri="{FF2B5EF4-FFF2-40B4-BE49-F238E27FC236}">
                    <a16:creationId xmlns:a16="http://schemas.microsoft.com/office/drawing/2014/main" id="{3DCF1DC5-6CC2-DC2D-7029-E1C8C186BE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1036" y="3048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6" name="Picture 2">
                <a:extLst>
                  <a:ext uri="{FF2B5EF4-FFF2-40B4-BE49-F238E27FC236}">
                    <a16:creationId xmlns:a16="http://schemas.microsoft.com/office/drawing/2014/main" id="{D05F9850-5E0A-2ABB-818F-9CCA73B02F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21822" y="3048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7" name="Picture 2">
                <a:extLst>
                  <a:ext uri="{FF2B5EF4-FFF2-40B4-BE49-F238E27FC236}">
                    <a16:creationId xmlns:a16="http://schemas.microsoft.com/office/drawing/2014/main" id="{AF3EC7B4-B286-6B21-71A8-741CEFC3CF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4883" y="3048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8" name="Picture 2">
                <a:extLst>
                  <a:ext uri="{FF2B5EF4-FFF2-40B4-BE49-F238E27FC236}">
                    <a16:creationId xmlns:a16="http://schemas.microsoft.com/office/drawing/2014/main" id="{868ACFC8-72B4-7BEF-AB52-413821613F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22436" y="3810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9" name="Picture 2">
                <a:extLst>
                  <a:ext uri="{FF2B5EF4-FFF2-40B4-BE49-F238E27FC236}">
                    <a16:creationId xmlns:a16="http://schemas.microsoft.com/office/drawing/2014/main" id="{74A30F25-0942-0748-B2F1-602D7B64A8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45678" y="3048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0" name="Picture 2">
                <a:extLst>
                  <a:ext uri="{FF2B5EF4-FFF2-40B4-BE49-F238E27FC236}">
                    <a16:creationId xmlns:a16="http://schemas.microsoft.com/office/drawing/2014/main" id="{FFC5061C-70DA-A54A-FBF9-292F936C2A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5519" y="3733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153F2672-5FD0-F656-42A7-CFC6D9589A48}"/>
                  </a:ext>
                </a:extLst>
              </p:cNvPr>
              <p:cNvCxnSpPr>
                <a:stCxn id="37" idx="1"/>
                <a:endCxn id="39" idx="3"/>
              </p:cNvCxnSpPr>
              <p:nvPr/>
            </p:nvCxnSpPr>
            <p:spPr>
              <a:xfrm flipH="1">
                <a:off x="7401795" y="3124200"/>
                <a:ext cx="443088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1D821F-5CDC-2DAF-3FCF-5B8EE9ACF377}"/>
                  </a:ext>
                </a:extLst>
              </p:cNvPr>
              <p:cNvSpPr txBox="1"/>
              <p:nvPr/>
            </p:nvSpPr>
            <p:spPr>
              <a:xfrm>
                <a:off x="7162800" y="3124200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EEC382-9BB4-ABCC-DD89-6CE37B9F160D}"/>
                  </a:ext>
                </a:extLst>
              </p:cNvPr>
              <p:cNvSpPr txBox="1"/>
              <p:nvPr/>
            </p:nvSpPr>
            <p:spPr>
              <a:xfrm>
                <a:off x="6322906" y="16002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EFFF91-B827-CCE8-CE36-D4AEF8AEDB6F}"/>
                  </a:ext>
                </a:extLst>
              </p:cNvPr>
              <p:cNvSpPr txBox="1"/>
              <p:nvPr/>
            </p:nvSpPr>
            <p:spPr>
              <a:xfrm>
                <a:off x="7031148" y="773668"/>
                <a:ext cx="284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B4ACAD8-725E-8922-46D3-16EA3DB1FD25}"/>
                  </a:ext>
                </a:extLst>
              </p:cNvPr>
              <p:cNvSpPr txBox="1"/>
              <p:nvPr/>
            </p:nvSpPr>
            <p:spPr>
              <a:xfrm>
                <a:off x="7467600" y="1459468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4A2EFF-96D4-99E3-9AD2-B777ED0477FE}"/>
                  </a:ext>
                </a:extLst>
              </p:cNvPr>
              <p:cNvSpPr txBox="1"/>
              <p:nvPr/>
            </p:nvSpPr>
            <p:spPr>
              <a:xfrm>
                <a:off x="6569138" y="3669268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32BFFA7-76B1-4E66-EE06-1EE6F85A977C}"/>
                  </a:ext>
                </a:extLst>
              </p:cNvPr>
              <p:cNvSpPr txBox="1"/>
              <p:nvPr/>
            </p:nvSpPr>
            <p:spPr>
              <a:xfrm>
                <a:off x="5637106" y="2907268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74DCA45-41FC-C3FA-FC72-67A78AF891D0}"/>
                  </a:ext>
                </a:extLst>
              </p:cNvPr>
              <p:cNvSpPr txBox="1"/>
              <p:nvPr/>
            </p:nvSpPr>
            <p:spPr>
              <a:xfrm>
                <a:off x="5560906" y="382166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7132DBC-EAAF-8FD5-97FC-40593CD862F9}"/>
                  </a:ext>
                </a:extLst>
              </p:cNvPr>
              <p:cNvSpPr txBox="1"/>
              <p:nvPr/>
            </p:nvSpPr>
            <p:spPr>
              <a:xfrm>
                <a:off x="6035738" y="2069068"/>
                <a:ext cx="2744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A1952D6-F952-439B-F8FE-248B97E2EEA4}"/>
                  </a:ext>
                </a:extLst>
              </p:cNvPr>
              <p:cNvSpPr txBox="1"/>
              <p:nvPr/>
            </p:nvSpPr>
            <p:spPr>
              <a:xfrm>
                <a:off x="7618306" y="21336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D1A9103-C7D4-CEBD-F7B0-3B9D9509DEA5}"/>
                  </a:ext>
                </a:extLst>
              </p:cNvPr>
              <p:cNvSpPr txBox="1"/>
              <p:nvPr/>
            </p:nvSpPr>
            <p:spPr>
              <a:xfrm>
                <a:off x="7846906" y="30596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1A1A432-1923-E65A-3308-B972C8AF8987}"/>
                  </a:ext>
                </a:extLst>
              </p:cNvPr>
              <p:cNvSpPr txBox="1"/>
              <p:nvPr/>
            </p:nvSpPr>
            <p:spPr>
              <a:xfrm>
                <a:off x="6477000" y="2907268"/>
                <a:ext cx="239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j</a:t>
                </a:r>
              </a:p>
            </p:txBody>
          </p:sp>
          <p:cxnSp>
            <p:nvCxnSpPr>
              <p:cNvPr id="53" name="Curved Connector 6">
                <a:extLst>
                  <a:ext uri="{FF2B5EF4-FFF2-40B4-BE49-F238E27FC236}">
                    <a16:creationId xmlns:a16="http://schemas.microsoft.com/office/drawing/2014/main" id="{9075FE6F-160C-323C-D5A0-2F8F48E07269}"/>
                  </a:ext>
                </a:extLst>
              </p:cNvPr>
              <p:cNvCxnSpPr>
                <a:endCxn id="32" idx="2"/>
              </p:cNvCxnSpPr>
              <p:nvPr/>
            </p:nvCxnSpPr>
            <p:spPr>
              <a:xfrm rot="16200000" flipV="1">
                <a:off x="6029776" y="2283460"/>
                <a:ext cx="1359932" cy="145812"/>
              </a:xfrm>
              <a:prstGeom prst="curvedConnector3">
                <a:avLst>
                  <a:gd name="adj1" fmla="val 50000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Right Arrow 74">
            <a:extLst>
              <a:ext uri="{FF2B5EF4-FFF2-40B4-BE49-F238E27FC236}">
                <a16:creationId xmlns:a16="http://schemas.microsoft.com/office/drawing/2014/main" id="{351EE669-24A7-629E-4667-AF6D48B4059D}"/>
              </a:ext>
            </a:extLst>
          </p:cNvPr>
          <p:cNvSpPr/>
          <p:nvPr/>
        </p:nvSpPr>
        <p:spPr>
          <a:xfrm rot="1556459">
            <a:off x="6322033" y="1708066"/>
            <a:ext cx="268608" cy="305997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1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1" grpId="0"/>
      <p:bldP spid="62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Relation among various DFS() calls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458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Observation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: </a:t>
                </a:r>
                <a:r>
                  <a:rPr lang="en-US" sz="1800" dirty="0"/>
                  <a:t>If </a:t>
                </a:r>
                <a:r>
                  <a:rPr lang="en-US" sz="1800" b="1" dirty="0"/>
                  <a:t>DFS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) invokes </a:t>
                </a:r>
                <a:r>
                  <a:rPr lang="en-US" sz="1800" b="1" dirty="0"/>
                  <a:t>DFS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), </a:t>
                </a:r>
              </a:p>
              <a:p>
                <a:pPr marL="0" indent="0">
                  <a:buNone/>
                </a:pPr>
                <a:r>
                  <a:rPr lang="en-US" sz="1800" dirty="0"/>
                  <a:t>After </a:t>
                </a:r>
                <a:r>
                  <a:rPr lang="en-US" sz="1800" b="1" dirty="0"/>
                  <a:t>DFS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) is finished, the control returns to </a:t>
                </a:r>
                <a:r>
                  <a:rPr lang="en-US" sz="1800" b="1" dirty="0"/>
                  <a:t>DFS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) .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Observation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: </a:t>
                </a:r>
                <a:r>
                  <a:rPr lang="en-US" sz="1800" dirty="0"/>
                  <a:t>If there is no path from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to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then DFS starting from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will </a:t>
                </a:r>
                <a:r>
                  <a:rPr lang="en-US" sz="1800" b="1" dirty="0"/>
                  <a:t>NOT</a:t>
                </a:r>
                <a:r>
                  <a:rPr lang="en-US" sz="1800" dirty="0"/>
                  <a:t> visit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Observation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3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Let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U</a:t>
                </a:r>
                <a:r>
                  <a:rPr lang="en-US" sz="1800" dirty="0"/>
                  <a:t> be the set of vertices visited before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, then </a:t>
                </a:r>
                <a:r>
                  <a:rPr lang="en-US" sz="1800" b="1" dirty="0"/>
                  <a:t>DFS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) is </a:t>
                </a:r>
              </a:p>
              <a:p>
                <a:pPr marL="0" indent="0">
                  <a:buNone/>
                </a:pPr>
                <a:r>
                  <a:rPr lang="en-US" sz="1800" dirty="0"/>
                  <a:t>identical to a </a:t>
                </a:r>
                <a:r>
                  <a:rPr lang="en-US" sz="1800" u="sng" dirty="0"/>
                  <a:t>fresh</a:t>
                </a:r>
                <a:r>
                  <a:rPr lang="en-US" sz="1800" dirty="0"/>
                  <a:t> </a:t>
                </a:r>
                <a:r>
                  <a:rPr lang="en-US" sz="1800" b="1" dirty="0"/>
                  <a:t>DFS</a:t>
                </a:r>
                <a:r>
                  <a:rPr lang="en-US" sz="1800" dirty="0"/>
                  <a:t> starting from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 in  graph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G\U</a:t>
                </a:r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458200" cy="4525963"/>
              </a:xfrm>
              <a:blipFill rotWithShape="1">
                <a:blip r:embed="rId2"/>
                <a:stretch>
                  <a:fillRect l="-720" t="-674" b="-22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/>
          <p:cNvGrpSpPr/>
          <p:nvPr/>
        </p:nvGrpSpPr>
        <p:grpSpPr>
          <a:xfrm>
            <a:off x="6402493" y="5280103"/>
            <a:ext cx="1146718" cy="1163444"/>
            <a:chOff x="6705599" y="2308303"/>
            <a:chExt cx="1146718" cy="1163444"/>
          </a:xfrm>
        </p:grpSpPr>
        <p:pic>
          <p:nvPicPr>
            <p:cNvPr id="6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51" name="Straight Arrow Connector 50"/>
          <p:cNvCxnSpPr/>
          <p:nvPr/>
        </p:nvCxnSpPr>
        <p:spPr>
          <a:xfrm flipH="1">
            <a:off x="6480552" y="54102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471151" y="54845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6558611" y="53563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6558611" y="53563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/>
          <p:nvPr/>
        </p:nvCxnSpPr>
        <p:spPr>
          <a:xfrm flipH="1" flipV="1">
            <a:off x="6551176" y="53200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172200" y="5181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61838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67600" y="5257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62800" y="62484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14" name="Straight Arrow Connector 13"/>
          <p:cNvCxnSpPr>
            <a:stCxn id="27" idx="2"/>
            <a:endCxn id="29" idx="0"/>
          </p:cNvCxnSpPr>
          <p:nvPr/>
        </p:nvCxnSpPr>
        <p:spPr>
          <a:xfrm flipH="1">
            <a:off x="6029095" y="2731532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7" idx="2"/>
            <a:endCxn id="30" idx="0"/>
          </p:cNvCxnSpPr>
          <p:nvPr/>
        </p:nvCxnSpPr>
        <p:spPr>
          <a:xfrm>
            <a:off x="6333895" y="2731532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3" idx="0"/>
            <a:endCxn id="28" idx="1"/>
          </p:cNvCxnSpPr>
          <p:nvPr/>
        </p:nvCxnSpPr>
        <p:spPr>
          <a:xfrm flipV="1">
            <a:off x="7323737" y="2668342"/>
            <a:ext cx="136518" cy="7489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8" idx="2"/>
            <a:endCxn id="31" idx="0"/>
          </p:cNvCxnSpPr>
          <p:nvPr/>
        </p:nvCxnSpPr>
        <p:spPr>
          <a:xfrm>
            <a:off x="7538314" y="2744542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9" idx="2"/>
            <a:endCxn id="32" idx="0"/>
          </p:cNvCxnSpPr>
          <p:nvPr/>
        </p:nvCxnSpPr>
        <p:spPr>
          <a:xfrm flipH="1">
            <a:off x="5800495" y="3569732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0" idx="1"/>
            <a:endCxn id="32" idx="3"/>
          </p:cNvCxnSpPr>
          <p:nvPr/>
        </p:nvCxnSpPr>
        <p:spPr>
          <a:xfrm flipH="1">
            <a:off x="5878553" y="3493532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30" idx="2"/>
            <a:endCxn id="34" idx="0"/>
          </p:cNvCxnSpPr>
          <p:nvPr/>
        </p:nvCxnSpPr>
        <p:spPr>
          <a:xfrm>
            <a:off x="6799881" y="3569732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6" y="25791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255" y="259214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34173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22" y="34173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883" y="34173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436" y="41793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678" y="34173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519" y="41031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5" name="Straight Arrow Connector 34"/>
          <p:cNvCxnSpPr>
            <a:stCxn id="31" idx="1"/>
            <a:endCxn id="33" idx="3"/>
          </p:cNvCxnSpPr>
          <p:nvPr/>
        </p:nvCxnSpPr>
        <p:spPr>
          <a:xfrm flipH="1">
            <a:off x="7401795" y="3493532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62800" y="349353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9138" y="4038600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37106" y="32766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0906" y="41910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738" y="243840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8306" y="25029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6906" y="3429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0" y="3276600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5722435" y="1143000"/>
            <a:ext cx="2034027" cy="3112532"/>
            <a:chOff x="5722435" y="1143000"/>
            <a:chExt cx="2034027" cy="3112532"/>
          </a:xfrm>
        </p:grpSpPr>
        <p:grpSp>
          <p:nvGrpSpPr>
            <p:cNvPr id="70" name="Group 69"/>
            <p:cNvGrpSpPr/>
            <p:nvPr/>
          </p:nvGrpSpPr>
          <p:grpSpPr>
            <a:xfrm>
              <a:off x="5722435" y="1143000"/>
              <a:ext cx="2034027" cy="3112532"/>
              <a:chOff x="5722435" y="1143000"/>
              <a:chExt cx="2034027" cy="3112532"/>
            </a:xfrm>
          </p:grpSpPr>
          <p:cxnSp>
            <p:nvCxnSpPr>
              <p:cNvPr id="10" name="Straight Arrow Connector 9"/>
              <p:cNvCxnSpPr>
                <a:endCxn id="26" idx="0"/>
              </p:cNvCxnSpPr>
              <p:nvPr/>
            </p:nvCxnSpPr>
            <p:spPr>
              <a:xfrm flipH="1">
                <a:off x="6636836" y="1359932"/>
                <a:ext cx="411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0486" y="1207532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9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82956" y="1969532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2" name="Straight Arrow Connector 11"/>
              <p:cNvCxnSpPr/>
              <p:nvPr/>
            </p:nvCxnSpPr>
            <p:spPr>
              <a:xfrm>
                <a:off x="7048545" y="1359932"/>
                <a:ext cx="41247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>
                <a:stCxn id="26" idx="2"/>
                <a:endCxn id="27" idx="0"/>
              </p:cNvCxnSpPr>
              <p:nvPr/>
            </p:nvCxnSpPr>
            <p:spPr>
              <a:xfrm flipH="1">
                <a:off x="6333895" y="2045732"/>
                <a:ext cx="302941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>
                <a:stCxn id="26" idx="2"/>
                <a:endCxn id="28" idx="1"/>
              </p:cNvCxnSpPr>
              <p:nvPr/>
            </p:nvCxnSpPr>
            <p:spPr>
              <a:xfrm>
                <a:off x="6636836" y="2045732"/>
                <a:ext cx="823419" cy="6226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urved Connector 18"/>
              <p:cNvCxnSpPr>
                <a:stCxn id="32" idx="1"/>
                <a:endCxn id="26" idx="1"/>
              </p:cNvCxnSpPr>
              <p:nvPr/>
            </p:nvCxnSpPr>
            <p:spPr>
              <a:xfrm rot="10800000" flipH="1">
                <a:off x="5722435" y="1969532"/>
                <a:ext cx="836341" cy="2286000"/>
              </a:xfrm>
              <a:prstGeom prst="curvedConnector3">
                <a:avLst>
                  <a:gd name="adj1" fmla="val -111333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endCxn id="26" idx="3"/>
              </p:cNvCxnSpPr>
              <p:nvPr/>
            </p:nvCxnSpPr>
            <p:spPr>
              <a:xfrm flipH="1" flipV="1">
                <a:off x="6714894" y="1969532"/>
                <a:ext cx="668062" cy="76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endCxn id="28" idx="0"/>
              </p:cNvCxnSpPr>
              <p:nvPr/>
            </p:nvCxnSpPr>
            <p:spPr>
              <a:xfrm>
                <a:off x="7461015" y="2121932"/>
                <a:ext cx="77299" cy="4702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urved Connector 22"/>
              <p:cNvCxnSpPr>
                <a:stCxn id="26" idx="2"/>
                <a:endCxn id="29" idx="1"/>
              </p:cNvCxnSpPr>
              <p:nvPr/>
            </p:nvCxnSpPr>
            <p:spPr>
              <a:xfrm rot="5400000">
                <a:off x="5570036" y="2426732"/>
                <a:ext cx="1447800" cy="685800"/>
              </a:xfrm>
              <a:prstGeom prst="curvedConnector4">
                <a:avLst>
                  <a:gd name="adj1" fmla="val 3466"/>
                  <a:gd name="adj2" fmla="val 102439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58777" y="1893332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7" name="TextBox 36"/>
              <p:cNvSpPr txBox="1"/>
              <p:nvPr/>
            </p:nvSpPr>
            <p:spPr>
              <a:xfrm>
                <a:off x="6322906" y="1969532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7031148" y="1143000"/>
                <a:ext cx="284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7467600" y="1828800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</p:grpSp>
        <p:cxnSp>
          <p:nvCxnSpPr>
            <p:cNvPr id="47" name="Curved Connector 46"/>
            <p:cNvCxnSpPr>
              <a:endCxn id="26" idx="2"/>
            </p:cNvCxnSpPr>
            <p:nvPr/>
          </p:nvCxnSpPr>
          <p:spPr>
            <a:xfrm rot="16200000" flipV="1">
              <a:off x="6029776" y="2652792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Straight Arrow Connector 63"/>
          <p:cNvCxnSpPr/>
          <p:nvPr/>
        </p:nvCxnSpPr>
        <p:spPr>
          <a:xfrm flipH="1">
            <a:off x="6326459" y="20574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7010400" y="1327666"/>
            <a:ext cx="429867" cy="641866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 flipV="1">
            <a:off x="6705600" y="1981200"/>
            <a:ext cx="668062" cy="762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ight Arrow 68"/>
          <p:cNvSpPr/>
          <p:nvPr/>
        </p:nvSpPr>
        <p:spPr>
          <a:xfrm rot="1556459">
            <a:off x="6078795" y="2329336"/>
            <a:ext cx="268608" cy="305997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827106" y="1512332"/>
            <a:ext cx="3733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637263" y="1928335"/>
            <a:ext cx="2821804" cy="3299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1828800" y="3180781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1466385" y="5257800"/>
            <a:ext cx="2505226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4459394" y="4889810"/>
            <a:ext cx="168121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5F3A75-3316-2FCE-AC9B-BD0F4A40D9BA}"/>
              </a:ext>
            </a:extLst>
          </p:cNvPr>
          <p:cNvSpPr/>
          <p:nvPr/>
        </p:nvSpPr>
        <p:spPr>
          <a:xfrm>
            <a:off x="2702476" y="3589351"/>
            <a:ext cx="2032286" cy="4597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CB194B-CA7A-D906-6F59-C1C3920015ED}"/>
              </a:ext>
            </a:extLst>
          </p:cNvPr>
          <p:cNvSpPr/>
          <p:nvPr/>
        </p:nvSpPr>
        <p:spPr>
          <a:xfrm>
            <a:off x="2911712" y="4909066"/>
            <a:ext cx="2895600" cy="413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D6670-28D7-DEC9-ED81-3A5CB8752CA3}"/>
              </a:ext>
            </a:extLst>
          </p:cNvPr>
          <p:cNvSpPr/>
          <p:nvPr/>
        </p:nvSpPr>
        <p:spPr>
          <a:xfrm>
            <a:off x="3973469" y="5225689"/>
            <a:ext cx="1748966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loud Callout 1">
                <a:extLst>
                  <a:ext uri="{FF2B5EF4-FFF2-40B4-BE49-F238E27FC236}">
                    <a16:creationId xmlns:a16="http://schemas.microsoft.com/office/drawing/2014/main" id="{AC86EB7A-BD13-6325-94FC-6E9FA0F71907}"/>
                  </a:ext>
                </a:extLst>
              </p:cNvPr>
              <p:cNvSpPr/>
              <p:nvPr/>
            </p:nvSpPr>
            <p:spPr>
              <a:xfrm>
                <a:off x="2856323" y="4999390"/>
                <a:ext cx="3200400" cy="1295400"/>
              </a:xfrm>
              <a:prstGeom prst="cloudCallout">
                <a:avLst>
                  <a:gd name="adj1" fmla="val 21397"/>
                  <a:gd name="adj2" fmla="val 82484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If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is not the vertex that starts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DFS</a:t>
                </a:r>
                <a:r>
                  <a:rPr lang="en-US" sz="1600" dirty="0">
                    <a:solidFill>
                      <a:schemeClr val="tx1"/>
                    </a:solidFill>
                  </a:rPr>
                  <a:t>, how does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DFS</a:t>
                </a:r>
                <a:r>
                  <a:rPr lang="en-US" sz="16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</a:t>
                </a:r>
                <a:r>
                  <a:rPr lang="en-US" sz="1600" dirty="0"/>
                  <a:t> 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behave ?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loud Callout 1">
                <a:extLst>
                  <a:ext uri="{FF2B5EF4-FFF2-40B4-BE49-F238E27FC236}">
                    <a16:creationId xmlns:a16="http://schemas.microsoft.com/office/drawing/2014/main" id="{AC86EB7A-BD13-6325-94FC-6E9FA0F71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323" y="4999390"/>
                <a:ext cx="3200400" cy="1295400"/>
              </a:xfrm>
              <a:prstGeom prst="cloudCallout">
                <a:avLst>
                  <a:gd name="adj1" fmla="val 21397"/>
                  <a:gd name="adj2" fmla="val 82484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6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75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5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0" dur="1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5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uiExpand="1" build="p"/>
      <p:bldP spid="69" grpId="0" animBg="1"/>
      <p:bldP spid="67" grpId="0" animBg="1"/>
      <p:bldP spid="68" grpId="0" animBg="1"/>
      <p:bldP spid="72" grpId="0" animBg="1"/>
      <p:bldP spid="73" grpId="0" animBg="1"/>
      <p:bldP spid="74" grpId="0" animBg="1"/>
      <p:bldP spid="3" grpId="0" animBg="1"/>
      <p:bldP spid="4" grpId="0" animBg="1"/>
      <p:bldP spid="5" grpId="0" animBg="1"/>
      <p:bldP spid="2" grpId="0" animBg="1"/>
      <p:bldP spid="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753F-2096-843F-A76E-9B52E37D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6C26AA-E75B-E8DF-E3BF-9F6270452E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6D36529-EB7E-CB92-D7C8-D0A2A5CAB3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1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Proof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We show that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Focus on the </a:t>
                </a:r>
                <a:r>
                  <a:rPr lang="en-US" sz="2000" u="sng" dirty="0"/>
                  <a:t>first vertex</a:t>
                </a:r>
                <a:r>
                  <a:rPr lang="en-US" sz="2000" dirty="0"/>
                  <a:t> visited after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Use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three Observations</a:t>
                </a:r>
              </a:p>
              <a:p>
                <a:r>
                  <a:rPr lang="en-US" sz="2000" dirty="0"/>
                  <a:t>Induction on number of vertices in graph.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6D36529-EB7E-CB92-D7C8-D0A2A5CAB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 l="-741" t="-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D7859479-4083-BE12-7AFD-2C146FF814BD}"/>
              </a:ext>
            </a:extLst>
          </p:cNvPr>
          <p:cNvGrpSpPr/>
          <p:nvPr/>
        </p:nvGrpSpPr>
        <p:grpSpPr>
          <a:xfrm>
            <a:off x="5560906" y="2133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DE840BE6-C045-1152-1EA1-A0E837D37340}"/>
                </a:ext>
              </a:extLst>
            </p:cNvPr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9C70076-652A-2DBE-7176-C4BB4122612F}"/>
                </a:ext>
              </a:extLst>
            </p:cNvPr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>
                <a:extLst>
                  <a:ext uri="{FF2B5EF4-FFF2-40B4-BE49-F238E27FC236}">
                    <a16:creationId xmlns:a16="http://schemas.microsoft.com/office/drawing/2014/main" id="{201E1A62-5032-9B2E-EF8C-B2CC7CCE53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>
                <a:extLst>
                  <a:ext uri="{FF2B5EF4-FFF2-40B4-BE49-F238E27FC236}">
                    <a16:creationId xmlns:a16="http://schemas.microsoft.com/office/drawing/2014/main" id="{B92E37B4-32D4-9F6D-C28F-075E03D610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0E12804A-3E21-8C5D-ACD8-E6CF73AA9D1D}"/>
                </a:ext>
              </a:extLst>
            </p:cNvPr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3FF2FEC3-4AE2-65C8-01FB-63BC5DB0826A}"/>
                </a:ext>
              </a:extLst>
            </p:cNvPr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98C10EDB-73EE-1CA1-AB00-EF0267CD53F2}"/>
                </a:ext>
              </a:extLst>
            </p:cNvPr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D177D945-8525-3C5D-A606-C32ADD2AAB58}"/>
                </a:ext>
              </a:extLst>
            </p:cNvPr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B50003AB-914F-0634-8BB4-7B3F63F24C48}"/>
                </a:ext>
              </a:extLst>
            </p:cNvPr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BE53392A-E1DC-3DA9-E181-4BCC87445602}"/>
                </a:ext>
              </a:extLst>
            </p:cNvPr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4BDEF5E7-5C22-30AF-6ED3-EED55F0EF5E5}"/>
                </a:ext>
              </a:extLst>
            </p:cNvPr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>
              <a:extLst>
                <a:ext uri="{FF2B5EF4-FFF2-40B4-BE49-F238E27FC236}">
                  <a16:creationId xmlns:a16="http://schemas.microsoft.com/office/drawing/2014/main" id="{330BA311-FD29-60FD-133B-C89132AA04C0}"/>
                </a:ext>
              </a:extLst>
            </p:cNvPr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02CC5C70-298E-464B-65AB-BDC493D5E4D0}"/>
                </a:ext>
              </a:extLst>
            </p:cNvPr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BFB11343-2597-FC3F-BA8E-697E1CB5941A}"/>
                </a:ext>
              </a:extLst>
            </p:cNvPr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D2CFD6C4-1391-4DF8-734C-39428DB43ADA}"/>
                </a:ext>
              </a:extLst>
            </p:cNvPr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>
              <a:extLst>
                <a:ext uri="{FF2B5EF4-FFF2-40B4-BE49-F238E27FC236}">
                  <a16:creationId xmlns:a16="http://schemas.microsoft.com/office/drawing/2014/main" id="{CFAD68E3-9094-BE2B-B237-6AA2270034FD}"/>
                </a:ext>
              </a:extLst>
            </p:cNvPr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5992288-D2E5-A3B0-6305-45CC392C3C51}"/>
                </a:ext>
              </a:extLst>
            </p:cNvPr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A4A2FDD8-5C39-3123-E032-EB5EF302F595}"/>
                </a:ext>
              </a:extLst>
            </p:cNvPr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1B776FBD-820F-69E6-A55A-6C6004AE64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64B471AD-F3D7-1BFC-26B6-F6AAD15B00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>
              <a:extLst>
                <a:ext uri="{FF2B5EF4-FFF2-40B4-BE49-F238E27FC236}">
                  <a16:creationId xmlns:a16="http://schemas.microsoft.com/office/drawing/2014/main" id="{F960AAFE-02AE-3397-52AF-B90C5AFB2D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>
              <a:extLst>
                <a:ext uri="{FF2B5EF4-FFF2-40B4-BE49-F238E27FC236}">
                  <a16:creationId xmlns:a16="http://schemas.microsoft.com/office/drawing/2014/main" id="{6BE78A29-793F-BA12-5230-868276A9F6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>
              <a:extLst>
                <a:ext uri="{FF2B5EF4-FFF2-40B4-BE49-F238E27FC236}">
                  <a16:creationId xmlns:a16="http://schemas.microsoft.com/office/drawing/2014/main" id="{6FB2DA93-D77B-ED69-94AD-B00E5A7423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>
              <a:extLst>
                <a:ext uri="{FF2B5EF4-FFF2-40B4-BE49-F238E27FC236}">
                  <a16:creationId xmlns:a16="http://schemas.microsoft.com/office/drawing/2014/main" id="{FCEA40C2-307F-A710-D57E-7D7E41EA1A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>
              <a:extLst>
                <a:ext uri="{FF2B5EF4-FFF2-40B4-BE49-F238E27FC236}">
                  <a16:creationId xmlns:a16="http://schemas.microsoft.com/office/drawing/2014/main" id="{F71ED5ED-25C4-0E4D-1A1D-692801F965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>
              <a:extLst>
                <a:ext uri="{FF2B5EF4-FFF2-40B4-BE49-F238E27FC236}">
                  <a16:creationId xmlns:a16="http://schemas.microsoft.com/office/drawing/2014/main" id="{3FBD62B2-31DF-53DE-B5DC-676DE04B53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>
              <a:extLst>
                <a:ext uri="{FF2B5EF4-FFF2-40B4-BE49-F238E27FC236}">
                  <a16:creationId xmlns:a16="http://schemas.microsoft.com/office/drawing/2014/main" id="{E6B60735-CA25-CE15-DFA8-F74F435DAE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555E132C-D7FD-089D-340D-8F34272AB946}"/>
                </a:ext>
              </a:extLst>
            </p:cNvPr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C7B2E105-7D25-93CF-FC5A-82CC8F7D1D48}"/>
                </a:ext>
              </a:extLst>
            </p:cNvPr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5290A42-975D-35A2-F62B-EC8AFD5196EF}"/>
                </a:ext>
              </a:extLst>
            </p:cNvPr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A7DD3F03-F14F-1B0A-6F13-A90192879092}"/>
                </a:ext>
              </a:extLst>
            </p:cNvPr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60605962-15E8-DA4C-88C1-58EAD7874503}"/>
                </a:ext>
              </a:extLst>
            </p:cNvPr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5AFE10D-8B21-A39A-2ED5-11D9F6D8DF64}"/>
                </a:ext>
              </a:extLst>
            </p:cNvPr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CE0FBF7E-D046-B1B9-2F24-0867BA9045B9}"/>
                </a:ext>
              </a:extLst>
            </p:cNvPr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9025B60-CBB3-FD3C-252A-3A4A1B98E554}"/>
                </a:ext>
              </a:extLst>
            </p:cNvPr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ACB842C-5108-482D-60A5-055B7EE552D6}"/>
                </a:ext>
              </a:extLst>
            </p:cNvPr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6C10BC7-D420-185E-A69D-2E11E641A312}"/>
                </a:ext>
              </a:extLst>
            </p:cNvPr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6BCDA9B-C34E-1589-4B61-88B94864A1B0}"/>
                </a:ext>
              </a:extLst>
            </p:cNvPr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885223B-73BB-D1FB-3376-4EB0F4FDC629}"/>
                </a:ext>
              </a:extLst>
            </p:cNvPr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>
              <a:extLst>
                <a:ext uri="{FF2B5EF4-FFF2-40B4-BE49-F238E27FC236}">
                  <a16:creationId xmlns:a16="http://schemas.microsoft.com/office/drawing/2014/main" id="{161651A7-CEE9-C8A2-E3A0-FA9CA0A73417}"/>
                </a:ext>
              </a:extLst>
            </p:cNvPr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ight Arrow 74">
            <a:extLst>
              <a:ext uri="{FF2B5EF4-FFF2-40B4-BE49-F238E27FC236}">
                <a16:creationId xmlns:a16="http://schemas.microsoft.com/office/drawing/2014/main" id="{3C29A2B3-C5A2-94A2-30B5-86460EBC6416}"/>
              </a:ext>
            </a:extLst>
          </p:cNvPr>
          <p:cNvSpPr/>
          <p:nvPr/>
        </p:nvSpPr>
        <p:spPr>
          <a:xfrm rot="1556459">
            <a:off x="6304500" y="2702705"/>
            <a:ext cx="279303" cy="272272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D8D089-EEF3-C563-FA02-79D2D9612610}"/>
              </a:ext>
            </a:extLst>
          </p:cNvPr>
          <p:cNvSpPr/>
          <p:nvPr/>
        </p:nvSpPr>
        <p:spPr>
          <a:xfrm>
            <a:off x="3581400" y="1828800"/>
            <a:ext cx="2830553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5B4BB5-A0D6-53D3-15BA-A12F5272D1A7}"/>
              </a:ext>
            </a:extLst>
          </p:cNvPr>
          <p:cNvSpPr/>
          <p:nvPr/>
        </p:nvSpPr>
        <p:spPr>
          <a:xfrm>
            <a:off x="1522141" y="1136520"/>
            <a:ext cx="4811753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4B93DF-F06D-543E-6F5B-B6D77FCE1F3E}"/>
              </a:ext>
            </a:extLst>
          </p:cNvPr>
          <p:cNvSpPr/>
          <p:nvPr/>
        </p:nvSpPr>
        <p:spPr>
          <a:xfrm>
            <a:off x="2918875" y="1096040"/>
            <a:ext cx="4811753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E3898-606B-1961-14BA-EB29B2BCA776}"/>
              </a:ext>
            </a:extLst>
          </p:cNvPr>
          <p:cNvSpPr txBox="1"/>
          <p:nvPr/>
        </p:nvSpPr>
        <p:spPr>
          <a:xfrm>
            <a:off x="609600" y="5867400"/>
            <a:ext cx="6645409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Homework:</a:t>
            </a:r>
            <a:r>
              <a:rPr lang="en-US" dirty="0"/>
              <a:t> Attempt the proof with these hints. </a:t>
            </a:r>
          </a:p>
          <a:p>
            <a:r>
              <a:rPr lang="en-US" dirty="0"/>
              <a:t>The proof is given on the following slides appended after the lecture.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31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1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2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25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25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/>
      <p:bldP spid="6" grpId="1" uiExpand="1" build="p"/>
      <p:bldP spid="75" grpId="0" animBg="1"/>
      <p:bldP spid="46" grpId="0" animBg="1"/>
      <p:bldP spid="47" grpId="0" animBg="1"/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1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Proof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We show that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Based on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three Observations</a:t>
                </a:r>
              </a:p>
              <a:p>
                <a:r>
                  <a:rPr lang="en-US" sz="2000" dirty="0"/>
                  <a:t>Induction on number of vertices in graph.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Focus on the </a:t>
                </a:r>
                <a:r>
                  <a:rPr lang="en-US" sz="2000" u="sng" dirty="0"/>
                  <a:t>first vertex</a:t>
                </a:r>
                <a:r>
                  <a:rPr lang="en-US" sz="2000" dirty="0"/>
                  <a:t> visited after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Case 1</a:t>
                </a:r>
                <a:r>
                  <a:rPr lang="en-US" sz="2000" dirty="0"/>
                  <a:t>: </a:t>
                </a:r>
                <a:r>
                  <a:rPr lang="en-US" sz="1800" dirty="0"/>
                  <a:t>that vertex has a path to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1800" dirty="0"/>
                  <a:t>\{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}.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 l="-772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/>
          <p:cNvGrpSpPr/>
          <p:nvPr/>
        </p:nvGrpSpPr>
        <p:grpSpPr>
          <a:xfrm>
            <a:off x="6970486" y="2198132"/>
            <a:ext cx="568587" cy="914400"/>
            <a:chOff x="2398486" y="685800"/>
            <a:chExt cx="568587" cy="914400"/>
          </a:xfrm>
        </p:grpSpPr>
        <p:pic>
          <p:nvPicPr>
            <p:cNvPr id="12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86" y="685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956" y="1447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30" name="Straight Arrow Connector 129"/>
          <p:cNvCxnSpPr/>
          <p:nvPr/>
        </p:nvCxnSpPr>
        <p:spPr>
          <a:xfrm>
            <a:off x="7048545" y="2350532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4" idx="2"/>
            <a:endCxn id="126" idx="0"/>
          </p:cNvCxnSpPr>
          <p:nvPr/>
        </p:nvCxnSpPr>
        <p:spPr>
          <a:xfrm flipH="1">
            <a:off x="6029095" y="3722132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4" idx="2"/>
            <a:endCxn id="127" idx="0"/>
          </p:cNvCxnSpPr>
          <p:nvPr/>
        </p:nvCxnSpPr>
        <p:spPr>
          <a:xfrm>
            <a:off x="6333895" y="3722132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26" idx="2"/>
            <a:endCxn id="129" idx="0"/>
          </p:cNvCxnSpPr>
          <p:nvPr/>
        </p:nvCxnSpPr>
        <p:spPr>
          <a:xfrm flipH="1">
            <a:off x="5800495" y="4560332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125" idx="0"/>
          </p:cNvCxnSpPr>
          <p:nvPr/>
        </p:nvCxnSpPr>
        <p:spPr>
          <a:xfrm>
            <a:off x="7461015" y="3112532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7" idx="1"/>
            <a:endCxn id="129" idx="3"/>
          </p:cNvCxnSpPr>
          <p:nvPr/>
        </p:nvCxnSpPr>
        <p:spPr>
          <a:xfrm flipH="1">
            <a:off x="5878553" y="4484132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27" idx="2"/>
            <a:endCxn id="145" idx="0"/>
          </p:cNvCxnSpPr>
          <p:nvPr/>
        </p:nvCxnSpPr>
        <p:spPr>
          <a:xfrm>
            <a:off x="6799881" y="4560332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6" y="3569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22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436" y="5169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519" y="5093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" name="TextBox 168"/>
          <p:cNvSpPr txBox="1"/>
          <p:nvPr/>
        </p:nvSpPr>
        <p:spPr>
          <a:xfrm>
            <a:off x="7031148" y="21336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467600" y="28194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569138" y="50292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37106" y="4267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560906" y="51816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35738" y="342900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162800" y="3493532"/>
            <a:ext cx="990600" cy="1359932"/>
            <a:chOff x="7162800" y="3493532"/>
            <a:chExt cx="990600" cy="1359932"/>
          </a:xfrm>
        </p:grpSpPr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3658942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3735142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35827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4484132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4484132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34935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4419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sp>
        <p:nvSpPr>
          <p:cNvPr id="188" name="TextBox 187"/>
          <p:cNvSpPr txBox="1"/>
          <p:nvPr/>
        </p:nvSpPr>
        <p:spPr>
          <a:xfrm>
            <a:off x="6477000" y="4267200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42" name="Curved Connector 141"/>
          <p:cNvCxnSpPr>
            <a:stCxn id="122" idx="2"/>
            <a:endCxn id="126" idx="1"/>
          </p:cNvCxnSpPr>
          <p:nvPr/>
        </p:nvCxnSpPr>
        <p:spPr>
          <a:xfrm rot="5400000">
            <a:off x="5570036" y="3417332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endCxn id="122" idx="0"/>
          </p:cNvCxnSpPr>
          <p:nvPr/>
        </p:nvCxnSpPr>
        <p:spPr>
          <a:xfrm flipH="1">
            <a:off x="6636836" y="2350532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25" idx="1"/>
          </p:cNvCxnSpPr>
          <p:nvPr/>
        </p:nvCxnSpPr>
        <p:spPr>
          <a:xfrm>
            <a:off x="6636836" y="3036332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/>
          <p:cNvCxnSpPr>
            <a:stCxn id="129" idx="1"/>
            <a:endCxn id="122" idx="1"/>
          </p:cNvCxnSpPr>
          <p:nvPr/>
        </p:nvCxnSpPr>
        <p:spPr>
          <a:xfrm rot="10800000" flipH="1">
            <a:off x="5722435" y="2960132"/>
            <a:ext cx="836341" cy="2286000"/>
          </a:xfrm>
          <a:prstGeom prst="curvedConnector3">
            <a:avLst>
              <a:gd name="adj1" fmla="val -11133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22" idx="3"/>
          </p:cNvCxnSpPr>
          <p:nvPr/>
        </p:nvCxnSpPr>
        <p:spPr>
          <a:xfrm flipH="1" flipV="1">
            <a:off x="6714894" y="2960132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777" y="2883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Curved Connector 6"/>
          <p:cNvCxnSpPr>
            <a:endCxn id="122" idx="2"/>
          </p:cNvCxnSpPr>
          <p:nvPr/>
        </p:nvCxnSpPr>
        <p:spPr>
          <a:xfrm rot="16200000" flipV="1">
            <a:off x="6029776" y="3643392"/>
            <a:ext cx="1359932" cy="145812"/>
          </a:xfrm>
          <a:prstGeom prst="curved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ight Arrow 74"/>
          <p:cNvSpPr/>
          <p:nvPr/>
        </p:nvSpPr>
        <p:spPr>
          <a:xfrm rot="1556459">
            <a:off x="6304500" y="2702705"/>
            <a:ext cx="279303" cy="272272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322906" y="2971800"/>
            <a:ext cx="313930" cy="609600"/>
            <a:chOff x="6322906" y="2960132"/>
            <a:chExt cx="313930" cy="609600"/>
          </a:xfrm>
        </p:grpSpPr>
        <p:sp>
          <p:nvSpPr>
            <p:cNvPr id="95" name="TextBox 94"/>
            <p:cNvSpPr txBox="1"/>
            <p:nvPr/>
          </p:nvSpPr>
          <p:spPr>
            <a:xfrm>
              <a:off x="6322906" y="29601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>
              <a:off x="6333895" y="30363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BB7214-00FF-A3F5-FB9B-99ACCBB25ED9}"/>
              </a:ext>
            </a:extLst>
          </p:cNvPr>
          <p:cNvCxnSpPr/>
          <p:nvPr/>
        </p:nvCxnSpPr>
        <p:spPr>
          <a:xfrm flipH="1">
            <a:off x="6324600" y="30480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36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1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Proof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We show that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Based on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three Observations</a:t>
                </a:r>
              </a:p>
              <a:p>
                <a:r>
                  <a:rPr lang="en-US" sz="2000" dirty="0"/>
                  <a:t>Induction on number of vertices in graph.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Focus on the </a:t>
                </a:r>
                <a:r>
                  <a:rPr lang="en-US" sz="2000" u="sng" dirty="0"/>
                  <a:t>first vertex</a:t>
                </a:r>
                <a:r>
                  <a:rPr lang="en-US" sz="2000" dirty="0"/>
                  <a:t> visited after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Case 1</a:t>
                </a:r>
                <a:r>
                  <a:rPr lang="en-US" sz="2000" dirty="0"/>
                  <a:t>: </a:t>
                </a:r>
                <a:r>
                  <a:rPr lang="en-US" sz="1800" dirty="0"/>
                  <a:t>that vertex has a path to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1800" dirty="0"/>
                  <a:t>\{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}.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 l="-772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/>
          <p:cNvGrpSpPr/>
          <p:nvPr/>
        </p:nvGrpSpPr>
        <p:grpSpPr>
          <a:xfrm>
            <a:off x="6970486" y="2198132"/>
            <a:ext cx="568587" cy="914400"/>
            <a:chOff x="2398486" y="685800"/>
            <a:chExt cx="568587" cy="914400"/>
          </a:xfrm>
        </p:grpSpPr>
        <p:pic>
          <p:nvPicPr>
            <p:cNvPr id="12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86" y="685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956" y="1447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30" name="Straight Arrow Connector 129"/>
          <p:cNvCxnSpPr/>
          <p:nvPr/>
        </p:nvCxnSpPr>
        <p:spPr>
          <a:xfrm>
            <a:off x="7048545" y="2350532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4" idx="2"/>
            <a:endCxn id="126" idx="0"/>
          </p:cNvCxnSpPr>
          <p:nvPr/>
        </p:nvCxnSpPr>
        <p:spPr>
          <a:xfrm flipH="1">
            <a:off x="6029095" y="3722132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4" idx="2"/>
            <a:endCxn id="127" idx="0"/>
          </p:cNvCxnSpPr>
          <p:nvPr/>
        </p:nvCxnSpPr>
        <p:spPr>
          <a:xfrm>
            <a:off x="6333895" y="3722132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26" idx="2"/>
            <a:endCxn id="129" idx="0"/>
          </p:cNvCxnSpPr>
          <p:nvPr/>
        </p:nvCxnSpPr>
        <p:spPr>
          <a:xfrm flipH="1">
            <a:off x="5800495" y="4560332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125" idx="0"/>
          </p:cNvCxnSpPr>
          <p:nvPr/>
        </p:nvCxnSpPr>
        <p:spPr>
          <a:xfrm>
            <a:off x="7461015" y="3112532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7" idx="1"/>
            <a:endCxn id="129" idx="3"/>
          </p:cNvCxnSpPr>
          <p:nvPr/>
        </p:nvCxnSpPr>
        <p:spPr>
          <a:xfrm flipH="1">
            <a:off x="5878553" y="4484132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27" idx="2"/>
            <a:endCxn id="145" idx="0"/>
          </p:cNvCxnSpPr>
          <p:nvPr/>
        </p:nvCxnSpPr>
        <p:spPr>
          <a:xfrm>
            <a:off x="6799881" y="4560332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6" y="3569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22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436" y="5169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519" y="5093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" name="TextBox 168"/>
          <p:cNvSpPr txBox="1"/>
          <p:nvPr/>
        </p:nvSpPr>
        <p:spPr>
          <a:xfrm>
            <a:off x="7031148" y="21336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467600" y="28194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569138" y="50292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37106" y="4267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560906" y="51816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35738" y="342900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162800" y="3493532"/>
            <a:ext cx="990600" cy="1359932"/>
            <a:chOff x="7162800" y="3493532"/>
            <a:chExt cx="990600" cy="1359932"/>
          </a:xfrm>
        </p:grpSpPr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3658942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3735142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35827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4484132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4484132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34935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4419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sp>
        <p:nvSpPr>
          <p:cNvPr id="188" name="TextBox 187"/>
          <p:cNvSpPr txBox="1"/>
          <p:nvPr/>
        </p:nvSpPr>
        <p:spPr>
          <a:xfrm>
            <a:off x="6477000" y="4267200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42" name="Curved Connector 141"/>
          <p:cNvCxnSpPr>
            <a:stCxn id="122" idx="2"/>
            <a:endCxn id="126" idx="1"/>
          </p:cNvCxnSpPr>
          <p:nvPr/>
        </p:nvCxnSpPr>
        <p:spPr>
          <a:xfrm rot="5400000">
            <a:off x="5570036" y="3417332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endCxn id="122" idx="0"/>
          </p:cNvCxnSpPr>
          <p:nvPr/>
        </p:nvCxnSpPr>
        <p:spPr>
          <a:xfrm flipH="1">
            <a:off x="6636836" y="2350532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25" idx="1"/>
          </p:cNvCxnSpPr>
          <p:nvPr/>
        </p:nvCxnSpPr>
        <p:spPr>
          <a:xfrm>
            <a:off x="6636836" y="3036332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/>
          <p:cNvCxnSpPr>
            <a:stCxn id="129" idx="1"/>
            <a:endCxn id="122" idx="1"/>
          </p:cNvCxnSpPr>
          <p:nvPr/>
        </p:nvCxnSpPr>
        <p:spPr>
          <a:xfrm rot="10800000" flipH="1">
            <a:off x="5722435" y="2960132"/>
            <a:ext cx="836341" cy="2286000"/>
          </a:xfrm>
          <a:prstGeom prst="curvedConnector3">
            <a:avLst>
              <a:gd name="adj1" fmla="val -11133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22" idx="3"/>
          </p:cNvCxnSpPr>
          <p:nvPr/>
        </p:nvCxnSpPr>
        <p:spPr>
          <a:xfrm flipH="1" flipV="1">
            <a:off x="6714894" y="2960132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777" y="2883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Curved Connector 6"/>
          <p:cNvCxnSpPr>
            <a:endCxn id="122" idx="2"/>
          </p:cNvCxnSpPr>
          <p:nvPr/>
        </p:nvCxnSpPr>
        <p:spPr>
          <a:xfrm rot="16200000" flipV="1">
            <a:off x="6029776" y="3643392"/>
            <a:ext cx="1359932" cy="145812"/>
          </a:xfrm>
          <a:prstGeom prst="curved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ight Arrow 74"/>
          <p:cNvSpPr/>
          <p:nvPr/>
        </p:nvSpPr>
        <p:spPr>
          <a:xfrm rot="1556459">
            <a:off x="5862792" y="3395010"/>
            <a:ext cx="279303" cy="272272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322906" y="2971800"/>
            <a:ext cx="313930" cy="609600"/>
            <a:chOff x="6322906" y="2960132"/>
            <a:chExt cx="313930" cy="609600"/>
          </a:xfrm>
        </p:grpSpPr>
        <p:sp>
          <p:nvSpPr>
            <p:cNvPr id="95" name="TextBox 94"/>
            <p:cNvSpPr txBox="1"/>
            <p:nvPr/>
          </p:nvSpPr>
          <p:spPr>
            <a:xfrm>
              <a:off x="6322906" y="29601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>
              <a:off x="6333895" y="30363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BB7214-00FF-A3F5-FB9B-99ACCBB25ED9}"/>
              </a:ext>
            </a:extLst>
          </p:cNvPr>
          <p:cNvCxnSpPr/>
          <p:nvPr/>
        </p:nvCxnSpPr>
        <p:spPr>
          <a:xfrm flipH="1">
            <a:off x="6324600" y="30480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748246-2FB8-8E80-D1C7-C3CEE5E1A5ED}"/>
              </a:ext>
            </a:extLst>
          </p:cNvPr>
          <p:cNvSpPr txBox="1"/>
          <p:nvPr/>
        </p:nvSpPr>
        <p:spPr>
          <a:xfrm>
            <a:off x="457200" y="4419600"/>
            <a:ext cx="2255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(use </a:t>
            </a:r>
            <a:r>
              <a:rPr lang="en-US" sz="2000" b="1" dirty="0">
                <a:solidFill>
                  <a:srgbClr val="7030A0"/>
                </a:solidFill>
              </a:rPr>
              <a:t>Observation </a:t>
            </a:r>
            <a:r>
              <a:rPr lang="en-US" sz="2000" b="1" dirty="0">
                <a:solidFill>
                  <a:srgbClr val="0070C0"/>
                </a:solidFill>
              </a:rPr>
              <a:t>3</a:t>
            </a:r>
            <a:r>
              <a:rPr lang="en-US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AEFE48-57FA-BA7A-E1B6-6A17E0D350BF}"/>
                  </a:ext>
                </a:extLst>
              </p:cNvPr>
              <p:cNvSpPr txBox="1"/>
              <p:nvPr/>
            </p:nvSpPr>
            <p:spPr>
              <a:xfrm>
                <a:off x="4984902" y="5571219"/>
                <a:ext cx="3704732" cy="92333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There is a path from s to v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1800" dirty="0"/>
                  <a:t>\{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}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graph has n-1 vertices.</a:t>
                </a:r>
              </a:p>
              <a:p>
                <a:r>
                  <a:rPr lang="en-US" dirty="0"/>
                  <a:t>So using I.H. </a:t>
                </a:r>
                <a:r>
                  <a:rPr lang="en-US" b="1" dirty="0"/>
                  <a:t>DFS</a:t>
                </a:r>
                <a:r>
                  <a:rPr lang="en-US" dirty="0"/>
                  <a:t>(s) is bound to visit v.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AEFE48-57FA-BA7A-E1B6-6A17E0D35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902" y="5571219"/>
                <a:ext cx="3704732" cy="923330"/>
              </a:xfrm>
              <a:prstGeom prst="rect">
                <a:avLst/>
              </a:prstGeom>
              <a:blipFill>
                <a:blip r:embed="rId5"/>
                <a:stretch>
                  <a:fillRect l="-1370" t="-2703" r="-685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loud Callout 10">
            <a:extLst>
              <a:ext uri="{FF2B5EF4-FFF2-40B4-BE49-F238E27FC236}">
                <a16:creationId xmlns:a16="http://schemas.microsoft.com/office/drawing/2014/main" id="{0115D7E5-5115-42F0-C581-6C7AEE30F95F}"/>
              </a:ext>
            </a:extLst>
          </p:cNvPr>
          <p:cNvSpPr/>
          <p:nvPr/>
        </p:nvSpPr>
        <p:spPr>
          <a:xfrm>
            <a:off x="273324" y="5236906"/>
            <a:ext cx="3832651" cy="1295400"/>
          </a:xfrm>
          <a:prstGeom prst="cloudCallout">
            <a:avLst>
              <a:gd name="adj1" fmla="val -38485"/>
              <a:gd name="adj2" fmla="val 7299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can you show that v is visited in this case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77E9EF-5885-D558-CB80-907037486B36}"/>
              </a:ext>
            </a:extLst>
          </p:cNvPr>
          <p:cNvSpPr txBox="1"/>
          <p:nvPr/>
        </p:nvSpPr>
        <p:spPr>
          <a:xfrm>
            <a:off x="442839" y="4798820"/>
            <a:ext cx="936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Case 2</a:t>
            </a:r>
            <a:r>
              <a:rPr lang="en-US" sz="2000" dirty="0"/>
              <a:t>: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A9FF073-F94A-6E37-DFB3-D8EC1693986C}"/>
              </a:ext>
            </a:extLst>
          </p:cNvPr>
          <p:cNvSpPr/>
          <p:nvPr/>
        </p:nvSpPr>
        <p:spPr>
          <a:xfrm>
            <a:off x="6266481" y="3752294"/>
            <a:ext cx="532525" cy="1350648"/>
          </a:xfrm>
          <a:custGeom>
            <a:avLst/>
            <a:gdLst>
              <a:gd name="connsiteX0" fmla="*/ 0 w 501445"/>
              <a:gd name="connsiteY0" fmla="*/ 0 h 1283110"/>
              <a:gd name="connsiteX1" fmla="*/ 398207 w 501445"/>
              <a:gd name="connsiteY1" fmla="*/ 604684 h 1283110"/>
              <a:gd name="connsiteX2" fmla="*/ 501445 w 501445"/>
              <a:gd name="connsiteY2" fmla="*/ 1283110 h 1283110"/>
              <a:gd name="connsiteX3" fmla="*/ 501445 w 501445"/>
              <a:gd name="connsiteY3" fmla="*/ 1283110 h 128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45" h="1283110">
                <a:moveTo>
                  <a:pt x="0" y="0"/>
                </a:moveTo>
                <a:cubicBezTo>
                  <a:pt x="157316" y="195416"/>
                  <a:pt x="314633" y="390832"/>
                  <a:pt x="398207" y="604684"/>
                </a:cubicBezTo>
                <a:cubicBezTo>
                  <a:pt x="481781" y="818536"/>
                  <a:pt x="501445" y="1283110"/>
                  <a:pt x="501445" y="1283110"/>
                </a:cubicBezTo>
                <a:lnTo>
                  <a:pt x="501445" y="1283110"/>
                </a:lnTo>
              </a:path>
            </a:pathLst>
          </a:cu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33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0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uiExpand="1" build="allAtOnce" animBg="1"/>
      <p:bldP spid="9" grpId="1" uiExpand="1" build="allAtOnce" animBg="1"/>
      <p:bldP spid="11" grpId="0" animBg="1"/>
      <p:bldP spid="11" grpId="1" animBg="1"/>
      <p:bldP spid="12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1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Proof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We show that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Based on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three Observations</a:t>
                </a:r>
              </a:p>
              <a:p>
                <a:r>
                  <a:rPr lang="en-US" sz="2000" dirty="0"/>
                  <a:t>Induction on number of vertices in graph.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Focus on the </a:t>
                </a:r>
                <a:r>
                  <a:rPr lang="en-US" sz="2000" u="sng" dirty="0"/>
                  <a:t>first vertex</a:t>
                </a:r>
                <a:r>
                  <a:rPr lang="en-US" sz="2000" dirty="0"/>
                  <a:t> visited after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Case 1</a:t>
                </a:r>
                <a:r>
                  <a:rPr lang="en-US" sz="2000" dirty="0"/>
                  <a:t>: </a:t>
                </a:r>
                <a:r>
                  <a:rPr lang="en-US" sz="1800" dirty="0"/>
                  <a:t>that vertex has a path to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1800" dirty="0"/>
                  <a:t>\{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}.</a:t>
                </a:r>
              </a:p>
              <a:p>
                <a:pPr marL="0" indent="0">
                  <a:buNone/>
                </a:pPr>
                <a:r>
                  <a:rPr lang="en-US" sz="2000" dirty="0"/>
                  <a:t>(use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Observation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3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Case 2</a:t>
                </a:r>
                <a:r>
                  <a:rPr lang="en-US" sz="2000" dirty="0"/>
                  <a:t>: </a:t>
                </a:r>
                <a:r>
                  <a:rPr lang="en-US" sz="1800" dirty="0"/>
                  <a:t>that vertex has no path to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1800" dirty="0"/>
                  <a:t>\{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}.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 l="-772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/>
          <p:cNvGrpSpPr/>
          <p:nvPr/>
        </p:nvGrpSpPr>
        <p:grpSpPr>
          <a:xfrm>
            <a:off x="6970486" y="2198132"/>
            <a:ext cx="568587" cy="914400"/>
            <a:chOff x="2398486" y="685800"/>
            <a:chExt cx="568587" cy="914400"/>
          </a:xfrm>
        </p:grpSpPr>
        <p:pic>
          <p:nvPicPr>
            <p:cNvPr id="12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86" y="685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956" y="1447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30" name="Straight Arrow Connector 129"/>
          <p:cNvCxnSpPr/>
          <p:nvPr/>
        </p:nvCxnSpPr>
        <p:spPr>
          <a:xfrm>
            <a:off x="7048545" y="2350532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4" idx="2"/>
            <a:endCxn id="126" idx="0"/>
          </p:cNvCxnSpPr>
          <p:nvPr/>
        </p:nvCxnSpPr>
        <p:spPr>
          <a:xfrm flipH="1">
            <a:off x="6029095" y="3722132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4" idx="2"/>
            <a:endCxn id="127" idx="0"/>
          </p:cNvCxnSpPr>
          <p:nvPr/>
        </p:nvCxnSpPr>
        <p:spPr>
          <a:xfrm>
            <a:off x="6333895" y="3722132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26" idx="2"/>
            <a:endCxn id="129" idx="0"/>
          </p:cNvCxnSpPr>
          <p:nvPr/>
        </p:nvCxnSpPr>
        <p:spPr>
          <a:xfrm flipH="1">
            <a:off x="5800495" y="4560332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125" idx="0"/>
          </p:cNvCxnSpPr>
          <p:nvPr/>
        </p:nvCxnSpPr>
        <p:spPr>
          <a:xfrm>
            <a:off x="7461015" y="3112532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7" idx="1"/>
            <a:endCxn id="129" idx="3"/>
          </p:cNvCxnSpPr>
          <p:nvPr/>
        </p:nvCxnSpPr>
        <p:spPr>
          <a:xfrm flipH="1">
            <a:off x="5878553" y="4484132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27" idx="2"/>
            <a:endCxn id="145" idx="0"/>
          </p:cNvCxnSpPr>
          <p:nvPr/>
        </p:nvCxnSpPr>
        <p:spPr>
          <a:xfrm>
            <a:off x="6799881" y="4560332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6" y="3569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22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436" y="5169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519" y="5093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" name="TextBox 168"/>
          <p:cNvSpPr txBox="1"/>
          <p:nvPr/>
        </p:nvSpPr>
        <p:spPr>
          <a:xfrm>
            <a:off x="7031148" y="21336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467600" y="28194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569138" y="50292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37106" y="4267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560906" y="51816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35738" y="342900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162800" y="3493532"/>
            <a:ext cx="990600" cy="1359932"/>
            <a:chOff x="7162800" y="3493532"/>
            <a:chExt cx="990600" cy="1359932"/>
          </a:xfrm>
        </p:grpSpPr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3658942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3735142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35827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4484132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4484132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34935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4419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sp>
        <p:nvSpPr>
          <p:cNvPr id="188" name="TextBox 187"/>
          <p:cNvSpPr txBox="1"/>
          <p:nvPr/>
        </p:nvSpPr>
        <p:spPr>
          <a:xfrm>
            <a:off x="6477000" y="4267200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42" name="Curved Connector 141"/>
          <p:cNvCxnSpPr>
            <a:stCxn id="122" idx="2"/>
            <a:endCxn id="126" idx="1"/>
          </p:cNvCxnSpPr>
          <p:nvPr/>
        </p:nvCxnSpPr>
        <p:spPr>
          <a:xfrm rot="5400000">
            <a:off x="5570036" y="3417332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endCxn id="122" idx="0"/>
          </p:cNvCxnSpPr>
          <p:nvPr/>
        </p:nvCxnSpPr>
        <p:spPr>
          <a:xfrm flipH="1">
            <a:off x="6636836" y="2350532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25" idx="1"/>
          </p:cNvCxnSpPr>
          <p:nvPr/>
        </p:nvCxnSpPr>
        <p:spPr>
          <a:xfrm>
            <a:off x="6636836" y="3036332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/>
          <p:cNvCxnSpPr>
            <a:stCxn id="129" idx="1"/>
            <a:endCxn id="122" idx="1"/>
          </p:cNvCxnSpPr>
          <p:nvPr/>
        </p:nvCxnSpPr>
        <p:spPr>
          <a:xfrm rot="10800000" flipH="1">
            <a:off x="5722435" y="2960132"/>
            <a:ext cx="836341" cy="2286000"/>
          </a:xfrm>
          <a:prstGeom prst="curvedConnector3">
            <a:avLst>
              <a:gd name="adj1" fmla="val -11133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22" idx="3"/>
          </p:cNvCxnSpPr>
          <p:nvPr/>
        </p:nvCxnSpPr>
        <p:spPr>
          <a:xfrm flipH="1" flipV="1">
            <a:off x="6714894" y="2960132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777" y="2883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Curved Connector 6"/>
          <p:cNvCxnSpPr>
            <a:endCxn id="122" idx="2"/>
          </p:cNvCxnSpPr>
          <p:nvPr/>
        </p:nvCxnSpPr>
        <p:spPr>
          <a:xfrm rot="16200000" flipV="1">
            <a:off x="6029776" y="3643392"/>
            <a:ext cx="1359932" cy="145812"/>
          </a:xfrm>
          <a:prstGeom prst="curved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ight Arrow 74"/>
          <p:cNvSpPr/>
          <p:nvPr/>
        </p:nvSpPr>
        <p:spPr>
          <a:xfrm rot="1556459">
            <a:off x="6304500" y="2702705"/>
            <a:ext cx="279303" cy="272272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322906" y="2960132"/>
            <a:ext cx="313930" cy="609600"/>
            <a:chOff x="6322906" y="2960132"/>
            <a:chExt cx="313930" cy="609600"/>
          </a:xfrm>
        </p:grpSpPr>
        <p:sp>
          <p:nvSpPr>
            <p:cNvPr id="95" name="TextBox 94"/>
            <p:cNvSpPr txBox="1"/>
            <p:nvPr/>
          </p:nvSpPr>
          <p:spPr>
            <a:xfrm>
              <a:off x="6322906" y="29601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>
              <a:off x="6333895" y="30363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Arrow Connector 48"/>
          <p:cNvCxnSpPr/>
          <p:nvPr/>
        </p:nvCxnSpPr>
        <p:spPr>
          <a:xfrm>
            <a:off x="6636836" y="3048000"/>
            <a:ext cx="823419" cy="62261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310267" y="4800600"/>
            <a:ext cx="3566533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1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1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Proof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We show that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Based on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three Observations</a:t>
                </a:r>
              </a:p>
              <a:p>
                <a:r>
                  <a:rPr lang="en-US" sz="2000" dirty="0"/>
                  <a:t>Induction on number of vertices in graph.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Focus on the </a:t>
                </a:r>
                <a:r>
                  <a:rPr lang="en-US" sz="2000" u="sng" dirty="0"/>
                  <a:t>first vertex</a:t>
                </a:r>
                <a:r>
                  <a:rPr lang="en-US" sz="2000" dirty="0"/>
                  <a:t> visited after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Case 1</a:t>
                </a:r>
                <a:r>
                  <a:rPr lang="en-US" sz="2000" dirty="0"/>
                  <a:t>: </a:t>
                </a:r>
                <a:r>
                  <a:rPr lang="en-US" sz="1800" dirty="0"/>
                  <a:t>that vertex has a path to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1800" dirty="0"/>
                  <a:t>\{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}.</a:t>
                </a:r>
              </a:p>
              <a:p>
                <a:pPr marL="0" indent="0">
                  <a:buNone/>
                </a:pPr>
                <a:r>
                  <a:rPr lang="en-US" sz="2000" dirty="0"/>
                  <a:t>(use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Observation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3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Case 2</a:t>
                </a:r>
                <a:r>
                  <a:rPr lang="en-US" sz="2000" dirty="0"/>
                  <a:t>: </a:t>
                </a:r>
                <a:r>
                  <a:rPr lang="en-US" sz="1800" dirty="0"/>
                  <a:t>that vertex has no path to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1800" dirty="0"/>
                  <a:t>\{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}.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 l="-772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/>
          <p:cNvGrpSpPr/>
          <p:nvPr/>
        </p:nvGrpSpPr>
        <p:grpSpPr>
          <a:xfrm>
            <a:off x="6970486" y="2198132"/>
            <a:ext cx="568587" cy="914400"/>
            <a:chOff x="2398486" y="685800"/>
            <a:chExt cx="568587" cy="914400"/>
          </a:xfrm>
        </p:grpSpPr>
        <p:pic>
          <p:nvPicPr>
            <p:cNvPr id="12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86" y="685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956" y="1447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30" name="Straight Arrow Connector 129"/>
          <p:cNvCxnSpPr/>
          <p:nvPr/>
        </p:nvCxnSpPr>
        <p:spPr>
          <a:xfrm>
            <a:off x="7048545" y="2350532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4" idx="2"/>
            <a:endCxn id="126" idx="0"/>
          </p:cNvCxnSpPr>
          <p:nvPr/>
        </p:nvCxnSpPr>
        <p:spPr>
          <a:xfrm flipH="1">
            <a:off x="6029095" y="3722132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4" idx="2"/>
            <a:endCxn id="127" idx="0"/>
          </p:cNvCxnSpPr>
          <p:nvPr/>
        </p:nvCxnSpPr>
        <p:spPr>
          <a:xfrm>
            <a:off x="6333895" y="3722132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26" idx="2"/>
            <a:endCxn id="129" idx="0"/>
          </p:cNvCxnSpPr>
          <p:nvPr/>
        </p:nvCxnSpPr>
        <p:spPr>
          <a:xfrm flipH="1">
            <a:off x="5800495" y="4560332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125" idx="0"/>
          </p:cNvCxnSpPr>
          <p:nvPr/>
        </p:nvCxnSpPr>
        <p:spPr>
          <a:xfrm>
            <a:off x="7461015" y="3112532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7" idx="1"/>
            <a:endCxn id="129" idx="3"/>
          </p:cNvCxnSpPr>
          <p:nvPr/>
        </p:nvCxnSpPr>
        <p:spPr>
          <a:xfrm flipH="1">
            <a:off x="5878553" y="4484132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27" idx="2"/>
            <a:endCxn id="145" idx="0"/>
          </p:cNvCxnSpPr>
          <p:nvPr/>
        </p:nvCxnSpPr>
        <p:spPr>
          <a:xfrm>
            <a:off x="6799881" y="4560332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6" y="3569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22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436" y="5169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519" y="5093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" name="TextBox 168"/>
          <p:cNvSpPr txBox="1"/>
          <p:nvPr/>
        </p:nvSpPr>
        <p:spPr>
          <a:xfrm>
            <a:off x="7031148" y="21336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467600" y="28194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569138" y="50292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37106" y="4267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560906" y="51816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35738" y="342900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162800" y="3493532"/>
            <a:ext cx="990600" cy="1359932"/>
            <a:chOff x="7162800" y="3493532"/>
            <a:chExt cx="990600" cy="1359932"/>
          </a:xfrm>
        </p:grpSpPr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3658942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3735142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35827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4484132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4484132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34935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4419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sp>
        <p:nvSpPr>
          <p:cNvPr id="188" name="TextBox 187"/>
          <p:cNvSpPr txBox="1"/>
          <p:nvPr/>
        </p:nvSpPr>
        <p:spPr>
          <a:xfrm>
            <a:off x="6477000" y="4267200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42" name="Curved Connector 141"/>
          <p:cNvCxnSpPr>
            <a:stCxn id="122" idx="2"/>
            <a:endCxn id="126" idx="1"/>
          </p:cNvCxnSpPr>
          <p:nvPr/>
        </p:nvCxnSpPr>
        <p:spPr>
          <a:xfrm rot="5400000">
            <a:off x="5570036" y="3417332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endCxn id="122" idx="0"/>
          </p:cNvCxnSpPr>
          <p:nvPr/>
        </p:nvCxnSpPr>
        <p:spPr>
          <a:xfrm flipH="1">
            <a:off x="6636836" y="2350532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25" idx="1"/>
          </p:cNvCxnSpPr>
          <p:nvPr/>
        </p:nvCxnSpPr>
        <p:spPr>
          <a:xfrm>
            <a:off x="6636836" y="3036332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/>
          <p:cNvCxnSpPr>
            <a:stCxn id="129" idx="1"/>
            <a:endCxn id="122" idx="1"/>
          </p:cNvCxnSpPr>
          <p:nvPr/>
        </p:nvCxnSpPr>
        <p:spPr>
          <a:xfrm rot="10800000" flipH="1">
            <a:off x="5722435" y="2960132"/>
            <a:ext cx="836341" cy="2286000"/>
          </a:xfrm>
          <a:prstGeom prst="curvedConnector3">
            <a:avLst>
              <a:gd name="adj1" fmla="val -11133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22" idx="3"/>
          </p:cNvCxnSpPr>
          <p:nvPr/>
        </p:nvCxnSpPr>
        <p:spPr>
          <a:xfrm flipH="1" flipV="1">
            <a:off x="6714894" y="2960132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777" y="2883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Curved Connector 6"/>
          <p:cNvCxnSpPr>
            <a:endCxn id="122" idx="2"/>
          </p:cNvCxnSpPr>
          <p:nvPr/>
        </p:nvCxnSpPr>
        <p:spPr>
          <a:xfrm rot="16200000" flipV="1">
            <a:off x="6029776" y="3643392"/>
            <a:ext cx="1359932" cy="145812"/>
          </a:xfrm>
          <a:prstGeom prst="curved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6322906" y="2960132"/>
            <a:ext cx="313930" cy="609600"/>
            <a:chOff x="6322906" y="2960132"/>
            <a:chExt cx="313930" cy="609600"/>
          </a:xfrm>
        </p:grpSpPr>
        <p:sp>
          <p:nvSpPr>
            <p:cNvPr id="95" name="TextBox 94"/>
            <p:cNvSpPr txBox="1"/>
            <p:nvPr/>
          </p:nvSpPr>
          <p:spPr>
            <a:xfrm>
              <a:off x="6322906" y="29601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>
              <a:off x="6333895" y="30363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Arrow Connector 48"/>
          <p:cNvCxnSpPr/>
          <p:nvPr/>
        </p:nvCxnSpPr>
        <p:spPr>
          <a:xfrm>
            <a:off x="6636836" y="3048000"/>
            <a:ext cx="823419" cy="62261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ight Arrow 74"/>
          <p:cNvSpPr/>
          <p:nvPr/>
        </p:nvSpPr>
        <p:spPr>
          <a:xfrm rot="1556459">
            <a:off x="7208282" y="3414154"/>
            <a:ext cx="279303" cy="272272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Callout 7">
            <a:extLst>
              <a:ext uri="{FF2B5EF4-FFF2-40B4-BE49-F238E27FC236}">
                <a16:creationId xmlns:a16="http://schemas.microsoft.com/office/drawing/2014/main" id="{2F334B96-298F-98BF-8DCC-6E0AE959B4DC}"/>
              </a:ext>
            </a:extLst>
          </p:cNvPr>
          <p:cNvSpPr/>
          <p:nvPr/>
        </p:nvSpPr>
        <p:spPr>
          <a:xfrm>
            <a:off x="427703" y="5487022"/>
            <a:ext cx="3975721" cy="1295400"/>
          </a:xfrm>
          <a:prstGeom prst="cloudCallout">
            <a:avLst>
              <a:gd name="adj1" fmla="val -45964"/>
              <a:gd name="adj2" fmla="val 5591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can you show that v is visited in this case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E6247-EF5F-906C-E0A1-3E924DC474C2}"/>
              </a:ext>
            </a:extLst>
          </p:cNvPr>
          <p:cNvSpPr txBox="1"/>
          <p:nvPr/>
        </p:nvSpPr>
        <p:spPr>
          <a:xfrm>
            <a:off x="403621" y="5149602"/>
            <a:ext cx="314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(use </a:t>
            </a:r>
            <a:r>
              <a:rPr lang="en-US" sz="2000" b="1" dirty="0">
                <a:solidFill>
                  <a:srgbClr val="7030A0"/>
                </a:solidFill>
              </a:rPr>
              <a:t>Observation </a:t>
            </a:r>
            <a:r>
              <a:rPr lang="en-US" sz="2000" b="1" dirty="0">
                <a:solidFill>
                  <a:srgbClr val="0070C0"/>
                </a:solidFill>
              </a:rPr>
              <a:t>1 ,2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0070C0"/>
                </a:solidFill>
              </a:rPr>
              <a:t>3</a:t>
            </a:r>
            <a:r>
              <a:rPr lang="en-US" sz="2000" dirty="0"/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602B28-8685-3496-8AD6-1DC08AEF86EE}"/>
              </a:ext>
            </a:extLst>
          </p:cNvPr>
          <p:cNvCxnSpPr>
            <a:cxnSpLocks/>
            <a:stCxn id="125" idx="2"/>
          </p:cNvCxnSpPr>
          <p:nvPr/>
        </p:nvCxnSpPr>
        <p:spPr>
          <a:xfrm>
            <a:off x="7538314" y="3735142"/>
            <a:ext cx="367739" cy="715962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18C09F-3665-1DF7-1C7C-6EF36545D389}"/>
              </a:ext>
            </a:extLst>
          </p:cNvPr>
          <p:cNvCxnSpPr>
            <a:cxnSpLocks/>
            <a:endCxn id="187" idx="0"/>
          </p:cNvCxnSpPr>
          <p:nvPr/>
        </p:nvCxnSpPr>
        <p:spPr>
          <a:xfrm flipH="1" flipV="1">
            <a:off x="7295208" y="4484132"/>
            <a:ext cx="568521" cy="9498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C21BBC-AB01-6C1B-E4BB-9F9BBB31E01B}"/>
                  </a:ext>
                </a:extLst>
              </p:cNvPr>
              <p:cNvSpPr txBox="1"/>
              <p:nvPr/>
            </p:nvSpPr>
            <p:spPr>
              <a:xfrm>
                <a:off x="4984902" y="5571219"/>
                <a:ext cx="3841244" cy="92333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There is a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 to v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G</a:t>
                </a:r>
                <a:r>
                  <a:rPr lang="en-US" sz="1800" dirty="0"/>
                  <a:t>\{</a:t>
                </a:r>
                <a:r>
                  <a:rPr lang="en-US" sz="1800" dirty="0" err="1"/>
                  <a:t>q,p</a:t>
                </a:r>
                <a:r>
                  <a:rPr lang="en-US" dirty="0" err="1"/>
                  <a:t>,r</a:t>
                </a:r>
                <a:r>
                  <a:rPr lang="en-US" sz="1800" dirty="0"/>
                  <a:t>}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graph has n-3 vertices.</a:t>
                </a:r>
              </a:p>
              <a:p>
                <a:r>
                  <a:rPr lang="en-US" dirty="0"/>
                  <a:t>So using I.H. </a:t>
                </a:r>
                <a:r>
                  <a:rPr lang="en-US" b="1" dirty="0"/>
                  <a:t>DFS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) is bound to visit v.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C21BBC-AB01-6C1B-E4BB-9F9BBB31E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902" y="5571219"/>
                <a:ext cx="3841244" cy="923330"/>
              </a:xfrm>
              <a:prstGeom prst="rect">
                <a:avLst/>
              </a:prstGeom>
              <a:blipFill>
                <a:blip r:embed="rId5"/>
                <a:stretch>
                  <a:fillRect l="-1316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>
            <a:extLst>
              <a:ext uri="{FF2B5EF4-FFF2-40B4-BE49-F238E27FC236}">
                <a16:creationId xmlns:a16="http://schemas.microsoft.com/office/drawing/2014/main" id="{6FC35516-2039-08F5-0E9F-3A149AF8ADAB}"/>
              </a:ext>
            </a:extLst>
          </p:cNvPr>
          <p:cNvSpPr/>
          <p:nvPr/>
        </p:nvSpPr>
        <p:spPr>
          <a:xfrm rot="1556459">
            <a:off x="7650784" y="4215037"/>
            <a:ext cx="279303" cy="272272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D53120A0-3107-BED5-C4BD-22DB86C53FC1}"/>
              </a:ext>
            </a:extLst>
          </p:cNvPr>
          <p:cNvSpPr/>
          <p:nvPr/>
        </p:nvSpPr>
        <p:spPr>
          <a:xfrm rot="1556459">
            <a:off x="7022137" y="4248655"/>
            <a:ext cx="279303" cy="272272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C1452A6-4212-7B5E-3460-6522F2380A7A}"/>
              </a:ext>
            </a:extLst>
          </p:cNvPr>
          <p:cNvSpPr/>
          <p:nvPr/>
        </p:nvSpPr>
        <p:spPr>
          <a:xfrm>
            <a:off x="6171692" y="2993923"/>
            <a:ext cx="590732" cy="2138516"/>
          </a:xfrm>
          <a:custGeom>
            <a:avLst/>
            <a:gdLst>
              <a:gd name="connsiteX0" fmla="*/ 406089 w 590732"/>
              <a:gd name="connsiteY0" fmla="*/ 0 h 2138516"/>
              <a:gd name="connsiteX1" fmla="*/ 22631 w 590732"/>
              <a:gd name="connsiteY1" fmla="*/ 693174 h 2138516"/>
              <a:gd name="connsiteX2" fmla="*/ 96373 w 590732"/>
              <a:gd name="connsiteY2" fmla="*/ 914400 h 2138516"/>
              <a:gd name="connsiteX3" fmla="*/ 524076 w 590732"/>
              <a:gd name="connsiteY3" fmla="*/ 1592825 h 2138516"/>
              <a:gd name="connsiteX4" fmla="*/ 583069 w 590732"/>
              <a:gd name="connsiteY4" fmla="*/ 2138516 h 213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732" h="2138516">
                <a:moveTo>
                  <a:pt x="406089" y="0"/>
                </a:moveTo>
                <a:cubicBezTo>
                  <a:pt x="240169" y="270387"/>
                  <a:pt x="74250" y="540774"/>
                  <a:pt x="22631" y="693174"/>
                </a:cubicBezTo>
                <a:cubicBezTo>
                  <a:pt x="-28988" y="845574"/>
                  <a:pt x="12799" y="764458"/>
                  <a:pt x="96373" y="914400"/>
                </a:cubicBezTo>
                <a:cubicBezTo>
                  <a:pt x="179947" y="1064342"/>
                  <a:pt x="442960" y="1388806"/>
                  <a:pt x="524076" y="1592825"/>
                </a:cubicBezTo>
                <a:cubicBezTo>
                  <a:pt x="605192" y="1796844"/>
                  <a:pt x="594130" y="1967680"/>
                  <a:pt x="583069" y="2138516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72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514 0.01782 0.09028 0.03542 0.07743 0 C 0.06441 -0.03542 -0.0066 -0.12407 -0.07743 -0.21273 " pathEditMode="relative" ptsTypes="AAA">
                                      <p:cBhvr>
                                        <p:cTn id="4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8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8" grpId="0" animBg="1"/>
      <p:bldP spid="8" grpId="1" animBg="1"/>
      <p:bldP spid="9" grpId="0"/>
      <p:bldP spid="17" grpId="0" uiExpand="1" build="allAtOnce" animBg="1"/>
      <p:bldP spid="17" grpId="1" uiExpand="1" build="allAtOnce" animBg="1"/>
      <p:bldP spid="18" grpId="0" animBg="1"/>
      <p:bldP spid="18" grpId="1" animBg="1"/>
      <p:bldP spid="19" grpId="0" animBg="1"/>
      <p:bldP spid="19" grpId="1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1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Application 1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Computing reachability from all vertices in graph  </a:t>
                </a:r>
              </a:p>
              <a:p>
                <a:r>
                  <a:rPr lang="en-US" sz="2000" dirty="0"/>
                  <a:t>It suffices to execute fresh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from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1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Down Ribbon 3"/>
              <p:cNvSpPr/>
              <p:nvPr/>
            </p:nvSpPr>
            <p:spPr>
              <a:xfrm>
                <a:off x="2895600" y="3819962"/>
                <a:ext cx="3124200" cy="904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 O(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time algorithm</a:t>
                </a:r>
              </a:p>
            </p:txBody>
          </p:sp>
        </mc:Choice>
        <mc:Fallback xmlns="">
          <p:sp>
            <p:nvSpPr>
              <p:cNvPr id="4" name="Down Ribbon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3819962"/>
                <a:ext cx="3124200" cy="904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 b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02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>
              <a:xfrm>
                <a:off x="722313" y="1828800"/>
                <a:ext cx="7772400" cy="1362075"/>
              </a:xfrm>
            </p:spPr>
            <p:txBody>
              <a:bodyPr>
                <a:normAutofit/>
              </a:bodyPr>
              <a:lstStyle/>
              <a:p>
                <a:pPr algn="ctr"/>
                <a:br>
                  <a:rPr lang="en-US" sz="3200" dirty="0">
                    <a:solidFill>
                      <a:srgbClr val="7030A0"/>
                    </a:solidFill>
                  </a:rPr>
                </a:br>
                <a:r>
                  <a:rPr lang="en-US" sz="3200" dirty="0">
                    <a:solidFill>
                      <a:srgbClr val="7030A0"/>
                    </a:solidFill>
                  </a:rPr>
                  <a:t>More insights </a:t>
                </a:r>
                <a:r>
                  <a:rPr lang="en-US" sz="3200" dirty="0"/>
                  <a:t>ABOUT </a:t>
                </a:r>
                <a:r>
                  <a:rPr lang="en-US" sz="3600" dirty="0"/>
                  <a:t>DFS</a:t>
                </a:r>
                <a:r>
                  <a:rPr lang="en-US" sz="3600" b="0" dirty="0"/>
                  <a:t>(</a:t>
                </a: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3600" b="0" dirty="0"/>
                  <a:t>)</a:t>
                </a:r>
                <a:r>
                  <a:rPr lang="en-US" sz="36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2313" y="1828800"/>
                <a:ext cx="7772400" cy="1362075"/>
              </a:xfrm>
              <a:blipFill rotWithShape="1">
                <a:blip r:embed="rId2"/>
                <a:stretch>
                  <a:fillRect t="-5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2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351106" y="2133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ight Arrow 74"/>
          <p:cNvSpPr/>
          <p:nvPr/>
        </p:nvSpPr>
        <p:spPr>
          <a:xfrm rot="1556459">
            <a:off x="4187713" y="268128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4114800" y="30480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810000" y="37338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581400" y="45720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114800" y="3733800"/>
            <a:ext cx="465986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584503" y="4572000"/>
            <a:ext cx="63697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ight Arrow 50"/>
          <p:cNvSpPr/>
          <p:nvPr/>
        </p:nvSpPr>
        <p:spPr>
          <a:xfrm rot="1556459">
            <a:off x="3864284" y="33025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/>
          <p:cNvSpPr/>
          <p:nvPr/>
        </p:nvSpPr>
        <p:spPr>
          <a:xfrm rot="1556459">
            <a:off x="3559484" y="415472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/>
          <p:cNvSpPr/>
          <p:nvPr/>
        </p:nvSpPr>
        <p:spPr>
          <a:xfrm rot="1556459">
            <a:off x="3330884" y="49789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556459">
            <a:off x="3559484" y="41407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1556459">
            <a:off x="3864284" y="33025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Arrow 55"/>
          <p:cNvSpPr/>
          <p:nvPr/>
        </p:nvSpPr>
        <p:spPr>
          <a:xfrm rot="1556459">
            <a:off x="4321484" y="41407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/>
          <p:cNvSpPr/>
          <p:nvPr/>
        </p:nvSpPr>
        <p:spPr>
          <a:xfrm rot="1556459">
            <a:off x="4397684" y="49027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/>
          <p:cNvSpPr/>
          <p:nvPr/>
        </p:nvSpPr>
        <p:spPr>
          <a:xfrm rot="1556459">
            <a:off x="4326491" y="41407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/>
          <p:cNvSpPr/>
          <p:nvPr/>
        </p:nvSpPr>
        <p:spPr>
          <a:xfrm rot="1556459">
            <a:off x="3869291" y="33025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0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5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351106" y="2133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ight Arrow 74"/>
          <p:cNvSpPr/>
          <p:nvPr/>
        </p:nvSpPr>
        <p:spPr>
          <a:xfrm rot="1556459">
            <a:off x="4187713" y="268128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4114800" y="30480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810000" y="37338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581400" y="45720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114800" y="3733800"/>
            <a:ext cx="465986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584503" y="4572000"/>
            <a:ext cx="63697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434381" y="3048000"/>
            <a:ext cx="823419" cy="62261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ight Arrow 60"/>
          <p:cNvSpPr/>
          <p:nvPr/>
        </p:nvSpPr>
        <p:spPr>
          <a:xfrm rot="1556459">
            <a:off x="5088491" y="33025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Arrow 61"/>
          <p:cNvSpPr/>
          <p:nvPr/>
        </p:nvSpPr>
        <p:spPr>
          <a:xfrm rot="1556459">
            <a:off x="5464484" y="423092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5334000" y="3733800"/>
            <a:ext cx="384628" cy="67279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5181600" y="4495800"/>
            <a:ext cx="443088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ight Arrow 64"/>
          <p:cNvSpPr/>
          <p:nvPr/>
        </p:nvSpPr>
        <p:spPr>
          <a:xfrm rot="1556459">
            <a:off x="4854884" y="423092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Arrow 65"/>
          <p:cNvSpPr/>
          <p:nvPr/>
        </p:nvSpPr>
        <p:spPr>
          <a:xfrm rot="1556459">
            <a:off x="5469491" y="423092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ight Arrow 66"/>
          <p:cNvSpPr/>
          <p:nvPr/>
        </p:nvSpPr>
        <p:spPr>
          <a:xfrm rot="1556459">
            <a:off x="5088491" y="33025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Arrow 67"/>
          <p:cNvSpPr/>
          <p:nvPr/>
        </p:nvSpPr>
        <p:spPr>
          <a:xfrm rot="1556459">
            <a:off x="4174091" y="270692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5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5" grpId="1" animBg="1"/>
      <p:bldP spid="61" grpId="0" animBg="1"/>
      <p:bldP spid="61" grpId="1" animBg="1"/>
      <p:bldP spid="62" grpId="0" animBg="1"/>
      <p:bldP spid="62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2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computes a tree on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1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Arrow Connector 131"/>
          <p:cNvCxnSpPr>
            <a:stCxn id="122" idx="2"/>
            <a:endCxn id="124" idx="0"/>
          </p:cNvCxnSpPr>
          <p:nvPr/>
        </p:nvCxnSpPr>
        <p:spPr>
          <a:xfrm flipH="1">
            <a:off x="4124095" y="3036332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4" idx="2"/>
            <a:endCxn id="126" idx="0"/>
          </p:cNvCxnSpPr>
          <p:nvPr/>
        </p:nvCxnSpPr>
        <p:spPr>
          <a:xfrm flipH="1">
            <a:off x="3819295" y="3722132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4" idx="2"/>
            <a:endCxn id="127" idx="0"/>
          </p:cNvCxnSpPr>
          <p:nvPr/>
        </p:nvCxnSpPr>
        <p:spPr>
          <a:xfrm>
            <a:off x="4124095" y="3722132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125" idx="2"/>
            <a:endCxn id="128" idx="0"/>
          </p:cNvCxnSpPr>
          <p:nvPr/>
        </p:nvCxnSpPr>
        <p:spPr>
          <a:xfrm>
            <a:off x="5328514" y="3735142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25" idx="1"/>
          </p:cNvCxnSpPr>
          <p:nvPr/>
        </p:nvCxnSpPr>
        <p:spPr>
          <a:xfrm>
            <a:off x="4427036" y="3036332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26" idx="2"/>
            <a:endCxn id="129" idx="0"/>
          </p:cNvCxnSpPr>
          <p:nvPr/>
        </p:nvCxnSpPr>
        <p:spPr>
          <a:xfrm flipH="1">
            <a:off x="3590695" y="4560332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125" idx="0"/>
          </p:cNvCxnSpPr>
          <p:nvPr/>
        </p:nvCxnSpPr>
        <p:spPr>
          <a:xfrm>
            <a:off x="5251215" y="3112532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27" idx="2"/>
            <a:endCxn id="145" idx="0"/>
          </p:cNvCxnSpPr>
          <p:nvPr/>
        </p:nvCxnSpPr>
        <p:spPr>
          <a:xfrm>
            <a:off x="4590081" y="4560332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977" y="2883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036" y="3569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455" y="358274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236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022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083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636" y="5169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878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719" y="5093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6" name="Straight Arrow Connector 145"/>
          <p:cNvCxnSpPr>
            <a:stCxn id="128" idx="1"/>
            <a:endCxn id="131" idx="3"/>
          </p:cNvCxnSpPr>
          <p:nvPr/>
        </p:nvCxnSpPr>
        <p:spPr>
          <a:xfrm flipH="1">
            <a:off x="5191995" y="4484132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4953000" y="448413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3106" y="29601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427036" y="2133600"/>
            <a:ext cx="1119626" cy="1055132"/>
            <a:chOff x="4427036" y="2133600"/>
            <a:chExt cx="1119626" cy="10551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4427036" y="2350532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4760686" y="2198132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4838745" y="2350532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4505094" y="2960132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/>
            <p:cNvSpPr txBox="1"/>
            <p:nvPr/>
          </p:nvSpPr>
          <p:spPr>
            <a:xfrm>
              <a:off x="4821348" y="213360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5257800" y="28194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4359338" y="50292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427306" y="4267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351106" y="51816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825938" y="342900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08506" y="34935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637106" y="4419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267200" y="4267200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512635" y="2960132"/>
            <a:ext cx="1737820" cy="2286000"/>
            <a:chOff x="3512635" y="2960132"/>
            <a:chExt cx="1737820" cy="2286000"/>
          </a:xfrm>
        </p:grpSpPr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5113937" y="3658942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3512635" y="2960132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3360236" y="3417332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3668753" y="4484132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3819976" y="3643392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/>
          <p:cNvCxnSpPr/>
          <p:nvPr/>
        </p:nvCxnSpPr>
        <p:spPr>
          <a:xfrm flipH="1">
            <a:off x="4114800" y="30480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810000" y="37338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581400" y="45720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114800" y="3733800"/>
            <a:ext cx="465986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584503" y="4572000"/>
            <a:ext cx="63697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434381" y="3048000"/>
            <a:ext cx="823419" cy="62261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5334000" y="3733800"/>
            <a:ext cx="384628" cy="67279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5181600" y="4495800"/>
            <a:ext cx="443088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632875" y="1143000"/>
            <a:ext cx="5987125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2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2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2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computes a tree on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Is the DFS tree unique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</a:t>
                </a:r>
                <a:r>
                  <a:rPr lang="en-US" sz="2000" dirty="0"/>
                  <a:t> No. But every tree is also </a:t>
                </a:r>
                <a:r>
                  <a:rPr lang="en-US" sz="2000" b="1" u="sng" dirty="0"/>
                  <a:t>not</a:t>
                </a:r>
                <a:r>
                  <a:rPr lang="en-US" sz="2000" dirty="0"/>
                  <a:t> a DFS tree.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1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3351106" y="2133600"/>
            <a:ext cx="2592494" cy="3417332"/>
            <a:chOff x="3351106" y="2133600"/>
            <a:chExt cx="2592494" cy="3417332"/>
          </a:xfrm>
        </p:grpSpPr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4124095" y="30363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3819295" y="37221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4124095" y="3722132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5328514" y="3735142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4427036" y="3036332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3590695" y="45603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5251215" y="3112532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4590081" y="4560332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883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0455" y="35827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022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5083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5169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5878" y="44079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5719" y="5093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5191995" y="4484132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4953000" y="4484132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113106" y="29601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4427036" y="2133600"/>
              <a:ext cx="1119626" cy="1055132"/>
              <a:chOff x="4427036" y="2133600"/>
              <a:chExt cx="1119626" cy="1055132"/>
            </a:xfrm>
          </p:grpSpPr>
          <p:cxnSp>
            <p:nvCxnSpPr>
              <p:cNvPr id="121" name="Straight Arrow Connector 120"/>
              <p:cNvCxnSpPr>
                <a:endCxn id="122" idx="0"/>
              </p:cNvCxnSpPr>
              <p:nvPr/>
            </p:nvCxnSpPr>
            <p:spPr>
              <a:xfrm flipH="1">
                <a:off x="4427036" y="2350532"/>
                <a:ext cx="411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Group 102"/>
              <p:cNvGrpSpPr/>
              <p:nvPr/>
            </p:nvGrpSpPr>
            <p:grpSpPr>
              <a:xfrm>
                <a:off x="4760686" y="2198132"/>
                <a:ext cx="568587" cy="914400"/>
                <a:chOff x="2398486" y="685800"/>
                <a:chExt cx="568587" cy="914400"/>
              </a:xfrm>
            </p:grpSpPr>
            <p:pic>
              <p:nvPicPr>
                <p:cNvPr id="120" name="Picture 2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398486" y="685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23" name="Picture 2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10956" y="1447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cxnSp>
            <p:nvCxnSpPr>
              <p:cNvPr id="130" name="Straight Arrow Connector 129"/>
              <p:cNvCxnSpPr/>
              <p:nvPr/>
            </p:nvCxnSpPr>
            <p:spPr>
              <a:xfrm>
                <a:off x="4838745" y="2350532"/>
                <a:ext cx="41247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>
                <a:endCxn id="122" idx="3"/>
              </p:cNvCxnSpPr>
              <p:nvPr/>
            </p:nvCxnSpPr>
            <p:spPr>
              <a:xfrm flipH="1" flipV="1">
                <a:off x="4505094" y="2960132"/>
                <a:ext cx="668062" cy="76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TextBox 168"/>
              <p:cNvSpPr txBox="1"/>
              <p:nvPr/>
            </p:nvSpPr>
            <p:spPr>
              <a:xfrm>
                <a:off x="4821348" y="2133600"/>
                <a:ext cx="284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72" name="TextBox 171"/>
              <p:cNvSpPr txBox="1"/>
              <p:nvPr/>
            </p:nvSpPr>
            <p:spPr>
              <a:xfrm>
                <a:off x="5257800" y="2819400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</p:grpSp>
        <p:sp>
          <p:nvSpPr>
            <p:cNvPr id="181" name="TextBox 180"/>
            <p:cNvSpPr txBox="1"/>
            <p:nvPr/>
          </p:nvSpPr>
          <p:spPr>
            <a:xfrm>
              <a:off x="4359338" y="50292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3427306" y="4267200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3351106" y="51816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3825938" y="3429000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5408506" y="349353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5637106" y="4419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4267200" y="4267200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3512635" y="2960132"/>
              <a:ext cx="1737820" cy="2286000"/>
              <a:chOff x="3512635" y="2960132"/>
              <a:chExt cx="1737820" cy="2286000"/>
            </a:xfrm>
          </p:grpSpPr>
          <p:cxnSp>
            <p:nvCxnSpPr>
              <p:cNvPr id="135" name="Straight Arrow Connector 134"/>
              <p:cNvCxnSpPr>
                <a:stCxn id="131" idx="0"/>
                <a:endCxn id="125" idx="1"/>
              </p:cNvCxnSpPr>
              <p:nvPr/>
            </p:nvCxnSpPr>
            <p:spPr>
              <a:xfrm flipV="1">
                <a:off x="5113937" y="3658942"/>
                <a:ext cx="136518" cy="7489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Curved Connector 137"/>
              <p:cNvCxnSpPr>
                <a:stCxn id="129" idx="1"/>
                <a:endCxn id="122" idx="1"/>
              </p:cNvCxnSpPr>
              <p:nvPr/>
            </p:nvCxnSpPr>
            <p:spPr>
              <a:xfrm rot="10800000" flipH="1">
                <a:off x="3512635" y="2960132"/>
                <a:ext cx="836341" cy="2286000"/>
              </a:xfrm>
              <a:prstGeom prst="curvedConnector3">
                <a:avLst>
                  <a:gd name="adj1" fmla="val -111333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Curved Connector 141"/>
              <p:cNvCxnSpPr>
                <a:stCxn id="122" idx="2"/>
                <a:endCxn id="126" idx="1"/>
              </p:cNvCxnSpPr>
              <p:nvPr/>
            </p:nvCxnSpPr>
            <p:spPr>
              <a:xfrm rot="5400000">
                <a:off x="3360236" y="3417332"/>
                <a:ext cx="1447800" cy="685800"/>
              </a:xfrm>
              <a:prstGeom prst="curvedConnector4">
                <a:avLst>
                  <a:gd name="adj1" fmla="val 3466"/>
                  <a:gd name="adj2" fmla="val 102439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>
                <a:stCxn id="127" idx="1"/>
                <a:endCxn id="129" idx="3"/>
              </p:cNvCxnSpPr>
              <p:nvPr/>
            </p:nvCxnSpPr>
            <p:spPr>
              <a:xfrm flipH="1">
                <a:off x="3668753" y="4484132"/>
                <a:ext cx="843269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urved Connector 6"/>
              <p:cNvCxnSpPr>
                <a:endCxn id="122" idx="2"/>
              </p:cNvCxnSpPr>
              <p:nvPr/>
            </p:nvCxnSpPr>
            <p:spPr>
              <a:xfrm rot="16200000" flipV="1">
                <a:off x="3819976" y="3643392"/>
                <a:ext cx="1359932" cy="145812"/>
              </a:xfrm>
              <a:prstGeom prst="curvedConnector3">
                <a:avLst>
                  <a:gd name="adj1" fmla="val 50000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" name="Straight Arrow Connector 54"/>
            <p:cNvCxnSpPr>
              <a:stCxn id="126" idx="3"/>
              <a:endCxn id="145" idx="0"/>
            </p:cNvCxnSpPr>
            <p:nvPr/>
          </p:nvCxnSpPr>
          <p:spPr>
            <a:xfrm>
              <a:off x="3897353" y="4484132"/>
              <a:ext cx="756425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/>
          <p:cNvCxnSpPr/>
          <p:nvPr/>
        </p:nvCxnSpPr>
        <p:spPr>
          <a:xfrm>
            <a:off x="4114800" y="3733800"/>
            <a:ext cx="465986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/>
          <p:cNvCxnSpPr/>
          <p:nvPr/>
        </p:nvCxnSpPr>
        <p:spPr>
          <a:xfrm rot="5400000">
            <a:off x="3352800" y="3429001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4584503" y="4572000"/>
            <a:ext cx="63697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4114800" y="30480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3581400" y="45720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4434381" y="3048000"/>
            <a:ext cx="823419" cy="62261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5334000" y="3733800"/>
            <a:ext cx="384628" cy="67279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5181600" y="4495800"/>
            <a:ext cx="443088" cy="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3810000" y="37338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3886200" y="4495800"/>
            <a:ext cx="756425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own Ribbon 11"/>
          <p:cNvSpPr/>
          <p:nvPr/>
        </p:nvSpPr>
        <p:spPr>
          <a:xfrm>
            <a:off x="6400800" y="3303033"/>
            <a:ext cx="2133600" cy="8031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Another DFS tree</a:t>
            </a:r>
          </a:p>
        </p:txBody>
      </p:sp>
      <p:sp>
        <p:nvSpPr>
          <p:cNvPr id="73" name="Down Ribbon 72"/>
          <p:cNvSpPr/>
          <p:nvPr/>
        </p:nvSpPr>
        <p:spPr>
          <a:xfrm>
            <a:off x="6324600" y="3303032"/>
            <a:ext cx="2133600" cy="929116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 a DFS tree. Can you explain it?</a:t>
            </a:r>
          </a:p>
        </p:txBody>
      </p:sp>
      <p:sp>
        <p:nvSpPr>
          <p:cNvPr id="13" name="Cloud Callout 12"/>
          <p:cNvSpPr/>
          <p:nvPr/>
        </p:nvSpPr>
        <p:spPr>
          <a:xfrm>
            <a:off x="5786883" y="4568543"/>
            <a:ext cx="3201340" cy="672790"/>
          </a:xfrm>
          <a:prstGeom prst="cloudCallout">
            <a:avLst>
              <a:gd name="adj1" fmla="val -53028"/>
              <a:gd name="adj2" fmla="val 8438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this a DFS tree ?</a:t>
            </a:r>
          </a:p>
        </p:txBody>
      </p:sp>
    </p:spTree>
    <p:extLst>
      <p:ext uri="{BB962C8B-B14F-4D97-AF65-F5344CB8AC3E}">
        <p14:creationId xmlns:p14="http://schemas.microsoft.com/office/powerpoint/2010/main" val="389985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2" grpId="0" animBg="1"/>
      <p:bldP spid="12" grpId="1" animBg="1"/>
      <p:bldP spid="73" grpId="0" animBg="1"/>
      <p:bldP spid="73" grpId="1" animBg="1"/>
      <p:bldP spid="13" grpId="0" animBg="1"/>
      <p:bldP spid="13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>
            <a:normAutofit/>
          </a:bodyPr>
          <a:lstStyle/>
          <a:p>
            <a:pPr algn="ctr"/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600" dirty="0">
                <a:solidFill>
                  <a:srgbClr val="7030A0"/>
                </a:solidFill>
              </a:rPr>
              <a:t>DEPTH FIRST SEARCH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For entire graph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b="-1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4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DFS on the graph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600200"/>
                <a:ext cx="4040188" cy="4648200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true;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++ 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dirty="0">
                    <a:sym typeface="Wingdings" pitchFamily="2" charset="2"/>
                  </a:rPr>
                  <a:t>…;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For</a:t>
                </a:r>
                <a:r>
                  <a:rPr lang="en-US" sz="2000" dirty="0">
                    <a:sym typeface="Wingdings" pitchFamily="2" charset="2"/>
                  </a:rPr>
                  <a:t> each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{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	   DFS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…;</a:t>
                </a: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600200"/>
                <a:ext cx="4040188" cy="4648200"/>
              </a:xfrm>
              <a:blipFill rotWithShape="1">
                <a:blip r:embed="rId3"/>
                <a:stretch>
                  <a:fillRect l="-1353" t="-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8200" y="2667000"/>
                <a:ext cx="4041775" cy="2971800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DFS-graph(G=(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0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>
                    <a:solidFill>
                      <a:srgbClr val="002060"/>
                    </a:solidFill>
                  </a:rPr>
                  <a:t>)){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2060"/>
                    </a:solidFill>
                  </a:rPr>
                  <a:t> 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]</a:t>
                </a:r>
                <a:r>
                  <a:rPr lang="en-US" sz="2000" dirty="0">
                    <a:sym typeface="Wingdings" pitchFamily="2" charset="2"/>
                  </a:rPr>
                  <a:t> false;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  1;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:r>
                  <a:rPr lang="en-US" sz="2000" b="1" dirty="0">
                    <a:sym typeface="Wingdings" pitchFamily="2" charset="2"/>
                  </a:rPr>
                  <a:t>For</a:t>
                </a:r>
                <a:r>
                  <a:rPr lang="en-US" sz="2000" dirty="0">
                    <a:sym typeface="Wingdings" pitchFamily="2" charset="2"/>
                  </a:rPr>
                  <a:t>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== false)  </a:t>
                </a:r>
                <a:r>
                  <a:rPr lang="en-US" sz="2000" dirty="0"/>
                  <a:t>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8200" y="2667000"/>
                <a:ext cx="4041775" cy="2971800"/>
              </a:xfrm>
              <a:blipFill rotWithShape="1">
                <a:blip r:embed="rId4"/>
                <a:stretch>
                  <a:fillRect l="-1504" t="-818" b="-28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21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uiExpand="1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/>
          <p:cNvGrpSpPr/>
          <p:nvPr/>
        </p:nvGrpSpPr>
        <p:grpSpPr>
          <a:xfrm>
            <a:off x="1752599" y="4594303"/>
            <a:ext cx="1146718" cy="1163444"/>
            <a:chOff x="6705599" y="2308303"/>
            <a:chExt cx="1146718" cy="1163444"/>
          </a:xfrm>
        </p:grpSpPr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73" name="Straight Arrow Connector 72"/>
          <p:cNvCxnSpPr/>
          <p:nvPr/>
        </p:nvCxnSpPr>
        <p:spPr>
          <a:xfrm flipH="1">
            <a:off x="1830658" y="47244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2821257" y="47987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1908717" y="46705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1908717" y="46705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Curved Connector 1042"/>
          <p:cNvCxnSpPr/>
          <p:nvPr/>
        </p:nvCxnSpPr>
        <p:spPr>
          <a:xfrm flipH="1" flipV="1">
            <a:off x="1901282" y="46342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20" idx="2"/>
            <a:endCxn id="122" idx="0"/>
          </p:cNvCxnSpPr>
          <p:nvPr/>
        </p:nvCxnSpPr>
        <p:spPr>
          <a:xfrm flipH="1">
            <a:off x="2064836" y="838200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2398486" y="685800"/>
            <a:ext cx="568587" cy="914400"/>
            <a:chOff x="2398486" y="685800"/>
            <a:chExt cx="568587" cy="914400"/>
          </a:xfrm>
        </p:grpSpPr>
        <p:pic>
          <p:nvPicPr>
            <p:cNvPr id="12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86" y="685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956" y="1447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30" name="Straight Arrow Connector 129"/>
          <p:cNvCxnSpPr>
            <a:stCxn id="120" idx="2"/>
            <a:endCxn id="123" idx="0"/>
          </p:cNvCxnSpPr>
          <p:nvPr/>
        </p:nvCxnSpPr>
        <p:spPr>
          <a:xfrm>
            <a:off x="2476545" y="838200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22" idx="2"/>
            <a:endCxn id="124" idx="0"/>
          </p:cNvCxnSpPr>
          <p:nvPr/>
        </p:nvCxnSpPr>
        <p:spPr>
          <a:xfrm flipH="1">
            <a:off x="1761895" y="1524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4" idx="2"/>
            <a:endCxn id="126" idx="0"/>
          </p:cNvCxnSpPr>
          <p:nvPr/>
        </p:nvCxnSpPr>
        <p:spPr>
          <a:xfrm flipH="1">
            <a:off x="1457095" y="2209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4" idx="2"/>
            <a:endCxn id="127" idx="0"/>
          </p:cNvCxnSpPr>
          <p:nvPr/>
        </p:nvCxnSpPr>
        <p:spPr>
          <a:xfrm>
            <a:off x="1761895" y="2209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>
            <a:stCxn id="131" idx="0"/>
            <a:endCxn id="125" idx="1"/>
          </p:cNvCxnSpPr>
          <p:nvPr/>
        </p:nvCxnSpPr>
        <p:spPr>
          <a:xfrm flipV="1">
            <a:off x="2751737" y="2146610"/>
            <a:ext cx="136518" cy="7489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125" idx="2"/>
            <a:endCxn id="128" idx="0"/>
          </p:cNvCxnSpPr>
          <p:nvPr/>
        </p:nvCxnSpPr>
        <p:spPr>
          <a:xfrm>
            <a:off x="2966314" y="2222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25" idx="1"/>
          </p:cNvCxnSpPr>
          <p:nvPr/>
        </p:nvCxnSpPr>
        <p:spPr>
          <a:xfrm>
            <a:off x="2064836" y="1524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/>
          <p:cNvCxnSpPr>
            <a:stCxn id="129" idx="1"/>
            <a:endCxn id="122" idx="1"/>
          </p:cNvCxnSpPr>
          <p:nvPr/>
        </p:nvCxnSpPr>
        <p:spPr>
          <a:xfrm rot="10800000" flipH="1">
            <a:off x="1150435" y="1447800"/>
            <a:ext cx="836341" cy="2286000"/>
          </a:xfrm>
          <a:prstGeom prst="curvedConnector3">
            <a:avLst>
              <a:gd name="adj1" fmla="val -11133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26" idx="2"/>
            <a:endCxn id="129" idx="0"/>
          </p:cNvCxnSpPr>
          <p:nvPr/>
        </p:nvCxnSpPr>
        <p:spPr>
          <a:xfrm flipH="1">
            <a:off x="1228495" y="3048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stCxn id="123" idx="1"/>
            <a:endCxn id="122" idx="3"/>
          </p:cNvCxnSpPr>
          <p:nvPr/>
        </p:nvCxnSpPr>
        <p:spPr>
          <a:xfrm flipH="1" flipV="1">
            <a:off x="2142894" y="1447800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stCxn id="123" idx="2"/>
            <a:endCxn id="125" idx="0"/>
          </p:cNvCxnSpPr>
          <p:nvPr/>
        </p:nvCxnSpPr>
        <p:spPr>
          <a:xfrm>
            <a:off x="2889015" y="1600200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urved Connector 141"/>
          <p:cNvCxnSpPr>
            <a:stCxn id="122" idx="2"/>
            <a:endCxn id="126" idx="1"/>
          </p:cNvCxnSpPr>
          <p:nvPr/>
        </p:nvCxnSpPr>
        <p:spPr>
          <a:xfrm rot="5400000">
            <a:off x="998036" y="19050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7" idx="1"/>
            <a:endCxn id="129" idx="3"/>
          </p:cNvCxnSpPr>
          <p:nvPr/>
        </p:nvCxnSpPr>
        <p:spPr>
          <a:xfrm flipH="1">
            <a:off x="1306553" y="2971800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27" idx="2"/>
            <a:endCxn id="145" idx="0"/>
          </p:cNvCxnSpPr>
          <p:nvPr/>
        </p:nvCxnSpPr>
        <p:spPr>
          <a:xfrm>
            <a:off x="2227881" y="3048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/>
          <p:cNvGrpSpPr/>
          <p:nvPr/>
        </p:nvGrpSpPr>
        <p:grpSpPr>
          <a:xfrm>
            <a:off x="1150436" y="1371600"/>
            <a:ext cx="2278564" cy="2438400"/>
            <a:chOff x="1150436" y="1371600"/>
            <a:chExt cx="2278564" cy="2438400"/>
          </a:xfrm>
        </p:grpSpPr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6777" y="1371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836" y="2057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8255" y="20704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9036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9822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2883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436" y="3657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678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3519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46" name="Straight Arrow Connector 145"/>
          <p:cNvCxnSpPr>
            <a:stCxn id="128" idx="1"/>
            <a:endCxn id="131" idx="3"/>
          </p:cNvCxnSpPr>
          <p:nvPr/>
        </p:nvCxnSpPr>
        <p:spPr>
          <a:xfrm flipH="1">
            <a:off x="2829795" y="2971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6477000" y="4431268"/>
            <a:ext cx="1601894" cy="1436132"/>
            <a:chOff x="6477000" y="4431268"/>
            <a:chExt cx="1601894" cy="1436132"/>
          </a:xfrm>
        </p:grpSpPr>
        <p:pic>
          <p:nvPicPr>
            <p:cNvPr id="15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1" y="4551556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5562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1" y="5562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9" y="4603595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56" name="Straight Arrow Connector 155"/>
            <p:cNvCxnSpPr>
              <a:endCxn id="153" idx="0"/>
            </p:cNvCxnSpPr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stCxn id="155" idx="2"/>
              <a:endCxn id="154" idx="0"/>
            </p:cNvCxnSpPr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stCxn id="152" idx="3"/>
              <a:endCxn id="155" idx="1"/>
            </p:cNvCxnSpPr>
            <p:nvPr/>
          </p:nvCxnSpPr>
          <p:spPr>
            <a:xfrm>
              <a:off x="6861718" y="4627756"/>
              <a:ext cx="834481" cy="5203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Box 170"/>
            <p:cNvSpPr txBox="1"/>
            <p:nvPr/>
          </p:nvSpPr>
          <p:spPr>
            <a:xfrm>
              <a:off x="6477000" y="4431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7772400" y="45074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7772400" y="5421868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477000" y="5498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sp>
        <p:nvSpPr>
          <p:cNvPr id="187" name="TextBox 186"/>
          <p:cNvSpPr txBox="1"/>
          <p:nvPr/>
        </p:nvSpPr>
        <p:spPr>
          <a:xfrm>
            <a:off x="2590800" y="2971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79506" y="14594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459148" y="6212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522306" y="4495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895600" y="13070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522306" y="5498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817706" y="4572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447800" y="19050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65106" y="2754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88906" y="3669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131906" y="36576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046306" y="1981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274906" y="2907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905000" y="2754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101" name="Group 100"/>
          <p:cNvGrpSpPr/>
          <p:nvPr/>
        </p:nvGrpSpPr>
        <p:grpSpPr>
          <a:xfrm>
            <a:off x="6442296" y="1230868"/>
            <a:ext cx="2549304" cy="2731532"/>
            <a:chOff x="957590" y="4050268"/>
            <a:chExt cx="2549304" cy="2731532"/>
          </a:xfrm>
        </p:grpSpPr>
        <p:sp>
          <p:nvSpPr>
            <p:cNvPr id="190" name="TextBox 189"/>
            <p:cNvSpPr txBox="1"/>
            <p:nvPr/>
          </p:nvSpPr>
          <p:spPr>
            <a:xfrm>
              <a:off x="1752600" y="4050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957590" y="4191000"/>
              <a:ext cx="2549304" cy="2590800"/>
              <a:chOff x="957590" y="4191000"/>
              <a:chExt cx="2549304" cy="2590800"/>
            </a:xfrm>
          </p:grpSpPr>
          <p:sp>
            <p:nvSpPr>
              <p:cNvPr id="195" name="TextBox 194"/>
              <p:cNvSpPr txBox="1"/>
              <p:nvPr/>
            </p:nvSpPr>
            <p:spPr>
              <a:xfrm>
                <a:off x="957590" y="641246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grpSp>
            <p:nvGrpSpPr>
              <p:cNvPr id="96" name="Group 95"/>
              <p:cNvGrpSpPr/>
              <p:nvPr/>
            </p:nvGrpSpPr>
            <p:grpSpPr>
              <a:xfrm>
                <a:off x="1098024" y="4191000"/>
                <a:ext cx="2408870" cy="2438400"/>
                <a:chOff x="1098024" y="4191000"/>
                <a:chExt cx="2408870" cy="2438400"/>
              </a:xfrm>
            </p:grpSpPr>
            <p:pic>
              <p:nvPicPr>
                <p:cNvPr id="9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79341" y="4191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1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76400" y="4876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2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0819" y="488981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3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71600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142386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5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65447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6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3000" y="6477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66242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29" name="Straight Arrow Connector 28"/>
                <p:cNvCxnSpPr>
                  <a:stCxn id="9" idx="2"/>
                  <a:endCxn id="11" idx="0"/>
                </p:cNvCxnSpPr>
                <p:nvPr/>
              </p:nvCxnSpPr>
              <p:spPr>
                <a:xfrm flipH="1">
                  <a:off x="1754459" y="4343400"/>
                  <a:ext cx="302941" cy="5334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/>
                <p:cNvCxnSpPr>
                  <a:stCxn id="11" idx="2"/>
                  <a:endCxn id="13" idx="0"/>
                </p:cNvCxnSpPr>
                <p:nvPr/>
              </p:nvCxnSpPr>
              <p:spPr>
                <a:xfrm flipH="1">
                  <a:off x="1449659" y="5029200"/>
                  <a:ext cx="304800" cy="6858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/>
                <p:cNvCxnSpPr>
                  <a:stCxn id="11" idx="2"/>
                  <a:endCxn id="14" idx="0"/>
                </p:cNvCxnSpPr>
                <p:nvPr/>
              </p:nvCxnSpPr>
              <p:spPr>
                <a:xfrm>
                  <a:off x="1754459" y="5029200"/>
                  <a:ext cx="465986" cy="6858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>
                  <a:stCxn id="12" idx="2"/>
                  <a:endCxn id="15" idx="0"/>
                </p:cNvCxnSpPr>
                <p:nvPr/>
              </p:nvCxnSpPr>
              <p:spPr>
                <a:xfrm>
                  <a:off x="2958878" y="5042210"/>
                  <a:ext cx="384628" cy="67279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>
                  <a:stCxn id="9" idx="2"/>
                  <a:endCxn id="12" idx="1"/>
                </p:cNvCxnSpPr>
                <p:nvPr/>
              </p:nvCxnSpPr>
              <p:spPr>
                <a:xfrm>
                  <a:off x="2057400" y="4343400"/>
                  <a:ext cx="823419" cy="62261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/>
                <p:cNvCxnSpPr>
                  <a:stCxn id="13" idx="2"/>
                  <a:endCxn id="16" idx="0"/>
                </p:cNvCxnSpPr>
                <p:nvPr/>
              </p:nvCxnSpPr>
              <p:spPr>
                <a:xfrm flipH="1">
                  <a:off x="1221059" y="5867400"/>
                  <a:ext cx="228600" cy="6096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/>
                <p:cNvCxnSpPr>
                  <a:stCxn id="14" idx="2"/>
                  <a:endCxn id="114" idx="0"/>
                </p:cNvCxnSpPr>
                <p:nvPr/>
              </p:nvCxnSpPr>
              <p:spPr>
                <a:xfrm>
                  <a:off x="2220445" y="5867400"/>
                  <a:ext cx="63697" cy="5334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1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6083" y="6400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17" name="Straight Arrow Connector 116"/>
                <p:cNvCxnSpPr>
                  <a:stCxn id="15" idx="1"/>
                  <a:endCxn id="24" idx="3"/>
                </p:cNvCxnSpPr>
                <p:nvPr/>
              </p:nvCxnSpPr>
              <p:spPr>
                <a:xfrm flipH="1">
                  <a:off x="2822359" y="5791200"/>
                  <a:ext cx="443088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TextBox 188"/>
                <p:cNvSpPr txBox="1"/>
                <p:nvPr/>
              </p:nvSpPr>
              <p:spPr>
                <a:xfrm>
                  <a:off x="1387538" y="47360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v</a:t>
                  </a:r>
                </a:p>
              </p:txBody>
            </p:sp>
            <p:sp>
              <p:nvSpPr>
                <p:cNvPr id="191" name="TextBox 190"/>
                <p:cNvSpPr txBox="1"/>
                <p:nvPr/>
              </p:nvSpPr>
              <p:spPr>
                <a:xfrm>
                  <a:off x="2971800" y="47360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q</a:t>
                  </a:r>
                </a:p>
              </p:txBody>
            </p:sp>
            <p:sp>
              <p:nvSpPr>
                <p:cNvPr id="192" name="TextBox 191"/>
                <p:cNvSpPr txBox="1"/>
                <p:nvPr/>
              </p:nvSpPr>
              <p:spPr>
                <a:xfrm>
                  <a:off x="3200400" y="57266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</a:t>
                  </a:r>
                </a:p>
              </p:txBody>
            </p:sp>
            <p:sp>
              <p:nvSpPr>
                <p:cNvPr id="193" name="TextBox 192"/>
                <p:cNvSpPr txBox="1"/>
                <p:nvPr/>
              </p:nvSpPr>
              <p:spPr>
                <a:xfrm>
                  <a:off x="2630784" y="5726668"/>
                  <a:ext cx="2648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r</a:t>
                  </a:r>
                </a:p>
              </p:txBody>
            </p:sp>
            <p:sp>
              <p:nvSpPr>
                <p:cNvPr id="194" name="TextBox 193"/>
                <p:cNvSpPr txBox="1"/>
                <p:nvPr/>
              </p:nvSpPr>
              <p:spPr>
                <a:xfrm>
                  <a:off x="1098024" y="5574268"/>
                  <a:ext cx="3497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w</a:t>
                  </a:r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1970632" y="5650468"/>
                  <a:ext cx="2391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j</a:t>
                  </a:r>
                </a:p>
              </p:txBody>
            </p:sp>
            <p:sp>
              <p:nvSpPr>
                <p:cNvPr id="197" name="TextBox 196"/>
                <p:cNvSpPr txBox="1"/>
                <p:nvPr/>
              </p:nvSpPr>
              <p:spPr>
                <a:xfrm>
                  <a:off x="1981200" y="62600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k</a:t>
                  </a:r>
                </a:p>
              </p:txBody>
            </p:sp>
          </p:grpSp>
        </p:grpSp>
      </p:grpSp>
      <p:grpSp>
        <p:nvGrpSpPr>
          <p:cNvPr id="97" name="Group 96"/>
          <p:cNvGrpSpPr/>
          <p:nvPr/>
        </p:nvGrpSpPr>
        <p:grpSpPr>
          <a:xfrm>
            <a:off x="6830991" y="152400"/>
            <a:ext cx="1017609" cy="1055803"/>
            <a:chOff x="4605253" y="4571329"/>
            <a:chExt cx="1017609" cy="1055803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5069" y="54102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1" name="Straight Arrow Connector 20"/>
            <p:cNvCxnSpPr/>
            <p:nvPr/>
          </p:nvCxnSpPr>
          <p:spPr>
            <a:xfrm>
              <a:off x="4889305" y="4827549"/>
              <a:ext cx="430674" cy="6096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4713249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8" name="TextBox 197"/>
            <p:cNvSpPr txBox="1"/>
            <p:nvPr/>
          </p:nvSpPr>
          <p:spPr>
            <a:xfrm>
              <a:off x="4605253" y="4571329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5334000" y="52578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sp>
        <p:nvSpPr>
          <p:cNvPr id="99" name="Right Arrow 98"/>
          <p:cNvSpPr/>
          <p:nvPr/>
        </p:nvSpPr>
        <p:spPr>
          <a:xfrm rot="1556459">
            <a:off x="1760117" y="1184012"/>
            <a:ext cx="250464" cy="273326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ight Arrow 204"/>
          <p:cNvSpPr/>
          <p:nvPr/>
        </p:nvSpPr>
        <p:spPr>
          <a:xfrm rot="1556459">
            <a:off x="2197446" y="495684"/>
            <a:ext cx="245977" cy="30403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ight Arrow 205"/>
          <p:cNvSpPr/>
          <p:nvPr/>
        </p:nvSpPr>
        <p:spPr>
          <a:xfrm rot="1556459">
            <a:off x="1500843" y="4315277"/>
            <a:ext cx="285418" cy="28484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/>
          <p:cNvCxnSpPr/>
          <p:nvPr/>
        </p:nvCxnSpPr>
        <p:spPr>
          <a:xfrm>
            <a:off x="1527717" y="762000"/>
            <a:ext cx="2053683" cy="1403866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7986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Lemma 3</a:t>
            </a:r>
            <a:r>
              <a:rPr lang="en-US" sz="2000" dirty="0"/>
              <a:t>: DFS partitions the graph into a forest of DFS trees.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575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205" grpId="0" animBg="1"/>
      <p:bldP spid="206" grpId="0" animBg="1"/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DFS on the graph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600200"/>
                <a:ext cx="4040188" cy="4648200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true;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++ 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dirty="0">
                    <a:sym typeface="Wingdings" pitchFamily="2" charset="2"/>
                  </a:rPr>
                  <a:t>…;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For</a:t>
                </a:r>
                <a:r>
                  <a:rPr lang="en-US" sz="2000" dirty="0">
                    <a:sym typeface="Wingdings" pitchFamily="2" charset="2"/>
                  </a:rPr>
                  <a:t> each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{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(Visited[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= false)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	   DFS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….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…;</a:t>
                </a: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600200"/>
                <a:ext cx="4040188" cy="4648200"/>
              </a:xfrm>
              <a:blipFill rotWithShape="1">
                <a:blip r:embed="rId3"/>
                <a:stretch>
                  <a:fillRect l="-1353" t="-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8200" y="2667000"/>
                <a:ext cx="4041775" cy="2971800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DFS-graph(G=(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0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>
                    <a:solidFill>
                      <a:srgbClr val="002060"/>
                    </a:solidFill>
                  </a:rPr>
                  <a:t>)){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2060"/>
                    </a:solidFill>
                  </a:rPr>
                  <a:t> 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]</a:t>
                </a:r>
                <a:r>
                  <a:rPr lang="en-US" sz="2000" dirty="0">
                    <a:sym typeface="Wingdings" pitchFamily="2" charset="2"/>
                  </a:rPr>
                  <a:t> false;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  1;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:r>
                  <a:rPr lang="en-US" sz="2000" b="1" dirty="0">
                    <a:sym typeface="Wingdings" pitchFamily="2" charset="2"/>
                  </a:rPr>
                  <a:t>For</a:t>
                </a:r>
                <a:r>
                  <a:rPr lang="en-US" sz="2000" dirty="0">
                    <a:sym typeface="Wingdings" pitchFamily="2" charset="2"/>
                  </a:rPr>
                  <a:t>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== false)  </a:t>
                </a:r>
                <a:r>
                  <a:rPr lang="en-US" sz="2000" dirty="0"/>
                  <a:t>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8200" y="2667000"/>
                <a:ext cx="4041775" cy="2971800"/>
              </a:xfrm>
              <a:blipFill rotWithShape="1">
                <a:blip r:embed="rId4"/>
                <a:stretch>
                  <a:fillRect l="-1504" t="-818" b="-28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838200" y="2006025"/>
            <a:ext cx="7543801" cy="584775"/>
            <a:chOff x="838200" y="2006025"/>
            <a:chExt cx="7543801" cy="584775"/>
          </a:xfrm>
        </p:grpSpPr>
        <p:sp>
          <p:nvSpPr>
            <p:cNvPr id="2" name="Bent-Up Arrow 1"/>
            <p:cNvSpPr/>
            <p:nvPr/>
          </p:nvSpPr>
          <p:spPr>
            <a:xfrm flipH="1" flipV="1">
              <a:off x="838200" y="2286000"/>
              <a:ext cx="4038600" cy="152400"/>
            </a:xfrm>
            <a:prstGeom prst="bentUpArrow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76801" y="2006025"/>
              <a:ext cx="3505200" cy="584775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i="1" dirty="0">
                  <a:solidFill>
                    <a:srgbClr val="C00000"/>
                  </a:solidFill>
                </a:rPr>
                <a:t>DFN number </a:t>
              </a:r>
              <a:r>
                <a:rPr lang="en-US" sz="1600" b="1" dirty="0"/>
                <a:t> of </a:t>
              </a:r>
              <a:r>
                <a:rPr lang="en-US" sz="1600" b="1" dirty="0">
                  <a:solidFill>
                    <a:srgbClr val="0070C0"/>
                  </a:solidFill>
                </a:rPr>
                <a:t>v</a:t>
              </a:r>
              <a:r>
                <a:rPr lang="en-US" sz="1600" b="1" dirty="0"/>
                <a:t> :</a:t>
              </a:r>
            </a:p>
            <a:p>
              <a:pPr algn="ctr"/>
              <a:r>
                <a:rPr lang="en-US" sz="1600" b="1" dirty="0"/>
                <a:t> the time when DFS starts at </a:t>
              </a:r>
              <a:r>
                <a:rPr lang="en-US" sz="1600" b="1" dirty="0">
                  <a:solidFill>
                    <a:srgbClr val="0070C0"/>
                  </a:solidFill>
                </a:rPr>
                <a:t>v</a:t>
              </a:r>
              <a:r>
                <a:rPr lang="en-US" sz="1600" b="1" dirty="0"/>
                <a:t>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41141" y="4857690"/>
                <a:ext cx="1902059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++ ;</a:t>
                </a:r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41" y="4857690"/>
                <a:ext cx="1902059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3526" t="-9091" r="-5449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914400" y="5257800"/>
            <a:ext cx="6705601" cy="965775"/>
            <a:chOff x="1140919" y="5478274"/>
            <a:chExt cx="6522515" cy="745304"/>
          </a:xfrm>
        </p:grpSpPr>
        <p:sp>
          <p:nvSpPr>
            <p:cNvPr id="6" name="Bent-Up Arrow 5"/>
            <p:cNvSpPr/>
            <p:nvPr/>
          </p:nvSpPr>
          <p:spPr>
            <a:xfrm flipH="1">
              <a:off x="1140919" y="5478274"/>
              <a:ext cx="3735881" cy="427227"/>
            </a:xfrm>
            <a:prstGeom prst="bentUpArrow">
              <a:avLst>
                <a:gd name="adj1" fmla="val 9056"/>
                <a:gd name="adj2" fmla="val 14371"/>
                <a:gd name="adj3" fmla="val 26329"/>
              </a:avLst>
            </a:prstGeom>
            <a:solidFill>
              <a:srgbClr val="FFC000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76800" y="5772298"/>
              <a:ext cx="2786634" cy="45128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i="1" dirty="0">
                  <a:solidFill>
                    <a:srgbClr val="C00000"/>
                  </a:solidFill>
                </a:rPr>
                <a:t>Finish number </a:t>
              </a:r>
              <a:r>
                <a:rPr lang="en-US" sz="1600" b="1" dirty="0"/>
                <a:t>of </a:t>
              </a:r>
              <a:r>
                <a:rPr lang="en-US" sz="1600" b="1" dirty="0">
                  <a:solidFill>
                    <a:srgbClr val="0070C0"/>
                  </a:solidFill>
                </a:rPr>
                <a:t>v</a:t>
              </a:r>
              <a:r>
                <a:rPr lang="en-US" sz="1600" b="1" dirty="0"/>
                <a:t> :</a:t>
              </a:r>
            </a:p>
            <a:p>
              <a:pPr algn="ctr"/>
              <a:r>
                <a:rPr lang="en-US" sz="1600" b="1" dirty="0"/>
                <a:t>the time when DFS at </a:t>
              </a:r>
              <a:r>
                <a:rPr lang="en-US" sz="1600" b="1" dirty="0">
                  <a:solidFill>
                    <a:srgbClr val="0070C0"/>
                  </a:solidFill>
                </a:rPr>
                <a:t>v</a:t>
              </a:r>
              <a:r>
                <a:rPr lang="en-US" sz="1600" b="1" dirty="0"/>
                <a:t> ends.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5459009" y="1219200"/>
            <a:ext cx="3048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288214" y="2286000"/>
            <a:ext cx="2682374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886325" y="5914593"/>
            <a:ext cx="2682374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3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uiExpand="1" build="p" animBg="1"/>
      <p:bldP spid="5" grpId="0" build="p" animBg="1"/>
      <p:bldP spid="12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DFS on the graph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𝒔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𝟕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𝟏𝟏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662" t="-674" b="-24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1217506" y="1916668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ight Arrow 74"/>
          <p:cNvSpPr/>
          <p:nvPr/>
        </p:nvSpPr>
        <p:spPr>
          <a:xfrm rot="1556459">
            <a:off x="2054113" y="246434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1981200" y="2831068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1676400" y="3516868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1447800" y="4355068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981200" y="3516868"/>
            <a:ext cx="465986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2450903" y="4355068"/>
            <a:ext cx="63697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ight Arrow 50"/>
          <p:cNvSpPr/>
          <p:nvPr/>
        </p:nvSpPr>
        <p:spPr>
          <a:xfrm rot="1556459">
            <a:off x="1730684" y="30856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/>
          <p:cNvSpPr/>
          <p:nvPr/>
        </p:nvSpPr>
        <p:spPr>
          <a:xfrm rot="1556459">
            <a:off x="1425884" y="3937797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/>
          <p:cNvSpPr/>
          <p:nvPr/>
        </p:nvSpPr>
        <p:spPr>
          <a:xfrm rot="1556459">
            <a:off x="1197284" y="47620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556459">
            <a:off x="1425884" y="39238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1556459">
            <a:off x="1730684" y="30856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Arrow 55"/>
          <p:cNvSpPr/>
          <p:nvPr/>
        </p:nvSpPr>
        <p:spPr>
          <a:xfrm rot="1556459">
            <a:off x="2187884" y="39238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/>
          <p:cNvSpPr/>
          <p:nvPr/>
        </p:nvSpPr>
        <p:spPr>
          <a:xfrm rot="1556459">
            <a:off x="2264084" y="46858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/>
          <p:cNvSpPr/>
          <p:nvPr/>
        </p:nvSpPr>
        <p:spPr>
          <a:xfrm rot="1556459">
            <a:off x="2192891" y="39238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/>
          <p:cNvSpPr/>
          <p:nvPr/>
        </p:nvSpPr>
        <p:spPr>
          <a:xfrm rot="1556459">
            <a:off x="1735691" y="30856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5791200" y="4343400"/>
            <a:ext cx="0" cy="4953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943600" y="4050268"/>
            <a:ext cx="0" cy="113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5943600" y="2438400"/>
            <a:ext cx="0" cy="113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791200" y="2819400"/>
            <a:ext cx="0" cy="4953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6324600" y="2133600"/>
            <a:ext cx="0" cy="33411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781800" y="1752600"/>
            <a:ext cx="0" cy="44958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loud Callout 4">
            <a:extLst>
              <a:ext uri="{FF2B5EF4-FFF2-40B4-BE49-F238E27FC236}">
                <a16:creationId xmlns:a16="http://schemas.microsoft.com/office/drawing/2014/main" id="{EF67DE38-2C46-E0D9-367D-A5BD80F63EDC}"/>
              </a:ext>
            </a:extLst>
          </p:cNvPr>
          <p:cNvSpPr/>
          <p:nvPr/>
        </p:nvSpPr>
        <p:spPr>
          <a:xfrm>
            <a:off x="3807502" y="772375"/>
            <a:ext cx="5488895" cy="887968"/>
          </a:xfrm>
          <a:prstGeom prst="cloudCallout">
            <a:avLst>
              <a:gd name="adj1" fmla="val 18415"/>
              <a:gd name="adj2" fmla="val 7931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there any relation between</a:t>
            </a:r>
            <a:r>
              <a:rPr lang="en-US" b="1" dirty="0">
                <a:solidFill>
                  <a:srgbClr val="00B050"/>
                </a:solidFill>
                <a:sym typeface="Wingdings" pitchFamily="2" charset="2"/>
              </a:rPr>
              <a:t> D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F </a:t>
            </a:r>
            <a:r>
              <a:rPr lang="en-US" dirty="0">
                <a:solidFill>
                  <a:schemeClr val="tx1"/>
                </a:solidFill>
              </a:rPr>
              <a:t>values of any pair of vertices ?</a:t>
            </a:r>
          </a:p>
        </p:txBody>
      </p:sp>
    </p:spTree>
    <p:extLst>
      <p:ext uri="{BB962C8B-B14F-4D97-AF65-F5344CB8AC3E}">
        <p14:creationId xmlns:p14="http://schemas.microsoft.com/office/powerpoint/2010/main" val="63073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5" grpId="0" animBg="1"/>
      <p:bldP spid="75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5" grpId="0" animBg="1"/>
      <p:bldP spid="5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143B-1834-B81D-0C4E-6D7FDA82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20CF-BFFD-CBE9-403A-52CBC07F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DFS on the graph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63621-3F59-4ACD-8631-2AD80A073D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4D040DE-3B10-41B0-E14C-D60A5E988AC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𝒔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𝟕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𝟏𝟏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662" t="-674" b="-24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7A5A46AD-2F76-D309-79DA-892358A54F15}"/>
              </a:ext>
            </a:extLst>
          </p:cNvPr>
          <p:cNvGrpSpPr/>
          <p:nvPr/>
        </p:nvGrpSpPr>
        <p:grpSpPr>
          <a:xfrm>
            <a:off x="1217506" y="1916668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F687B198-F75B-EEDD-0F8D-EC32CE3D0ADF}"/>
                </a:ext>
              </a:extLst>
            </p:cNvPr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746E4C6-B5DE-5104-F151-75569247011C}"/>
                </a:ext>
              </a:extLst>
            </p:cNvPr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>
                <a:extLst>
                  <a:ext uri="{FF2B5EF4-FFF2-40B4-BE49-F238E27FC236}">
                    <a16:creationId xmlns:a16="http://schemas.microsoft.com/office/drawing/2014/main" id="{1CC00267-E030-642E-13CA-2776C6A42E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>
                <a:extLst>
                  <a:ext uri="{FF2B5EF4-FFF2-40B4-BE49-F238E27FC236}">
                    <a16:creationId xmlns:a16="http://schemas.microsoft.com/office/drawing/2014/main" id="{50FA1BFF-63B3-1853-A07F-DE2E736859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BB0C19A1-1F95-EB69-F78D-738EF632DF67}"/>
                </a:ext>
              </a:extLst>
            </p:cNvPr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737E1600-1E34-534C-5C52-067337B4DF4E}"/>
                </a:ext>
              </a:extLst>
            </p:cNvPr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9A52C155-551F-01F1-2263-33389A8FAB5E}"/>
                </a:ext>
              </a:extLst>
            </p:cNvPr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A035C04-C071-EAD0-6699-917D218F7A7B}"/>
                </a:ext>
              </a:extLst>
            </p:cNvPr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731580EC-797A-B90C-5DF6-644E945E4043}"/>
                </a:ext>
              </a:extLst>
            </p:cNvPr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6D9207AF-EC44-A0F8-CBB0-8F2705C7AA60}"/>
                </a:ext>
              </a:extLst>
            </p:cNvPr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BCC42B86-322C-50BD-3C45-1987D84BA91D}"/>
                </a:ext>
              </a:extLst>
            </p:cNvPr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>
              <a:extLst>
                <a:ext uri="{FF2B5EF4-FFF2-40B4-BE49-F238E27FC236}">
                  <a16:creationId xmlns:a16="http://schemas.microsoft.com/office/drawing/2014/main" id="{E3ACF002-974E-CE6A-B1C0-E13016278685}"/>
                </a:ext>
              </a:extLst>
            </p:cNvPr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03D2F7FD-4D4A-C519-3F62-2DD53D01AB4D}"/>
                </a:ext>
              </a:extLst>
            </p:cNvPr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8830867-426E-A829-5737-5E938BBB2B0E}"/>
                </a:ext>
              </a:extLst>
            </p:cNvPr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A19C00E8-7A28-7DA5-706C-BF2B2695DA04}"/>
                </a:ext>
              </a:extLst>
            </p:cNvPr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>
              <a:extLst>
                <a:ext uri="{FF2B5EF4-FFF2-40B4-BE49-F238E27FC236}">
                  <a16:creationId xmlns:a16="http://schemas.microsoft.com/office/drawing/2014/main" id="{61B84988-51FF-5ADC-30C0-8B22B717DC2F}"/>
                </a:ext>
              </a:extLst>
            </p:cNvPr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D1E5C1E6-5913-2823-8242-F2C00D28FD95}"/>
                </a:ext>
              </a:extLst>
            </p:cNvPr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E6D752BC-1A00-FA44-D875-B8F362F976FE}"/>
                </a:ext>
              </a:extLst>
            </p:cNvPr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BF3FE63A-0FF4-B905-67EF-DC8AB86933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C139AB1C-60C5-9164-D44E-10A2391AA1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>
              <a:extLst>
                <a:ext uri="{FF2B5EF4-FFF2-40B4-BE49-F238E27FC236}">
                  <a16:creationId xmlns:a16="http://schemas.microsoft.com/office/drawing/2014/main" id="{748CF55E-1F53-B787-949C-812ABE1844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>
              <a:extLst>
                <a:ext uri="{FF2B5EF4-FFF2-40B4-BE49-F238E27FC236}">
                  <a16:creationId xmlns:a16="http://schemas.microsoft.com/office/drawing/2014/main" id="{C61FEB41-7FB8-BAB7-57E0-91E18E0128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>
              <a:extLst>
                <a:ext uri="{FF2B5EF4-FFF2-40B4-BE49-F238E27FC236}">
                  <a16:creationId xmlns:a16="http://schemas.microsoft.com/office/drawing/2014/main" id="{2FA30C55-EEAA-A48C-7613-8D9999E9F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>
              <a:extLst>
                <a:ext uri="{FF2B5EF4-FFF2-40B4-BE49-F238E27FC236}">
                  <a16:creationId xmlns:a16="http://schemas.microsoft.com/office/drawing/2014/main" id="{2C6C32DD-A809-D67D-5D58-60559DAD88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>
              <a:extLst>
                <a:ext uri="{FF2B5EF4-FFF2-40B4-BE49-F238E27FC236}">
                  <a16:creationId xmlns:a16="http://schemas.microsoft.com/office/drawing/2014/main" id="{F7CD90C0-079E-4837-213F-A22569BDBA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>
              <a:extLst>
                <a:ext uri="{FF2B5EF4-FFF2-40B4-BE49-F238E27FC236}">
                  <a16:creationId xmlns:a16="http://schemas.microsoft.com/office/drawing/2014/main" id="{5805FBA1-4E61-0BE3-62E3-B69CBF7C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>
              <a:extLst>
                <a:ext uri="{FF2B5EF4-FFF2-40B4-BE49-F238E27FC236}">
                  <a16:creationId xmlns:a16="http://schemas.microsoft.com/office/drawing/2014/main" id="{44406967-F2B8-52B7-0E0F-A14135290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2B05644D-696B-0579-D2F8-2DE68B7DAA0D}"/>
                </a:ext>
              </a:extLst>
            </p:cNvPr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E9830627-2371-6019-6895-EFA5724ADE25}"/>
                </a:ext>
              </a:extLst>
            </p:cNvPr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B36AE46-84C5-82A2-9F71-7448B79ACD11}"/>
                </a:ext>
              </a:extLst>
            </p:cNvPr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C493B12-6A0B-C289-CA82-2B7E54F52E52}"/>
                </a:ext>
              </a:extLst>
            </p:cNvPr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A522128-3A3C-1BF5-2EAF-945EA1526A80}"/>
                </a:ext>
              </a:extLst>
            </p:cNvPr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5474711-344B-99EB-8F3C-7178DAD876C3}"/>
                </a:ext>
              </a:extLst>
            </p:cNvPr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22F2B472-919B-6EA9-4B0F-11D4F1811A02}"/>
                </a:ext>
              </a:extLst>
            </p:cNvPr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7F850D5A-7453-33A1-9455-AE99E38982FB}"/>
                </a:ext>
              </a:extLst>
            </p:cNvPr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5CD4716-A1AE-6F7D-25AB-A55DC8D9A381}"/>
                </a:ext>
              </a:extLst>
            </p:cNvPr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A831B43-99AD-3C0D-5E4B-CC671E642008}"/>
                </a:ext>
              </a:extLst>
            </p:cNvPr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995569E5-76AC-3E40-42B6-0CF728282412}"/>
                </a:ext>
              </a:extLst>
            </p:cNvPr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3692F0E-BDA5-454C-C57B-22D611672672}"/>
                </a:ext>
              </a:extLst>
            </p:cNvPr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>
              <a:extLst>
                <a:ext uri="{FF2B5EF4-FFF2-40B4-BE49-F238E27FC236}">
                  <a16:creationId xmlns:a16="http://schemas.microsoft.com/office/drawing/2014/main" id="{B898CB88-D42D-4518-144D-CFB8BDF23FF7}"/>
                </a:ext>
              </a:extLst>
            </p:cNvPr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ight Arrow 74">
            <a:extLst>
              <a:ext uri="{FF2B5EF4-FFF2-40B4-BE49-F238E27FC236}">
                <a16:creationId xmlns:a16="http://schemas.microsoft.com/office/drawing/2014/main" id="{29EF2DAC-BAF6-3708-C048-AC495B00642F}"/>
              </a:ext>
            </a:extLst>
          </p:cNvPr>
          <p:cNvSpPr/>
          <p:nvPr/>
        </p:nvSpPr>
        <p:spPr>
          <a:xfrm rot="1556459">
            <a:off x="2054113" y="246434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E71EBBC-4E3F-7514-19B8-621EEC7FE8C2}"/>
              </a:ext>
            </a:extLst>
          </p:cNvPr>
          <p:cNvCxnSpPr/>
          <p:nvPr/>
        </p:nvCxnSpPr>
        <p:spPr>
          <a:xfrm flipH="1">
            <a:off x="1981200" y="2831068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264FBBA-681E-D2D1-E554-657C88D31839}"/>
              </a:ext>
            </a:extLst>
          </p:cNvPr>
          <p:cNvCxnSpPr/>
          <p:nvPr/>
        </p:nvCxnSpPr>
        <p:spPr>
          <a:xfrm flipH="1">
            <a:off x="1676400" y="3516868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C2C4C69-85F8-B707-41F7-3105F6B9A403}"/>
              </a:ext>
            </a:extLst>
          </p:cNvPr>
          <p:cNvCxnSpPr/>
          <p:nvPr/>
        </p:nvCxnSpPr>
        <p:spPr>
          <a:xfrm flipH="1">
            <a:off x="1447800" y="4355068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E2890C-7165-6FB2-F3FF-553EA69F21F5}"/>
              </a:ext>
            </a:extLst>
          </p:cNvPr>
          <p:cNvCxnSpPr/>
          <p:nvPr/>
        </p:nvCxnSpPr>
        <p:spPr>
          <a:xfrm>
            <a:off x="1981200" y="3516868"/>
            <a:ext cx="465986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5D1287E-2981-DB53-917B-93BD08973FE3}"/>
              </a:ext>
            </a:extLst>
          </p:cNvPr>
          <p:cNvCxnSpPr/>
          <p:nvPr/>
        </p:nvCxnSpPr>
        <p:spPr>
          <a:xfrm>
            <a:off x="2450903" y="4355068"/>
            <a:ext cx="63697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F894DC6-1C60-24DC-7D7B-E2EB1BCD00A5}"/>
              </a:ext>
            </a:extLst>
          </p:cNvPr>
          <p:cNvSpPr/>
          <p:nvPr/>
        </p:nvSpPr>
        <p:spPr>
          <a:xfrm rot="1556459">
            <a:off x="1730684" y="30856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31BF3C04-71C5-1BA5-59C5-9C4E228774C8}"/>
              </a:ext>
            </a:extLst>
          </p:cNvPr>
          <p:cNvSpPr/>
          <p:nvPr/>
        </p:nvSpPr>
        <p:spPr>
          <a:xfrm rot="1556459">
            <a:off x="1425884" y="3937797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9CA5DC8E-B90E-CFE9-61C0-AF9B3DBD7B57}"/>
              </a:ext>
            </a:extLst>
          </p:cNvPr>
          <p:cNvSpPr/>
          <p:nvPr/>
        </p:nvSpPr>
        <p:spPr>
          <a:xfrm rot="1556459">
            <a:off x="1197284" y="47620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5AE16417-1A4D-926A-A455-1363A80A836E}"/>
              </a:ext>
            </a:extLst>
          </p:cNvPr>
          <p:cNvSpPr/>
          <p:nvPr/>
        </p:nvSpPr>
        <p:spPr>
          <a:xfrm rot="1556459">
            <a:off x="1425884" y="39238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A9AE93C0-2CA6-E305-7ED9-9439C5E9AAA2}"/>
              </a:ext>
            </a:extLst>
          </p:cNvPr>
          <p:cNvSpPr/>
          <p:nvPr/>
        </p:nvSpPr>
        <p:spPr>
          <a:xfrm rot="1556459">
            <a:off x="1730684" y="30856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2B545B9F-9F44-BC87-9DE8-3CA29E789F61}"/>
              </a:ext>
            </a:extLst>
          </p:cNvPr>
          <p:cNvSpPr/>
          <p:nvPr/>
        </p:nvSpPr>
        <p:spPr>
          <a:xfrm rot="1556459">
            <a:off x="2187884" y="39238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02ED3E60-359A-A8B7-2005-760348E5E05E}"/>
              </a:ext>
            </a:extLst>
          </p:cNvPr>
          <p:cNvSpPr/>
          <p:nvPr/>
        </p:nvSpPr>
        <p:spPr>
          <a:xfrm rot="1556459">
            <a:off x="2264084" y="46858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6D332B17-A887-5D57-09A6-3148DEB6A8A7}"/>
              </a:ext>
            </a:extLst>
          </p:cNvPr>
          <p:cNvSpPr/>
          <p:nvPr/>
        </p:nvSpPr>
        <p:spPr>
          <a:xfrm rot="1556459">
            <a:off x="2192891" y="39238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965F0836-ADD3-193C-CAF2-991B2464B324}"/>
              </a:ext>
            </a:extLst>
          </p:cNvPr>
          <p:cNvSpPr/>
          <p:nvPr/>
        </p:nvSpPr>
        <p:spPr>
          <a:xfrm rot="1556459">
            <a:off x="1735691" y="3085619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FCAD0E6-13E4-C6C2-1275-9B0735BAE104}"/>
              </a:ext>
            </a:extLst>
          </p:cNvPr>
          <p:cNvCxnSpPr/>
          <p:nvPr/>
        </p:nvCxnSpPr>
        <p:spPr>
          <a:xfrm>
            <a:off x="5791200" y="4343400"/>
            <a:ext cx="0" cy="4953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2ECAD97-8673-1799-FB63-81ED0262B0CA}"/>
              </a:ext>
            </a:extLst>
          </p:cNvPr>
          <p:cNvCxnSpPr/>
          <p:nvPr/>
        </p:nvCxnSpPr>
        <p:spPr>
          <a:xfrm>
            <a:off x="5943600" y="4050268"/>
            <a:ext cx="0" cy="113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D9F3768-3D9C-C68D-8078-EAF2D0BFE94B}"/>
              </a:ext>
            </a:extLst>
          </p:cNvPr>
          <p:cNvCxnSpPr/>
          <p:nvPr/>
        </p:nvCxnSpPr>
        <p:spPr>
          <a:xfrm>
            <a:off x="5943600" y="2438400"/>
            <a:ext cx="0" cy="113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C8D03E6-2945-FA55-F94C-A6F20AAD4E4C}"/>
              </a:ext>
            </a:extLst>
          </p:cNvPr>
          <p:cNvCxnSpPr/>
          <p:nvPr/>
        </p:nvCxnSpPr>
        <p:spPr>
          <a:xfrm>
            <a:off x="5791200" y="2819400"/>
            <a:ext cx="0" cy="4953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DC15C75-12CD-B8B0-3602-102F68160666}"/>
              </a:ext>
            </a:extLst>
          </p:cNvPr>
          <p:cNvCxnSpPr/>
          <p:nvPr/>
        </p:nvCxnSpPr>
        <p:spPr>
          <a:xfrm>
            <a:off x="6324600" y="2133600"/>
            <a:ext cx="0" cy="33411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601084-8884-355B-7CC4-54542136562C}"/>
              </a:ext>
            </a:extLst>
          </p:cNvPr>
          <p:cNvCxnSpPr/>
          <p:nvPr/>
        </p:nvCxnSpPr>
        <p:spPr>
          <a:xfrm>
            <a:off x="6781800" y="1752600"/>
            <a:ext cx="0" cy="44958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05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5" grpId="0" animBg="1"/>
      <p:bldP spid="75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How is </a:t>
                </a:r>
                <a:r>
                  <a:rPr lang="en-US" sz="3200" dirty="0"/>
                  <a:t>(</a:t>
                </a:r>
                <a:r>
                  <a:rPr lang="en-US" sz="32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32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3200" dirty="0">
                    <a:sym typeface="Wingdings" pitchFamily="2" charset="2"/>
                  </a:rPr>
                  <a:t>]</a:t>
                </a:r>
                <a:r>
                  <a:rPr lang="en-US" sz="3200" dirty="0"/>
                  <a:t>,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32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32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3200" dirty="0">
                    <a:sym typeface="Wingdings" pitchFamily="2" charset="2"/>
                  </a:rPr>
                  <a:t>]</a:t>
                </a:r>
                <a:r>
                  <a:rPr lang="en-US" sz="3200" dirty="0"/>
                  <a:t>)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3200" b="1" dirty="0"/>
                  <a:t> related to </a:t>
                </a:r>
                <a:r>
                  <a:rPr lang="en-US" sz="3200" dirty="0"/>
                  <a:t>(</a:t>
                </a:r>
                <a:r>
                  <a:rPr lang="en-US" sz="32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32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3200" dirty="0">
                    <a:sym typeface="Wingdings" pitchFamily="2" charset="2"/>
                  </a:rPr>
                  <a:t>]</a:t>
                </a:r>
                <a:r>
                  <a:rPr lang="en-US" sz="3200" dirty="0"/>
                  <a:t>,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32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32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3200" dirty="0">
                    <a:sym typeface="Wingdings" pitchFamily="2" charset="2"/>
                  </a:rPr>
                  <a:t>]</a:t>
                </a:r>
                <a:r>
                  <a:rPr lang="en-US" sz="3200" dirty="0"/>
                  <a:t>)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3200" b="1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Disjoint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One enclosing another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7030A0"/>
                    </a:solidFill>
                  </a:rPr>
                  <a:t>What about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&lt;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&lt;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 &lt;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</a:t>
                </a:r>
                <a:r>
                  <a:rPr lang="en-US" sz="2000" dirty="0">
                    <a:solidFill>
                      <a:srgbClr val="7030A0"/>
                    </a:solidFill>
                  </a:rPr>
                  <a:t>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809" b="-6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3850213" y="1905000"/>
            <a:ext cx="4905516" cy="478161"/>
            <a:chOff x="3850213" y="1905000"/>
            <a:chExt cx="4905516" cy="478161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6912571" y="1916151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8911" t="-8333" r="-178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8421" t="-8197" r="-189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8000" t="-8197" r="-1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4383613" y="3505200"/>
            <a:ext cx="4137104" cy="685800"/>
            <a:chOff x="4383613" y="3505200"/>
            <a:chExt cx="4137104" cy="6858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5638800" y="3810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8000" t="-8197" r="-17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8511" t="-8197" r="-1808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/>
          <p:cNvGrpSpPr/>
          <p:nvPr/>
        </p:nvGrpSpPr>
        <p:grpSpPr>
          <a:xfrm>
            <a:off x="4343400" y="5181600"/>
            <a:ext cx="3650329" cy="762000"/>
            <a:chOff x="4343400" y="5181600"/>
            <a:chExt cx="3650329" cy="762000"/>
          </a:xfrm>
        </p:grpSpPr>
        <p:cxnSp>
          <p:nvCxnSpPr>
            <p:cNvPr id="19" name="Straight Connector 18"/>
            <p:cNvCxnSpPr/>
            <p:nvPr/>
          </p:nvCxnSpPr>
          <p:spPr>
            <a:xfrm flipV="1">
              <a:off x="4648200" y="5254083"/>
              <a:ext cx="2154044" cy="371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790688" y="5638800"/>
              <a:ext cx="1959571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343400" y="5181600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400" y="5181600"/>
                  <a:ext cx="620683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8911" t="-8197" r="-1782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6553200" y="5181600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200" y="5181600"/>
                  <a:ext cx="580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8421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410200" y="55742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0200" y="5574268"/>
                  <a:ext cx="609462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9091" t="-8197" r="-181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7424342" y="55742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4342" y="5574268"/>
                  <a:ext cx="569387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&quot;No&quot; Symbol 29"/>
          <p:cNvSpPr/>
          <p:nvPr/>
        </p:nvSpPr>
        <p:spPr>
          <a:xfrm>
            <a:off x="7848600" y="5029200"/>
            <a:ext cx="914400" cy="914400"/>
          </a:xfrm>
          <a:prstGeom prst="noSmoking">
            <a:avLst>
              <a:gd name="adj" fmla="val 10316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D217ED-B04A-B9D3-A232-254614F240D9}"/>
              </a:ext>
            </a:extLst>
          </p:cNvPr>
          <p:cNvSpPr/>
          <p:nvPr/>
        </p:nvSpPr>
        <p:spPr>
          <a:xfrm>
            <a:off x="3047862" y="4666450"/>
            <a:ext cx="2895600" cy="413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99EAD-7E37-3B3F-52D1-EDB1E25C609E}"/>
              </a:ext>
            </a:extLst>
          </p:cNvPr>
          <p:cNvSpPr/>
          <p:nvPr/>
        </p:nvSpPr>
        <p:spPr>
          <a:xfrm>
            <a:off x="1809898" y="4618510"/>
            <a:ext cx="2895600" cy="413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Ribbon 72">
            <a:extLst>
              <a:ext uri="{FF2B5EF4-FFF2-40B4-BE49-F238E27FC236}">
                <a16:creationId xmlns:a16="http://schemas.microsoft.com/office/drawing/2014/main" id="{7210E805-5995-B13B-E254-9A78595F1146}"/>
              </a:ext>
            </a:extLst>
          </p:cNvPr>
          <p:cNvSpPr/>
          <p:nvPr/>
        </p:nvSpPr>
        <p:spPr>
          <a:xfrm>
            <a:off x="582491" y="5990128"/>
            <a:ext cx="5121871" cy="74752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 follows from </a:t>
            </a:r>
            <a:r>
              <a:rPr lang="en-US" b="1" dirty="0">
                <a:solidFill>
                  <a:srgbClr val="7030A0"/>
                </a:solidFill>
              </a:rPr>
              <a:t>Observation 1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b="1" u="sng" dirty="0">
                <a:solidFill>
                  <a:schemeClr val="tx1"/>
                </a:solidFill>
              </a:rPr>
              <a:t>Recursive</a:t>
            </a:r>
            <a:r>
              <a:rPr lang="en-US" dirty="0">
                <a:solidFill>
                  <a:schemeClr val="tx1"/>
                </a:solidFill>
              </a:rPr>
              <a:t> nature of DFS traversal)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F16162-BCD3-A8B0-CA41-D83296FCB26A}"/>
              </a:ext>
            </a:extLst>
          </p:cNvPr>
          <p:cNvSpPr/>
          <p:nvPr/>
        </p:nvSpPr>
        <p:spPr>
          <a:xfrm>
            <a:off x="6375018" y="5075251"/>
            <a:ext cx="2895600" cy="7942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E7CAE6-7D38-9CF9-02B4-BBE62E854065}"/>
              </a:ext>
            </a:extLst>
          </p:cNvPr>
          <p:cNvSpPr/>
          <p:nvPr/>
        </p:nvSpPr>
        <p:spPr>
          <a:xfrm>
            <a:off x="7122888" y="5112292"/>
            <a:ext cx="2895600" cy="7942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D2D094-49CA-6503-0139-1A41C059946F}"/>
              </a:ext>
            </a:extLst>
          </p:cNvPr>
          <p:cNvSpPr/>
          <p:nvPr/>
        </p:nvSpPr>
        <p:spPr>
          <a:xfrm>
            <a:off x="5388341" y="5128682"/>
            <a:ext cx="2895600" cy="7942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2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3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0" grpId="0" animBg="1"/>
      <p:bldP spid="4" grpId="0" animBg="1"/>
      <p:bldP spid="6" grpId="0" animBg="1"/>
      <p:bldP spid="14" grpId="0" animBg="1"/>
      <p:bldP spid="14" grpId="1" animBg="1"/>
      <p:bldP spid="20" grpId="0" animBg="1"/>
      <p:bldP spid="22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Application </a:t>
            </a:r>
            <a:r>
              <a:rPr lang="en-US" b="1" dirty="0"/>
              <a:t>- I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6858000" cy="1752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Alternate algorithm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for</a:t>
            </a:r>
            <a:r>
              <a:rPr lang="en-US" sz="2800" b="1" dirty="0">
                <a:solidFill>
                  <a:srgbClr val="7030A0"/>
                </a:solidFill>
              </a:rPr>
              <a:t> topological numbering </a:t>
            </a:r>
            <a:r>
              <a:rPr lang="en-US" sz="2800" b="1" dirty="0">
                <a:solidFill>
                  <a:schemeClr val="tx1"/>
                </a:solidFill>
              </a:rPr>
              <a:t>of a DAG.</a:t>
            </a:r>
          </a:p>
        </p:txBody>
      </p:sp>
    </p:spTree>
    <p:extLst>
      <p:ext uri="{BB962C8B-B14F-4D97-AF65-F5344CB8AC3E}">
        <p14:creationId xmlns:p14="http://schemas.microsoft.com/office/powerpoint/2010/main" val="317231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DFS on a DAG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3" name="Content Placeholder 3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3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Suppose DFS visits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before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: </a:t>
                </a:r>
              </a:p>
              <a:p>
                <a:endParaRPr lang="en-US" sz="2000" b="1" dirty="0">
                  <a:solidFill>
                    <a:srgbClr val="00B050"/>
                  </a:solidFill>
                  <a:sym typeface="Wingdings" pitchFamily="2" charset="2"/>
                </a:endParaRPr>
              </a:p>
              <a:p>
                <a:endParaRPr lang="en-US" sz="2000" b="1" dirty="0">
                  <a:solidFill>
                    <a:srgbClr val="00B05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            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Suppose DFS visits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before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: </a:t>
                </a:r>
              </a:p>
              <a:p>
                <a:endParaRPr lang="en-US" sz="2000" b="1" dirty="0">
                  <a:solidFill>
                    <a:srgbClr val="00B050"/>
                  </a:solidFill>
                  <a:sym typeface="Wingdings" pitchFamily="2" charset="2"/>
                </a:endParaRPr>
              </a:p>
              <a:p>
                <a:endParaRPr lang="en-US" sz="2000" b="1" dirty="0">
                  <a:solidFill>
                    <a:srgbClr val="00B05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            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4" name="Content Placeholder 3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662" t="-674" b="-32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879" y="30480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>
            <a:stCxn id="4" idx="2"/>
            <a:endCxn id="6" idx="0"/>
          </p:cNvCxnSpPr>
          <p:nvPr/>
        </p:nvCxnSpPr>
        <p:spPr>
          <a:xfrm flipH="1">
            <a:off x="2375229" y="3200400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70" y="3733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349" y="38100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229" y="4419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648" y="44326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429" y="5257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215" y="5257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276" y="5257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829" y="6019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Straight Arrow Connector 13"/>
          <p:cNvCxnSpPr>
            <a:stCxn id="4" idx="2"/>
            <a:endCxn id="7" idx="0"/>
          </p:cNvCxnSpPr>
          <p:nvPr/>
        </p:nvCxnSpPr>
        <p:spPr>
          <a:xfrm>
            <a:off x="2786938" y="3200400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071" y="5257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Straight Arrow Connector 15"/>
          <p:cNvCxnSpPr>
            <a:stCxn id="6" idx="2"/>
            <a:endCxn id="8" idx="0"/>
          </p:cNvCxnSpPr>
          <p:nvPr/>
        </p:nvCxnSpPr>
        <p:spPr>
          <a:xfrm flipH="1">
            <a:off x="2072288" y="38862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10" idx="0"/>
          </p:cNvCxnSpPr>
          <p:nvPr/>
        </p:nvCxnSpPr>
        <p:spPr>
          <a:xfrm flipH="1">
            <a:off x="1767488" y="45720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2"/>
            <a:endCxn id="11" idx="0"/>
          </p:cNvCxnSpPr>
          <p:nvPr/>
        </p:nvCxnSpPr>
        <p:spPr>
          <a:xfrm>
            <a:off x="2072288" y="45720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2"/>
            <a:endCxn id="15" idx="0"/>
          </p:cNvCxnSpPr>
          <p:nvPr/>
        </p:nvCxnSpPr>
        <p:spPr>
          <a:xfrm flipH="1">
            <a:off x="3062130" y="4585010"/>
            <a:ext cx="214577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  <a:endCxn id="12" idx="0"/>
          </p:cNvCxnSpPr>
          <p:nvPr/>
        </p:nvCxnSpPr>
        <p:spPr>
          <a:xfrm>
            <a:off x="3276707" y="45850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2"/>
            <a:endCxn id="9" idx="1"/>
          </p:cNvCxnSpPr>
          <p:nvPr/>
        </p:nvCxnSpPr>
        <p:spPr>
          <a:xfrm>
            <a:off x="2375229" y="38862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4" idx="0"/>
          </p:cNvCxnSpPr>
          <p:nvPr/>
        </p:nvCxnSpPr>
        <p:spPr>
          <a:xfrm rot="16200000" flipH="1">
            <a:off x="2120164" y="3714774"/>
            <a:ext cx="2286002" cy="952455"/>
          </a:xfrm>
          <a:prstGeom prst="curvedConnector3">
            <a:avLst>
              <a:gd name="adj1" fmla="val -1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0" idx="2"/>
            <a:endCxn id="13" idx="0"/>
          </p:cNvCxnSpPr>
          <p:nvPr/>
        </p:nvCxnSpPr>
        <p:spPr>
          <a:xfrm flipH="1">
            <a:off x="1538888" y="54102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1"/>
            <a:endCxn id="6" idx="3"/>
          </p:cNvCxnSpPr>
          <p:nvPr/>
        </p:nvCxnSpPr>
        <p:spPr>
          <a:xfrm flipH="1" flipV="1">
            <a:off x="2453287" y="3810000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9" idx="0"/>
          </p:cNvCxnSpPr>
          <p:nvPr/>
        </p:nvCxnSpPr>
        <p:spPr>
          <a:xfrm>
            <a:off x="3199408" y="3962400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6" idx="2"/>
            <a:endCxn id="10" idx="1"/>
          </p:cNvCxnSpPr>
          <p:nvPr/>
        </p:nvCxnSpPr>
        <p:spPr>
          <a:xfrm rot="5400000">
            <a:off x="1308429" y="42672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1" idx="1"/>
            <a:endCxn id="13" idx="3"/>
          </p:cNvCxnSpPr>
          <p:nvPr/>
        </p:nvCxnSpPr>
        <p:spPr>
          <a:xfrm flipH="1">
            <a:off x="1616946" y="5334000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2"/>
            <a:endCxn id="29" idx="0"/>
          </p:cNvCxnSpPr>
          <p:nvPr/>
        </p:nvCxnSpPr>
        <p:spPr>
          <a:xfrm>
            <a:off x="2538274" y="54102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912" y="5943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Straight Arrow Connector 29"/>
          <p:cNvCxnSpPr>
            <a:stCxn id="12" idx="1"/>
            <a:endCxn id="15" idx="3"/>
          </p:cNvCxnSpPr>
          <p:nvPr/>
        </p:nvCxnSpPr>
        <p:spPr>
          <a:xfrm flipH="1">
            <a:off x="3140188" y="53340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9" idx="1"/>
            <a:endCxn id="10" idx="3"/>
          </p:cNvCxnSpPr>
          <p:nvPr/>
        </p:nvCxnSpPr>
        <p:spPr>
          <a:xfrm flipH="1">
            <a:off x="1845546" y="4508810"/>
            <a:ext cx="1353102" cy="82519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1447800" y="4324144"/>
            <a:ext cx="2178022" cy="1302988"/>
            <a:chOff x="3194807" y="3714544"/>
            <a:chExt cx="2178022" cy="1302988"/>
          </a:xfrm>
        </p:grpSpPr>
        <p:sp>
          <p:nvSpPr>
            <p:cNvPr id="45" name="TextBox 44"/>
            <p:cNvSpPr txBox="1"/>
            <p:nvPr/>
          </p:nvSpPr>
          <p:spPr>
            <a:xfrm>
              <a:off x="5066335" y="371454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194807" y="46482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rved Down Ribbon 37"/>
              <p:cNvSpPr/>
              <p:nvPr/>
            </p:nvSpPr>
            <p:spPr>
              <a:xfrm>
                <a:off x="5029200" y="5486400"/>
                <a:ext cx="3276600" cy="914400"/>
              </a:xfrm>
              <a:prstGeom prst="ellipseRibbon">
                <a:avLst>
                  <a:gd name="adj1" fmla="val 25000"/>
                  <a:gd name="adj2" fmla="val 75000"/>
                  <a:gd name="adj3" fmla="val 125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]</a:t>
                </a:r>
                <a:r>
                  <a:rPr lang="en-US" b="1" dirty="0">
                    <a:solidFill>
                      <a:srgbClr val="0070C0"/>
                    </a:solidFill>
                  </a:rPr>
                  <a:t> &gt;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]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always !!</a:t>
                </a:r>
                <a:endParaRPr lang="en-US" dirty="0"/>
              </a:p>
            </p:txBody>
          </p:sp>
        </mc:Choice>
        <mc:Fallback xmlns="">
          <p:sp>
            <p:nvSpPr>
              <p:cNvPr id="38" name="Curved Down Ribbon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486400"/>
                <a:ext cx="3276600" cy="914400"/>
              </a:xfrm>
              <a:prstGeom prst="ellipseRibbon">
                <a:avLst>
                  <a:gd name="adj1" fmla="val 25000"/>
                  <a:gd name="adj2" fmla="val 75000"/>
                  <a:gd name="adj3" fmla="val 12500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553200" y="2718911"/>
                <a:ext cx="1406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&lt;</a:t>
                </a:r>
                <a:r>
                  <a:rPr lang="en-US" b="1" dirty="0">
                    <a:solidFill>
                      <a:srgbClr val="00B050"/>
                    </a:solidFill>
                    <a:sym typeface="Wingdings" pitchFamily="2" charset="2"/>
                  </a:rPr>
                  <a:t> D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&lt;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2718911"/>
                <a:ext cx="140615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463" t="-8197" r="-649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924467" y="4545568"/>
                <a:ext cx="13837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&lt;</a:t>
                </a:r>
                <a:r>
                  <a:rPr lang="en-US" b="1" dirty="0">
                    <a:solidFill>
                      <a:srgbClr val="00B050"/>
                    </a:solidFill>
                    <a:sym typeface="Wingdings" pitchFamily="2" charset="2"/>
                  </a:rPr>
                  <a:t> D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&lt;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467" y="4545568"/>
                <a:ext cx="1383712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3965" t="-8333" r="-660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210431" y="4545568"/>
                <a:ext cx="7489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&lt;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431" y="4545568"/>
                <a:ext cx="748923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7317" t="-8333" r="-1300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943600" y="2709386"/>
                <a:ext cx="737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&lt;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709386"/>
                <a:ext cx="737702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6612" t="-8197" r="-1322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5410200" y="2743200"/>
            <a:ext cx="762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781800" y="2743200"/>
            <a:ext cx="6477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486400" y="4502976"/>
            <a:ext cx="1328252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3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4" grpId="0" uiExpand="1" build="p"/>
      <p:bldP spid="38" grpId="0" animBg="1"/>
      <p:bldP spid="3" grpId="0"/>
      <p:bldP spid="31" grpId="0"/>
      <p:bldP spid="35" grpId="0"/>
      <p:bldP spid="36" grpId="0"/>
      <p:bldP spid="39" grpId="0" animBg="1"/>
      <p:bldP spid="48" grpId="0" animBg="1"/>
      <p:bldP spid="4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DFS on a DAG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Lemma 4</a:t>
                </a:r>
                <a:r>
                  <a:rPr lang="en-US" sz="2000" b="1" dirty="0"/>
                  <a:t>: </a:t>
                </a:r>
                <a:r>
                  <a:rPr lang="en-US" sz="2000" dirty="0"/>
                  <a:t>For any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,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 &gt;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 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</a:t>
                </a:r>
                <a:r>
                  <a:rPr lang="en-US" sz="2000" dirty="0"/>
                  <a:t> always.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Vertices arranged in decreasing order of their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finish time </a:t>
                </a:r>
                <a:r>
                  <a:rPr lang="en-US" sz="2000" dirty="0"/>
                  <a:t>during DFS </a:t>
                </a:r>
              </a:p>
              <a:p>
                <a:pPr marL="0" indent="0">
                  <a:buNone/>
                </a:pPr>
                <a:r>
                  <a:rPr lang="en-US" sz="2000" dirty="0"/>
                  <a:t>is a valid topological ordering. </a:t>
                </a: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371600" y="3581400"/>
            <a:ext cx="5871117" cy="159834"/>
            <a:chOff x="1447800" y="4038600"/>
            <a:chExt cx="5871117" cy="159834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7956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3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200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3361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40460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40460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40460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2800" y="40460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2" name="TextBox 81"/>
          <p:cNvSpPr txBox="1"/>
          <p:nvPr/>
        </p:nvSpPr>
        <p:spPr>
          <a:xfrm>
            <a:off x="1371600" y="3212068"/>
            <a:ext cx="614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1        2          3        4       5          6          7         8        9        10      11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447800" y="3714749"/>
            <a:ext cx="5716859" cy="19051"/>
            <a:chOff x="1524000" y="3333749"/>
            <a:chExt cx="5716859" cy="19051"/>
          </a:xfrm>
        </p:grpSpPr>
        <p:cxnSp>
          <p:nvCxnSpPr>
            <p:cNvPr id="43" name="Curved Connector 42"/>
            <p:cNvCxnSpPr/>
            <p:nvPr/>
          </p:nvCxnSpPr>
          <p:spPr>
            <a:xfrm>
              <a:off x="6637609" y="3333749"/>
              <a:ext cx="603250" cy="13784"/>
            </a:xfrm>
            <a:prstGeom prst="curvedConnector4">
              <a:avLst>
                <a:gd name="adj1" fmla="val 1015"/>
                <a:gd name="adj2" fmla="val 248654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48"/>
            <p:cNvCxnSpPr/>
            <p:nvPr/>
          </p:nvCxnSpPr>
          <p:spPr>
            <a:xfrm rot="16200000" flipH="1">
              <a:off x="4096639" y="3055318"/>
              <a:ext cx="12700" cy="569561"/>
            </a:xfrm>
            <a:prstGeom prst="curvedConnector3">
              <a:avLst>
                <a:gd name="adj1" fmla="val 2678047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urved Connector 52"/>
            <p:cNvCxnSpPr/>
            <p:nvPr/>
          </p:nvCxnSpPr>
          <p:spPr>
            <a:xfrm rot="16200000" flipH="1">
              <a:off x="4683937" y="2468021"/>
              <a:ext cx="12700" cy="1744156"/>
            </a:xfrm>
            <a:prstGeom prst="curvedConnector3">
              <a:avLst>
                <a:gd name="adj1" fmla="val 6102441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urved Connector 57"/>
            <p:cNvCxnSpPr/>
            <p:nvPr/>
          </p:nvCxnSpPr>
          <p:spPr>
            <a:xfrm rot="16200000" flipH="1">
              <a:off x="2945431" y="3061669"/>
              <a:ext cx="12700" cy="569561"/>
            </a:xfrm>
            <a:prstGeom prst="curvedConnector3">
              <a:avLst>
                <a:gd name="adj1" fmla="val 2678047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urved Connector 58"/>
            <p:cNvCxnSpPr/>
            <p:nvPr/>
          </p:nvCxnSpPr>
          <p:spPr>
            <a:xfrm rot="5400000" flipH="1" flipV="1">
              <a:off x="3541442" y="1934116"/>
              <a:ext cx="7434" cy="2819400"/>
            </a:xfrm>
            <a:prstGeom prst="curvedConnector3">
              <a:avLst>
                <a:gd name="adj1" fmla="val -1102522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urved Connector 62"/>
            <p:cNvCxnSpPr/>
            <p:nvPr/>
          </p:nvCxnSpPr>
          <p:spPr>
            <a:xfrm rot="5400000" flipH="1" flipV="1">
              <a:off x="2665142" y="2200816"/>
              <a:ext cx="7434" cy="2286000"/>
            </a:xfrm>
            <a:prstGeom prst="curvedConnector3">
              <a:avLst>
                <a:gd name="adj1" fmla="val -1117522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urved Connector 76"/>
            <p:cNvCxnSpPr/>
            <p:nvPr/>
          </p:nvCxnSpPr>
          <p:spPr>
            <a:xfrm rot="16200000" flipH="1">
              <a:off x="6663783" y="2770457"/>
              <a:ext cx="7434" cy="1146717"/>
            </a:xfrm>
            <a:prstGeom prst="curvedConnector3">
              <a:avLst>
                <a:gd name="adj1" fmla="val 842518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urved Connector 25"/>
            <p:cNvCxnSpPr/>
            <p:nvPr/>
          </p:nvCxnSpPr>
          <p:spPr>
            <a:xfrm rot="16200000" flipH="1">
              <a:off x="2093642" y="2770458"/>
              <a:ext cx="7434" cy="1146717"/>
            </a:xfrm>
            <a:prstGeom prst="curvedConnector3">
              <a:avLst>
                <a:gd name="adj1" fmla="val 5789414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ight Arrow 64"/>
          <p:cNvSpPr/>
          <p:nvPr/>
        </p:nvSpPr>
        <p:spPr>
          <a:xfrm>
            <a:off x="2790513" y="2362200"/>
            <a:ext cx="3229287" cy="82881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Decreasing order of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F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600200" y="1600200"/>
            <a:ext cx="2141809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733800" y="1612612"/>
            <a:ext cx="2141809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4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2" grpId="0"/>
      <p:bldP spid="65" grpId="0" uiExpand="1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Classification of </a:t>
            </a:r>
            <a:r>
              <a:rPr lang="en-US" b="1" dirty="0">
                <a:solidFill>
                  <a:srgbClr val="7030A0"/>
                </a:solidFill>
              </a:rPr>
              <a:t>non-tree edges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085" y="4641653"/>
                <a:ext cx="1872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085" y="4641653"/>
                <a:ext cx="1872629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6494" t="-10465" r="-100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29480" y="4658380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44438" y="4641653"/>
                <a:ext cx="18373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438" y="4641653"/>
                <a:ext cx="1837362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6623" t="-10465" r="-102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51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There seems to be </a:t>
            </a:r>
            <a:r>
              <a:rPr lang="en-US" sz="2000" u="sng" dirty="0"/>
              <a:t>many</a:t>
            </a:r>
            <a:r>
              <a:rPr lang="en-US" sz="2000" dirty="0"/>
              <a:t> different types of </a:t>
            </a:r>
            <a:r>
              <a:rPr lang="en-US" sz="2000" i="1" dirty="0"/>
              <a:t>non-tree</a:t>
            </a:r>
            <a:r>
              <a:rPr lang="en-US" sz="2000" dirty="0"/>
              <a:t> edges.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351106" y="12954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3581400" y="22098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4845330" y="15240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ight Arrow 54"/>
          <p:cNvSpPr/>
          <p:nvPr/>
        </p:nvSpPr>
        <p:spPr>
          <a:xfrm rot="2898886">
            <a:off x="4171622" y="1797633"/>
            <a:ext cx="254997" cy="299642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4267199" y="51277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/>
          <p:nvPr/>
        </p:nvCxnSpPr>
        <p:spPr>
          <a:xfrm flipH="1">
            <a:off x="4345258" y="52578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5335857" y="53321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4423317" y="52039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4423317" y="52039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/>
          <p:nvPr/>
        </p:nvCxnSpPr>
        <p:spPr>
          <a:xfrm flipH="1" flipV="1">
            <a:off x="4415882" y="51676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036906" y="5029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36906" y="60314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32306" y="5105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6106" y="62600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3" name="Right Arrow 72"/>
          <p:cNvSpPr/>
          <p:nvPr/>
        </p:nvSpPr>
        <p:spPr>
          <a:xfrm rot="1556459">
            <a:off x="4103453" y="49199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Arrow 73"/>
          <p:cNvSpPr/>
          <p:nvPr/>
        </p:nvSpPr>
        <p:spPr>
          <a:xfrm rot="1556459">
            <a:off x="4546921" y="11861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343400" y="52039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loud Callout 4"/>
          <p:cNvSpPr/>
          <p:nvPr/>
        </p:nvSpPr>
        <p:spPr>
          <a:xfrm>
            <a:off x="5943600" y="2971800"/>
            <a:ext cx="3200400" cy="1295400"/>
          </a:xfrm>
          <a:prstGeom prst="cloudCallout">
            <a:avLst>
              <a:gd name="adj1" fmla="val -20833"/>
              <a:gd name="adj2" fmla="val 735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classify the non-tree edges ?</a:t>
            </a:r>
          </a:p>
        </p:txBody>
      </p:sp>
    </p:spTree>
    <p:extLst>
      <p:ext uri="{BB962C8B-B14F-4D97-AF65-F5344CB8AC3E}">
        <p14:creationId xmlns:p14="http://schemas.microsoft.com/office/powerpoint/2010/main" val="42346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  <p:bldP spid="55" grpId="0" animBg="1"/>
      <p:bldP spid="73" grpId="0" animBg="1"/>
      <p:bldP spid="7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</a:t>
                </a:r>
                <a:r>
                  <a:rPr lang="en-US" dirty="0"/>
                  <a:t> 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0" name="Curved Connector 19"/>
          <p:cNvCxnSpPr>
            <a:stCxn id="23" idx="1"/>
          </p:cNvCxnSpPr>
          <p:nvPr/>
        </p:nvCxnSpPr>
        <p:spPr>
          <a:xfrm rot="10800000" flipV="1">
            <a:off x="3512637" y="2121931"/>
            <a:ext cx="836341" cy="2255283"/>
          </a:xfrm>
          <a:prstGeom prst="curved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3351106" y="2045732"/>
            <a:ext cx="1153988" cy="2667000"/>
            <a:chOff x="3351106" y="2045732"/>
            <a:chExt cx="1153988" cy="2667000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06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739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434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43400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80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2098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28956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37338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2362200" y="5257800"/>
            <a:ext cx="4137104" cy="457200"/>
            <a:chOff x="4383613" y="3505200"/>
            <a:chExt cx="4137104" cy="45720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3312587" y="5562600"/>
            <a:ext cx="2058306" cy="381000"/>
            <a:chOff x="3312587" y="5562600"/>
            <a:chExt cx="2058306" cy="381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617387" y="55626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3312587" y="55742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587" y="5574268"/>
                  <a:ext cx="60946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8000" t="-8197" r="-1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801506" y="55742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1506" y="5574268"/>
                  <a:ext cx="569387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8986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839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Till now, we considered the situations in which either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is ancestor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 or vice versa.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839200" cy="4525963"/>
              </a:xfrm>
              <a:blipFill rotWithShape="1">
                <a:blip r:embed="rId3"/>
                <a:stretch>
                  <a:fillRect l="-759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39" idx="0"/>
            <a:endCxn id="23" idx="1"/>
          </p:cNvCxnSpPr>
          <p:nvPr/>
        </p:nvCxnSpPr>
        <p:spPr>
          <a:xfrm rot="5400000" flipH="1" flipV="1">
            <a:off x="2835968" y="2830392"/>
            <a:ext cx="2221468" cy="804549"/>
          </a:xfrm>
          <a:prstGeom prst="curved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3351106" y="2045732"/>
            <a:ext cx="1153988" cy="2667000"/>
            <a:chOff x="3351106" y="2045732"/>
            <a:chExt cx="1153988" cy="2667000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29000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29000"/>
                  <a:ext cx="41870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11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434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43400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206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10000" y="2590800"/>
                  <a:ext cx="3529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2590800"/>
                  <a:ext cx="35298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2098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28956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37338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2362200" y="5257800"/>
            <a:ext cx="4125883" cy="457200"/>
            <a:chOff x="4383613" y="3505200"/>
            <a:chExt cx="4125883" cy="45720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091" t="-8197" r="-181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loud Callout 26"/>
              <p:cNvSpPr/>
              <p:nvPr/>
            </p:nvSpPr>
            <p:spPr>
              <a:xfrm>
                <a:off x="4348977" y="2590800"/>
                <a:ext cx="4795023" cy="1740932"/>
              </a:xfrm>
              <a:prstGeom prst="cloudCallout">
                <a:avLst>
                  <a:gd name="adj1" fmla="val -20833"/>
                  <a:gd name="adj2" fmla="val 735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Is it possible to have a DFS traversal where no such relationship exists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between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though we have edge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7" name="Cloud Callou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77" y="2590800"/>
                <a:ext cx="4795023" cy="1740932"/>
              </a:xfrm>
              <a:prstGeom prst="cloudCallout">
                <a:avLst>
                  <a:gd name="adj1" fmla="val -20833"/>
                  <a:gd name="adj2" fmla="val 73532"/>
                </a:avLst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Ribbon 3"/>
          <p:cNvSpPr/>
          <p:nvPr/>
        </p:nvSpPr>
        <p:spPr>
          <a:xfrm>
            <a:off x="6094169" y="4114800"/>
            <a:ext cx="3049832" cy="123086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Yes, indeed.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Think over it before coming to the next lecture.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312587" y="5562600"/>
            <a:ext cx="2069527" cy="381000"/>
            <a:chOff x="3312587" y="5562600"/>
            <a:chExt cx="2069527" cy="38100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3617387" y="55626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312587" y="55742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587" y="5574268"/>
                  <a:ext cx="62068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801506" y="55742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1506" y="5574268"/>
                  <a:ext cx="580608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877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7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rgbClr val="7030A0"/>
                    </a:solidFill>
                  </a:rPr>
                  <a:t>Cross</a:t>
                </a:r>
                <a:r>
                  <a:rPr lang="en-US" b="1" dirty="0"/>
                  <a:t> </a:t>
                </a:r>
                <a:r>
                  <a:rPr lang="en-US" dirty="0"/>
                  <a:t>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3351106" y="2514600"/>
            <a:ext cx="1153988" cy="2667000"/>
            <a:chOff x="3351106" y="2045732"/>
            <a:chExt cx="1153988" cy="2667000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739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434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43400"/>
                  <a:ext cx="37061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80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678668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3364468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4202668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505094" y="2221468"/>
            <a:ext cx="1209906" cy="3693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715000" y="1981200"/>
            <a:ext cx="457200" cy="369332"/>
            <a:chOff x="5715000" y="1981200"/>
            <a:chExt cx="457200" cy="369332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133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785556" y="19812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556" y="1981200"/>
                  <a:ext cx="38664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4219575" y="1457325"/>
            <a:ext cx="257175" cy="1066800"/>
            <a:chOff x="4219575" y="1457325"/>
            <a:chExt cx="257175" cy="1066800"/>
          </a:xfrm>
        </p:grpSpPr>
        <p:sp>
          <p:nvSpPr>
            <p:cNvPr id="6" name="Freeform 5"/>
            <p:cNvSpPr/>
            <p:nvPr/>
          </p:nvSpPr>
          <p:spPr>
            <a:xfrm>
              <a:off x="4219575" y="1457325"/>
              <a:ext cx="257175" cy="1066800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6" idx="21"/>
              <a:endCxn id="6" idx="25"/>
            </p:cNvCxnSpPr>
            <p:nvPr/>
          </p:nvCxnSpPr>
          <p:spPr>
            <a:xfrm flipH="1">
              <a:off x="4410075" y="2371725"/>
              <a:ext cx="38100" cy="152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752600" y="5541639"/>
            <a:ext cx="2175128" cy="478161"/>
            <a:chOff x="3850213" y="1905000"/>
            <a:chExt cx="2175128" cy="4781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8000" t="-8197" r="-9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9677" t="-8197" r="-860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4114800" y="1230868"/>
            <a:ext cx="445980" cy="369332"/>
            <a:chOff x="5715000" y="1981200"/>
            <a:chExt cx="445980" cy="369332"/>
          </a:xfrm>
        </p:grpSpPr>
        <p:pic>
          <p:nvPicPr>
            <p:cNvPr id="3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133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785556" y="19812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556" y="1981200"/>
                  <a:ext cx="375424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Cloud Callout 53"/>
          <p:cNvSpPr/>
          <p:nvPr/>
        </p:nvSpPr>
        <p:spPr>
          <a:xfrm>
            <a:off x="5091810" y="2667000"/>
            <a:ext cx="4052190" cy="1600200"/>
          </a:xfrm>
          <a:prstGeom prst="cloudCallout">
            <a:avLst>
              <a:gd name="adj1" fmla="val -20833"/>
              <a:gd name="adj2" fmla="val 735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Are there any other type of non-tree edges 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72906" y="5552790"/>
            <a:ext cx="2096431" cy="467010"/>
            <a:chOff x="4572906" y="5552790"/>
            <a:chExt cx="2096431" cy="467010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4814958" y="555279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4572906" y="5629507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906" y="5629507"/>
                  <a:ext cx="620683" cy="36933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6088729" y="56504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729" y="5650468"/>
                  <a:ext cx="580608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ED1CC2-FE25-7999-0FA6-592C7EFB02B3}"/>
              </a:ext>
            </a:extLst>
          </p:cNvPr>
          <p:cNvSpPr txBox="1"/>
          <p:nvPr/>
        </p:nvSpPr>
        <p:spPr>
          <a:xfrm>
            <a:off x="612593" y="6147030"/>
            <a:ext cx="6709081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Homework:</a:t>
            </a:r>
            <a:r>
              <a:rPr lang="en-US" dirty="0"/>
              <a:t> Prove rigorously that there are no other types of edges.</a:t>
            </a:r>
          </a:p>
          <a:p>
            <a:pPr algn="ctr"/>
            <a:r>
              <a:rPr lang="en-US" dirty="0"/>
              <a:t>We shall discuss it in next class.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34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4" grpId="0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5251</TotalTime>
  <Words>2785</Words>
  <Application>Microsoft Office PowerPoint</Application>
  <PresentationFormat>On-screen Show (4:3)</PresentationFormat>
  <Paragraphs>683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Recap of last lecture</vt:lpstr>
      <vt:lpstr>Algorithm for Topological ordering  </vt:lpstr>
      <vt:lpstr>PowerPoint Presentation</vt:lpstr>
      <vt:lpstr>Algorithm for Topological ordering  </vt:lpstr>
      <vt:lpstr>Algorithm for Topological ordering  </vt:lpstr>
      <vt:lpstr> DEPTH FIRST SEARCH </vt:lpstr>
      <vt:lpstr>Unique-path graph </vt:lpstr>
      <vt:lpstr>MIN-Label Problem</vt:lpstr>
      <vt:lpstr> DEPTH FIRST SEARCH </vt:lpstr>
      <vt:lpstr>Searching path from u to z </vt:lpstr>
      <vt:lpstr>DFS from a vertex u </vt:lpstr>
      <vt:lpstr>Relation among various DFS() calls</vt:lpstr>
      <vt:lpstr>DFS from a vertex u </vt:lpstr>
      <vt:lpstr>DFS from a vertex u </vt:lpstr>
      <vt:lpstr>DFS from a vertex u </vt:lpstr>
      <vt:lpstr>DFS from a vertex u </vt:lpstr>
      <vt:lpstr>DFS from a vertex u </vt:lpstr>
      <vt:lpstr>DFS from a vertex u </vt:lpstr>
      <vt:lpstr> More insights ABOUT DFS(u) </vt:lpstr>
      <vt:lpstr>DFS from a vertex u </vt:lpstr>
      <vt:lpstr>DFS from a vertex u </vt:lpstr>
      <vt:lpstr>DFS from a vertex u </vt:lpstr>
      <vt:lpstr>DFS from a vertex u </vt:lpstr>
      <vt:lpstr> DEPTH FIRST SEARCH </vt:lpstr>
      <vt:lpstr>DFS on the graph </vt:lpstr>
      <vt:lpstr>PowerPoint Presentation</vt:lpstr>
      <vt:lpstr>DFS on the graph </vt:lpstr>
      <vt:lpstr>DFS on the graph </vt:lpstr>
      <vt:lpstr>DFS on the graph </vt:lpstr>
      <vt:lpstr>How is (D[u], F[u])  related to (D[v], F[v]) ?</vt:lpstr>
      <vt:lpstr>Application - I</vt:lpstr>
      <vt:lpstr>DFS on a DAG </vt:lpstr>
      <vt:lpstr>DFS on a DAG </vt:lpstr>
      <vt:lpstr>Classification of non-tree edges </vt:lpstr>
      <vt:lpstr>Classification of non-tree edges </vt:lpstr>
      <vt:lpstr>(u,v) is Forward edge</vt:lpstr>
      <vt:lpstr>(u,v) is Backward edge</vt:lpstr>
      <vt:lpstr>(u,v) is Cross edge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412</cp:revision>
  <dcterms:created xsi:type="dcterms:W3CDTF">2011-12-03T04:13:03Z</dcterms:created>
  <dcterms:modified xsi:type="dcterms:W3CDTF">2025-09-01T09:07:43Z</dcterms:modified>
</cp:coreProperties>
</file>