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5"/>
  </p:notesMasterIdLst>
  <p:sldIdLst>
    <p:sldId id="492" r:id="rId2"/>
    <p:sldId id="716" r:id="rId3"/>
    <p:sldId id="743" r:id="rId4"/>
    <p:sldId id="744" r:id="rId5"/>
    <p:sldId id="714" r:id="rId6"/>
    <p:sldId id="715" r:id="rId7"/>
    <p:sldId id="745" r:id="rId8"/>
    <p:sldId id="746" r:id="rId9"/>
    <p:sldId id="747" r:id="rId10"/>
    <p:sldId id="748" r:id="rId11"/>
    <p:sldId id="749" r:id="rId12"/>
    <p:sldId id="750" r:id="rId13"/>
    <p:sldId id="751" r:id="rId14"/>
    <p:sldId id="752" r:id="rId15"/>
    <p:sldId id="606" r:id="rId16"/>
    <p:sldId id="605" r:id="rId17"/>
    <p:sldId id="636" r:id="rId18"/>
    <p:sldId id="607" r:id="rId19"/>
    <p:sldId id="608" r:id="rId20"/>
    <p:sldId id="609" r:id="rId21"/>
    <p:sldId id="604" r:id="rId22"/>
    <p:sldId id="706" r:id="rId23"/>
    <p:sldId id="753" r:id="rId24"/>
    <p:sldId id="476" r:id="rId25"/>
    <p:sldId id="700" r:id="rId26"/>
    <p:sldId id="719" r:id="rId27"/>
    <p:sldId id="732" r:id="rId28"/>
    <p:sldId id="498" r:id="rId29"/>
    <p:sldId id="701" r:id="rId30"/>
    <p:sldId id="501" r:id="rId31"/>
    <p:sldId id="485" r:id="rId32"/>
    <p:sldId id="471" r:id="rId33"/>
    <p:sldId id="734" r:id="rId34"/>
    <p:sldId id="735" r:id="rId35"/>
    <p:sldId id="481" r:id="rId36"/>
    <p:sldId id="736" r:id="rId37"/>
    <p:sldId id="754" r:id="rId38"/>
    <p:sldId id="737" r:id="rId39"/>
    <p:sldId id="727" r:id="rId40"/>
    <p:sldId id="728" r:id="rId41"/>
    <p:sldId id="755" r:id="rId42"/>
    <p:sldId id="731" r:id="rId43"/>
    <p:sldId id="491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3" autoAdjust="0"/>
    <p:restoredTop sz="92051" autoAdjust="0"/>
  </p:normalViewPr>
  <p:slideViewPr>
    <p:cSldViewPr>
      <p:cViewPr varScale="1">
        <p:scale>
          <a:sx n="103" d="100"/>
          <a:sy n="103" d="100"/>
        </p:scale>
        <p:origin x="106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1310.png"/><Relationship Id="rId7" Type="http://schemas.openxmlformats.org/officeDocument/2006/relationships/image" Target="../media/image121.png"/><Relationship Id="rId12" Type="http://schemas.openxmlformats.org/officeDocument/2006/relationships/image" Target="../media/image181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91.png"/><Relationship Id="rId5" Type="http://schemas.openxmlformats.org/officeDocument/2006/relationships/image" Target="../media/image101.png"/><Relationship Id="rId10" Type="http://schemas.openxmlformats.org/officeDocument/2006/relationships/image" Target="../media/image81.png"/><Relationship Id="rId9" Type="http://schemas.openxmlformats.org/officeDocument/2006/relationships/image" Target="../media/image70.png"/><Relationship Id="rId14" Type="http://schemas.openxmlformats.org/officeDocument/2006/relationships/image" Target="../media/image5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png"/><Relationship Id="rId8" Type="http://schemas.openxmlformats.org/officeDocument/2006/relationships/image" Target="../media/image2300.png"/><Relationship Id="rId18" Type="http://schemas.openxmlformats.org/officeDocument/2006/relationships/image" Target="../media/image301.png"/><Relationship Id="rId12" Type="http://schemas.openxmlformats.org/officeDocument/2006/relationships/image" Target="../media/image510.png"/><Relationship Id="rId17" Type="http://schemas.openxmlformats.org/officeDocument/2006/relationships/image" Target="../media/image290.png"/><Relationship Id="rId2" Type="http://schemas.openxmlformats.org/officeDocument/2006/relationships/image" Target="../media/image142.png"/><Relationship Id="rId16" Type="http://schemas.openxmlformats.org/officeDocument/2006/relationships/image" Target="../media/image280.png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91.png"/><Relationship Id="rId5" Type="http://schemas.openxmlformats.org/officeDocument/2006/relationships/image" Target="../media/image101.png"/><Relationship Id="rId15" Type="http://schemas.openxmlformats.org/officeDocument/2006/relationships/image" Target="../media/image1410.png"/><Relationship Id="rId10" Type="http://schemas.openxmlformats.org/officeDocument/2006/relationships/image" Target="../media/image81.png"/><Relationship Id="rId19" Type="http://schemas.openxmlformats.org/officeDocument/2006/relationships/image" Target="../media/image310.png"/><Relationship Id="rId9" Type="http://schemas.openxmlformats.org/officeDocument/2006/relationships/image" Target="../media/image70.png"/><Relationship Id="rId14" Type="http://schemas.openxmlformats.org/officeDocument/2006/relationships/image" Target="../media/image16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18" Type="http://schemas.openxmlformats.org/officeDocument/2006/relationships/image" Target="../media/image301.png"/><Relationship Id="rId3" Type="http://schemas.openxmlformats.org/officeDocument/2006/relationships/image" Target="../media/image37.png"/><Relationship Id="rId21" Type="http://schemas.openxmlformats.org/officeDocument/2006/relationships/image" Target="../media/image39.png"/><Relationship Id="rId17" Type="http://schemas.openxmlformats.org/officeDocument/2006/relationships/image" Target="../media/image290.png"/><Relationship Id="rId2" Type="http://schemas.openxmlformats.org/officeDocument/2006/relationships/image" Target="../media/image36.png"/><Relationship Id="rId16" Type="http://schemas.openxmlformats.org/officeDocument/2006/relationships/image" Target="../media/image280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43.png"/><Relationship Id="rId15" Type="http://schemas.openxmlformats.org/officeDocument/2006/relationships/image" Target="../media/image1410.png"/><Relationship Id="rId23" Type="http://schemas.openxmlformats.org/officeDocument/2006/relationships/image" Target="../media/image42.png"/><Relationship Id="rId19" Type="http://schemas.openxmlformats.org/officeDocument/2006/relationships/image" Target="../media/image310.png"/><Relationship Id="rId22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18" Type="http://schemas.openxmlformats.org/officeDocument/2006/relationships/image" Target="../media/image301.png"/><Relationship Id="rId26" Type="http://schemas.openxmlformats.org/officeDocument/2006/relationships/image" Target="../media/image43.png"/><Relationship Id="rId3" Type="http://schemas.openxmlformats.org/officeDocument/2006/relationships/image" Target="../media/image37.png"/><Relationship Id="rId21" Type="http://schemas.openxmlformats.org/officeDocument/2006/relationships/image" Target="../media/image39.png"/><Relationship Id="rId17" Type="http://schemas.openxmlformats.org/officeDocument/2006/relationships/image" Target="../media/image290.png"/><Relationship Id="rId25" Type="http://schemas.openxmlformats.org/officeDocument/2006/relationships/image" Target="../media/image42.png"/><Relationship Id="rId2" Type="http://schemas.openxmlformats.org/officeDocument/2006/relationships/image" Target="../media/image44.png"/><Relationship Id="rId16" Type="http://schemas.openxmlformats.org/officeDocument/2006/relationships/image" Target="../media/image280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47.png"/><Relationship Id="rId15" Type="http://schemas.openxmlformats.org/officeDocument/2006/relationships/image" Target="../media/image1410.png"/><Relationship Id="rId23" Type="http://schemas.openxmlformats.org/officeDocument/2006/relationships/image" Target="../media/image46.png"/><Relationship Id="rId19" Type="http://schemas.openxmlformats.org/officeDocument/2006/relationships/image" Target="../media/image310.png"/><Relationship Id="rId22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4.png"/><Relationship Id="rId8" Type="http://schemas.openxmlformats.org/officeDocument/2006/relationships/image" Target="../media/image2300.png"/><Relationship Id="rId18" Type="http://schemas.openxmlformats.org/officeDocument/2006/relationships/image" Target="../media/image301.png"/><Relationship Id="rId26" Type="http://schemas.openxmlformats.org/officeDocument/2006/relationships/image" Target="../media/image434.png"/><Relationship Id="rId12" Type="http://schemas.openxmlformats.org/officeDocument/2006/relationships/image" Target="../media/image510.png"/><Relationship Id="rId17" Type="http://schemas.openxmlformats.org/officeDocument/2006/relationships/image" Target="../media/image290.png"/><Relationship Id="rId25" Type="http://schemas.openxmlformats.org/officeDocument/2006/relationships/image" Target="../media/image245.png"/><Relationship Id="rId2" Type="http://schemas.openxmlformats.org/officeDocument/2006/relationships/image" Target="../media/image212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91.png"/><Relationship Id="rId24" Type="http://schemas.openxmlformats.org/officeDocument/2006/relationships/image" Target="../media/image233.png"/><Relationship Id="rId5" Type="http://schemas.openxmlformats.org/officeDocument/2006/relationships/image" Target="../media/image101.png"/><Relationship Id="rId23" Type="http://schemas.openxmlformats.org/officeDocument/2006/relationships/image" Target="../media/image162.png"/><Relationship Id="rId15" Type="http://schemas.openxmlformats.org/officeDocument/2006/relationships/image" Target="../media/image1410.png"/><Relationship Id="rId10" Type="http://schemas.openxmlformats.org/officeDocument/2006/relationships/image" Target="../media/image81.png"/><Relationship Id="rId19" Type="http://schemas.openxmlformats.org/officeDocument/2006/relationships/image" Target="../media/image310.png"/><Relationship Id="rId9" Type="http://schemas.openxmlformats.org/officeDocument/2006/relationships/image" Target="../media/image70.png"/><Relationship Id="rId14" Type="http://schemas.openxmlformats.org/officeDocument/2006/relationships/image" Target="../media/image2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18" Type="http://schemas.openxmlformats.org/officeDocument/2006/relationships/image" Target="../media/image301.png"/><Relationship Id="rId26" Type="http://schemas.openxmlformats.org/officeDocument/2006/relationships/image" Target="../media/image233.png"/><Relationship Id="rId12" Type="http://schemas.openxmlformats.org/officeDocument/2006/relationships/image" Target="../media/image510.png"/><Relationship Id="rId17" Type="http://schemas.openxmlformats.org/officeDocument/2006/relationships/image" Target="../media/image290.png"/><Relationship Id="rId25" Type="http://schemas.openxmlformats.org/officeDocument/2006/relationships/image" Target="../media/image372.png"/><Relationship Id="rId2" Type="http://schemas.openxmlformats.org/officeDocument/2006/relationships/image" Target="../media/image212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91.png"/><Relationship Id="rId24" Type="http://schemas.openxmlformats.org/officeDocument/2006/relationships/image" Target="../media/image245.png"/><Relationship Id="rId5" Type="http://schemas.openxmlformats.org/officeDocument/2006/relationships/image" Target="../media/image101.png"/><Relationship Id="rId23" Type="http://schemas.openxmlformats.org/officeDocument/2006/relationships/image" Target="../media/image162.png"/><Relationship Id="rId15" Type="http://schemas.openxmlformats.org/officeDocument/2006/relationships/image" Target="../media/image1410.png"/><Relationship Id="rId10" Type="http://schemas.openxmlformats.org/officeDocument/2006/relationships/image" Target="../media/image81.png"/><Relationship Id="rId19" Type="http://schemas.openxmlformats.org/officeDocument/2006/relationships/image" Target="../media/image310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3.png"/><Relationship Id="rId12" Type="http://schemas.openxmlformats.org/officeDocument/2006/relationships/image" Target="../media/image510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91.png"/><Relationship Id="rId5" Type="http://schemas.openxmlformats.org/officeDocument/2006/relationships/image" Target="../media/image101.png"/><Relationship Id="rId15" Type="http://schemas.openxmlformats.org/officeDocument/2006/relationships/image" Target="../media/image321.png"/><Relationship Id="rId10" Type="http://schemas.openxmlformats.org/officeDocument/2006/relationships/image" Target="../media/image81.png"/><Relationship Id="rId9" Type="http://schemas.openxmlformats.org/officeDocument/2006/relationships/image" Target="../media/image70.png"/><Relationship Id="rId14" Type="http://schemas.openxmlformats.org/officeDocument/2006/relationships/image" Target="../media/image2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13" Type="http://schemas.openxmlformats.org/officeDocument/2006/relationships/image" Target="../media/image244.png"/><Relationship Id="rId3" Type="http://schemas.openxmlformats.org/officeDocument/2006/relationships/image" Target="../media/image440.png"/><Relationship Id="rId7" Type="http://schemas.openxmlformats.org/officeDocument/2006/relationships/image" Target="../media/image501.png"/><Relationship Id="rId12" Type="http://schemas.openxmlformats.org/officeDocument/2006/relationships/image" Target="../media/image171.png"/><Relationship Id="rId2" Type="http://schemas.openxmlformats.org/officeDocument/2006/relationships/image" Target="../media/image430.png"/><Relationship Id="rId16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.png"/><Relationship Id="rId11" Type="http://schemas.openxmlformats.org/officeDocument/2006/relationships/image" Target="../media/image161.png"/><Relationship Id="rId5" Type="http://schemas.openxmlformats.org/officeDocument/2006/relationships/image" Target="../media/image300.png"/><Relationship Id="rId15" Type="http://schemas.openxmlformats.org/officeDocument/2006/relationships/image" Target="../media/image460.png"/><Relationship Id="rId10" Type="http://schemas.openxmlformats.org/officeDocument/2006/relationships/image" Target="../media/image151.png"/><Relationship Id="rId4" Type="http://schemas.openxmlformats.org/officeDocument/2006/relationships/image" Target="../media/image211.png"/><Relationship Id="rId9" Type="http://schemas.openxmlformats.org/officeDocument/2006/relationships/image" Target="../media/image450.png"/><Relationship Id="rId14" Type="http://schemas.openxmlformats.org/officeDocument/2006/relationships/image" Target="../media/image2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3" Type="http://schemas.openxmlformats.org/officeDocument/2006/relationships/image" Target="../media/image330.png"/><Relationship Id="rId7" Type="http://schemas.openxmlformats.org/officeDocument/2006/relationships/image" Target="../media/image341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361.png"/><Relationship Id="rId7" Type="http://schemas.openxmlformats.org/officeDocument/2006/relationships/image" Target="../media/image411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10.png"/><Relationship Id="rId5" Type="http://schemas.openxmlformats.org/officeDocument/2006/relationships/image" Target="../media/image381.png"/><Relationship Id="rId10" Type="http://schemas.openxmlformats.org/officeDocument/2006/relationships/image" Target="../media/image232.png"/><Relationship Id="rId4" Type="http://schemas.openxmlformats.org/officeDocument/2006/relationships/image" Target="../media/image3710.png"/><Relationship Id="rId9" Type="http://schemas.openxmlformats.org/officeDocument/2006/relationships/image" Target="../media/image4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13" Type="http://schemas.openxmlformats.org/officeDocument/2006/relationships/image" Target="../media/image63.png"/><Relationship Id="rId7" Type="http://schemas.openxmlformats.org/officeDocument/2006/relationships/image" Target="../media/image211.png"/><Relationship Id="rId12" Type="http://schemas.openxmlformats.org/officeDocument/2006/relationships/image" Target="../media/image51.png"/><Relationship Id="rId17" Type="http://schemas.openxmlformats.org/officeDocument/2006/relationships/image" Target="../media/image1000.png"/><Relationship Id="rId16" Type="http://schemas.openxmlformats.org/officeDocument/2006/relationships/image" Target="../media/image90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61.png"/><Relationship Id="rId15" Type="http://schemas.openxmlformats.org/officeDocument/2006/relationships/image" Target="../media/image80.png"/><Relationship Id="rId23" Type="http://schemas.openxmlformats.org/officeDocument/2006/relationships/image" Target="../media/image1600.png"/><Relationship Id="rId10" Type="http://schemas.openxmlformats.org/officeDocument/2006/relationships/image" Target="../media/image302.png"/><Relationship Id="rId9" Type="http://schemas.openxmlformats.org/officeDocument/2006/relationships/image" Target="../media/image2100.png"/><Relationship Id="rId1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13" Type="http://schemas.openxmlformats.org/officeDocument/2006/relationships/image" Target="../media/image63.png"/><Relationship Id="rId26" Type="http://schemas.openxmlformats.org/officeDocument/2006/relationships/image" Target="../media/image422.png"/><Relationship Id="rId21" Type="http://schemas.openxmlformats.org/officeDocument/2006/relationships/image" Target="../media/image140.png"/><Relationship Id="rId7" Type="http://schemas.openxmlformats.org/officeDocument/2006/relationships/image" Target="../media/image211.png"/><Relationship Id="rId12" Type="http://schemas.openxmlformats.org/officeDocument/2006/relationships/image" Target="../media/image51.png"/><Relationship Id="rId17" Type="http://schemas.openxmlformats.org/officeDocument/2006/relationships/image" Target="../media/image1000.png"/><Relationship Id="rId25" Type="http://schemas.openxmlformats.org/officeDocument/2006/relationships/image" Target="../media/image413.png"/><Relationship Id="rId16" Type="http://schemas.openxmlformats.org/officeDocument/2006/relationships/image" Target="../media/image900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61.png"/><Relationship Id="rId24" Type="http://schemas.openxmlformats.org/officeDocument/2006/relationships/image" Target="../media/image390.png"/><Relationship Id="rId15" Type="http://schemas.openxmlformats.org/officeDocument/2006/relationships/image" Target="../media/image80.png"/><Relationship Id="rId23" Type="http://schemas.openxmlformats.org/officeDocument/2006/relationships/image" Target="../media/image1600.png"/><Relationship Id="rId10" Type="http://schemas.openxmlformats.org/officeDocument/2006/relationships/image" Target="../media/image302.png"/><Relationship Id="rId19" Type="http://schemas.openxmlformats.org/officeDocument/2006/relationships/image" Target="../media/image1200.png"/><Relationship Id="rId9" Type="http://schemas.openxmlformats.org/officeDocument/2006/relationships/image" Target="../media/image2100.png"/><Relationship Id="rId14" Type="http://schemas.openxmlformats.org/officeDocument/2006/relationships/image" Target="../media/image72.png"/><Relationship Id="rId22" Type="http://schemas.openxmlformats.org/officeDocument/2006/relationships/image" Target="../media/image1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13" Type="http://schemas.openxmlformats.org/officeDocument/2006/relationships/image" Target="../media/image63.png"/><Relationship Id="rId18" Type="http://schemas.openxmlformats.org/officeDocument/2006/relationships/image" Target="../media/image111.png"/><Relationship Id="rId26" Type="http://schemas.openxmlformats.org/officeDocument/2006/relationships/image" Target="../media/image2010.png"/><Relationship Id="rId21" Type="http://schemas.openxmlformats.org/officeDocument/2006/relationships/image" Target="../media/image140.png"/><Relationship Id="rId7" Type="http://schemas.openxmlformats.org/officeDocument/2006/relationships/image" Target="../media/image211.png"/><Relationship Id="rId12" Type="http://schemas.openxmlformats.org/officeDocument/2006/relationships/image" Target="../media/image51.png"/><Relationship Id="rId17" Type="http://schemas.openxmlformats.org/officeDocument/2006/relationships/image" Target="../media/image1000.png"/><Relationship Id="rId16" Type="http://schemas.openxmlformats.org/officeDocument/2006/relationships/image" Target="../media/image900.png"/><Relationship Id="rId20" Type="http://schemas.openxmlformats.org/officeDocument/2006/relationships/image" Target="../media/image130.png"/><Relationship Id="rId29" Type="http://schemas.openxmlformats.org/officeDocument/2006/relationships/image" Target="../media/image252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61.png"/><Relationship Id="rId24" Type="http://schemas.openxmlformats.org/officeDocument/2006/relationships/image" Target="../media/image180.png"/><Relationship Id="rId15" Type="http://schemas.openxmlformats.org/officeDocument/2006/relationships/image" Target="../media/image80.png"/><Relationship Id="rId23" Type="http://schemas.openxmlformats.org/officeDocument/2006/relationships/image" Target="../media/image1700.png"/><Relationship Id="rId28" Type="http://schemas.openxmlformats.org/officeDocument/2006/relationships/image" Target="../media/image1600.png"/><Relationship Id="rId10" Type="http://schemas.openxmlformats.org/officeDocument/2006/relationships/image" Target="../media/image302.png"/><Relationship Id="rId19" Type="http://schemas.openxmlformats.org/officeDocument/2006/relationships/image" Target="../media/image1200.png"/><Relationship Id="rId31" Type="http://schemas.openxmlformats.org/officeDocument/2006/relationships/image" Target="../media/image422.png"/><Relationship Id="rId9" Type="http://schemas.openxmlformats.org/officeDocument/2006/relationships/image" Target="../media/image2100.png"/><Relationship Id="rId14" Type="http://schemas.openxmlformats.org/officeDocument/2006/relationships/image" Target="../media/image72.png"/><Relationship Id="rId22" Type="http://schemas.openxmlformats.org/officeDocument/2006/relationships/image" Target="../media/image150.png"/><Relationship Id="rId30" Type="http://schemas.openxmlformats.org/officeDocument/2006/relationships/image" Target="../media/image260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13" Type="http://schemas.openxmlformats.org/officeDocument/2006/relationships/image" Target="../media/image63.png"/><Relationship Id="rId18" Type="http://schemas.openxmlformats.org/officeDocument/2006/relationships/image" Target="../media/image111.png"/><Relationship Id="rId26" Type="http://schemas.openxmlformats.org/officeDocument/2006/relationships/image" Target="../media/image2010.png"/><Relationship Id="rId21" Type="http://schemas.openxmlformats.org/officeDocument/2006/relationships/image" Target="../media/image140.png"/><Relationship Id="rId34" Type="http://schemas.openxmlformats.org/officeDocument/2006/relationships/image" Target="../media/image2700.png"/><Relationship Id="rId7" Type="http://schemas.openxmlformats.org/officeDocument/2006/relationships/image" Target="../media/image211.png"/><Relationship Id="rId12" Type="http://schemas.openxmlformats.org/officeDocument/2006/relationships/image" Target="../media/image51.png"/><Relationship Id="rId17" Type="http://schemas.openxmlformats.org/officeDocument/2006/relationships/image" Target="../media/image1000.png"/><Relationship Id="rId25" Type="http://schemas.openxmlformats.org/officeDocument/2006/relationships/image" Target="../media/image1900.png"/><Relationship Id="rId33" Type="http://schemas.openxmlformats.org/officeDocument/2006/relationships/image" Target="../media/image271.png"/><Relationship Id="rId16" Type="http://schemas.openxmlformats.org/officeDocument/2006/relationships/image" Target="../media/image900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61.png"/><Relationship Id="rId24" Type="http://schemas.openxmlformats.org/officeDocument/2006/relationships/image" Target="../media/image180.png"/><Relationship Id="rId32" Type="http://schemas.openxmlformats.org/officeDocument/2006/relationships/image" Target="../media/image261.png"/><Relationship Id="rId15" Type="http://schemas.openxmlformats.org/officeDocument/2006/relationships/image" Target="../media/image80.png"/><Relationship Id="rId23" Type="http://schemas.openxmlformats.org/officeDocument/2006/relationships/image" Target="../media/image1700.png"/><Relationship Id="rId28" Type="http://schemas.openxmlformats.org/officeDocument/2006/relationships/image" Target="../media/image1600.png"/><Relationship Id="rId10" Type="http://schemas.openxmlformats.org/officeDocument/2006/relationships/image" Target="../media/image302.png"/><Relationship Id="rId19" Type="http://schemas.openxmlformats.org/officeDocument/2006/relationships/image" Target="../media/image1200.png"/><Relationship Id="rId31" Type="http://schemas.openxmlformats.org/officeDocument/2006/relationships/image" Target="../media/image2500.png"/><Relationship Id="rId9" Type="http://schemas.openxmlformats.org/officeDocument/2006/relationships/image" Target="../media/image2100.png"/><Relationship Id="rId14" Type="http://schemas.openxmlformats.org/officeDocument/2006/relationships/image" Target="../media/image72.png"/><Relationship Id="rId22" Type="http://schemas.openxmlformats.org/officeDocument/2006/relationships/image" Target="../media/image150.png"/><Relationship Id="rId27" Type="http://schemas.openxmlformats.org/officeDocument/2006/relationships/image" Target="../media/image2200.png"/><Relationship Id="rId30" Type="http://schemas.openxmlformats.org/officeDocument/2006/relationships/image" Target="../media/image241.png"/><Relationship Id="rId35" Type="http://schemas.openxmlformats.org/officeDocument/2006/relationships/image" Target="../media/image422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111.png"/><Relationship Id="rId26" Type="http://schemas.openxmlformats.org/officeDocument/2006/relationships/image" Target="../media/image1700.png"/><Relationship Id="rId39" Type="http://schemas.openxmlformats.org/officeDocument/2006/relationships/image" Target="../media/image364.png"/><Relationship Id="rId21" Type="http://schemas.openxmlformats.org/officeDocument/2006/relationships/image" Target="../media/image140.png"/><Relationship Id="rId34" Type="http://schemas.openxmlformats.org/officeDocument/2006/relationships/image" Target="../media/image331.png"/><Relationship Id="rId7" Type="http://schemas.openxmlformats.org/officeDocument/2006/relationships/image" Target="../media/image211.png"/><Relationship Id="rId12" Type="http://schemas.openxmlformats.org/officeDocument/2006/relationships/image" Target="../media/image51.png"/><Relationship Id="rId17" Type="http://schemas.openxmlformats.org/officeDocument/2006/relationships/image" Target="../media/image1000.png"/><Relationship Id="rId25" Type="http://schemas.openxmlformats.org/officeDocument/2006/relationships/image" Target="../media/image231.png"/><Relationship Id="rId33" Type="http://schemas.openxmlformats.org/officeDocument/2006/relationships/image" Target="../media/image320.png"/><Relationship Id="rId38" Type="http://schemas.openxmlformats.org/officeDocument/2006/relationships/image" Target="../media/image322.png"/><Relationship Id="rId16" Type="http://schemas.openxmlformats.org/officeDocument/2006/relationships/image" Target="../media/image900.png"/><Relationship Id="rId20" Type="http://schemas.openxmlformats.org/officeDocument/2006/relationships/image" Target="../media/image130.png"/><Relationship Id="rId29" Type="http://schemas.openxmlformats.org/officeDocument/2006/relationships/image" Target="../media/image2200.png"/><Relationship Id="rId41" Type="http://schemas.openxmlformats.org/officeDocument/2006/relationships/image" Target="../media/image38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61.png"/><Relationship Id="rId24" Type="http://schemas.openxmlformats.org/officeDocument/2006/relationships/image" Target="../media/image281.png"/><Relationship Id="rId37" Type="http://schemas.openxmlformats.org/officeDocument/2006/relationships/image" Target="../media/image1600.png"/><Relationship Id="rId40" Type="http://schemas.openxmlformats.org/officeDocument/2006/relationships/image" Target="../media/image371.png"/><Relationship Id="rId15" Type="http://schemas.openxmlformats.org/officeDocument/2006/relationships/image" Target="../media/image80.png"/><Relationship Id="rId23" Type="http://schemas.openxmlformats.org/officeDocument/2006/relationships/image" Target="../media/image1900.png"/><Relationship Id="rId28" Type="http://schemas.openxmlformats.org/officeDocument/2006/relationships/image" Target="../media/image2010.png"/><Relationship Id="rId36" Type="http://schemas.openxmlformats.org/officeDocument/2006/relationships/image" Target="../media/image351.png"/><Relationship Id="rId10" Type="http://schemas.openxmlformats.org/officeDocument/2006/relationships/image" Target="../media/image302.png"/><Relationship Id="rId19" Type="http://schemas.openxmlformats.org/officeDocument/2006/relationships/image" Target="../media/image1200.png"/><Relationship Id="rId31" Type="http://schemas.openxmlformats.org/officeDocument/2006/relationships/image" Target="../media/image303.png"/><Relationship Id="rId9" Type="http://schemas.openxmlformats.org/officeDocument/2006/relationships/image" Target="../media/image2100.png"/><Relationship Id="rId14" Type="http://schemas.openxmlformats.org/officeDocument/2006/relationships/image" Target="../media/image72.png"/><Relationship Id="rId22" Type="http://schemas.openxmlformats.org/officeDocument/2006/relationships/image" Target="../media/image150.png"/><Relationship Id="rId27" Type="http://schemas.openxmlformats.org/officeDocument/2006/relationships/image" Target="../media/image180.png"/><Relationship Id="rId8" Type="http://schemas.openxmlformats.org/officeDocument/2006/relationships/image" Target="../media/image11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1.png"/><Relationship Id="rId13" Type="http://schemas.openxmlformats.org/officeDocument/2006/relationships/image" Target="../media/image1510.png"/><Relationship Id="rId18" Type="http://schemas.openxmlformats.org/officeDocument/2006/relationships/image" Target="../media/image201.png"/><Relationship Id="rId26" Type="http://schemas.openxmlformats.org/officeDocument/2006/relationships/image" Target="../media/image251.png"/><Relationship Id="rId3" Type="http://schemas.openxmlformats.org/officeDocument/2006/relationships/image" Target="../media/image2.png"/><Relationship Id="rId21" Type="http://schemas.openxmlformats.org/officeDocument/2006/relationships/image" Target="../media/image2310.png"/><Relationship Id="rId7" Type="http://schemas.openxmlformats.org/officeDocument/2006/relationships/image" Target="../media/image911.png"/><Relationship Id="rId12" Type="http://schemas.openxmlformats.org/officeDocument/2006/relationships/image" Target="../media/image141.png"/><Relationship Id="rId17" Type="http://schemas.openxmlformats.org/officeDocument/2006/relationships/image" Target="../media/image191.png"/><Relationship Id="rId25" Type="http://schemas.openxmlformats.org/officeDocument/2006/relationships/image" Target="../media/image2520.png"/><Relationship Id="rId2" Type="http://schemas.openxmlformats.org/officeDocument/2006/relationships/image" Target="../media/image2110.png"/><Relationship Id="rId16" Type="http://schemas.openxmlformats.org/officeDocument/2006/relationships/image" Target="../media/image1810.png"/><Relationship Id="rId20" Type="http://schemas.openxmlformats.org/officeDocument/2006/relationships/image" Target="../media/image222.png"/><Relationship Id="rId29" Type="http://schemas.openxmlformats.org/officeDocument/2006/relationships/image" Target="../media/image2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1.png"/><Relationship Id="rId11" Type="http://schemas.openxmlformats.org/officeDocument/2006/relationships/image" Target="../media/image131.png"/><Relationship Id="rId24" Type="http://schemas.openxmlformats.org/officeDocument/2006/relationships/image" Target="../media/image2410.png"/><Relationship Id="rId5" Type="http://schemas.openxmlformats.org/officeDocument/2006/relationships/image" Target="../media/image511.png"/><Relationship Id="rId15" Type="http://schemas.openxmlformats.org/officeDocument/2006/relationships/image" Target="../media/image1710.png"/><Relationship Id="rId23" Type="http://schemas.openxmlformats.org/officeDocument/2006/relationships/image" Target="../media/image2210.png"/><Relationship Id="rId28" Type="http://schemas.openxmlformats.org/officeDocument/2006/relationships/image" Target="../media/image2710.png"/><Relationship Id="rId10" Type="http://schemas.openxmlformats.org/officeDocument/2006/relationships/image" Target="../media/image1210.png"/><Relationship Id="rId19" Type="http://schemas.openxmlformats.org/officeDocument/2006/relationships/image" Target="../media/image2120.png"/><Relationship Id="rId4" Type="http://schemas.openxmlformats.org/officeDocument/2006/relationships/image" Target="../media/image4110.png"/><Relationship Id="rId9" Type="http://schemas.openxmlformats.org/officeDocument/2006/relationships/image" Target="../media/image1110.png"/><Relationship Id="rId14" Type="http://schemas.openxmlformats.org/officeDocument/2006/relationships/image" Target="../media/image1610.png"/><Relationship Id="rId22" Type="http://schemas.openxmlformats.org/officeDocument/2006/relationships/image" Target="../media/image210.png"/><Relationship Id="rId27" Type="http://schemas.openxmlformats.org/officeDocument/2006/relationships/image" Target="../media/image2610.png"/><Relationship Id="rId30" Type="http://schemas.openxmlformats.org/officeDocument/2006/relationships/image" Target="../media/image29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0.png"/><Relationship Id="rId26" Type="http://schemas.openxmlformats.org/officeDocument/2006/relationships/image" Target="../media/image17000.png"/><Relationship Id="rId39" Type="http://schemas.openxmlformats.org/officeDocument/2006/relationships/image" Target="../media/image6.png"/><Relationship Id="rId3" Type="http://schemas.openxmlformats.org/officeDocument/2006/relationships/image" Target="../media/image2110.png"/><Relationship Id="rId21" Type="http://schemas.openxmlformats.org/officeDocument/2006/relationships/image" Target="../media/image230.png"/><Relationship Id="rId34" Type="http://schemas.openxmlformats.org/officeDocument/2006/relationships/image" Target="../media/image2710.png"/><Relationship Id="rId7" Type="http://schemas.openxmlformats.org/officeDocument/2006/relationships/image" Target="../media/image811.png"/><Relationship Id="rId12" Type="http://schemas.openxmlformats.org/officeDocument/2006/relationships/image" Target="../media/image1300.png"/><Relationship Id="rId25" Type="http://schemas.openxmlformats.org/officeDocument/2006/relationships/image" Target="../media/image270.png"/><Relationship Id="rId33" Type="http://schemas.openxmlformats.org/officeDocument/2006/relationships/image" Target="../media/image3000.png"/><Relationship Id="rId38" Type="http://schemas.openxmlformats.org/officeDocument/2006/relationships/image" Target="../media/image5.png"/><Relationship Id="rId2" Type="http://schemas.openxmlformats.org/officeDocument/2006/relationships/image" Target="../media/image3.png"/><Relationship Id="rId20" Type="http://schemas.openxmlformats.org/officeDocument/2006/relationships/image" Target="../media/image22000.png"/><Relationship Id="rId29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1.png"/><Relationship Id="rId11" Type="http://schemas.openxmlformats.org/officeDocument/2006/relationships/image" Target="../media/image120.png"/><Relationship Id="rId24" Type="http://schemas.openxmlformats.org/officeDocument/2006/relationships/image" Target="../media/image26000.png"/><Relationship Id="rId32" Type="http://schemas.openxmlformats.org/officeDocument/2006/relationships/image" Target="../media/image2900.png"/><Relationship Id="rId37" Type="http://schemas.openxmlformats.org/officeDocument/2006/relationships/image" Target="../media/image4.png"/><Relationship Id="rId40" Type="http://schemas.openxmlformats.org/officeDocument/2006/relationships/image" Target="../media/image7.png"/><Relationship Id="rId5" Type="http://schemas.openxmlformats.org/officeDocument/2006/relationships/image" Target="../media/image4110.png"/><Relationship Id="rId15" Type="http://schemas.openxmlformats.org/officeDocument/2006/relationships/image" Target="../media/image160.png"/><Relationship Id="rId23" Type="http://schemas.openxmlformats.org/officeDocument/2006/relationships/image" Target="../media/image250.png"/><Relationship Id="rId28" Type="http://schemas.openxmlformats.org/officeDocument/2006/relationships/image" Target="../media/image190.png"/><Relationship Id="rId36" Type="http://schemas.openxmlformats.org/officeDocument/2006/relationships/image" Target="../media/image3210.png"/><Relationship Id="rId10" Type="http://schemas.openxmlformats.org/officeDocument/2006/relationships/image" Target="../media/image110.png"/><Relationship Id="rId31" Type="http://schemas.openxmlformats.org/officeDocument/2006/relationships/image" Target="../media/image2520.png"/><Relationship Id="rId4" Type="http://schemas.openxmlformats.org/officeDocument/2006/relationships/image" Target="../media/image2.png"/><Relationship Id="rId9" Type="http://schemas.openxmlformats.org/officeDocument/2006/relationships/image" Target="../media/image1011.png"/><Relationship Id="rId14" Type="http://schemas.openxmlformats.org/officeDocument/2006/relationships/image" Target="../media/image1500.png"/><Relationship Id="rId22" Type="http://schemas.openxmlformats.org/officeDocument/2006/relationships/image" Target="../media/image240.png"/><Relationship Id="rId27" Type="http://schemas.openxmlformats.org/officeDocument/2006/relationships/image" Target="../media/image1800.png"/><Relationship Id="rId30" Type="http://schemas.openxmlformats.org/officeDocument/2006/relationships/image" Target="../media/image210.png"/><Relationship Id="rId35" Type="http://schemas.openxmlformats.org/officeDocument/2006/relationships/image" Target="../media/image311.png"/><Relationship Id="rId8" Type="http://schemas.openxmlformats.org/officeDocument/2006/relationships/image" Target="../media/image9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3.png"/><Relationship Id="rId39" Type="http://schemas.openxmlformats.org/officeDocument/2006/relationships/image" Target="../media/image76.png"/><Relationship Id="rId34" Type="http://schemas.openxmlformats.org/officeDocument/2006/relationships/image" Target="../media/image3510.png"/><Relationship Id="rId38" Type="http://schemas.openxmlformats.org/officeDocument/2006/relationships/image" Target="../media/image4010.png"/><Relationship Id="rId2" Type="http://schemas.openxmlformats.org/officeDocument/2006/relationships/image" Target="../media/image3310.png"/><Relationship Id="rId29" Type="http://schemas.openxmlformats.org/officeDocument/2006/relationships/image" Target="../media/image36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20.png"/><Relationship Id="rId37" Type="http://schemas.openxmlformats.org/officeDocument/2006/relationships/image" Target="../media/image3900.png"/><Relationship Id="rId28" Type="http://schemas.openxmlformats.org/officeDocument/2006/relationships/image" Target="../media/image3520.png"/><Relationship Id="rId36" Type="http://schemas.openxmlformats.org/officeDocument/2006/relationships/image" Target="../media/image383.png"/><Relationship Id="rId10" Type="http://schemas.openxmlformats.org/officeDocument/2006/relationships/image" Target="../media/image110.png"/><Relationship Id="rId27" Type="http://schemas.openxmlformats.org/officeDocument/2006/relationships/image" Target="../media/image3410.png"/><Relationship Id="rId35" Type="http://schemas.openxmlformats.org/officeDocument/2006/relationships/image" Target="../media/image37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0.png"/><Relationship Id="rId7" Type="http://schemas.openxmlformats.org/officeDocument/2006/relationships/image" Target="../media/image41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0.png"/><Relationship Id="rId5" Type="http://schemas.openxmlformats.org/officeDocument/2006/relationships/image" Target="../media/image39100.png"/><Relationship Id="rId4" Type="http://schemas.openxmlformats.org/officeDocument/2006/relationships/image" Target="../media/image38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0.png"/><Relationship Id="rId7" Type="http://schemas.openxmlformats.org/officeDocument/2006/relationships/image" Target="../media/image79.png"/><Relationship Id="rId2" Type="http://schemas.openxmlformats.org/officeDocument/2006/relationships/image" Target="../media/image3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39100.png"/><Relationship Id="rId4" Type="http://schemas.openxmlformats.org/officeDocument/2006/relationships/image" Target="../media/image38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0.png"/><Relationship Id="rId13" Type="http://schemas.openxmlformats.org/officeDocument/2006/relationships/image" Target="../media/image71.png"/><Relationship Id="rId3" Type="http://schemas.openxmlformats.org/officeDocument/2006/relationships/image" Target="../media/image3400.png"/><Relationship Id="rId7" Type="http://schemas.openxmlformats.org/officeDocument/2006/relationships/image" Target="../media/image420.png"/><Relationship Id="rId12" Type="http://schemas.openxmlformats.org/officeDocument/2006/relationships/image" Target="../media/image3600.png"/><Relationship Id="rId2" Type="http://schemas.openxmlformats.org/officeDocument/2006/relationships/image" Target="../media/image3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3500.png"/><Relationship Id="rId10" Type="http://schemas.openxmlformats.org/officeDocument/2006/relationships/image" Target="../media/image4500.png"/><Relationship Id="rId4" Type="http://schemas.openxmlformats.org/officeDocument/2006/relationships/image" Target="../media/image2.png"/><Relationship Id="rId9" Type="http://schemas.openxmlformats.org/officeDocument/2006/relationships/image" Target="../media/image44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0.png"/><Relationship Id="rId13" Type="http://schemas.openxmlformats.org/officeDocument/2006/relationships/image" Target="../media/image9.png"/><Relationship Id="rId3" Type="http://schemas.openxmlformats.org/officeDocument/2006/relationships/image" Target="../media/image3400.png"/><Relationship Id="rId7" Type="http://schemas.openxmlformats.org/officeDocument/2006/relationships/image" Target="../media/image8.png"/><Relationship Id="rId12" Type="http://schemas.openxmlformats.org/officeDocument/2006/relationships/image" Target="../media/image3600.png"/><Relationship Id="rId2" Type="http://schemas.openxmlformats.org/officeDocument/2006/relationships/image" Target="../media/image3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3500.png"/><Relationship Id="rId10" Type="http://schemas.openxmlformats.org/officeDocument/2006/relationships/image" Target="../media/image4500.png"/><Relationship Id="rId4" Type="http://schemas.openxmlformats.org/officeDocument/2006/relationships/image" Target="../media/image2.png"/><Relationship Id="rId9" Type="http://schemas.openxmlformats.org/officeDocument/2006/relationships/image" Target="../media/image440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0.png"/><Relationship Id="rId13" Type="http://schemas.openxmlformats.org/officeDocument/2006/relationships/image" Target="../media/image471.png"/><Relationship Id="rId3" Type="http://schemas.openxmlformats.org/officeDocument/2006/relationships/image" Target="../media/image3400.png"/><Relationship Id="rId12" Type="http://schemas.openxmlformats.org/officeDocument/2006/relationships/image" Target="../media/image3600.png"/><Relationship Id="rId2" Type="http://schemas.openxmlformats.org/officeDocument/2006/relationships/image" Target="../media/image3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3500.png"/><Relationship Id="rId15" Type="http://schemas.openxmlformats.org/officeDocument/2006/relationships/image" Target="../media/image10.png"/><Relationship Id="rId10" Type="http://schemas.openxmlformats.org/officeDocument/2006/relationships/image" Target="../media/image4500.png"/><Relationship Id="rId4" Type="http://schemas.openxmlformats.org/officeDocument/2006/relationships/image" Target="../media/image2.png"/><Relationship Id="rId9" Type="http://schemas.openxmlformats.org/officeDocument/2006/relationships/image" Target="../media/image4400.png"/><Relationship Id="rId14" Type="http://schemas.openxmlformats.org/officeDocument/2006/relationships/image" Target="../media/image48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1.png"/><Relationship Id="rId3" Type="http://schemas.openxmlformats.org/officeDocument/2006/relationships/image" Target="../media/image2.png"/><Relationship Id="rId7" Type="http://schemas.openxmlformats.org/officeDocument/2006/relationships/image" Target="../media/image50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541.png"/><Relationship Id="rId5" Type="http://schemas.openxmlformats.org/officeDocument/2006/relationships/image" Target="../media/image4800.png"/><Relationship Id="rId10" Type="http://schemas.openxmlformats.org/officeDocument/2006/relationships/image" Target="../media/image530.png"/><Relationship Id="rId4" Type="http://schemas.openxmlformats.org/officeDocument/2006/relationships/image" Target="../media/image4700.png"/><Relationship Id="rId9" Type="http://schemas.openxmlformats.org/officeDocument/2006/relationships/image" Target="../media/image52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1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2.png"/><Relationship Id="rId21" Type="http://schemas.openxmlformats.org/officeDocument/2006/relationships/image" Target="../media/image22.png"/><Relationship Id="rId7" Type="http://schemas.openxmlformats.org/officeDocument/2006/relationships/image" Target="../media/image500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82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12.png"/><Relationship Id="rId5" Type="http://schemas.openxmlformats.org/officeDocument/2006/relationships/image" Target="../media/image4800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4700.png"/><Relationship Id="rId9" Type="http://schemas.openxmlformats.org/officeDocument/2006/relationships/image" Target="../media/image52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1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541.png"/><Relationship Id="rId5" Type="http://schemas.openxmlformats.org/officeDocument/2006/relationships/image" Target="../media/image4800.png"/><Relationship Id="rId4" Type="http://schemas.openxmlformats.org/officeDocument/2006/relationships/image" Target="../media/image4700.png"/><Relationship Id="rId9" Type="http://schemas.openxmlformats.org/officeDocument/2006/relationships/image" Target="../media/image52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4.png"/><Relationship Id="rId18" Type="http://schemas.openxmlformats.org/officeDocument/2006/relationships/image" Target="../media/image760.png"/><Relationship Id="rId3" Type="http://schemas.openxmlformats.org/officeDocument/2006/relationships/image" Target="../media/image2.png"/><Relationship Id="rId21" Type="http://schemas.openxmlformats.org/officeDocument/2006/relationships/image" Target="../media/image85.png"/><Relationship Id="rId7" Type="http://schemas.openxmlformats.org/officeDocument/2006/relationships/image" Target="../media/image26.png"/><Relationship Id="rId12" Type="http://schemas.openxmlformats.org/officeDocument/2006/relationships/image" Target="../media/image33.png"/><Relationship Id="rId17" Type="http://schemas.openxmlformats.org/officeDocument/2006/relationships/image" Target="../media/image701.png"/><Relationship Id="rId2" Type="http://schemas.openxmlformats.org/officeDocument/2006/relationships/image" Target="../media/image812.png"/><Relationship Id="rId16" Type="http://schemas.openxmlformats.org/officeDocument/2006/relationships/image" Target="../media/image50.png"/><Relationship Id="rId20" Type="http://schemas.openxmlformats.org/officeDocument/2006/relationships/image" Target="../media/image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2.png"/><Relationship Id="rId15" Type="http://schemas.openxmlformats.org/officeDocument/2006/relationships/image" Target="../media/image482.png"/><Relationship Id="rId10" Type="http://schemas.openxmlformats.org/officeDocument/2006/relationships/image" Target="../media/image29.png"/><Relationship Id="rId19" Type="http://schemas.openxmlformats.org/officeDocument/2006/relationships/image" Target="../media/image771.png"/><Relationship Id="rId4" Type="http://schemas.openxmlformats.org/officeDocument/2006/relationships/image" Target="../media/image234.png"/><Relationship Id="rId9" Type="http://schemas.openxmlformats.org/officeDocument/2006/relationships/image" Target="../media/image28.png"/><Relationship Id="rId14" Type="http://schemas.openxmlformats.org/officeDocument/2006/relationships/image" Target="../media/image41.png"/><Relationship Id="rId22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89.png"/><Relationship Id="rId18" Type="http://schemas.openxmlformats.org/officeDocument/2006/relationships/image" Target="../media/image912.png"/><Relationship Id="rId3" Type="http://schemas.openxmlformats.org/officeDocument/2006/relationships/image" Target="../media/image2.png"/><Relationship Id="rId21" Type="http://schemas.openxmlformats.org/officeDocument/2006/relationships/image" Target="../media/image93.png"/><Relationship Id="rId7" Type="http://schemas.openxmlformats.org/officeDocument/2006/relationships/image" Target="../media/image26.png"/><Relationship Id="rId12" Type="http://schemas.openxmlformats.org/officeDocument/2006/relationships/image" Target="../media/image88.png"/><Relationship Id="rId17" Type="http://schemas.openxmlformats.org/officeDocument/2006/relationships/image" Target="../media/image701.png"/><Relationship Id="rId2" Type="http://schemas.openxmlformats.org/officeDocument/2006/relationships/image" Target="../media/image812.png"/><Relationship Id="rId16" Type="http://schemas.openxmlformats.org/officeDocument/2006/relationships/image" Target="../media/image50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7.png"/><Relationship Id="rId24" Type="http://schemas.openxmlformats.org/officeDocument/2006/relationships/image" Target="../media/image95.png"/><Relationship Id="rId5" Type="http://schemas.openxmlformats.org/officeDocument/2006/relationships/image" Target="../media/image242.png"/><Relationship Id="rId15" Type="http://schemas.openxmlformats.org/officeDocument/2006/relationships/image" Target="../media/image482.png"/><Relationship Id="rId23" Type="http://schemas.openxmlformats.org/officeDocument/2006/relationships/image" Target="../media/image94.png"/><Relationship Id="rId10" Type="http://schemas.openxmlformats.org/officeDocument/2006/relationships/image" Target="../media/image860.png"/><Relationship Id="rId19" Type="http://schemas.openxmlformats.org/officeDocument/2006/relationships/image" Target="../media/image771.png"/><Relationship Id="rId4" Type="http://schemas.openxmlformats.org/officeDocument/2006/relationships/image" Target="../media/image234.png"/><Relationship Id="rId9" Type="http://schemas.openxmlformats.org/officeDocument/2006/relationships/image" Target="../media/image28.png"/><Relationship Id="rId14" Type="http://schemas.openxmlformats.org/officeDocument/2006/relationships/image" Target="../media/image90.png"/><Relationship Id="rId22" Type="http://schemas.openxmlformats.org/officeDocument/2006/relationships/image" Target="../media/image85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png"/><Relationship Id="rId18" Type="http://schemas.openxmlformats.org/officeDocument/2006/relationships/image" Target="../media/image912.png"/><Relationship Id="rId26" Type="http://schemas.openxmlformats.org/officeDocument/2006/relationships/image" Target="../media/image100.png"/><Relationship Id="rId3" Type="http://schemas.openxmlformats.org/officeDocument/2006/relationships/image" Target="../media/image2.png"/><Relationship Id="rId21" Type="http://schemas.openxmlformats.org/officeDocument/2006/relationships/image" Target="../media/image85.png"/><Relationship Id="rId7" Type="http://schemas.openxmlformats.org/officeDocument/2006/relationships/image" Target="../media/image26.png"/><Relationship Id="rId12" Type="http://schemas.openxmlformats.org/officeDocument/2006/relationships/image" Target="../media/image88.png"/><Relationship Id="rId17" Type="http://schemas.openxmlformats.org/officeDocument/2006/relationships/image" Target="../media/image96.png"/><Relationship Id="rId25" Type="http://schemas.openxmlformats.org/officeDocument/2006/relationships/image" Target="../media/image99.png"/><Relationship Id="rId33" Type="http://schemas.openxmlformats.org/officeDocument/2006/relationships/image" Target="../media/image32.png"/><Relationship Id="rId2" Type="http://schemas.openxmlformats.org/officeDocument/2006/relationships/image" Target="../media/image812.png"/><Relationship Id="rId16" Type="http://schemas.openxmlformats.org/officeDocument/2006/relationships/image" Target="../media/image50.png"/><Relationship Id="rId20" Type="http://schemas.openxmlformats.org/officeDocument/2006/relationships/image" Target="../media/image93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7.png"/><Relationship Id="rId24" Type="http://schemas.openxmlformats.org/officeDocument/2006/relationships/image" Target="../media/image98.png"/><Relationship Id="rId32" Type="http://schemas.openxmlformats.org/officeDocument/2006/relationships/image" Target="../media/image220.png"/><Relationship Id="rId5" Type="http://schemas.openxmlformats.org/officeDocument/2006/relationships/image" Target="../media/image242.png"/><Relationship Id="rId15" Type="http://schemas.openxmlformats.org/officeDocument/2006/relationships/image" Target="../media/image482.png"/><Relationship Id="rId23" Type="http://schemas.openxmlformats.org/officeDocument/2006/relationships/image" Target="../media/image95.png"/><Relationship Id="rId28" Type="http://schemas.openxmlformats.org/officeDocument/2006/relationships/image" Target="../media/image102.png"/><Relationship Id="rId10" Type="http://schemas.openxmlformats.org/officeDocument/2006/relationships/image" Target="../media/image860.png"/><Relationship Id="rId19" Type="http://schemas.openxmlformats.org/officeDocument/2006/relationships/image" Target="../media/image92.png"/><Relationship Id="rId31" Type="http://schemas.openxmlformats.org/officeDocument/2006/relationships/image" Target="../media/image105.png"/><Relationship Id="rId4" Type="http://schemas.openxmlformats.org/officeDocument/2006/relationships/image" Target="../media/image234.png"/><Relationship Id="rId9" Type="http://schemas.openxmlformats.org/officeDocument/2006/relationships/image" Target="../media/image28.png"/><Relationship Id="rId14" Type="http://schemas.openxmlformats.org/officeDocument/2006/relationships/image" Target="../media/image90.png"/><Relationship Id="rId22" Type="http://schemas.openxmlformats.org/officeDocument/2006/relationships/image" Target="../media/image97.png"/><Relationship Id="rId27" Type="http://schemas.openxmlformats.org/officeDocument/2006/relationships/image" Target="../media/image1012.png"/><Relationship Id="rId30" Type="http://schemas.openxmlformats.org/officeDocument/2006/relationships/image" Target="../media/image104.png"/><Relationship Id="rId8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png"/><Relationship Id="rId18" Type="http://schemas.openxmlformats.org/officeDocument/2006/relationships/image" Target="../media/image912.png"/><Relationship Id="rId26" Type="http://schemas.openxmlformats.org/officeDocument/2006/relationships/image" Target="../media/image100.png"/><Relationship Id="rId3" Type="http://schemas.openxmlformats.org/officeDocument/2006/relationships/image" Target="../media/image2.png"/><Relationship Id="rId34" Type="http://schemas.openxmlformats.org/officeDocument/2006/relationships/image" Target="../media/image107.png"/><Relationship Id="rId7" Type="http://schemas.openxmlformats.org/officeDocument/2006/relationships/image" Target="../media/image26.png"/><Relationship Id="rId12" Type="http://schemas.openxmlformats.org/officeDocument/2006/relationships/image" Target="../media/image88.png"/><Relationship Id="rId17" Type="http://schemas.openxmlformats.org/officeDocument/2006/relationships/image" Target="../media/image96.png"/><Relationship Id="rId25" Type="http://schemas.openxmlformats.org/officeDocument/2006/relationships/image" Target="../media/image99.png"/><Relationship Id="rId33" Type="http://schemas.openxmlformats.org/officeDocument/2006/relationships/image" Target="../media/image35.png"/><Relationship Id="rId2" Type="http://schemas.openxmlformats.org/officeDocument/2006/relationships/image" Target="../media/image812.png"/><Relationship Id="rId16" Type="http://schemas.openxmlformats.org/officeDocument/2006/relationships/image" Target="../media/image50.png"/><Relationship Id="rId20" Type="http://schemas.openxmlformats.org/officeDocument/2006/relationships/image" Target="../media/image93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7.png"/><Relationship Id="rId24" Type="http://schemas.openxmlformats.org/officeDocument/2006/relationships/image" Target="../media/image98.png"/><Relationship Id="rId32" Type="http://schemas.openxmlformats.org/officeDocument/2006/relationships/image" Target="../media/image220.png"/><Relationship Id="rId5" Type="http://schemas.openxmlformats.org/officeDocument/2006/relationships/image" Target="../media/image242.png"/><Relationship Id="rId15" Type="http://schemas.openxmlformats.org/officeDocument/2006/relationships/image" Target="../media/image482.png"/><Relationship Id="rId23" Type="http://schemas.openxmlformats.org/officeDocument/2006/relationships/image" Target="../media/image95.png"/><Relationship Id="rId28" Type="http://schemas.openxmlformats.org/officeDocument/2006/relationships/image" Target="../media/image102.png"/><Relationship Id="rId10" Type="http://schemas.openxmlformats.org/officeDocument/2006/relationships/image" Target="../media/image860.png"/><Relationship Id="rId19" Type="http://schemas.openxmlformats.org/officeDocument/2006/relationships/image" Target="../media/image92.png"/><Relationship Id="rId31" Type="http://schemas.openxmlformats.org/officeDocument/2006/relationships/image" Target="../media/image105.png"/><Relationship Id="rId4" Type="http://schemas.openxmlformats.org/officeDocument/2006/relationships/image" Target="../media/image234.png"/><Relationship Id="rId9" Type="http://schemas.openxmlformats.org/officeDocument/2006/relationships/image" Target="../media/image28.png"/><Relationship Id="rId14" Type="http://schemas.openxmlformats.org/officeDocument/2006/relationships/image" Target="../media/image90.png"/><Relationship Id="rId22" Type="http://schemas.openxmlformats.org/officeDocument/2006/relationships/image" Target="../media/image97.png"/><Relationship Id="rId27" Type="http://schemas.openxmlformats.org/officeDocument/2006/relationships/image" Target="../media/image1012.png"/><Relationship Id="rId30" Type="http://schemas.openxmlformats.org/officeDocument/2006/relationships/image" Target="../media/image104.png"/><Relationship Id="rId35" Type="http://schemas.openxmlformats.org/officeDocument/2006/relationships/image" Target="../media/image108.png"/><Relationship Id="rId8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1508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20 </a:t>
            </a:r>
          </a:p>
          <a:p>
            <a:pPr algn="l">
              <a:defRPr/>
            </a:pPr>
            <a:r>
              <a:rPr lang="en-US" sz="2400" b="1" dirty="0">
                <a:solidFill>
                  <a:srgbClr val="7030A0"/>
                </a:solidFill>
              </a:rPr>
              <a:t>        Fast Matrix Multiplication  </a:t>
            </a:r>
          </a:p>
          <a:p>
            <a:pPr>
              <a:defRPr/>
            </a:pPr>
            <a:r>
              <a:rPr lang="en-US" sz="2400" b="1" dirty="0">
                <a:solidFill>
                  <a:srgbClr val="7030A0"/>
                </a:solidFill>
              </a:rPr>
              <a:t>II</a:t>
            </a:r>
          </a:p>
          <a:p>
            <a:pPr>
              <a:defRPr/>
            </a:pP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                CS345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DD21B-6333-A203-2D9E-3CF07069BDCF}"/>
              </a:ext>
            </a:extLst>
          </p:cNvPr>
          <p:cNvSpPr txBox="1"/>
          <p:nvPr/>
        </p:nvSpPr>
        <p:spPr>
          <a:xfrm>
            <a:off x="4800600" y="4953000"/>
            <a:ext cx="269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and its Applications</a:t>
            </a:r>
            <a:endParaRPr lang="en-I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590024-9441-0CB5-39B2-751020D90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RECAP </a:t>
            </a:r>
            <a:r>
              <a:rPr lang="en-US" b="1" dirty="0"/>
              <a:t>of the Last Lecture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6247B51-1A69-2FDF-45F0-E7EBE1228A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sz="3900" dirty="0">
                <a:solidFill>
                  <a:srgbClr val="0070C0"/>
                </a:solidFill>
              </a:rPr>
              <a:t>I</a:t>
            </a:r>
          </a:p>
          <a:p>
            <a:r>
              <a:rPr lang="en-US" sz="3000" dirty="0">
                <a:solidFill>
                  <a:schemeClr val="tx1"/>
                </a:solidFill>
              </a:rPr>
              <a:t>Single source shortest paths in </a:t>
            </a:r>
            <a:r>
              <a:rPr lang="en-US" sz="3000" dirty="0" err="1">
                <a:solidFill>
                  <a:schemeClr val="tx1"/>
                </a:solidFill>
              </a:rPr>
              <a:t>presebce</a:t>
            </a:r>
            <a:r>
              <a:rPr lang="en-US" sz="3000" dirty="0">
                <a:solidFill>
                  <a:schemeClr val="tx1"/>
                </a:solidFill>
              </a:rPr>
              <a:t> of negative weights but </a:t>
            </a:r>
            <a:r>
              <a:rPr lang="en-US" sz="3000" u="sng" dirty="0">
                <a:solidFill>
                  <a:srgbClr val="C00000"/>
                </a:solidFill>
              </a:rPr>
              <a:t>no</a:t>
            </a:r>
            <a:r>
              <a:rPr lang="en-US" sz="3000" u="sng" dirty="0">
                <a:solidFill>
                  <a:schemeClr val="tx1"/>
                </a:solidFill>
              </a:rPr>
              <a:t> negative cycle</a:t>
            </a:r>
          </a:p>
        </p:txBody>
      </p:sp>
    </p:spTree>
    <p:extLst>
      <p:ext uri="{BB962C8B-B14F-4D97-AF65-F5344CB8AC3E}">
        <p14:creationId xmlns:p14="http://schemas.microsoft.com/office/powerpoint/2010/main" val="277235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: the shortest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1800" dirty="0"/>
                  <a:t> path having </a:t>
                </a:r>
                <a:r>
                  <a:rPr lang="en-US" sz="1800" b="1" dirty="0"/>
                  <a:t>at most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edges.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: length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410200"/>
              </a:xfrm>
              <a:blipFill rotWithShape="1">
                <a:blip r:embed="rId2"/>
                <a:stretch>
                  <a:fillRect l="-593" t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1981200" y="1600200"/>
            <a:ext cx="4648200" cy="4495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2286000" y="1905000"/>
            <a:ext cx="4038600" cy="3886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937250" y="1295400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1295400"/>
                <a:ext cx="80021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916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All paths from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663434"/>
                <a:ext cx="166962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909" t="-6349" r="-509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4267200" y="1905000"/>
            <a:ext cx="76200" cy="381000"/>
            <a:chOff x="4267200" y="1905000"/>
            <a:chExt cx="76200" cy="381000"/>
          </a:xfrm>
        </p:grpSpPr>
        <p:sp>
          <p:nvSpPr>
            <p:cNvPr id="27" name="Oval 26"/>
            <p:cNvSpPr/>
            <p:nvPr/>
          </p:nvSpPr>
          <p:spPr>
            <a:xfrm>
              <a:off x="4267200" y="22098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267200" y="20574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267200" y="19050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4267200" y="3048000"/>
            <a:ext cx="76200" cy="381000"/>
            <a:chOff x="4267200" y="1905000"/>
            <a:chExt cx="76200" cy="381000"/>
          </a:xfrm>
        </p:grpSpPr>
        <p:sp>
          <p:nvSpPr>
            <p:cNvPr id="32" name="Oval 31"/>
            <p:cNvSpPr/>
            <p:nvPr/>
          </p:nvSpPr>
          <p:spPr>
            <a:xfrm>
              <a:off x="4267200" y="22098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267200" y="20574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267200" y="1905000"/>
              <a:ext cx="76200" cy="762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962400" y="1611868"/>
                <a:ext cx="800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611868"/>
                <a:ext cx="80021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91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371600" y="6096000"/>
            <a:ext cx="2286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3657600" y="6172200"/>
            <a:ext cx="2743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295400" y="6629400"/>
            <a:ext cx="1869634" cy="30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918272" y="926068"/>
            <a:ext cx="6832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Aim</a:t>
            </a:r>
            <a:r>
              <a:rPr lang="en-US" dirty="0"/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46592" y="926068"/>
                <a:ext cx="3335208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To compute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592" y="926068"/>
                <a:ext cx="333520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1460" t="-8197" r="-200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    Recursive Formulation </a:t>
                </a:r>
                <a:r>
                  <a:rPr lang="en-US" sz="2800" b="1" dirty="0"/>
                  <a:t>for</a:t>
                </a:r>
                <a:r>
                  <a:rPr lang="en-US" sz="28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800" i="1" dirty="0">
                            <a:latin typeface="Cambria Math"/>
                          </a:rPr>
                          <m:t>,</m:t>
                        </m:r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8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blipFill rotWithShape="1">
                <a:blip r:embed="rId14"/>
                <a:stretch>
                  <a:fillRect l="-2260" t="-10465" r="-258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69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0" grpId="0" animBg="1"/>
      <p:bldP spid="10" grpId="0" animBg="1"/>
      <p:bldP spid="24" grpId="0" animBg="1"/>
      <p:bldP spid="25" grpId="0" animBg="1"/>
      <p:bldP spid="30" grpId="0"/>
      <p:bldP spid="33" grpId="0" animBg="1"/>
      <p:bldP spid="35" grpId="0" animBg="1"/>
      <p:bldP spid="26" grpId="0" animBg="1"/>
      <p:bldP spid="38" grpId="0" animBg="1"/>
      <p:bldP spid="3" grpId="0"/>
      <p:bldP spid="16" grpId="0"/>
      <p:bldP spid="41" grpId="0"/>
      <p:bldP spid="42" grpId="0"/>
      <p:bldP spid="2" grpId="0" animBg="1"/>
      <p:bldP spid="39" grpId="0" animBg="1"/>
      <p:bldP spid="44" grpId="0" animBg="1"/>
      <p:bldP spid="8" grpId="0" animBg="1"/>
      <p:bldP spid="8" grpId="1" animBg="1"/>
      <p:bldP spid="9" grpId="0" animBg="1"/>
      <p:bldP spid="9" grpId="1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1</a:t>
                </a:r>
                <a:r>
                  <a:rPr lang="en-US" sz="1800" dirty="0"/>
                  <a:t>: 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</a:t>
                </a:r>
                <a14:m>
                  <m:oMath xmlns:m="http://schemas.openxmlformats.org/officeDocument/2006/math">
                    <m:r>
                      <a:rPr lang="en-US" sz="1800" dirty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edges </a:t>
                </a:r>
                <a:r>
                  <a:rPr lang="en-US" sz="1800" dirty="0"/>
                  <a:t>		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2</a:t>
                </a:r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exactly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 edges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i="1" dirty="0">
                  <a:solidFill>
                    <a:srgbClr val="00B05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i="1" dirty="0">
                    <a:solidFill>
                      <a:srgbClr val="00B050"/>
                    </a:solidFill>
                    <a:latin typeface="Cambria Math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  <a:blipFill rotWithShape="1">
                <a:blip r:embed="rId2"/>
                <a:stretch>
                  <a:fillRect l="-741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    Recursive Formulation </a:t>
                </a:r>
                <a:r>
                  <a:rPr lang="en-US" sz="2800" b="1" dirty="0"/>
                  <a:t>for</a:t>
                </a:r>
                <a:r>
                  <a:rPr lang="en-US" sz="28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800" i="1" dirty="0">
                            <a:latin typeface="Cambria Math"/>
                          </a:rPr>
                          <m:t>,</m:t>
                        </m:r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8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2260" t="-10465" r="-258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4953000" y="29718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4953000" y="33528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loud Callout 45"/>
              <p:cNvSpPr/>
              <p:nvPr/>
            </p:nvSpPr>
            <p:spPr>
              <a:xfrm>
                <a:off x="6019800" y="1295400"/>
                <a:ext cx="3124200" cy="13716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cases for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Can you spot them ?</a:t>
                </a:r>
              </a:p>
            </p:txBody>
          </p:sp>
        </mc:Choice>
        <mc:Fallback xmlns="">
          <p:sp>
            <p:nvSpPr>
              <p:cNvPr id="46" name="Cloud Callout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1295400"/>
                <a:ext cx="3124200" cy="1371600"/>
              </a:xfrm>
              <a:prstGeom prst="cloudCallou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1295400" y="9144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6019800" y="8382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105400" y="8382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04800" y="9144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295400" y="1219200"/>
            <a:ext cx="264185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57200" y="1219200"/>
            <a:ext cx="2514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/>
          <p:cNvGrpSpPr/>
          <p:nvPr/>
        </p:nvGrpSpPr>
        <p:grpSpPr>
          <a:xfrm>
            <a:off x="1828800" y="5945090"/>
            <a:ext cx="5410200" cy="533400"/>
            <a:chOff x="1828800" y="2435423"/>
            <a:chExt cx="5410200" cy="533400"/>
          </a:xfrm>
        </p:grpSpPr>
        <p:grpSp>
          <p:nvGrpSpPr>
            <p:cNvPr id="55" name="Group 54"/>
            <p:cNvGrpSpPr/>
            <p:nvPr/>
          </p:nvGrpSpPr>
          <p:grpSpPr>
            <a:xfrm>
              <a:off x="1828800" y="2435423"/>
              <a:ext cx="5410200" cy="533400"/>
              <a:chOff x="1828800" y="2740223"/>
              <a:chExt cx="5410200" cy="533400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1828800" y="2740223"/>
                <a:ext cx="352981" cy="445532"/>
                <a:chOff x="1828800" y="2831068"/>
                <a:chExt cx="352981" cy="445532"/>
              </a:xfrm>
            </p:grpSpPr>
            <p:sp>
              <p:nvSpPr>
                <p:cNvPr id="61" name="Oval 60"/>
                <p:cNvSpPr/>
                <p:nvPr/>
              </p:nvSpPr>
              <p:spPr>
                <a:xfrm>
                  <a:off x="1981200" y="2831068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t="-8197" r="-22414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" name="Group 57"/>
              <p:cNvGrpSpPr/>
              <p:nvPr/>
            </p:nvGrpSpPr>
            <p:grpSpPr>
              <a:xfrm>
                <a:off x="6863577" y="2816423"/>
                <a:ext cx="375423" cy="457200"/>
                <a:chOff x="6863577" y="3059668"/>
                <a:chExt cx="375423" cy="457200"/>
              </a:xfrm>
            </p:grpSpPr>
            <p:sp>
              <p:nvSpPr>
                <p:cNvPr id="59" name="Oval 58"/>
                <p:cNvSpPr/>
                <p:nvPr/>
              </p:nvSpPr>
              <p:spPr>
                <a:xfrm>
                  <a:off x="7010400" y="305966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Box 59"/>
                    <p:cNvSpPr txBox="1"/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14516" t="-8197" r="-2580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56" name="Straight Arrow Connector 55"/>
            <p:cNvCxnSpPr/>
            <p:nvPr/>
          </p:nvCxnSpPr>
          <p:spPr>
            <a:xfrm flipV="1">
              <a:off x="2105581" y="2587823"/>
              <a:ext cx="4915544" cy="297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ight Brace 63"/>
          <p:cNvSpPr/>
          <p:nvPr/>
        </p:nvSpPr>
        <p:spPr>
          <a:xfrm rot="5400000" flipH="1">
            <a:off x="3985854" y="3710346"/>
            <a:ext cx="334091" cy="41910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/>
          <p:cNvGrpSpPr/>
          <p:nvPr/>
        </p:nvGrpSpPr>
        <p:grpSpPr>
          <a:xfrm>
            <a:off x="2288788" y="5403373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2133600" y="6021290"/>
            <a:ext cx="4876800" cy="152400"/>
            <a:chOff x="2133600" y="6065224"/>
            <a:chExt cx="4876800" cy="152400"/>
          </a:xfrm>
        </p:grpSpPr>
        <p:grpSp>
          <p:nvGrpSpPr>
            <p:cNvPr id="66" name="Group 65"/>
            <p:cNvGrpSpPr/>
            <p:nvPr/>
          </p:nvGrpSpPr>
          <p:grpSpPr>
            <a:xfrm>
              <a:off x="2133600" y="6065224"/>
              <a:ext cx="4191000" cy="152400"/>
              <a:chOff x="2133600" y="2435423"/>
              <a:chExt cx="4191000" cy="152400"/>
            </a:xfrm>
          </p:grpSpPr>
          <p:sp>
            <p:nvSpPr>
              <p:cNvPr id="67" name="Oval 66"/>
              <p:cNvSpPr/>
              <p:nvPr/>
            </p:nvSpPr>
            <p:spPr>
              <a:xfrm>
                <a:off x="28194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36576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Arrow Connector 68"/>
              <p:cNvCxnSpPr/>
              <p:nvPr/>
            </p:nvCxnSpPr>
            <p:spPr>
              <a:xfrm>
                <a:off x="21336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/>
              <p:nvPr/>
            </p:nvCxnSpPr>
            <p:spPr>
              <a:xfrm>
                <a:off x="29718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44958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53340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Arrow Connector 72"/>
              <p:cNvCxnSpPr/>
              <p:nvPr/>
            </p:nvCxnSpPr>
            <p:spPr>
              <a:xfrm>
                <a:off x="46482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/>
              <p:cNvSpPr/>
              <p:nvPr/>
            </p:nvSpPr>
            <p:spPr>
              <a:xfrm>
                <a:off x="61722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Arrow Connector 74"/>
              <p:cNvCxnSpPr/>
              <p:nvPr/>
            </p:nvCxnSpPr>
            <p:spPr>
              <a:xfrm>
                <a:off x="54864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2" name="Straight Arrow Connector 81"/>
            <p:cNvCxnSpPr/>
            <p:nvPr/>
          </p:nvCxnSpPr>
          <p:spPr>
            <a:xfrm>
              <a:off x="6324600" y="6141424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TextBox 82"/>
          <p:cNvSpPr txBox="1"/>
          <p:nvPr/>
        </p:nvSpPr>
        <p:spPr>
          <a:xfrm>
            <a:off x="3636155" y="5257800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      </a:t>
            </a:r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0" y="5943600"/>
            <a:ext cx="304800" cy="2916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/>
              <p:cNvSpPr/>
              <p:nvPr/>
            </p:nvSpPr>
            <p:spPr>
              <a:xfrm>
                <a:off x="-76200" y="3461265"/>
                <a:ext cx="5867400" cy="1658059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We need to show that it is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But, we can not directly apply 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Optimal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Subpath</a:t>
                </a:r>
                <a:r>
                  <a:rPr lang="en-US" b="1" dirty="0">
                    <a:solidFill>
                      <a:schemeClr val="tx1"/>
                    </a:solidFill>
                  </a:rPr>
                  <a:t> Property </a:t>
                </a:r>
                <a:r>
                  <a:rPr lang="en-US" dirty="0">
                    <a:solidFill>
                      <a:schemeClr val="tx1"/>
                    </a:solidFill>
                  </a:rPr>
                  <a:t>here.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This is because we are dealing with a 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subset of paths.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However, we can easily adapt it as shown in the next  slide. </a:t>
                </a:r>
              </a:p>
            </p:txBody>
          </p:sp>
        </mc:Choice>
        <mc:Fallback>
          <p:sp>
            <p:nvSpPr>
              <p:cNvPr id="2" name="Rounded 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" y="3461265"/>
                <a:ext cx="5867400" cy="1658059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>
            <a:cxnSpLocks/>
            <a:stCxn id="2" idx="2"/>
          </p:cNvCxnSpPr>
          <p:nvPr/>
        </p:nvCxnSpPr>
        <p:spPr>
          <a:xfrm>
            <a:off x="2857500" y="5119324"/>
            <a:ext cx="1286538" cy="521766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0084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64" grpId="0" animBg="1"/>
      <p:bldP spid="83" grpId="0"/>
      <p:bldP spid="15" grpId="0" animBg="1"/>
      <p:bldP spid="2" grpId="0" animBg="1"/>
      <p:bldP spid="2" grpId="1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Lemma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a graph with no </a:t>
                </a:r>
                <a:r>
                  <a:rPr lang="en-US" sz="2000" b="1" dirty="0"/>
                  <a:t>negative weight </a:t>
                </a:r>
                <a:r>
                  <a:rPr lang="en-US" sz="2000" dirty="0"/>
                  <a:t>cycle.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/>
                      </a:rPr>
                      <m:t>∷(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consists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edges. 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be any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with at most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edges.</a:t>
                </a:r>
              </a:p>
              <a:p>
                <a:pPr marL="0" indent="0">
                  <a:buNone/>
                </a:pPr>
                <a:r>
                  <a:rPr lang="en-US" sz="2000" dirty="0"/>
                  <a:t>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sz="2000" dirty="0"/>
                  <a:t>passes through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dirty="0"/>
                  <a:t> , it </a:t>
                </a:r>
                <a:r>
                  <a:rPr lang="en-US" sz="2000" u="sng" dirty="0"/>
                  <a:t>cannot</a:t>
                </a:r>
                <a:r>
                  <a:rPr lang="en-US" sz="2000" dirty="0"/>
                  <a:t> be shorter than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AutoNum type="romanLcParenBoth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486400"/>
              </a:xfrm>
              <a:blipFill>
                <a:blip r:embed="rId2"/>
                <a:stretch>
                  <a:fillRect l="-694" t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77D7-4CF5-F880-1D93-576F5FDB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5A5433-AA5E-4B23-7D9A-1C19D7608DC8}"/>
              </a:ext>
            </a:extLst>
          </p:cNvPr>
          <p:cNvSpPr txBox="1">
            <a:spLocks/>
          </p:cNvSpPr>
          <p:nvPr/>
        </p:nvSpPr>
        <p:spPr bwMode="auto">
          <a:xfrm>
            <a:off x="609600" y="2286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/>
              <a:t>The</a:t>
            </a:r>
            <a:r>
              <a:rPr lang="en-US" sz="3600" b="1" dirty="0">
                <a:solidFill>
                  <a:srgbClr val="006C31"/>
                </a:solidFill>
              </a:rPr>
              <a:t> Optimal </a:t>
            </a:r>
            <a:r>
              <a:rPr lang="en-US" sz="3600" b="1" dirty="0" err="1">
                <a:solidFill>
                  <a:srgbClr val="006C31"/>
                </a:solidFill>
              </a:rPr>
              <a:t>Subpath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7030A0"/>
                </a:solidFill>
              </a:rPr>
              <a:t>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125DD5-97E3-3BDD-252D-F9E174DF5DD3}"/>
                  </a:ext>
                </a:extLst>
              </p:cNvPr>
              <p:cNvSpPr txBox="1"/>
              <p:nvPr/>
            </p:nvSpPr>
            <p:spPr>
              <a:xfrm>
                <a:off x="6019800" y="5191781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125DD5-97E3-3BDD-252D-F9E174DF5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5191781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FCFAAEE-E77C-5EA2-9A46-B2FB753A620A}"/>
              </a:ext>
            </a:extLst>
          </p:cNvPr>
          <p:cNvGrpSpPr/>
          <p:nvPr/>
        </p:nvGrpSpPr>
        <p:grpSpPr>
          <a:xfrm>
            <a:off x="1828800" y="5105400"/>
            <a:ext cx="5410200" cy="470358"/>
            <a:chOff x="1828800" y="2498465"/>
            <a:chExt cx="5410200" cy="47035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5716AA4-84C3-B715-4262-DBB8E1C11928}"/>
                </a:ext>
              </a:extLst>
            </p:cNvPr>
            <p:cNvGrpSpPr/>
            <p:nvPr/>
          </p:nvGrpSpPr>
          <p:grpSpPr>
            <a:xfrm>
              <a:off x="1828800" y="2498465"/>
              <a:ext cx="5410200" cy="470358"/>
              <a:chOff x="1828800" y="2803265"/>
              <a:chExt cx="5410200" cy="47035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4F3812B-32BC-D7D7-45F5-F76C5EE19A0D}"/>
                  </a:ext>
                </a:extLst>
              </p:cNvPr>
              <p:cNvGrpSpPr/>
              <p:nvPr/>
            </p:nvGrpSpPr>
            <p:grpSpPr>
              <a:xfrm>
                <a:off x="1828800" y="2803265"/>
                <a:ext cx="352981" cy="382490"/>
                <a:chOff x="1828800" y="2894110"/>
                <a:chExt cx="352981" cy="382490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DC1D617-5846-2A63-C0D8-5D9BFA68A872}"/>
                    </a:ext>
                  </a:extLst>
                </p:cNvPr>
                <p:cNvSpPr/>
                <p:nvPr/>
              </p:nvSpPr>
              <p:spPr>
                <a:xfrm>
                  <a:off x="1981200" y="289411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1AF53A1C-9F28-7AFA-E0F1-DA2D698B85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t="-8197" r="-22414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421EC04-3C63-9D5D-4646-332D7028D4B6}"/>
                  </a:ext>
                </a:extLst>
              </p:cNvPr>
              <p:cNvGrpSpPr/>
              <p:nvPr/>
            </p:nvGrpSpPr>
            <p:grpSpPr>
              <a:xfrm>
                <a:off x="6863577" y="2816423"/>
                <a:ext cx="375423" cy="457200"/>
                <a:chOff x="6863577" y="3059668"/>
                <a:chExt cx="375423" cy="457200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64D84089-5B95-ED19-28A9-9087730EDBE4}"/>
                    </a:ext>
                  </a:extLst>
                </p:cNvPr>
                <p:cNvSpPr/>
                <p:nvPr/>
              </p:nvSpPr>
              <p:spPr>
                <a:xfrm>
                  <a:off x="7010400" y="305966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7A1929A-FFF6-73A0-2969-13679E8572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14516" t="-8197" r="-2580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F1B00B-3177-112E-8218-A5352593D329}"/>
                </a:ext>
              </a:extLst>
            </p:cNvPr>
            <p:cNvCxnSpPr/>
            <p:nvPr/>
          </p:nvCxnSpPr>
          <p:spPr>
            <a:xfrm flipV="1">
              <a:off x="2105581" y="2587823"/>
              <a:ext cx="4915544" cy="297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ight Brace 17">
            <a:extLst>
              <a:ext uri="{FF2B5EF4-FFF2-40B4-BE49-F238E27FC236}">
                <a16:creationId xmlns:a16="http://schemas.microsoft.com/office/drawing/2014/main" id="{E3E9B188-6303-C20D-D001-A38DEB2D06F2}"/>
              </a:ext>
            </a:extLst>
          </p:cNvPr>
          <p:cNvSpPr/>
          <p:nvPr/>
        </p:nvSpPr>
        <p:spPr>
          <a:xfrm rot="5400000">
            <a:off x="3947132" y="3379736"/>
            <a:ext cx="487736" cy="42672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AB554F-FBB8-0706-4833-89DC4E0725D3}"/>
              </a:ext>
            </a:extLst>
          </p:cNvPr>
          <p:cNvGrpSpPr/>
          <p:nvPr/>
        </p:nvGrpSpPr>
        <p:grpSpPr>
          <a:xfrm>
            <a:off x="2288788" y="4500641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2B6613C-2CAB-5654-1BF0-D3070C0DF2D5}"/>
                    </a:ext>
                  </a:extLst>
                </p:cNvPr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98065F-A130-32E6-45BA-F9323ECBC1B5}"/>
                    </a:ext>
                  </a:extLst>
                </p:cNvPr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E5E40B6-0A30-8ADD-FAD2-24F95C5821C9}"/>
                    </a:ext>
                  </a:extLst>
                </p:cNvPr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6AD7F40-CE11-0AA5-A59F-EE956298DDB7}"/>
                    </a:ext>
                  </a:extLst>
                </p:cNvPr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820166-167D-B26D-110C-D7D39D47B789}"/>
              </a:ext>
            </a:extLst>
          </p:cNvPr>
          <p:cNvGrpSpPr/>
          <p:nvPr/>
        </p:nvGrpSpPr>
        <p:grpSpPr>
          <a:xfrm>
            <a:off x="2133600" y="5118558"/>
            <a:ext cx="4876800" cy="152400"/>
            <a:chOff x="2133600" y="6065224"/>
            <a:chExt cx="4876800" cy="1524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3C7EA98-17AE-69A9-A79C-847BD59295F3}"/>
                </a:ext>
              </a:extLst>
            </p:cNvPr>
            <p:cNvGrpSpPr/>
            <p:nvPr/>
          </p:nvGrpSpPr>
          <p:grpSpPr>
            <a:xfrm>
              <a:off x="2133600" y="6065224"/>
              <a:ext cx="4191000" cy="152400"/>
              <a:chOff x="2133600" y="2435423"/>
              <a:chExt cx="4191000" cy="1524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275AD9F-750F-AACA-5C19-51D2230AECE0}"/>
                  </a:ext>
                </a:extLst>
              </p:cNvPr>
              <p:cNvSpPr/>
              <p:nvPr/>
            </p:nvSpPr>
            <p:spPr>
              <a:xfrm>
                <a:off x="28194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804B83A-6E5C-3919-28D9-74D569E9B65E}"/>
                  </a:ext>
                </a:extLst>
              </p:cNvPr>
              <p:cNvSpPr/>
              <p:nvPr/>
            </p:nvSpPr>
            <p:spPr>
              <a:xfrm>
                <a:off x="36576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3CBB2FD-4353-3A6E-8189-3482512717C8}"/>
                  </a:ext>
                </a:extLst>
              </p:cNvPr>
              <p:cNvCxnSpPr/>
              <p:nvPr/>
            </p:nvCxnSpPr>
            <p:spPr>
              <a:xfrm>
                <a:off x="21336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486B2C9-93B1-4E69-F08E-0393112131E2}"/>
                  </a:ext>
                </a:extLst>
              </p:cNvPr>
              <p:cNvCxnSpPr/>
              <p:nvPr/>
            </p:nvCxnSpPr>
            <p:spPr>
              <a:xfrm>
                <a:off x="29718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5A94698-2391-D17D-0FD7-6FA9BE5A24F4}"/>
                  </a:ext>
                </a:extLst>
              </p:cNvPr>
              <p:cNvSpPr/>
              <p:nvPr/>
            </p:nvSpPr>
            <p:spPr>
              <a:xfrm>
                <a:off x="44958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9E45797-68CC-7F87-BED7-4F03EB99B0A9}"/>
                  </a:ext>
                </a:extLst>
              </p:cNvPr>
              <p:cNvSpPr/>
              <p:nvPr/>
            </p:nvSpPr>
            <p:spPr>
              <a:xfrm>
                <a:off x="53340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DBF14D10-5C45-7861-EAC7-9683AC503F3D}"/>
                  </a:ext>
                </a:extLst>
              </p:cNvPr>
              <p:cNvCxnSpPr/>
              <p:nvPr/>
            </p:nvCxnSpPr>
            <p:spPr>
              <a:xfrm>
                <a:off x="46482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65284E-E9BA-EADF-CD47-3C6B5CDE540E}"/>
                  </a:ext>
                </a:extLst>
              </p:cNvPr>
              <p:cNvSpPr/>
              <p:nvPr/>
            </p:nvSpPr>
            <p:spPr>
              <a:xfrm>
                <a:off x="61722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6B4EDE1-1482-E191-1F73-6F1C0677ABAB}"/>
                  </a:ext>
                </a:extLst>
              </p:cNvPr>
              <p:cNvCxnSpPr/>
              <p:nvPr/>
            </p:nvCxnSpPr>
            <p:spPr>
              <a:xfrm>
                <a:off x="54864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DFA3FE2-C546-29BD-F829-B10C50DD0E9E}"/>
                </a:ext>
              </a:extLst>
            </p:cNvPr>
            <p:cNvCxnSpPr/>
            <p:nvPr/>
          </p:nvCxnSpPr>
          <p:spPr>
            <a:xfrm>
              <a:off x="6324600" y="6141424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189721AB-9737-D4A3-7D20-E44D3D519B87}"/>
              </a:ext>
            </a:extLst>
          </p:cNvPr>
          <p:cNvSpPr/>
          <p:nvPr/>
        </p:nvSpPr>
        <p:spPr>
          <a:xfrm>
            <a:off x="6096000" y="5040868"/>
            <a:ext cx="304800" cy="2916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47389F-2104-B056-EEF5-B8726A247674}"/>
                  </a:ext>
                </a:extLst>
              </p:cNvPr>
              <p:cNvSpPr txBox="1"/>
              <p:nvPr/>
            </p:nvSpPr>
            <p:spPr>
              <a:xfrm>
                <a:off x="3937520" y="5574268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47389F-2104-B056-EEF5-B8726A247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520" y="5574268"/>
                <a:ext cx="405880" cy="369332"/>
              </a:xfrm>
              <a:prstGeom prst="rect">
                <a:avLst/>
              </a:prstGeom>
              <a:blipFill>
                <a:blip r:embed="rId20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 1">
            <a:extLst>
              <a:ext uri="{FF2B5EF4-FFF2-40B4-BE49-F238E27FC236}">
                <a16:creationId xmlns:a16="http://schemas.microsoft.com/office/drawing/2014/main" id="{A4AF7E89-5718-5494-E2FD-70CE2F275B46}"/>
              </a:ext>
            </a:extLst>
          </p:cNvPr>
          <p:cNvSpPr/>
          <p:nvPr/>
        </p:nvSpPr>
        <p:spPr>
          <a:xfrm>
            <a:off x="1981201" y="4025499"/>
            <a:ext cx="5138650" cy="1180925"/>
          </a:xfrm>
          <a:custGeom>
            <a:avLst/>
            <a:gdLst>
              <a:gd name="connsiteX0" fmla="*/ 0 w 3623923"/>
              <a:gd name="connsiteY0" fmla="*/ 1149097 h 1176143"/>
              <a:gd name="connsiteX1" fmla="*/ 468086 w 3623923"/>
              <a:gd name="connsiteY1" fmla="*/ 1170869 h 1176143"/>
              <a:gd name="connsiteX2" fmla="*/ 696686 w 3623923"/>
              <a:gd name="connsiteY2" fmla="*/ 1062012 h 1176143"/>
              <a:gd name="connsiteX3" fmla="*/ 870858 w 3623923"/>
              <a:gd name="connsiteY3" fmla="*/ 746326 h 1176143"/>
              <a:gd name="connsiteX4" fmla="*/ 1349829 w 3623923"/>
              <a:gd name="connsiteY4" fmla="*/ 60526 h 1176143"/>
              <a:gd name="connsiteX5" fmla="*/ 2090058 w 3623923"/>
              <a:gd name="connsiteY5" fmla="*/ 289126 h 1176143"/>
              <a:gd name="connsiteX6" fmla="*/ 3015343 w 3623923"/>
              <a:gd name="connsiteY6" fmla="*/ 6097 h 1176143"/>
              <a:gd name="connsiteX7" fmla="*/ 3559629 w 3623923"/>
              <a:gd name="connsiteY7" fmla="*/ 180269 h 1176143"/>
              <a:gd name="connsiteX8" fmla="*/ 3592286 w 3623923"/>
              <a:gd name="connsiteY8" fmla="*/ 1083783 h 1176143"/>
              <a:gd name="connsiteX0" fmla="*/ 0 w 3623923"/>
              <a:gd name="connsiteY0" fmla="*/ 1149097 h 1186401"/>
              <a:gd name="connsiteX1" fmla="*/ 468086 w 3623923"/>
              <a:gd name="connsiteY1" fmla="*/ 1170869 h 1186401"/>
              <a:gd name="connsiteX2" fmla="*/ 762000 w 3623923"/>
              <a:gd name="connsiteY2" fmla="*/ 920498 h 1186401"/>
              <a:gd name="connsiteX3" fmla="*/ 870858 w 3623923"/>
              <a:gd name="connsiteY3" fmla="*/ 746326 h 1186401"/>
              <a:gd name="connsiteX4" fmla="*/ 1349829 w 3623923"/>
              <a:gd name="connsiteY4" fmla="*/ 60526 h 1186401"/>
              <a:gd name="connsiteX5" fmla="*/ 2090058 w 3623923"/>
              <a:gd name="connsiteY5" fmla="*/ 289126 h 1186401"/>
              <a:gd name="connsiteX6" fmla="*/ 3015343 w 3623923"/>
              <a:gd name="connsiteY6" fmla="*/ 6097 h 1186401"/>
              <a:gd name="connsiteX7" fmla="*/ 3559629 w 3623923"/>
              <a:gd name="connsiteY7" fmla="*/ 180269 h 1186401"/>
              <a:gd name="connsiteX8" fmla="*/ 3592286 w 3623923"/>
              <a:gd name="connsiteY8" fmla="*/ 1083783 h 1186401"/>
              <a:gd name="connsiteX0" fmla="*/ 0 w 3623923"/>
              <a:gd name="connsiteY0" fmla="*/ 1149097 h 1164751"/>
              <a:gd name="connsiteX1" fmla="*/ 478972 w 3623923"/>
              <a:gd name="connsiteY1" fmla="*/ 1138212 h 1164751"/>
              <a:gd name="connsiteX2" fmla="*/ 762000 w 3623923"/>
              <a:gd name="connsiteY2" fmla="*/ 920498 h 1164751"/>
              <a:gd name="connsiteX3" fmla="*/ 870858 w 3623923"/>
              <a:gd name="connsiteY3" fmla="*/ 746326 h 1164751"/>
              <a:gd name="connsiteX4" fmla="*/ 1349829 w 3623923"/>
              <a:gd name="connsiteY4" fmla="*/ 60526 h 1164751"/>
              <a:gd name="connsiteX5" fmla="*/ 2090058 w 3623923"/>
              <a:gd name="connsiteY5" fmla="*/ 289126 h 1164751"/>
              <a:gd name="connsiteX6" fmla="*/ 3015343 w 3623923"/>
              <a:gd name="connsiteY6" fmla="*/ 6097 h 1164751"/>
              <a:gd name="connsiteX7" fmla="*/ 3559629 w 3623923"/>
              <a:gd name="connsiteY7" fmla="*/ 180269 h 1164751"/>
              <a:gd name="connsiteX8" fmla="*/ 3592286 w 3623923"/>
              <a:gd name="connsiteY8" fmla="*/ 1083783 h 116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3923" h="1164751">
                <a:moveTo>
                  <a:pt x="0" y="1149097"/>
                </a:moveTo>
                <a:cubicBezTo>
                  <a:pt x="175986" y="1167240"/>
                  <a:pt x="351972" y="1176312"/>
                  <a:pt x="478972" y="1138212"/>
                </a:cubicBezTo>
                <a:cubicBezTo>
                  <a:pt x="605972" y="1100112"/>
                  <a:pt x="696686" y="985812"/>
                  <a:pt x="762000" y="920498"/>
                </a:cubicBezTo>
                <a:cubicBezTo>
                  <a:pt x="827314" y="855184"/>
                  <a:pt x="772887" y="889655"/>
                  <a:pt x="870858" y="746326"/>
                </a:cubicBezTo>
                <a:cubicBezTo>
                  <a:pt x="968829" y="602997"/>
                  <a:pt x="1146629" y="136726"/>
                  <a:pt x="1349829" y="60526"/>
                </a:cubicBezTo>
                <a:cubicBezTo>
                  <a:pt x="1553029" y="-15674"/>
                  <a:pt x="1812472" y="298197"/>
                  <a:pt x="2090058" y="289126"/>
                </a:cubicBezTo>
                <a:cubicBezTo>
                  <a:pt x="2367644" y="280055"/>
                  <a:pt x="2770415" y="24240"/>
                  <a:pt x="3015343" y="6097"/>
                </a:cubicBezTo>
                <a:cubicBezTo>
                  <a:pt x="3260271" y="-12046"/>
                  <a:pt x="3463472" y="655"/>
                  <a:pt x="3559629" y="180269"/>
                </a:cubicBezTo>
                <a:cubicBezTo>
                  <a:pt x="3655786" y="359883"/>
                  <a:pt x="3624036" y="721833"/>
                  <a:pt x="3592286" y="1083783"/>
                </a:cubicBez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915585C-B5AE-5977-D41F-25CB0B20AE1C}"/>
              </a:ext>
            </a:extLst>
          </p:cNvPr>
          <p:cNvSpPr/>
          <p:nvPr/>
        </p:nvSpPr>
        <p:spPr>
          <a:xfrm>
            <a:off x="3891777" y="5209401"/>
            <a:ext cx="3499623" cy="1267599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FE91C5-A9F9-EACF-E7C6-3E1411ABE4D2}"/>
              </a:ext>
            </a:extLst>
          </p:cNvPr>
          <p:cNvCxnSpPr>
            <a:cxnSpLocks/>
          </p:cNvCxnSpPr>
          <p:nvPr/>
        </p:nvCxnSpPr>
        <p:spPr>
          <a:xfrm>
            <a:off x="4581138" y="5181600"/>
            <a:ext cx="1591062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8956881-45B2-94D9-5C28-2AD0746F51D5}"/>
              </a:ext>
            </a:extLst>
          </p:cNvPr>
          <p:cNvSpPr/>
          <p:nvPr/>
        </p:nvSpPr>
        <p:spPr>
          <a:xfrm>
            <a:off x="2882178" y="2754867"/>
            <a:ext cx="4356822" cy="3693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A1F747-5024-14E7-5AF3-1AD39CA75CBD}"/>
                  </a:ext>
                </a:extLst>
              </p:cNvPr>
              <p:cNvSpPr txBox="1"/>
              <p:nvPr/>
            </p:nvSpPr>
            <p:spPr>
              <a:xfrm>
                <a:off x="4792608" y="3821668"/>
                <a:ext cx="465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A1F747-5024-14E7-5AF3-1AD39CA75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608" y="3821668"/>
                <a:ext cx="465192" cy="369332"/>
              </a:xfrm>
              <a:prstGeom prst="rect">
                <a:avLst/>
              </a:prstGeom>
              <a:blipFill>
                <a:blip r:embed="rId2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Freeform 47">
            <a:extLst>
              <a:ext uri="{FF2B5EF4-FFF2-40B4-BE49-F238E27FC236}">
                <a16:creationId xmlns:a16="http://schemas.microsoft.com/office/drawing/2014/main" id="{F328133D-55F1-B11F-89F5-228D0C8BE84E}"/>
              </a:ext>
            </a:extLst>
          </p:cNvPr>
          <p:cNvSpPr/>
          <p:nvPr/>
        </p:nvSpPr>
        <p:spPr>
          <a:xfrm>
            <a:off x="3886200" y="5209401"/>
            <a:ext cx="3499623" cy="1267599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C89C6D-1086-3E79-A024-084734CC9C9E}"/>
              </a:ext>
            </a:extLst>
          </p:cNvPr>
          <p:cNvCxnSpPr>
            <a:cxnSpLocks/>
          </p:cNvCxnSpPr>
          <p:nvPr/>
        </p:nvCxnSpPr>
        <p:spPr>
          <a:xfrm>
            <a:off x="4575561" y="5181600"/>
            <a:ext cx="1591062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FC77EE-483B-4D93-CE17-4E9C285182B6}"/>
              </a:ext>
            </a:extLst>
          </p:cNvPr>
          <p:cNvCxnSpPr/>
          <p:nvPr/>
        </p:nvCxnSpPr>
        <p:spPr>
          <a:xfrm>
            <a:off x="6324600" y="5181600"/>
            <a:ext cx="6858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261F4BB-95AD-20DE-B4AC-9A7C7EF6BD42}"/>
                  </a:ext>
                </a:extLst>
              </p:cNvPr>
              <p:cNvSpPr txBox="1"/>
              <p:nvPr/>
            </p:nvSpPr>
            <p:spPr>
              <a:xfrm>
                <a:off x="4038600" y="6324600"/>
                <a:ext cx="24986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This Cycle will be negative if</a:t>
                </a:r>
              </a:p>
              <a:p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IN" sz="1600" dirty="0"/>
                  <a:t> is shorter than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IN" sz="1600" dirty="0"/>
                  <a:t>.</a:t>
                </a:r>
                <a:r>
                  <a:rPr lang="en-US" sz="1600" dirty="0"/>
                  <a:t> </a:t>
                </a:r>
                <a:endParaRPr lang="en-US" sz="1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261F4BB-95AD-20DE-B4AC-9A7C7EF6B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6324600"/>
                <a:ext cx="2498697" cy="584775"/>
              </a:xfrm>
              <a:prstGeom prst="rect">
                <a:avLst/>
              </a:prstGeom>
              <a:blipFill>
                <a:blip r:embed="rId22"/>
                <a:stretch>
                  <a:fillRect l="-1523" t="-4348" r="-50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50508E-18E5-5186-256A-BBB9809F508E}"/>
                  </a:ext>
                </a:extLst>
              </p:cNvPr>
              <p:cNvSpPr txBox="1"/>
              <p:nvPr/>
            </p:nvSpPr>
            <p:spPr>
              <a:xfrm>
                <a:off x="1628712" y="1117313"/>
                <a:ext cx="3877023" cy="36933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set of all paths with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edges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50508E-18E5-5186-256A-BBB9809F5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12" y="1117313"/>
                <a:ext cx="3877023" cy="369332"/>
              </a:xfrm>
              <a:prstGeom prst="rect">
                <a:avLst/>
              </a:prstGeom>
              <a:blipFill>
                <a:blip r:embed="rId23"/>
                <a:stretch>
                  <a:fillRect l="-1307" t="-6452" r="-327" b="-22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CBEDBC-E0C4-221F-E7F6-C15463FA31DA}"/>
                  </a:ext>
                </a:extLst>
              </p:cNvPr>
              <p:cNvSpPr txBox="1"/>
              <p:nvPr/>
            </p:nvSpPr>
            <p:spPr>
              <a:xfrm>
                <a:off x="5410200" y="1110011"/>
                <a:ext cx="2639120" cy="36933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that originate from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CBEDBC-E0C4-221F-E7F6-C15463FA3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1110011"/>
                <a:ext cx="2639120" cy="369332"/>
              </a:xfrm>
              <a:prstGeom prst="rect">
                <a:avLst/>
              </a:prstGeom>
              <a:blipFill>
                <a:blip r:embed="rId24"/>
                <a:stretch>
                  <a:fillRect l="-2404" t="-6667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480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8" grpId="0" animBg="1"/>
      <p:bldP spid="37" grpId="0"/>
      <p:bldP spid="2" grpId="0" uiExpand="1" animBg="1"/>
      <p:bldP spid="2" grpId="1" animBg="1"/>
      <p:bldP spid="6" grpId="0" uiExpand="1" animBg="1"/>
      <p:bldP spid="6" grpId="1" animBg="1"/>
      <p:bldP spid="40" grpId="0" animBg="1"/>
      <p:bldP spid="41" grpId="0"/>
      <p:bldP spid="41" grpId="1"/>
      <p:bldP spid="48" grpId="0" uiExpand="1" animBg="1"/>
      <p:bldP spid="48" grpId="1" animBg="1"/>
      <p:bldP spid="51" grpId="0"/>
      <p:bldP spid="51" grpId="1"/>
      <p:bldP spid="53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Lemma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a graph with no </a:t>
                </a:r>
                <a:r>
                  <a:rPr lang="en-US" sz="2000" b="1" dirty="0"/>
                  <a:t>negative weight </a:t>
                </a:r>
                <a:r>
                  <a:rPr lang="en-US" sz="2000" dirty="0"/>
                  <a:t>cycle.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/>
                      </a:rPr>
                      <m:t>∷(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consists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edges. 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be any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with at most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edges.</a:t>
                </a:r>
              </a:p>
              <a:p>
                <a:pPr marL="0" indent="0">
                  <a:buNone/>
                </a:pPr>
                <a:r>
                  <a:rPr lang="en-US" sz="2000" dirty="0"/>
                  <a:t>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sz="2000" dirty="0"/>
                  <a:t>passes through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dirty="0"/>
                  <a:t> , it </a:t>
                </a:r>
                <a:r>
                  <a:rPr lang="en-US" sz="2000" u="sng" dirty="0"/>
                  <a:t>cannot</a:t>
                </a:r>
                <a:r>
                  <a:rPr lang="en-US" sz="2000" dirty="0"/>
                  <a:t> be shorter than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(ii) If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sz="2000" dirty="0"/>
                  <a:t>does not pass through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dirty="0"/>
                  <a:t> , it </a:t>
                </a:r>
                <a:r>
                  <a:rPr lang="en-US" sz="2000" u="sng" dirty="0"/>
                  <a:t>cannot</a:t>
                </a:r>
                <a:r>
                  <a:rPr lang="en-US" sz="2000" dirty="0"/>
                  <a:t> be shorter than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AutoNum type="romanLcParenBoth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486400"/>
              </a:xfrm>
              <a:blipFill>
                <a:blip r:embed="rId2"/>
                <a:stretch>
                  <a:fillRect l="-694" t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77D7-4CF5-F880-1D93-576F5FDB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5A5433-AA5E-4B23-7D9A-1C19D7608DC8}"/>
              </a:ext>
            </a:extLst>
          </p:cNvPr>
          <p:cNvSpPr txBox="1">
            <a:spLocks/>
          </p:cNvSpPr>
          <p:nvPr/>
        </p:nvSpPr>
        <p:spPr bwMode="auto">
          <a:xfrm>
            <a:off x="609600" y="2286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/>
              <a:t>The</a:t>
            </a:r>
            <a:r>
              <a:rPr lang="en-US" sz="3600" b="1" dirty="0">
                <a:solidFill>
                  <a:srgbClr val="006C31"/>
                </a:solidFill>
              </a:rPr>
              <a:t> Optimal </a:t>
            </a:r>
            <a:r>
              <a:rPr lang="en-US" sz="3600" b="1" dirty="0" err="1">
                <a:solidFill>
                  <a:srgbClr val="006C31"/>
                </a:solidFill>
              </a:rPr>
              <a:t>Subpath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7030A0"/>
                </a:solidFill>
              </a:rPr>
              <a:t>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125DD5-97E3-3BDD-252D-F9E174DF5DD3}"/>
                  </a:ext>
                </a:extLst>
              </p:cNvPr>
              <p:cNvSpPr txBox="1"/>
              <p:nvPr/>
            </p:nvSpPr>
            <p:spPr>
              <a:xfrm>
                <a:off x="6019800" y="5191781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125DD5-97E3-3BDD-252D-F9E174DF5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5191781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FCFAAEE-E77C-5EA2-9A46-B2FB753A620A}"/>
              </a:ext>
            </a:extLst>
          </p:cNvPr>
          <p:cNvGrpSpPr/>
          <p:nvPr/>
        </p:nvGrpSpPr>
        <p:grpSpPr>
          <a:xfrm>
            <a:off x="1828800" y="5105400"/>
            <a:ext cx="5410200" cy="470358"/>
            <a:chOff x="1828800" y="2498465"/>
            <a:chExt cx="5410200" cy="47035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5716AA4-84C3-B715-4262-DBB8E1C11928}"/>
                </a:ext>
              </a:extLst>
            </p:cNvPr>
            <p:cNvGrpSpPr/>
            <p:nvPr/>
          </p:nvGrpSpPr>
          <p:grpSpPr>
            <a:xfrm>
              <a:off x="1828800" y="2498465"/>
              <a:ext cx="5410200" cy="470358"/>
              <a:chOff x="1828800" y="2803265"/>
              <a:chExt cx="5410200" cy="47035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4F3812B-32BC-D7D7-45F5-F76C5EE19A0D}"/>
                  </a:ext>
                </a:extLst>
              </p:cNvPr>
              <p:cNvGrpSpPr/>
              <p:nvPr/>
            </p:nvGrpSpPr>
            <p:grpSpPr>
              <a:xfrm>
                <a:off x="1828800" y="2803265"/>
                <a:ext cx="352981" cy="382490"/>
                <a:chOff x="1828800" y="2894110"/>
                <a:chExt cx="352981" cy="382490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9DC1D617-5846-2A63-C0D8-5D9BFA68A872}"/>
                    </a:ext>
                  </a:extLst>
                </p:cNvPr>
                <p:cNvSpPr/>
                <p:nvPr/>
              </p:nvSpPr>
              <p:spPr>
                <a:xfrm>
                  <a:off x="1981200" y="289411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1AF53A1C-9F28-7AFA-E0F1-DA2D698B85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t="-8197" r="-22414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421EC04-3C63-9D5D-4646-332D7028D4B6}"/>
                  </a:ext>
                </a:extLst>
              </p:cNvPr>
              <p:cNvGrpSpPr/>
              <p:nvPr/>
            </p:nvGrpSpPr>
            <p:grpSpPr>
              <a:xfrm>
                <a:off x="6863577" y="2816423"/>
                <a:ext cx="375423" cy="457200"/>
                <a:chOff x="6863577" y="3059668"/>
                <a:chExt cx="375423" cy="457200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64D84089-5B95-ED19-28A9-9087730EDBE4}"/>
                    </a:ext>
                  </a:extLst>
                </p:cNvPr>
                <p:cNvSpPr/>
                <p:nvPr/>
              </p:nvSpPr>
              <p:spPr>
                <a:xfrm>
                  <a:off x="7010400" y="305966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7A1929A-FFF6-73A0-2969-13679E8572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14516" t="-8197" r="-2580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F1B00B-3177-112E-8218-A5352593D329}"/>
                </a:ext>
              </a:extLst>
            </p:cNvPr>
            <p:cNvCxnSpPr/>
            <p:nvPr/>
          </p:nvCxnSpPr>
          <p:spPr>
            <a:xfrm flipV="1">
              <a:off x="2105581" y="2587823"/>
              <a:ext cx="4915544" cy="297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ight Brace 17">
            <a:extLst>
              <a:ext uri="{FF2B5EF4-FFF2-40B4-BE49-F238E27FC236}">
                <a16:creationId xmlns:a16="http://schemas.microsoft.com/office/drawing/2014/main" id="{E3E9B188-6303-C20D-D001-A38DEB2D06F2}"/>
              </a:ext>
            </a:extLst>
          </p:cNvPr>
          <p:cNvSpPr/>
          <p:nvPr/>
        </p:nvSpPr>
        <p:spPr>
          <a:xfrm rot="5400000">
            <a:off x="3947132" y="3379736"/>
            <a:ext cx="487736" cy="42672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AB554F-FBB8-0706-4833-89DC4E0725D3}"/>
              </a:ext>
            </a:extLst>
          </p:cNvPr>
          <p:cNvGrpSpPr/>
          <p:nvPr/>
        </p:nvGrpSpPr>
        <p:grpSpPr>
          <a:xfrm>
            <a:off x="2288788" y="4500641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2B6613C-2CAB-5654-1BF0-D3070C0DF2D5}"/>
                    </a:ext>
                  </a:extLst>
                </p:cNvPr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98065F-A130-32E6-45BA-F9323ECBC1B5}"/>
                    </a:ext>
                  </a:extLst>
                </p:cNvPr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E5E40B6-0A30-8ADD-FAD2-24F95C5821C9}"/>
                    </a:ext>
                  </a:extLst>
                </p:cNvPr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6AD7F40-CE11-0AA5-A59F-EE956298DDB7}"/>
                    </a:ext>
                  </a:extLst>
                </p:cNvPr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1820166-167D-B26D-110C-D7D39D47B789}"/>
              </a:ext>
            </a:extLst>
          </p:cNvPr>
          <p:cNvGrpSpPr/>
          <p:nvPr/>
        </p:nvGrpSpPr>
        <p:grpSpPr>
          <a:xfrm>
            <a:off x="2133600" y="5118558"/>
            <a:ext cx="4876800" cy="152400"/>
            <a:chOff x="2133600" y="6065224"/>
            <a:chExt cx="4876800" cy="1524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3C7EA98-17AE-69A9-A79C-847BD59295F3}"/>
                </a:ext>
              </a:extLst>
            </p:cNvPr>
            <p:cNvGrpSpPr/>
            <p:nvPr/>
          </p:nvGrpSpPr>
          <p:grpSpPr>
            <a:xfrm>
              <a:off x="2133600" y="6065224"/>
              <a:ext cx="4191000" cy="152400"/>
              <a:chOff x="2133600" y="2435423"/>
              <a:chExt cx="4191000" cy="1524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275AD9F-750F-AACA-5C19-51D2230AECE0}"/>
                  </a:ext>
                </a:extLst>
              </p:cNvPr>
              <p:cNvSpPr/>
              <p:nvPr/>
            </p:nvSpPr>
            <p:spPr>
              <a:xfrm>
                <a:off x="28194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804B83A-6E5C-3919-28D9-74D569E9B65E}"/>
                  </a:ext>
                </a:extLst>
              </p:cNvPr>
              <p:cNvSpPr/>
              <p:nvPr/>
            </p:nvSpPr>
            <p:spPr>
              <a:xfrm>
                <a:off x="36576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3CBB2FD-4353-3A6E-8189-3482512717C8}"/>
                  </a:ext>
                </a:extLst>
              </p:cNvPr>
              <p:cNvCxnSpPr/>
              <p:nvPr/>
            </p:nvCxnSpPr>
            <p:spPr>
              <a:xfrm>
                <a:off x="21336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486B2C9-93B1-4E69-F08E-0393112131E2}"/>
                  </a:ext>
                </a:extLst>
              </p:cNvPr>
              <p:cNvCxnSpPr/>
              <p:nvPr/>
            </p:nvCxnSpPr>
            <p:spPr>
              <a:xfrm>
                <a:off x="29718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5A94698-2391-D17D-0FD7-6FA9BE5A24F4}"/>
                  </a:ext>
                </a:extLst>
              </p:cNvPr>
              <p:cNvSpPr/>
              <p:nvPr/>
            </p:nvSpPr>
            <p:spPr>
              <a:xfrm>
                <a:off x="44958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9E45797-68CC-7F87-BED7-4F03EB99B0A9}"/>
                  </a:ext>
                </a:extLst>
              </p:cNvPr>
              <p:cNvSpPr/>
              <p:nvPr/>
            </p:nvSpPr>
            <p:spPr>
              <a:xfrm>
                <a:off x="53340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DBF14D10-5C45-7861-EAC7-9683AC503F3D}"/>
                  </a:ext>
                </a:extLst>
              </p:cNvPr>
              <p:cNvCxnSpPr/>
              <p:nvPr/>
            </p:nvCxnSpPr>
            <p:spPr>
              <a:xfrm>
                <a:off x="46482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265284E-E9BA-EADF-CD47-3C6B5CDE540E}"/>
                  </a:ext>
                </a:extLst>
              </p:cNvPr>
              <p:cNvSpPr/>
              <p:nvPr/>
            </p:nvSpPr>
            <p:spPr>
              <a:xfrm>
                <a:off x="61722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A6B4EDE1-1482-E191-1F73-6F1C0677ABAB}"/>
                  </a:ext>
                </a:extLst>
              </p:cNvPr>
              <p:cNvCxnSpPr/>
              <p:nvPr/>
            </p:nvCxnSpPr>
            <p:spPr>
              <a:xfrm>
                <a:off x="54864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DFA3FE2-C546-29BD-F829-B10C50DD0E9E}"/>
                </a:ext>
              </a:extLst>
            </p:cNvPr>
            <p:cNvCxnSpPr/>
            <p:nvPr/>
          </p:nvCxnSpPr>
          <p:spPr>
            <a:xfrm>
              <a:off x="6324600" y="6141424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189721AB-9737-D4A3-7D20-E44D3D519B87}"/>
              </a:ext>
            </a:extLst>
          </p:cNvPr>
          <p:cNvSpPr/>
          <p:nvPr/>
        </p:nvSpPr>
        <p:spPr>
          <a:xfrm>
            <a:off x="6096000" y="5040868"/>
            <a:ext cx="304800" cy="2916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47389F-2104-B056-EEF5-B8726A247674}"/>
                  </a:ext>
                </a:extLst>
              </p:cNvPr>
              <p:cNvSpPr txBox="1"/>
              <p:nvPr/>
            </p:nvSpPr>
            <p:spPr>
              <a:xfrm>
                <a:off x="3937520" y="5574268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F47389F-2104-B056-EEF5-B8726A247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520" y="5574268"/>
                <a:ext cx="405880" cy="369332"/>
              </a:xfrm>
              <a:prstGeom prst="rect">
                <a:avLst/>
              </a:prstGeom>
              <a:blipFill>
                <a:blip r:embed="rId20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78956881-45B2-94D9-5C28-2AD0746F51D5}"/>
              </a:ext>
            </a:extLst>
          </p:cNvPr>
          <p:cNvSpPr/>
          <p:nvPr/>
        </p:nvSpPr>
        <p:spPr>
          <a:xfrm>
            <a:off x="3581400" y="3135867"/>
            <a:ext cx="4356822" cy="36933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A1F747-5024-14E7-5AF3-1AD39CA75CBD}"/>
                  </a:ext>
                </a:extLst>
              </p:cNvPr>
              <p:cNvSpPr txBox="1"/>
              <p:nvPr/>
            </p:nvSpPr>
            <p:spPr>
              <a:xfrm>
                <a:off x="4792608" y="3821668"/>
                <a:ext cx="465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A1F747-5024-14E7-5AF3-1AD39CA75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608" y="3821668"/>
                <a:ext cx="465192" cy="369332"/>
              </a:xfrm>
              <a:prstGeom prst="rect">
                <a:avLst/>
              </a:prstGeom>
              <a:blipFill>
                <a:blip r:embed="rId2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2E4D021-C810-0E6B-B17B-C0F63D34EF74}"/>
              </a:ext>
            </a:extLst>
          </p:cNvPr>
          <p:cNvGrpSpPr/>
          <p:nvPr/>
        </p:nvGrpSpPr>
        <p:grpSpPr>
          <a:xfrm>
            <a:off x="2038060" y="4132182"/>
            <a:ext cx="4226480" cy="992090"/>
            <a:chOff x="3720104" y="1968380"/>
            <a:chExt cx="2528296" cy="666352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8178C54-C02D-03C0-293A-3D61FAED1B70}"/>
                </a:ext>
              </a:extLst>
            </p:cNvPr>
            <p:cNvSpPr/>
            <p:nvPr/>
          </p:nvSpPr>
          <p:spPr>
            <a:xfrm>
              <a:off x="3720104" y="1968380"/>
              <a:ext cx="2506525" cy="633307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3A87213-3EA1-E364-D0F3-7EA1AA8CDB4D}"/>
                </a:ext>
              </a:extLst>
            </p:cNvPr>
            <p:cNvCxnSpPr>
              <a:cxnSpLocks/>
              <a:stCxn id="39" idx="6"/>
            </p:cNvCxnSpPr>
            <p:nvPr/>
          </p:nvCxnSpPr>
          <p:spPr>
            <a:xfrm>
              <a:off x="6226629" y="2579914"/>
              <a:ext cx="21771" cy="548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5CF6E8B-75F6-F4DB-F3D4-88E3D6C675DE}"/>
              </a:ext>
            </a:extLst>
          </p:cNvPr>
          <p:cNvGrpSpPr/>
          <p:nvPr/>
        </p:nvGrpSpPr>
        <p:grpSpPr>
          <a:xfrm>
            <a:off x="1975554" y="4070589"/>
            <a:ext cx="5111046" cy="996928"/>
            <a:chOff x="2743198" y="2163767"/>
            <a:chExt cx="4699335" cy="731833"/>
          </a:xfrm>
        </p:grpSpPr>
        <p:sp>
          <p:nvSpPr>
            <p:cNvPr id="44" name="Freeform 68">
              <a:extLst>
                <a:ext uri="{FF2B5EF4-FFF2-40B4-BE49-F238E27FC236}">
                  <a16:creationId xmlns:a16="http://schemas.microsoft.com/office/drawing/2014/main" id="{9608B597-8EC2-30C6-13CC-90F4BBA7585C}"/>
                </a:ext>
              </a:extLst>
            </p:cNvPr>
            <p:cNvSpPr/>
            <p:nvPr/>
          </p:nvSpPr>
          <p:spPr>
            <a:xfrm>
              <a:off x="2743198" y="2163767"/>
              <a:ext cx="3998714" cy="695006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E888E0E-6AF2-AC81-154F-903212AC27A0}"/>
                </a:ext>
              </a:extLst>
            </p:cNvPr>
            <p:cNvCxnSpPr/>
            <p:nvPr/>
          </p:nvCxnSpPr>
          <p:spPr>
            <a:xfrm>
              <a:off x="6674889" y="2895600"/>
              <a:ext cx="7676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loud Callout 45">
                <a:extLst>
                  <a:ext uri="{FF2B5EF4-FFF2-40B4-BE49-F238E27FC236}">
                    <a16:creationId xmlns:a16="http://schemas.microsoft.com/office/drawing/2014/main" id="{067A4048-3459-6619-C3E0-F8E047F5407E}"/>
                  </a:ext>
                </a:extLst>
              </p:cNvPr>
              <p:cNvSpPr/>
              <p:nvPr/>
            </p:nvSpPr>
            <p:spPr>
              <a:xfrm>
                <a:off x="-152400" y="5760481"/>
                <a:ext cx="4712265" cy="945119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does not pass through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6" name="Cloud Callout 45">
                <a:extLst>
                  <a:ext uri="{FF2B5EF4-FFF2-40B4-BE49-F238E27FC236}">
                    <a16:creationId xmlns:a16="http://schemas.microsoft.com/office/drawing/2014/main" id="{067A4048-3459-6619-C3E0-F8E047F540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5760481"/>
                <a:ext cx="4712265" cy="945119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70144A-357A-88F0-F774-F11D49865B77}"/>
                  </a:ext>
                </a:extLst>
              </p:cNvPr>
              <p:cNvSpPr txBox="1"/>
              <p:nvPr/>
            </p:nvSpPr>
            <p:spPr>
              <a:xfrm>
                <a:off x="4641908" y="5567068"/>
                <a:ext cx="4502092" cy="120032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::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a path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</a:t>
                </a:r>
                <a:r>
                  <a:rPr lang="en-US" u="sng" dirty="0"/>
                  <a:t>shorter</a:t>
                </a:r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>
                    <a:sym typeface="Wingdings" pitchFamily="2" charset="2"/>
                  </a:rPr>
                  <a:t>there is a path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with </a:t>
                </a:r>
                <a:r>
                  <a:rPr lang="en-US" u="sng" dirty="0"/>
                  <a:t>at most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edges.</a:t>
                </a:r>
              </a:p>
              <a:p>
                <a:r>
                  <a:rPr lang="en-US" dirty="0"/>
                  <a:t>and </a:t>
                </a:r>
                <a:r>
                  <a:rPr lang="en-US" u="sng" dirty="0"/>
                  <a:t>shorter</a:t>
                </a:r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F70144A-357A-88F0-F774-F11D49865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908" y="5567068"/>
                <a:ext cx="4502092" cy="1200329"/>
              </a:xfrm>
              <a:prstGeom prst="rect">
                <a:avLst/>
              </a:prstGeom>
              <a:blipFill>
                <a:blip r:embed="rId23"/>
                <a:stretch>
                  <a:fillRect l="-1127" t="-210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80F284A-24BC-BC83-5911-D357E05EC44C}"/>
                  </a:ext>
                </a:extLst>
              </p:cNvPr>
              <p:cNvSpPr txBox="1"/>
              <p:nvPr/>
            </p:nvSpPr>
            <p:spPr>
              <a:xfrm>
                <a:off x="6983024" y="5562600"/>
                <a:ext cx="2160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with </a:t>
                </a:r>
                <a:r>
                  <a:rPr lang="en-US" u="sng" dirty="0"/>
                  <a:t>at most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edges.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80F284A-24BC-BC83-5911-D357E05EC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024" y="5562600"/>
                <a:ext cx="2160976" cy="369332"/>
              </a:xfrm>
              <a:prstGeom prst="rect">
                <a:avLst/>
              </a:prstGeom>
              <a:blipFill>
                <a:blip r:embed="rId24"/>
                <a:stretch>
                  <a:fillRect l="-2941" t="-10000" r="-176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C9E9ABFB-073F-255F-9DAB-A0998C4B9F3F}"/>
              </a:ext>
            </a:extLst>
          </p:cNvPr>
          <p:cNvSpPr txBox="1"/>
          <p:nvPr/>
        </p:nvSpPr>
        <p:spPr>
          <a:xfrm>
            <a:off x="7133946" y="6396248"/>
            <a:ext cx="158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Contradiction !</a:t>
            </a:r>
          </a:p>
        </p:txBody>
      </p:sp>
      <p:sp>
        <p:nvSpPr>
          <p:cNvPr id="63" name="Cloud Callout 62">
            <a:extLst>
              <a:ext uri="{FF2B5EF4-FFF2-40B4-BE49-F238E27FC236}">
                <a16:creationId xmlns:a16="http://schemas.microsoft.com/office/drawing/2014/main" id="{7AA30ABD-3AD0-E21C-E4B6-0BD50114C4E8}"/>
              </a:ext>
            </a:extLst>
          </p:cNvPr>
          <p:cNvSpPr/>
          <p:nvPr/>
        </p:nvSpPr>
        <p:spPr>
          <a:xfrm>
            <a:off x="1503081" y="3512338"/>
            <a:ext cx="4712265" cy="945119"/>
          </a:xfrm>
          <a:prstGeom prst="cloudCallout">
            <a:avLst>
              <a:gd name="adj1" fmla="val -25991"/>
              <a:gd name="adj2" fmla="val 7885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Focus on the </a:t>
            </a:r>
            <a:r>
              <a:rPr lang="en-US" b="1" dirty="0">
                <a:solidFill>
                  <a:srgbClr val="7030A0"/>
                </a:solidFill>
              </a:rPr>
              <a:t>Lemma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What does it convey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B35C285-5F6F-EA2A-8362-714CB6E2F9DB}"/>
                  </a:ext>
                </a:extLst>
              </p:cNvPr>
              <p:cNvSpPr txBox="1"/>
              <p:nvPr/>
            </p:nvSpPr>
            <p:spPr>
              <a:xfrm>
                <a:off x="1628712" y="1117313"/>
                <a:ext cx="3877023" cy="36933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set of all paths with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edges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B35C285-5F6F-EA2A-8362-714CB6E2F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12" y="1117313"/>
                <a:ext cx="3877023" cy="369332"/>
              </a:xfrm>
              <a:prstGeom prst="rect">
                <a:avLst/>
              </a:prstGeom>
              <a:blipFill>
                <a:blip r:embed="rId25"/>
                <a:stretch>
                  <a:fillRect l="-1307" t="-6452" r="-327" b="-22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F287F3F-D5A8-5D32-D6BB-5D6D7F296F41}"/>
                  </a:ext>
                </a:extLst>
              </p:cNvPr>
              <p:cNvSpPr txBox="1"/>
              <p:nvPr/>
            </p:nvSpPr>
            <p:spPr>
              <a:xfrm>
                <a:off x="5410200" y="1110011"/>
                <a:ext cx="2639120" cy="36933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that originate from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F287F3F-D5A8-5D32-D6BB-5D6D7F29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1110011"/>
                <a:ext cx="2639120" cy="369332"/>
              </a:xfrm>
              <a:prstGeom prst="rect">
                <a:avLst/>
              </a:prstGeom>
              <a:blipFill>
                <a:blip r:embed="rId26"/>
                <a:stretch>
                  <a:fillRect l="-2404" t="-6667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79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0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6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9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2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5" dur="500"/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0" grpId="0" animBg="1"/>
      <p:bldP spid="41" grpId="0"/>
      <p:bldP spid="41" grpId="1"/>
      <p:bldP spid="46" grpId="0" animBg="1"/>
      <p:bldP spid="46" grpId="1" animBg="1"/>
      <p:bldP spid="47" grpId="0" animBg="1"/>
      <p:bldP spid="47" grpId="1" uiExpand="1" build="allAtOnce" animBg="1"/>
      <p:bldP spid="61" grpId="0"/>
      <p:bldP spid="61" grpId="1"/>
      <p:bldP spid="62" grpId="0"/>
      <p:bldP spid="62" grpId="1"/>
      <p:bldP spid="63" grpId="0" animBg="1"/>
      <p:bldP spid="63" grpId="1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Lemma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a graph with no </a:t>
                </a:r>
                <a:r>
                  <a:rPr lang="en-US" sz="2000" b="1" dirty="0"/>
                  <a:t>negative weight </a:t>
                </a:r>
                <a:r>
                  <a:rPr lang="en-US" sz="2000" dirty="0"/>
                  <a:t>cycle.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/>
                      </a:rPr>
                      <m:t>∷(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consists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edges.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AutoNum type="romanLcParenBoth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486400"/>
              </a:xfrm>
              <a:blipFill>
                <a:blip r:embed="rId2"/>
                <a:stretch>
                  <a:fillRect l="-694" t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8E5A5433-AA5E-4B23-7D9A-1C19D7608DC8}"/>
              </a:ext>
            </a:extLst>
          </p:cNvPr>
          <p:cNvSpPr txBox="1">
            <a:spLocks/>
          </p:cNvSpPr>
          <p:nvPr/>
        </p:nvSpPr>
        <p:spPr bwMode="auto">
          <a:xfrm>
            <a:off x="609600" y="2286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 dirty="0"/>
              <a:t>The</a:t>
            </a:r>
            <a:r>
              <a:rPr lang="en-US" sz="3600" b="1" dirty="0">
                <a:solidFill>
                  <a:srgbClr val="006C31"/>
                </a:solidFill>
              </a:rPr>
              <a:t> Optimal </a:t>
            </a:r>
            <a:r>
              <a:rPr lang="en-US" sz="3600" b="1" dirty="0" err="1">
                <a:solidFill>
                  <a:srgbClr val="006C31"/>
                </a:solidFill>
              </a:rPr>
              <a:t>Subpath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7030A0"/>
                </a:solidFill>
              </a:rPr>
              <a:t>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0F32D-8F1F-DB5F-FCBB-2E33427A889A}"/>
                  </a:ext>
                </a:extLst>
              </p:cNvPr>
              <p:cNvSpPr txBox="1"/>
              <p:nvPr/>
            </p:nvSpPr>
            <p:spPr>
              <a:xfrm>
                <a:off x="1628712" y="1117313"/>
                <a:ext cx="3877023" cy="36933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For set of all paths with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edges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0F32D-8F1F-DB5F-FCBB-2E33427A8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12" y="1117313"/>
                <a:ext cx="3877023" cy="369332"/>
              </a:xfrm>
              <a:prstGeom prst="rect">
                <a:avLst/>
              </a:prstGeom>
              <a:blipFill>
                <a:blip r:embed="rId3"/>
                <a:stretch>
                  <a:fillRect l="-1307" t="-6452" r="-327" b="-22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E5293E-F750-B31B-FC4E-6077CF98A447}"/>
                  </a:ext>
                </a:extLst>
              </p:cNvPr>
              <p:cNvSpPr txBox="1"/>
              <p:nvPr/>
            </p:nvSpPr>
            <p:spPr>
              <a:xfrm>
                <a:off x="5410200" y="1110011"/>
                <a:ext cx="2639120" cy="36933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that originate from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E5293E-F750-B31B-FC4E-6077CF98A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1110011"/>
                <a:ext cx="2639120" cy="369332"/>
              </a:xfrm>
              <a:prstGeom prst="rect">
                <a:avLst/>
              </a:prstGeom>
              <a:blipFill>
                <a:blip r:embed="rId4"/>
                <a:stretch>
                  <a:fillRect l="-2404" t="-6667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8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1</a:t>
                </a:r>
                <a:r>
                  <a:rPr lang="en-US" sz="1800" dirty="0"/>
                  <a:t>: 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</a:t>
                </a:r>
                <a14:m>
                  <m:oMath xmlns:m="http://schemas.openxmlformats.org/officeDocument/2006/math">
                    <m:r>
                      <a:rPr lang="en-US" sz="1800" dirty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edges </a:t>
                </a:r>
                <a:r>
                  <a:rPr lang="en-US" sz="1800" dirty="0"/>
                  <a:t>		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2</a:t>
                </a:r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exactly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 edges</a:t>
                </a: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dirty="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ctrlP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𝑬</m:t>
                            </m:r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)</m:t>
                            </m:r>
                          </m:lim>
                        </m:limLow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</m:fName>
                      <m:e>
                        <m:d>
                          <m:dPr>
                            <m:ctrlPr>
                              <a:rPr lang="en-US" sz="18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dirty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𝑳</m:t>
                            </m:r>
                            <m:d>
                              <m:dPr>
                                <m:ctrlPr>
                                  <a:rPr lang="en-US" sz="18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1800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sz="1800" dirty="0"/>
                              <m:t>  </m:t>
                            </m:r>
                            <m:r>
                              <a:rPr lang="en-US" sz="1800" b="1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i="1" dirty="0">
                  <a:solidFill>
                    <a:srgbClr val="00B05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i="1" dirty="0">
                    <a:solidFill>
                      <a:srgbClr val="00B050"/>
                    </a:solidFill>
                    <a:latin typeface="Cambria Math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  <a:blipFill rotWithShape="1">
                <a:blip r:embed="rId2"/>
                <a:stretch>
                  <a:fillRect l="-741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    Recursive Formulation </a:t>
                </a:r>
                <a:r>
                  <a:rPr lang="en-US" sz="2800" b="1" dirty="0"/>
                  <a:t>for</a:t>
                </a:r>
                <a:r>
                  <a:rPr lang="en-US" sz="28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800" i="1" dirty="0">
                            <a:latin typeface="Cambria Math"/>
                          </a:rPr>
                          <m:t>,</m:t>
                        </m:r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8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2260" t="-10465" r="-258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4953000" y="29718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loud Callout 64"/>
              <p:cNvSpPr/>
              <p:nvPr/>
            </p:nvSpPr>
            <p:spPr>
              <a:xfrm>
                <a:off x="-152400" y="2286000"/>
                <a:ext cx="3124200" cy="13716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But we do not know the exact in-neighbor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65" name="Cloud Callout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2286000"/>
                <a:ext cx="3124200" cy="1371600"/>
              </a:xfrm>
              <a:prstGeom prst="cloudCallou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/>
          <p:cNvSpPr/>
          <p:nvPr/>
        </p:nvSpPr>
        <p:spPr>
          <a:xfrm>
            <a:off x="3449183" y="1600200"/>
            <a:ext cx="970417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/>
          <p:nvPr/>
        </p:nvSpPr>
        <p:spPr>
          <a:xfrm>
            <a:off x="6462403" y="1600200"/>
            <a:ext cx="4717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ounded Rectangle 84"/>
              <p:cNvSpPr/>
              <p:nvPr/>
            </p:nvSpPr>
            <p:spPr>
              <a:xfrm>
                <a:off x="-7374" y="4466098"/>
                <a:ext cx="3810000" cy="806759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Consider any in-neighbor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Any relation between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85" name="Rounded 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74" y="4466098"/>
                <a:ext cx="3810000" cy="806759"/>
              </a:xfrm>
              <a:prstGeom prst="roundRect">
                <a:avLst/>
              </a:prstGeom>
              <a:blipFill>
                <a:blip r:embed="rId14"/>
                <a:stretch>
                  <a:fillRect t="-7463" r="-330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 88"/>
          <p:cNvGrpSpPr/>
          <p:nvPr/>
        </p:nvGrpSpPr>
        <p:grpSpPr>
          <a:xfrm>
            <a:off x="6400800" y="5257800"/>
            <a:ext cx="1524000" cy="1371600"/>
            <a:chOff x="6400800" y="1905000"/>
            <a:chExt cx="1524000" cy="1371600"/>
          </a:xfrm>
        </p:grpSpPr>
        <p:grpSp>
          <p:nvGrpSpPr>
            <p:cNvPr id="91" name="Group 90"/>
            <p:cNvGrpSpPr/>
            <p:nvPr/>
          </p:nvGrpSpPr>
          <p:grpSpPr>
            <a:xfrm>
              <a:off x="6447909" y="1995845"/>
              <a:ext cx="1400691" cy="1204555"/>
              <a:chOff x="6447909" y="1995845"/>
              <a:chExt cx="1400691" cy="1204555"/>
            </a:xfrm>
          </p:grpSpPr>
          <p:cxnSp>
            <p:nvCxnSpPr>
              <p:cNvPr id="96" name="Straight Arrow Connector 95"/>
              <p:cNvCxnSpPr/>
              <p:nvPr/>
            </p:nvCxnSpPr>
            <p:spPr>
              <a:xfrm flipV="1">
                <a:off x="6447909" y="2804756"/>
                <a:ext cx="638691" cy="3956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/>
              <p:nvPr/>
            </p:nvCxnSpPr>
            <p:spPr>
              <a:xfrm flipH="1" flipV="1">
                <a:off x="7162800" y="2804756"/>
                <a:ext cx="457200" cy="3956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/>
              <p:nvPr/>
            </p:nvCxnSpPr>
            <p:spPr>
              <a:xfrm flipH="1">
                <a:off x="7162800" y="2362200"/>
                <a:ext cx="685800" cy="33408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/>
              <p:cNvCxnSpPr/>
              <p:nvPr/>
            </p:nvCxnSpPr>
            <p:spPr>
              <a:xfrm>
                <a:off x="6781800" y="1995845"/>
                <a:ext cx="304800" cy="67115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Oval 91"/>
            <p:cNvSpPr/>
            <p:nvPr/>
          </p:nvSpPr>
          <p:spPr>
            <a:xfrm>
              <a:off x="6705600" y="1905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>
            <a:xfrm>
              <a:off x="77724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7620000" y="3124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6400800" y="3124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D070A99-C48C-0247-9F02-BF543BCE9160}"/>
                  </a:ext>
                </a:extLst>
              </p:cNvPr>
              <p:cNvSpPr txBox="1"/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D070A99-C48C-0247-9F02-BF543BCE9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EE1DBF5-BC0D-8C43-ABCB-18D09095BB58}"/>
              </a:ext>
            </a:extLst>
          </p:cNvPr>
          <p:cNvGrpSpPr/>
          <p:nvPr/>
        </p:nvGrpSpPr>
        <p:grpSpPr>
          <a:xfrm>
            <a:off x="1828800" y="5945090"/>
            <a:ext cx="5410200" cy="533400"/>
            <a:chOff x="1828800" y="2435423"/>
            <a:chExt cx="5410200" cy="53340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1F12AA8-779A-1A49-8290-F387FE0B09AF}"/>
                </a:ext>
              </a:extLst>
            </p:cNvPr>
            <p:cNvGrpSpPr/>
            <p:nvPr/>
          </p:nvGrpSpPr>
          <p:grpSpPr>
            <a:xfrm>
              <a:off x="1828800" y="2435423"/>
              <a:ext cx="5410200" cy="533400"/>
              <a:chOff x="1828800" y="2740223"/>
              <a:chExt cx="5410200" cy="53340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B13E9849-15B1-BB47-B818-5713D8647809}"/>
                  </a:ext>
                </a:extLst>
              </p:cNvPr>
              <p:cNvGrpSpPr/>
              <p:nvPr/>
            </p:nvGrpSpPr>
            <p:grpSpPr>
              <a:xfrm>
                <a:off x="1828800" y="2740223"/>
                <a:ext cx="352981" cy="445532"/>
                <a:chOff x="1828800" y="2831068"/>
                <a:chExt cx="352981" cy="445532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E6A99461-603B-C741-8593-4FA16B8132E5}"/>
                    </a:ext>
                  </a:extLst>
                </p:cNvPr>
                <p:cNvSpPr/>
                <p:nvPr/>
              </p:nvSpPr>
              <p:spPr>
                <a:xfrm>
                  <a:off x="1981200" y="2831068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D4723F3A-70E7-6946-AE50-E5FC477790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t="-8197" r="-22414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3FEB130B-519A-E546-B685-475642E227B9}"/>
                  </a:ext>
                </a:extLst>
              </p:cNvPr>
              <p:cNvGrpSpPr/>
              <p:nvPr/>
            </p:nvGrpSpPr>
            <p:grpSpPr>
              <a:xfrm>
                <a:off x="6863577" y="2816423"/>
                <a:ext cx="375423" cy="457200"/>
                <a:chOff x="6863577" y="3059668"/>
                <a:chExt cx="375423" cy="457200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ABBBD9EB-96C2-7044-9E76-05716C1A78A3}"/>
                    </a:ext>
                  </a:extLst>
                </p:cNvPr>
                <p:cNvSpPr/>
                <p:nvPr/>
              </p:nvSpPr>
              <p:spPr>
                <a:xfrm>
                  <a:off x="7010400" y="305966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FA8086B1-5A6A-D945-8B25-8A2AC83F39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14516" t="-8197" r="-2580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87E4AD30-4D16-7B4E-A888-3130610F782C}"/>
                </a:ext>
              </a:extLst>
            </p:cNvPr>
            <p:cNvCxnSpPr/>
            <p:nvPr/>
          </p:nvCxnSpPr>
          <p:spPr>
            <a:xfrm flipV="1">
              <a:off x="2105581" y="2587823"/>
              <a:ext cx="4915544" cy="297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A3BA4B97-2735-0148-9E60-274235787021}"/>
              </a:ext>
            </a:extLst>
          </p:cNvPr>
          <p:cNvSpPr/>
          <p:nvPr/>
        </p:nvSpPr>
        <p:spPr>
          <a:xfrm rot="5400000" flipH="1">
            <a:off x="3985854" y="3710346"/>
            <a:ext cx="334091" cy="41910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6C9C8D2-DE11-9B4E-98E9-CCD219CC6C9D}"/>
              </a:ext>
            </a:extLst>
          </p:cNvPr>
          <p:cNvGrpSpPr/>
          <p:nvPr/>
        </p:nvGrpSpPr>
        <p:grpSpPr>
          <a:xfrm>
            <a:off x="2288788" y="5403373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68E6F07-67AC-544E-9835-076749D2D4DF}"/>
                    </a:ext>
                  </a:extLst>
                </p:cNvPr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9CF20BFB-4AC8-8D4E-9A72-DD04B1E1B5A7}"/>
                    </a:ext>
                  </a:extLst>
                </p:cNvPr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A4E26971-014A-2D4F-BC23-D6F9557A5DFE}"/>
                    </a:ext>
                  </a:extLst>
                </p:cNvPr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D6C43EC-9959-424B-A8EC-EA195A4EFA87}"/>
                    </a:ext>
                  </a:extLst>
                </p:cNvPr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AA1F69-6DF6-FC42-9590-248DE1F49156}"/>
              </a:ext>
            </a:extLst>
          </p:cNvPr>
          <p:cNvGrpSpPr/>
          <p:nvPr/>
        </p:nvGrpSpPr>
        <p:grpSpPr>
          <a:xfrm>
            <a:off x="2133600" y="6021290"/>
            <a:ext cx="4876800" cy="152400"/>
            <a:chOff x="2133600" y="6065224"/>
            <a:chExt cx="4876800" cy="1524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EE110BCD-F3F9-1940-A3E5-9085C9E26209}"/>
                </a:ext>
              </a:extLst>
            </p:cNvPr>
            <p:cNvGrpSpPr/>
            <p:nvPr/>
          </p:nvGrpSpPr>
          <p:grpSpPr>
            <a:xfrm>
              <a:off x="2133600" y="6065224"/>
              <a:ext cx="4191000" cy="152400"/>
              <a:chOff x="2133600" y="2435423"/>
              <a:chExt cx="4191000" cy="152400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7E8A37B-6BA2-AA4C-96E2-5BFAE67DC48B}"/>
                  </a:ext>
                </a:extLst>
              </p:cNvPr>
              <p:cNvSpPr/>
              <p:nvPr/>
            </p:nvSpPr>
            <p:spPr>
              <a:xfrm>
                <a:off x="28194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BE1592B8-8F58-CE41-AFB4-DFED023E8CB1}"/>
                  </a:ext>
                </a:extLst>
              </p:cNvPr>
              <p:cNvSpPr/>
              <p:nvPr/>
            </p:nvSpPr>
            <p:spPr>
              <a:xfrm>
                <a:off x="36576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A85CB776-663D-D545-BBBD-6B9F0EADA8BD}"/>
                  </a:ext>
                </a:extLst>
              </p:cNvPr>
              <p:cNvCxnSpPr/>
              <p:nvPr/>
            </p:nvCxnSpPr>
            <p:spPr>
              <a:xfrm>
                <a:off x="21336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9C5AEDBB-1510-9349-AF28-8AF132A93472}"/>
                  </a:ext>
                </a:extLst>
              </p:cNvPr>
              <p:cNvCxnSpPr/>
              <p:nvPr/>
            </p:nvCxnSpPr>
            <p:spPr>
              <a:xfrm>
                <a:off x="29718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080E94CC-2893-8E44-948A-B5DFE2DAED78}"/>
                  </a:ext>
                </a:extLst>
              </p:cNvPr>
              <p:cNvSpPr/>
              <p:nvPr/>
            </p:nvSpPr>
            <p:spPr>
              <a:xfrm>
                <a:off x="44958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5287C62-FE16-9B48-98AF-BE2747C1715B}"/>
                  </a:ext>
                </a:extLst>
              </p:cNvPr>
              <p:cNvSpPr/>
              <p:nvPr/>
            </p:nvSpPr>
            <p:spPr>
              <a:xfrm>
                <a:off x="53340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2C525A98-2835-584D-9E8B-423439CADBAC}"/>
                  </a:ext>
                </a:extLst>
              </p:cNvPr>
              <p:cNvCxnSpPr/>
              <p:nvPr/>
            </p:nvCxnSpPr>
            <p:spPr>
              <a:xfrm>
                <a:off x="46482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15B9D9D9-F44D-5D43-AE5C-ADC8CECEAA33}"/>
                  </a:ext>
                </a:extLst>
              </p:cNvPr>
              <p:cNvSpPr/>
              <p:nvPr/>
            </p:nvSpPr>
            <p:spPr>
              <a:xfrm>
                <a:off x="61722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C48321E8-6423-ED47-B3D7-D5C308A63EEA}"/>
                  </a:ext>
                </a:extLst>
              </p:cNvPr>
              <p:cNvCxnSpPr/>
              <p:nvPr/>
            </p:nvCxnSpPr>
            <p:spPr>
              <a:xfrm>
                <a:off x="54864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8457290-4B75-6241-8462-40840D2324AC}"/>
                </a:ext>
              </a:extLst>
            </p:cNvPr>
            <p:cNvCxnSpPr/>
            <p:nvPr/>
          </p:nvCxnSpPr>
          <p:spPr>
            <a:xfrm>
              <a:off x="6324600" y="6141424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Oval 156">
            <a:extLst>
              <a:ext uri="{FF2B5EF4-FFF2-40B4-BE49-F238E27FC236}">
                <a16:creationId xmlns:a16="http://schemas.microsoft.com/office/drawing/2014/main" id="{EAF226CA-E5AC-E84C-A5D2-A04761C27373}"/>
              </a:ext>
            </a:extLst>
          </p:cNvPr>
          <p:cNvSpPr/>
          <p:nvPr/>
        </p:nvSpPr>
        <p:spPr>
          <a:xfrm>
            <a:off x="6096000" y="5943600"/>
            <a:ext cx="304800" cy="2916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206846-E820-7743-A5ED-47AE0CF300D7}"/>
                  </a:ext>
                </a:extLst>
              </p:cNvPr>
              <p:cNvSpPr txBox="1"/>
              <p:nvPr/>
            </p:nvSpPr>
            <p:spPr>
              <a:xfrm>
                <a:off x="5447964" y="4711452"/>
                <a:ext cx="3582071" cy="40498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𝑳</m:t>
                            </m:r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 dirty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 </m:t>
                            </m:r>
                            <m:r>
                              <a:rPr lang="en-US" b="1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206846-E820-7743-A5ED-47AE0CF30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64" y="4711452"/>
                <a:ext cx="3582071" cy="404983"/>
              </a:xfrm>
              <a:prstGeom prst="rect">
                <a:avLst/>
              </a:prstGeom>
              <a:blipFill>
                <a:blip r:embed="rId24"/>
                <a:stretch>
                  <a:fillRect b="-117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FD2B25-DCA6-394C-921A-6631089EBFFB}"/>
                  </a:ext>
                </a:extLst>
              </p:cNvPr>
              <p:cNvSpPr txBox="1"/>
              <p:nvPr/>
            </p:nvSpPr>
            <p:spPr>
              <a:xfrm>
                <a:off x="7884961" y="5423601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FD2B25-DCA6-394C-921A-6631089EB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961" y="5423601"/>
                <a:ext cx="375424" cy="369332"/>
              </a:xfrm>
              <a:prstGeom prst="rect">
                <a:avLst/>
              </a:prstGeom>
              <a:blipFill>
                <a:blip r:embed="rId2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40D0571-5857-084D-06A4-89CF25177ABE}"/>
              </a:ext>
            </a:extLst>
          </p:cNvPr>
          <p:cNvSpPr/>
          <p:nvPr/>
        </p:nvSpPr>
        <p:spPr>
          <a:xfrm>
            <a:off x="2272578" y="1600200"/>
            <a:ext cx="4356822" cy="5223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85948-F727-B77B-1572-C3E85BAF8242}"/>
              </a:ext>
            </a:extLst>
          </p:cNvPr>
          <p:cNvSpPr txBox="1"/>
          <p:nvPr/>
        </p:nvSpPr>
        <p:spPr>
          <a:xfrm>
            <a:off x="3636155" y="5257800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      </a:t>
            </a:r>
            <a:r>
              <a:rPr lang="en-US" sz="2000" b="1" dirty="0">
                <a:solidFill>
                  <a:srgbClr val="C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F0D143-2848-0444-9ED8-1A84765C7978}"/>
                  </a:ext>
                </a:extLst>
              </p:cNvPr>
              <p:cNvSpPr txBox="1"/>
              <p:nvPr/>
            </p:nvSpPr>
            <p:spPr>
              <a:xfrm>
                <a:off x="3461416" y="5234403"/>
                <a:ext cx="13067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sz="1800" b="1" i="1" dirty="0">
                          <a:latin typeface="Cambria Math"/>
                        </a:rPr>
                        <m:t>(</m:t>
                      </m:r>
                      <m:r>
                        <a:rPr lang="en-US" sz="1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800" b="1" i="1" dirty="0">
                          <a:latin typeface="Cambria Math"/>
                        </a:rPr>
                        <m:t>,</m:t>
                      </m:r>
                      <m:r>
                        <a:rPr lang="en-US" sz="1800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sz="1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4F0D143-2848-0444-9ED8-1A84765C7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416" y="5234403"/>
                <a:ext cx="1306768" cy="369332"/>
              </a:xfrm>
              <a:prstGeom prst="rect">
                <a:avLst/>
              </a:prstGeom>
              <a:blipFill>
                <a:blip r:embed="rId2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44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5" grpId="1" animBg="1"/>
      <p:bldP spid="85" grpId="0" animBg="1"/>
      <p:bldP spid="2" grpId="0" animBg="1"/>
      <p:bldP spid="7" grpId="0"/>
      <p:bldP spid="8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1</a:t>
                </a:r>
                <a:r>
                  <a:rPr lang="en-US" sz="1800" dirty="0"/>
                  <a:t>: 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</a:t>
                </a:r>
                <a14:m>
                  <m:oMath xmlns:m="http://schemas.openxmlformats.org/officeDocument/2006/math">
                    <m:r>
                      <a:rPr lang="en-US" sz="1800" dirty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edges </a:t>
                </a:r>
                <a:r>
                  <a:rPr lang="en-US" sz="1800" dirty="0"/>
                  <a:t>		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2</a:t>
                </a:r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exactly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 edges</a:t>
                </a: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dirty="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ctrlP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𝑬</m:t>
                            </m:r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)</m:t>
                            </m:r>
                          </m:lim>
                        </m:limLow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</m:fName>
                      <m:e>
                        <m:d>
                          <m:dPr>
                            <m:ctrlPr>
                              <a:rPr lang="en-US" sz="18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dirty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𝑳</m:t>
                            </m:r>
                            <m:d>
                              <m:dPr>
                                <m:ctrlPr>
                                  <a:rPr lang="en-US" sz="18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1800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sz="1800" dirty="0"/>
                              <m:t>  </m:t>
                            </m:r>
                            <m:r>
                              <a:rPr lang="en-US" sz="1800" b="1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i="1" dirty="0">
                  <a:solidFill>
                    <a:srgbClr val="00B05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i="1" dirty="0">
                    <a:solidFill>
                      <a:srgbClr val="00B050"/>
                    </a:solidFill>
                    <a:latin typeface="Cambria Math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  <a:blipFill rotWithShape="1">
                <a:blip r:embed="rId2"/>
                <a:stretch>
                  <a:fillRect l="-741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    Recursive Formulation </a:t>
                </a:r>
                <a:r>
                  <a:rPr lang="en-US" sz="2800" b="1" dirty="0"/>
                  <a:t>for</a:t>
                </a:r>
                <a:r>
                  <a:rPr lang="en-US" sz="28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800" i="1" dirty="0">
                            <a:latin typeface="Cambria Math"/>
                          </a:rPr>
                          <m:t>,</m:t>
                        </m:r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8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2260" t="-10465" r="-258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4953000" y="29718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3449183" y="1600200"/>
            <a:ext cx="970417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/>
          <p:cNvSpPr/>
          <p:nvPr/>
        </p:nvSpPr>
        <p:spPr>
          <a:xfrm>
            <a:off x="6462403" y="1600200"/>
            <a:ext cx="4717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/>
          <p:cNvGrpSpPr/>
          <p:nvPr/>
        </p:nvGrpSpPr>
        <p:grpSpPr>
          <a:xfrm>
            <a:off x="6400800" y="5257800"/>
            <a:ext cx="1524000" cy="1371600"/>
            <a:chOff x="6400800" y="1905000"/>
            <a:chExt cx="1524000" cy="1371600"/>
          </a:xfrm>
        </p:grpSpPr>
        <p:grpSp>
          <p:nvGrpSpPr>
            <p:cNvPr id="91" name="Group 90"/>
            <p:cNvGrpSpPr/>
            <p:nvPr/>
          </p:nvGrpSpPr>
          <p:grpSpPr>
            <a:xfrm>
              <a:off x="6447909" y="1995845"/>
              <a:ext cx="1400691" cy="1204555"/>
              <a:chOff x="6447909" y="1995845"/>
              <a:chExt cx="1400691" cy="1204555"/>
            </a:xfrm>
          </p:grpSpPr>
          <p:cxnSp>
            <p:nvCxnSpPr>
              <p:cNvPr id="96" name="Straight Arrow Connector 95"/>
              <p:cNvCxnSpPr/>
              <p:nvPr/>
            </p:nvCxnSpPr>
            <p:spPr>
              <a:xfrm flipV="1">
                <a:off x="6447909" y="2804756"/>
                <a:ext cx="638691" cy="3956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/>
              <p:nvPr/>
            </p:nvCxnSpPr>
            <p:spPr>
              <a:xfrm flipH="1" flipV="1">
                <a:off x="7162800" y="2804756"/>
                <a:ext cx="457200" cy="39564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/>
              <p:nvPr/>
            </p:nvCxnSpPr>
            <p:spPr>
              <a:xfrm flipH="1">
                <a:off x="7162800" y="2362200"/>
                <a:ext cx="685800" cy="33408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/>
              <p:cNvCxnSpPr/>
              <p:nvPr/>
            </p:nvCxnSpPr>
            <p:spPr>
              <a:xfrm>
                <a:off x="6781800" y="1995845"/>
                <a:ext cx="304800" cy="67115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Oval 91"/>
            <p:cNvSpPr/>
            <p:nvPr/>
          </p:nvSpPr>
          <p:spPr>
            <a:xfrm>
              <a:off x="6705600" y="1905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>
            <a:xfrm>
              <a:off x="77724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7620000" y="3124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6400800" y="3124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D070A99-C48C-0247-9F02-BF543BCE9160}"/>
                  </a:ext>
                </a:extLst>
              </p:cNvPr>
              <p:cNvSpPr txBox="1"/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D070A99-C48C-0247-9F02-BF543BCE9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6094513"/>
                <a:ext cx="370614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EE1DBF5-BC0D-8C43-ABCB-18D09095BB58}"/>
              </a:ext>
            </a:extLst>
          </p:cNvPr>
          <p:cNvGrpSpPr/>
          <p:nvPr/>
        </p:nvGrpSpPr>
        <p:grpSpPr>
          <a:xfrm>
            <a:off x="1828800" y="5945090"/>
            <a:ext cx="5410200" cy="533400"/>
            <a:chOff x="1828800" y="2435423"/>
            <a:chExt cx="5410200" cy="53340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1F12AA8-779A-1A49-8290-F387FE0B09AF}"/>
                </a:ext>
              </a:extLst>
            </p:cNvPr>
            <p:cNvGrpSpPr/>
            <p:nvPr/>
          </p:nvGrpSpPr>
          <p:grpSpPr>
            <a:xfrm>
              <a:off x="1828800" y="2435423"/>
              <a:ext cx="5410200" cy="533400"/>
              <a:chOff x="1828800" y="2740223"/>
              <a:chExt cx="5410200" cy="53340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B13E9849-15B1-BB47-B818-5713D8647809}"/>
                  </a:ext>
                </a:extLst>
              </p:cNvPr>
              <p:cNvGrpSpPr/>
              <p:nvPr/>
            </p:nvGrpSpPr>
            <p:grpSpPr>
              <a:xfrm>
                <a:off x="1828800" y="2740223"/>
                <a:ext cx="352981" cy="445532"/>
                <a:chOff x="1828800" y="2831068"/>
                <a:chExt cx="352981" cy="445532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E6A99461-603B-C741-8593-4FA16B8132E5}"/>
                    </a:ext>
                  </a:extLst>
                </p:cNvPr>
                <p:cNvSpPr/>
                <p:nvPr/>
              </p:nvSpPr>
              <p:spPr>
                <a:xfrm>
                  <a:off x="1981200" y="2831068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D4723F3A-70E7-6946-AE50-E5FC477790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𝒔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9" name="TextBox 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8800" y="2907268"/>
                      <a:ext cx="352981" cy="369332"/>
                    </a:xfrm>
                    <a:prstGeom prst="rect">
                      <a:avLst/>
                    </a:prstGeom>
                    <a:blipFill rotWithShape="1">
                      <a:blip r:embed="rId8"/>
                      <a:stretch>
                        <a:fillRect t="-8197" r="-22414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3FEB130B-519A-E546-B685-475642E227B9}"/>
                  </a:ext>
                </a:extLst>
              </p:cNvPr>
              <p:cNvGrpSpPr/>
              <p:nvPr/>
            </p:nvGrpSpPr>
            <p:grpSpPr>
              <a:xfrm>
                <a:off x="6863577" y="2816423"/>
                <a:ext cx="375423" cy="457200"/>
                <a:chOff x="6863577" y="3059668"/>
                <a:chExt cx="375423" cy="457200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ABBBD9EB-96C2-7044-9E76-05716C1A78A3}"/>
                    </a:ext>
                  </a:extLst>
                </p:cNvPr>
                <p:cNvSpPr/>
                <p:nvPr/>
              </p:nvSpPr>
              <p:spPr>
                <a:xfrm>
                  <a:off x="7010400" y="3059668"/>
                  <a:ext cx="152400" cy="152400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FA8086B1-5A6A-D945-8B25-8A2AC83F39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2" name="TextBox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63577" y="3147536"/>
                      <a:ext cx="375423" cy="369332"/>
                    </a:xfrm>
                    <a:prstGeom prst="rect">
                      <a:avLst/>
                    </a:prstGeom>
                    <a:blipFill rotWithShape="1">
                      <a:blip r:embed="rId15"/>
                      <a:stretch>
                        <a:fillRect l="-14516" t="-8197" r="-25806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87E4AD30-4D16-7B4E-A888-3130610F782C}"/>
                </a:ext>
              </a:extLst>
            </p:cNvPr>
            <p:cNvCxnSpPr/>
            <p:nvPr/>
          </p:nvCxnSpPr>
          <p:spPr>
            <a:xfrm flipV="1">
              <a:off x="2105581" y="2587823"/>
              <a:ext cx="4915544" cy="2977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Right Brace 138">
            <a:extLst>
              <a:ext uri="{FF2B5EF4-FFF2-40B4-BE49-F238E27FC236}">
                <a16:creationId xmlns:a16="http://schemas.microsoft.com/office/drawing/2014/main" id="{A3BA4B97-2735-0148-9E60-274235787021}"/>
              </a:ext>
            </a:extLst>
          </p:cNvPr>
          <p:cNvSpPr/>
          <p:nvPr/>
        </p:nvSpPr>
        <p:spPr>
          <a:xfrm rot="5400000" flipH="1">
            <a:off x="3985854" y="3710346"/>
            <a:ext cx="334091" cy="4191000"/>
          </a:xfrm>
          <a:prstGeom prst="righ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6C9C8D2-DE11-9B4E-98E9-CCD219CC6C9D}"/>
              </a:ext>
            </a:extLst>
          </p:cNvPr>
          <p:cNvGrpSpPr/>
          <p:nvPr/>
        </p:nvGrpSpPr>
        <p:grpSpPr>
          <a:xfrm>
            <a:off x="2288788" y="5403373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68E6F07-67AC-544E-9835-076749D2D4DF}"/>
                    </a:ext>
                  </a:extLst>
                </p:cNvPr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9CF20BFB-4AC8-8D4E-9A72-DD04B1E1B5A7}"/>
                    </a:ext>
                  </a:extLst>
                </p:cNvPr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A4E26971-014A-2D4F-BC23-D6F9557A5DFE}"/>
                    </a:ext>
                  </a:extLst>
                </p:cNvPr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D6C43EC-9959-424B-A8EC-EA195A4EFA87}"/>
                    </a:ext>
                  </a:extLst>
                </p:cNvPr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AA1F69-6DF6-FC42-9590-248DE1F49156}"/>
              </a:ext>
            </a:extLst>
          </p:cNvPr>
          <p:cNvGrpSpPr/>
          <p:nvPr/>
        </p:nvGrpSpPr>
        <p:grpSpPr>
          <a:xfrm>
            <a:off x="2133600" y="6021290"/>
            <a:ext cx="4876800" cy="152400"/>
            <a:chOff x="2133600" y="6065224"/>
            <a:chExt cx="4876800" cy="15240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EE110BCD-F3F9-1940-A3E5-9085C9E26209}"/>
                </a:ext>
              </a:extLst>
            </p:cNvPr>
            <p:cNvGrpSpPr/>
            <p:nvPr/>
          </p:nvGrpSpPr>
          <p:grpSpPr>
            <a:xfrm>
              <a:off x="2133600" y="6065224"/>
              <a:ext cx="4191000" cy="152400"/>
              <a:chOff x="2133600" y="2435423"/>
              <a:chExt cx="4191000" cy="152400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7E8A37B-6BA2-AA4C-96E2-5BFAE67DC48B}"/>
                  </a:ext>
                </a:extLst>
              </p:cNvPr>
              <p:cNvSpPr/>
              <p:nvPr/>
            </p:nvSpPr>
            <p:spPr>
              <a:xfrm>
                <a:off x="28194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BE1592B8-8F58-CE41-AFB4-DFED023E8CB1}"/>
                  </a:ext>
                </a:extLst>
              </p:cNvPr>
              <p:cNvSpPr/>
              <p:nvPr/>
            </p:nvSpPr>
            <p:spPr>
              <a:xfrm>
                <a:off x="36576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A85CB776-663D-D545-BBBD-6B9F0EADA8BD}"/>
                  </a:ext>
                </a:extLst>
              </p:cNvPr>
              <p:cNvCxnSpPr/>
              <p:nvPr/>
            </p:nvCxnSpPr>
            <p:spPr>
              <a:xfrm>
                <a:off x="21336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9C5AEDBB-1510-9349-AF28-8AF132A93472}"/>
                  </a:ext>
                </a:extLst>
              </p:cNvPr>
              <p:cNvCxnSpPr/>
              <p:nvPr/>
            </p:nvCxnSpPr>
            <p:spPr>
              <a:xfrm>
                <a:off x="29718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080E94CC-2893-8E44-948A-B5DFE2DAED78}"/>
                  </a:ext>
                </a:extLst>
              </p:cNvPr>
              <p:cNvSpPr/>
              <p:nvPr/>
            </p:nvSpPr>
            <p:spPr>
              <a:xfrm>
                <a:off x="44958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A5287C62-FE16-9B48-98AF-BE2747C1715B}"/>
                  </a:ext>
                </a:extLst>
              </p:cNvPr>
              <p:cNvSpPr/>
              <p:nvPr/>
            </p:nvSpPr>
            <p:spPr>
              <a:xfrm>
                <a:off x="53340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2C525A98-2835-584D-9E8B-423439CADBAC}"/>
                  </a:ext>
                </a:extLst>
              </p:cNvPr>
              <p:cNvCxnSpPr/>
              <p:nvPr/>
            </p:nvCxnSpPr>
            <p:spPr>
              <a:xfrm>
                <a:off x="46482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15B9D9D9-F44D-5D43-AE5C-ADC8CECEAA33}"/>
                  </a:ext>
                </a:extLst>
              </p:cNvPr>
              <p:cNvSpPr/>
              <p:nvPr/>
            </p:nvSpPr>
            <p:spPr>
              <a:xfrm>
                <a:off x="6172200" y="24354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C48321E8-6423-ED47-B3D7-D5C308A63EEA}"/>
                  </a:ext>
                </a:extLst>
              </p:cNvPr>
              <p:cNvCxnSpPr/>
              <p:nvPr/>
            </p:nvCxnSpPr>
            <p:spPr>
              <a:xfrm>
                <a:off x="5486400" y="2511623"/>
                <a:ext cx="6858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8457290-4B75-6241-8462-40840D2324AC}"/>
                </a:ext>
              </a:extLst>
            </p:cNvPr>
            <p:cNvCxnSpPr/>
            <p:nvPr/>
          </p:nvCxnSpPr>
          <p:spPr>
            <a:xfrm>
              <a:off x="6324600" y="6141424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Oval 156">
            <a:extLst>
              <a:ext uri="{FF2B5EF4-FFF2-40B4-BE49-F238E27FC236}">
                <a16:creationId xmlns:a16="http://schemas.microsoft.com/office/drawing/2014/main" id="{EAF226CA-E5AC-E84C-A5D2-A04761C27373}"/>
              </a:ext>
            </a:extLst>
          </p:cNvPr>
          <p:cNvSpPr/>
          <p:nvPr/>
        </p:nvSpPr>
        <p:spPr>
          <a:xfrm>
            <a:off x="6096000" y="5943600"/>
            <a:ext cx="304800" cy="2916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FD2B25-DCA6-394C-921A-6631089EBFFB}"/>
                  </a:ext>
                </a:extLst>
              </p:cNvPr>
              <p:cNvSpPr txBox="1"/>
              <p:nvPr/>
            </p:nvSpPr>
            <p:spPr>
              <a:xfrm>
                <a:off x="7884961" y="5423601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FD2B25-DCA6-394C-921A-6631089EB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961" y="5423601"/>
                <a:ext cx="375424" cy="369332"/>
              </a:xfrm>
              <a:prstGeom prst="rect">
                <a:avLst/>
              </a:prstGeom>
              <a:blipFill>
                <a:blip r:embed="rId2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AA1239-5AE8-824C-AC5B-593E0CBA8645}"/>
                  </a:ext>
                </a:extLst>
              </p:cNvPr>
              <p:cNvSpPr txBox="1"/>
              <p:nvPr/>
            </p:nvSpPr>
            <p:spPr>
              <a:xfrm>
                <a:off x="-40949" y="4258705"/>
                <a:ext cx="3510898" cy="120032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Reason</a:t>
                </a:r>
                <a:r>
                  <a:rPr lang="en-US" dirty="0"/>
                  <a:t>: A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of at most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edges </a:t>
                </a:r>
              </a:p>
              <a:p>
                <a:r>
                  <a:rPr lang="en-US" dirty="0"/>
                  <a:t>concatenated with edge 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) </a:t>
                </a:r>
              </a:p>
              <a:p>
                <a:r>
                  <a:rPr lang="en-US" dirty="0"/>
                  <a:t>is a potential candidate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AA1239-5AE8-824C-AC5B-593E0CBA8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949" y="4258705"/>
                <a:ext cx="3510898" cy="1200329"/>
              </a:xfrm>
              <a:prstGeom prst="rect">
                <a:avLst/>
              </a:prstGeom>
              <a:blipFill>
                <a:blip r:embed="rId25"/>
                <a:stretch>
                  <a:fillRect l="-1211" t="-2513" r="-346" b="-65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C59750F-7520-C346-B99F-0F350913E03B}"/>
                  </a:ext>
                </a:extLst>
              </p:cNvPr>
              <p:cNvSpPr txBox="1"/>
              <p:nvPr/>
            </p:nvSpPr>
            <p:spPr>
              <a:xfrm>
                <a:off x="5447964" y="4711452"/>
                <a:ext cx="3582071" cy="404983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𝑳</m:t>
                            </m:r>
                            <m:d>
                              <m:dPr>
                                <m:ctrlP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 dirty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 </m:t>
                            </m:r>
                            <m:r>
                              <a:rPr lang="en-US" b="1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C59750F-7520-C346-B99F-0F350913E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64" y="4711452"/>
                <a:ext cx="3582071" cy="404983"/>
              </a:xfrm>
              <a:prstGeom prst="rect">
                <a:avLst/>
              </a:prstGeom>
              <a:blipFill>
                <a:blip r:embed="rId26"/>
                <a:stretch>
                  <a:fillRect b="-117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Cloud Callout 61">
            <a:extLst>
              <a:ext uri="{FF2B5EF4-FFF2-40B4-BE49-F238E27FC236}">
                <a16:creationId xmlns:a16="http://schemas.microsoft.com/office/drawing/2014/main" id="{87ECFB53-C0B6-DA44-A32C-A7DCE3FC273D}"/>
              </a:ext>
            </a:extLst>
          </p:cNvPr>
          <p:cNvSpPr/>
          <p:nvPr/>
        </p:nvSpPr>
        <p:spPr>
          <a:xfrm>
            <a:off x="38100" y="2300524"/>
            <a:ext cx="3124200" cy="137160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 can we take care of Case 2  now ?</a:t>
            </a:r>
          </a:p>
        </p:txBody>
      </p:sp>
    </p:spTree>
    <p:extLst>
      <p:ext uri="{BB962C8B-B14F-4D97-AF65-F5344CB8AC3E}">
        <p14:creationId xmlns:p14="http://schemas.microsoft.com/office/powerpoint/2010/main" val="183990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4" grpId="0" animBg="1"/>
      <p:bldP spid="8" grpId="0" animBg="1"/>
      <p:bldP spid="8" grpId="1" animBg="1"/>
      <p:bldP spid="62" grpId="0" animBg="1"/>
      <p:bldP spid="6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1</a:t>
                </a:r>
                <a:r>
                  <a:rPr lang="en-US" sz="1800" dirty="0"/>
                  <a:t>: 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</a:t>
                </a:r>
                <a14:m>
                  <m:oMath xmlns:m="http://schemas.openxmlformats.org/officeDocument/2006/math">
                    <m:r>
                      <a:rPr lang="en-US" sz="1800" dirty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edges </a:t>
                </a:r>
                <a:r>
                  <a:rPr lang="en-US" sz="1800" dirty="0"/>
                  <a:t>		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Case 2</a:t>
                </a:r>
                <a:r>
                  <a:rPr lang="en-US" sz="1800" dirty="0"/>
                  <a:t>: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𝑷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has exactly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 edges</a:t>
                </a: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 dirty="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ctrlP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∈</m:t>
                            </m:r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𝑬</m:t>
                            </m:r>
                            <m:r>
                              <a:rPr lang="en-US" sz="18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)</m:t>
                            </m:r>
                          </m:lim>
                        </m:limLow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  </m:t>
                        </m:r>
                      </m:fName>
                      <m:e>
                        <m:d>
                          <m:dPr>
                            <m:ctrlPr>
                              <a:rPr lang="en-US" sz="18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dirty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𝑳</m:t>
                            </m:r>
                            <m:d>
                              <m:dPr>
                                <m:ctrlPr>
                                  <a:rPr lang="en-US" sz="1800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1800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sz="1800" dirty="0"/>
                              <m:t>  </m:t>
                            </m:r>
                            <m:r>
                              <a:rPr lang="en-US" sz="1800" b="1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800" b="1" i="1" dirty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𝒗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i="1" dirty="0">
                  <a:solidFill>
                    <a:srgbClr val="00B05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i="1" dirty="0">
                    <a:solidFill>
                      <a:srgbClr val="00B050"/>
                    </a:solidFill>
                    <a:latin typeface="Cambria Math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14400"/>
                <a:ext cx="8229600" cy="6096000"/>
              </a:xfrm>
              <a:blipFill rotWithShape="1">
                <a:blip r:embed="rId2"/>
                <a:stretch>
                  <a:fillRect l="-741"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 brilliant </a:t>
            </a:r>
            <a:r>
              <a:rPr lang="en-US" sz="3200" b="1" dirty="0">
                <a:solidFill>
                  <a:srgbClr val="0070C0"/>
                </a:solidFill>
              </a:rPr>
              <a:t>idea </a:t>
            </a:r>
            <a:r>
              <a:rPr lang="en-US" sz="3200" b="1" dirty="0"/>
              <a:t>of </a:t>
            </a:r>
            <a:r>
              <a:rPr lang="en-US" sz="3200" b="1" dirty="0">
                <a:solidFill>
                  <a:srgbClr val="7030A0"/>
                </a:solidFill>
              </a:rPr>
              <a:t>Bellman Ford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71800" y="2590800"/>
            <a:ext cx="2667000" cy="2514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562600" y="3423166"/>
            <a:ext cx="1360784" cy="381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1"/>
          </p:cNvCxnSpPr>
          <p:nvPr/>
        </p:nvCxnSpPr>
        <p:spPr>
          <a:xfrm>
            <a:off x="5181600" y="4202668"/>
            <a:ext cx="1752600" cy="16877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84" y="3276600"/>
                <a:ext cx="1923155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77" t="-3509" r="-2839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Paths with edges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≤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4050268"/>
                <a:ext cx="2245166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1351" t="-3448" r="-1892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4876800" y="34290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352800" y="2971800"/>
            <a:ext cx="1905000" cy="17526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4067838" y="3615155"/>
            <a:ext cx="427962" cy="435114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038" y="2266950"/>
                <a:ext cx="322524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50" y="2678668"/>
                <a:ext cx="73609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991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3352800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olidFill>
                      <a:srgbClr val="C00000"/>
                    </a:solidFill>
                  </a:rPr>
                  <a:t>    Recursive Formulation </a:t>
                </a:r>
                <a:r>
                  <a:rPr lang="en-US" sz="2800" b="1" dirty="0"/>
                  <a:t>for</a:t>
                </a:r>
                <a:r>
                  <a:rPr lang="en-US" sz="28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  <m:r>
                          <a:rPr lang="en-US" sz="2800" i="1" dirty="0">
                            <a:latin typeface="Cambria Math"/>
                          </a:rPr>
                          <m:t>,</m:t>
                        </m:r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800" dirty="0"/>
                  <a:t> 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8780"/>
                <a:ext cx="5663666" cy="523220"/>
              </a:xfrm>
              <a:prstGeom prst="rect">
                <a:avLst/>
              </a:prstGeom>
              <a:blipFill rotWithShape="1">
                <a:blip r:embed="rId12"/>
                <a:stretch>
                  <a:fillRect l="-2260" t="-10465" r="-258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4953000" y="2971800"/>
            <a:ext cx="76200" cy="762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Cloud Callout 97"/>
          <p:cNvSpPr/>
          <p:nvPr/>
        </p:nvSpPr>
        <p:spPr>
          <a:xfrm>
            <a:off x="-76200" y="3048000"/>
            <a:ext cx="3124200" cy="137160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But we do not know which one of these 2 cases occurs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/>
              <p:cNvSpPr/>
              <p:nvPr/>
            </p:nvSpPr>
            <p:spPr>
              <a:xfrm>
                <a:off x="1219199" y="5830669"/>
                <a:ext cx="670560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min</a:t>
                </a:r>
                <a:r>
                  <a:rPr lang="en-US" dirty="0"/>
                  <a:t>(              </a:t>
                </a:r>
                <a:r>
                  <a:rPr lang="en-US" dirty="0">
                    <a:solidFill>
                      <a:srgbClr val="C00000"/>
                    </a:solidFill>
                  </a:rPr>
                  <a:t>?</a:t>
                </a:r>
                <a:r>
                  <a:rPr lang="en-US" dirty="0"/>
                  <a:t>                ,                            </a:t>
                </a:r>
                <a:r>
                  <a:rPr lang="en-US" dirty="0">
                    <a:solidFill>
                      <a:srgbClr val="C00000"/>
                    </a:solidFill>
                  </a:rPr>
                  <a:t> ?</a:t>
                </a:r>
                <a:r>
                  <a:rPr lang="en-US" dirty="0"/>
                  <a:t>                                )</a:t>
                </a:r>
              </a:p>
            </p:txBody>
          </p:sp>
        </mc:Choice>
        <mc:Fallback xmlns="">
          <p:sp>
            <p:nvSpPr>
              <p:cNvPr id="100" name="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99" y="5830669"/>
                <a:ext cx="6705601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2819400" y="5849719"/>
                <a:ext cx="1282723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b="1" i="1" dirty="0">
                        <a:latin typeface="Cambria Math"/>
                      </a:rPr>
                      <m:t>, 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5849719"/>
                <a:ext cx="1282723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76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375215" y="5779571"/>
                <a:ext cx="3289170" cy="50962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𝑬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𝑳</m:t>
                              </m:r>
                              <m:d>
                                <m:d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latin typeface="Cambria Math"/>
                                    </a:rPr>
                                    <m:t>, 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 </m:t>
                              </m:r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𝝎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215" y="5779571"/>
                <a:ext cx="3289170" cy="509627"/>
              </a:xfrm>
              <a:prstGeom prst="rect">
                <a:avLst/>
              </a:prstGeom>
              <a:blipFill rotWithShape="1">
                <a:blip r:embed="rId15"/>
                <a:stretch>
                  <a:fillRect t="-1190" r="-1113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Rounded Rectangle 102"/>
          <p:cNvSpPr/>
          <p:nvPr/>
        </p:nvSpPr>
        <p:spPr>
          <a:xfrm>
            <a:off x="1152524" y="5577185"/>
            <a:ext cx="6924675" cy="914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65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8" grpId="1" animBg="1"/>
      <p:bldP spid="100" grpId="0"/>
      <p:bldP spid="101" grpId="0" animBg="1"/>
      <p:bldP spid="102" grpId="0" animBg="1"/>
      <p:bldP spid="10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Base case: </a:t>
                </a:r>
                <a14:m>
                  <m:oMath xmlns:m="http://schemas.openxmlformats.org/officeDocument/2006/math">
                    <m:r>
                      <a:rPr lang="en-US" sz="3200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3200" i="1" dirty="0">
                        <a:latin typeface="Cambria Math"/>
                      </a:rPr>
                      <m:t>(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3200" i="1" dirty="0">
                        <a:latin typeface="Cambria Math"/>
                      </a:rPr>
                      <m:t>,</m:t>
                    </m:r>
                    <m:r>
                      <a:rPr lang="en-US" sz="32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3200" i="1" dirty="0">
                        <a:latin typeface="Cambria Math"/>
                      </a:rPr>
                      <m:t>)</m:t>
                    </m:r>
                  </m:oMath>
                </a14:m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latin typeface="Cambria Math"/>
                      </a:rPr>
                      <m:t>𝟎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 algn="ctr">
                  <a:buNone/>
                </a:pPr>
                <a:r>
                  <a:rPr lang="en-US" sz="2000" b="1" dirty="0"/>
                  <a:t>If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=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      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/>
                  <a:t>=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3"/>
                <a:stretch>
                  <a:fillRect l="-1852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410200" y="2526268"/>
                  <a:ext cx="3337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𝒕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2526268"/>
                  <a:ext cx="33374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197" r="-2592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Group 96"/>
          <p:cNvGrpSpPr/>
          <p:nvPr/>
        </p:nvGrpSpPr>
        <p:grpSpPr>
          <a:xfrm>
            <a:off x="4572000" y="2514600"/>
            <a:ext cx="1079508" cy="1219200"/>
            <a:chOff x="4572000" y="2514600"/>
            <a:chExt cx="1079508" cy="1219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1961" r="-921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𝟏𝟐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1961" r="-972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/>
                <p:cNvSpPr txBox="1"/>
                <p:nvPr/>
              </p:nvSpPr>
              <p:spPr>
                <a:xfrm>
                  <a:off x="4814192" y="2514600"/>
                  <a:ext cx="57419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𝟏𝟎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192" y="2514600"/>
                  <a:ext cx="574196" cy="307777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2000" r="-7447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733800" y="1992868"/>
            <a:ext cx="2438400" cy="2350532"/>
            <a:chOff x="3733800" y="1992868"/>
            <a:chExt cx="2438400" cy="2350532"/>
          </a:xfrm>
        </p:grpSpPr>
        <p:grpSp>
          <p:nvGrpSpPr>
            <p:cNvPr id="96" name="Group 95"/>
            <p:cNvGrpSpPr/>
            <p:nvPr/>
          </p:nvGrpSpPr>
          <p:grpSpPr>
            <a:xfrm>
              <a:off x="3733800" y="1992868"/>
              <a:ext cx="2438400" cy="2350532"/>
              <a:chOff x="3733800" y="1992868"/>
              <a:chExt cx="2438400" cy="2350532"/>
            </a:xfrm>
          </p:grpSpPr>
          <p:cxnSp>
            <p:nvCxnSpPr>
              <p:cNvPr id="37" name="Straight Connector 36"/>
              <p:cNvCxnSpPr>
                <a:endCxn id="7" idx="7"/>
              </p:cNvCxnSpPr>
              <p:nvPr/>
            </p:nvCxnSpPr>
            <p:spPr>
              <a:xfrm flipH="1">
                <a:off x="5616482" y="2416082"/>
                <a:ext cx="408962" cy="4463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5616482" y="2111282"/>
                <a:ext cx="98518" cy="32711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 flipV="1">
                <a:off x="5867400" y="3429000"/>
                <a:ext cx="304800" cy="196334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H="1">
                <a:off x="5867400" y="3276600"/>
                <a:ext cx="304800" cy="1300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V="1">
                <a:off x="4800600" y="4038600"/>
                <a:ext cx="0" cy="3048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H="1" flipV="1">
                <a:off x="4800600" y="4016282"/>
                <a:ext cx="282482" cy="2400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733800" y="2971800"/>
                <a:ext cx="38658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793262" y="2830832"/>
                <a:ext cx="327118" cy="14096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endCxn id="11" idx="2"/>
              </p:cNvCxnSpPr>
              <p:nvPr/>
            </p:nvCxnSpPr>
            <p:spPr>
              <a:xfrm>
                <a:off x="4267200" y="2177534"/>
                <a:ext cx="304800" cy="18466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4676218" y="1992868"/>
                <a:ext cx="124384" cy="3693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/>
            <p:cNvCxnSpPr/>
            <p:nvPr/>
          </p:nvCxnSpPr>
          <p:spPr>
            <a:xfrm flipV="1">
              <a:off x="5562600" y="3494042"/>
              <a:ext cx="152400" cy="13129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5956332" y="5574268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332" y="5574268"/>
                <a:ext cx="825468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197" r="-2720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43600" y="5943600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5943600"/>
                <a:ext cx="609600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47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90" grpId="0"/>
      <p:bldP spid="47" grpId="0" animBg="1"/>
      <p:bldP spid="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To compute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latin typeface="Cambria Math"/>
                      </a:rPr>
                      <m:t>        </m:t>
                    </m:r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?</m:t>
                    </m:r>
                    <m:r>
                      <a:rPr lang="en-US" sz="2000" b="1" i="1" dirty="0" smtClean="0">
                        <a:latin typeface="Cambria Math"/>
                      </a:rPr>
                      <m:t>    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741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19400" y="2373868"/>
                <a:ext cx="80021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373868"/>
                <a:ext cx="800219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91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1828800" y="3048000"/>
            <a:ext cx="3769895" cy="2590800"/>
            <a:chOff x="1828800" y="3048000"/>
            <a:chExt cx="3769895" cy="2590800"/>
          </a:xfrm>
        </p:grpSpPr>
        <p:grpSp>
          <p:nvGrpSpPr>
            <p:cNvPr id="6" name="Group 5"/>
            <p:cNvGrpSpPr/>
            <p:nvPr/>
          </p:nvGrpSpPr>
          <p:grpSpPr>
            <a:xfrm>
              <a:off x="2590800" y="3048000"/>
              <a:ext cx="3007895" cy="2590800"/>
              <a:chOff x="3733800" y="1728216"/>
              <a:chExt cx="4343400" cy="3910584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733800" y="1752600"/>
                <a:ext cx="4343400" cy="3886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5334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5562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5791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6019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6248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6477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6705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6934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7162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7391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7620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7848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3733800" y="2895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3733800" y="3124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733800" y="3352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733800" y="3581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733800" y="3810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3733800" y="4038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3733800" y="4267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105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733800" y="1981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3733800" y="2209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733800" y="2438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3733800" y="2667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4876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4648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4419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4191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3962400" y="1728216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3733800" y="4495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3733800" y="4724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3733800" y="4953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733800" y="5181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3733800" y="5410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B050"/>
                            </a:solidFill>
                            <a:latin typeface="Cambria Math"/>
                          </a:rPr>
                          <m:t>𝑳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800" y="4050268"/>
                  <a:ext cx="367408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1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/>
          <p:cNvGrpSpPr/>
          <p:nvPr/>
        </p:nvGrpSpPr>
        <p:grpSpPr>
          <a:xfrm>
            <a:off x="2209800" y="3875747"/>
            <a:ext cx="386644" cy="1305853"/>
            <a:chOff x="2209800" y="3875747"/>
            <a:chExt cx="386644" cy="1305853"/>
          </a:xfrm>
        </p:grpSpPr>
        <p:cxnSp>
          <p:nvCxnSpPr>
            <p:cNvPr id="44" name="Straight Arrow Connector 43"/>
            <p:cNvCxnSpPr/>
            <p:nvPr/>
          </p:nvCxnSpPr>
          <p:spPr>
            <a:xfrm flipV="1">
              <a:off x="2438400" y="3875747"/>
              <a:ext cx="0" cy="9248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800" y="4812268"/>
                  <a:ext cx="38664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/>
          <p:cNvGrpSpPr/>
          <p:nvPr/>
        </p:nvGrpSpPr>
        <p:grpSpPr>
          <a:xfrm>
            <a:off x="3581400" y="5715000"/>
            <a:ext cx="1371600" cy="369332"/>
            <a:chOff x="3352800" y="5715000"/>
            <a:chExt cx="137160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5715000"/>
                  <a:ext cx="3225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500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/>
            <p:cNvCxnSpPr/>
            <p:nvPr/>
          </p:nvCxnSpPr>
          <p:spPr>
            <a:xfrm>
              <a:off x="3639876" y="5867009"/>
              <a:ext cx="10845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/>
          <p:cNvSpPr/>
          <p:nvPr/>
        </p:nvSpPr>
        <p:spPr>
          <a:xfrm rot="5400000">
            <a:off x="2487375" y="4259598"/>
            <a:ext cx="2574643" cy="1514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417345" y="1600200"/>
                <a:ext cx="33543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length of the shortest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 path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45" y="1600200"/>
                <a:ext cx="3354380" cy="369332"/>
              </a:xfrm>
              <a:prstGeom prst="rect">
                <a:avLst/>
              </a:prstGeom>
              <a:blipFill>
                <a:blip r:embed="rId7"/>
                <a:stretch>
                  <a:fillRect l="-1636" t="-10000" r="-90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648833" y="1600200"/>
                <a:ext cx="23190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having </a:t>
                </a:r>
                <a:r>
                  <a:rPr lang="en-US" b="1" dirty="0"/>
                  <a:t>at most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edges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833" y="1600200"/>
                <a:ext cx="2319033" cy="369332"/>
              </a:xfrm>
              <a:prstGeom prst="rect">
                <a:avLst/>
              </a:prstGeom>
              <a:blipFill>
                <a:blip r:embed="rId8"/>
                <a:stretch>
                  <a:fillRect l="-2368" t="-10000" r="-184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642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55" grpId="0" animBg="1"/>
      <p:bldP spid="43" grpId="0" uiExpand="1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219325"/>
            <a:ext cx="7772400" cy="1362075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BellMAN</a:t>
            </a:r>
            <a:r>
              <a:rPr lang="en-US" sz="3600" dirty="0">
                <a:solidFill>
                  <a:srgbClr val="0070C0"/>
                </a:solidFill>
              </a:rPr>
              <a:t>-Ford Algorithm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For shortest paths in a graph with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Negative </a:t>
            </a:r>
            <a:r>
              <a:rPr lang="en-US" sz="2400" b="1" dirty="0">
                <a:solidFill>
                  <a:schemeClr val="tx1"/>
                </a:solidFill>
              </a:rPr>
              <a:t>weights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BUT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No</a:t>
            </a:r>
            <a:r>
              <a:rPr lang="en-US" sz="2400" b="1" dirty="0">
                <a:solidFill>
                  <a:srgbClr val="7030A0"/>
                </a:solidFill>
              </a:rPr>
              <a:t> negative cycle</a:t>
            </a:r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Bellman-Ford</a:t>
            </a:r>
            <a:r>
              <a:rPr lang="en-US" sz="3600" b="1" dirty="0"/>
              <a:t> 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Bellman-Ford-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{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/>
                  <a:t>                  ,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dirty="0"/>
                  <a:t>                   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2"/>
                <a:stretch>
                  <a:fillRect l="-741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27532" y="23622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532" y="2362200"/>
                <a:ext cx="825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720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;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dirty="0"/>
                  <a:t>;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62400" y="48768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876800"/>
                <a:ext cx="825468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96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10200" y="4888468"/>
                <a:ext cx="24384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4888468"/>
                <a:ext cx="243840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225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54384" y="41148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384" y="53340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026152" y="1981200"/>
            <a:ext cx="2289048" cy="1447800"/>
            <a:chOff x="5026152" y="1981200"/>
            <a:chExt cx="2289048" cy="1447800"/>
          </a:xfrm>
        </p:grpSpPr>
        <p:sp>
          <p:nvSpPr>
            <p:cNvPr id="12" name="Right Brace 11"/>
            <p:cNvSpPr/>
            <p:nvPr/>
          </p:nvSpPr>
          <p:spPr>
            <a:xfrm>
              <a:off x="5026152" y="1981200"/>
              <a:ext cx="384048" cy="1447800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497074" y="2546866"/>
                  <a:ext cx="1818126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Initializing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46866"/>
                  <a:ext cx="1818126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020" t="-8333" r="-5034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5090078" y="4114800"/>
            <a:ext cx="2453721" cy="1419257"/>
            <a:chOff x="5085145" y="2214716"/>
            <a:chExt cx="2377735" cy="869867"/>
          </a:xfrm>
        </p:grpSpPr>
        <p:sp>
          <p:nvSpPr>
            <p:cNvPr id="16" name="Right Brace 15"/>
            <p:cNvSpPr/>
            <p:nvPr/>
          </p:nvSpPr>
          <p:spPr>
            <a:xfrm>
              <a:off x="5085145" y="2214716"/>
              <a:ext cx="457888" cy="869867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497074" y="2546866"/>
                  <a:ext cx="1965806" cy="22636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Computing</a:t>
                  </a:r>
                  <a14:m>
                    <m:oMath xmlns:m="http://schemas.openxmlformats.org/officeDocument/2006/math">
                      <m:r>
                        <a:rPr lang="en-US" b="0" i="0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46866"/>
                  <a:ext cx="1965806" cy="2263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2711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8688" y="6336268"/>
                <a:ext cx="72337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Lemma:</a:t>
                </a:r>
                <a:r>
                  <a:rPr lang="en-US" dirty="0" err="1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stores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having </a:t>
                </a:r>
                <a:r>
                  <a:rPr lang="en-US" b="1" dirty="0"/>
                  <a:t>at most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edges.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88" y="6336268"/>
                <a:ext cx="7233712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674" t="-8197" r="-9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99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Execution </a:t>
            </a:r>
            <a:r>
              <a:rPr lang="en-US" sz="3200" b="1" dirty="0"/>
              <a:t>of Bellman-Ford algorithm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graphicFrame>
        <p:nvGraphicFramePr>
          <p:cNvPr id="263" name="Content Placeholder 262"/>
          <p:cNvGraphicFramePr>
            <a:graphicFrameLocks noGrp="1"/>
          </p:cNvGraphicFramePr>
          <p:nvPr>
            <p:ph sz="half" idx="2"/>
          </p:nvPr>
        </p:nvGraphicFramePr>
        <p:xfrm>
          <a:off x="5638800" y="1905000"/>
          <a:ext cx="2819400" cy="3200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019362" y="2286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67162" y="1521023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0000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Arc 245"/>
          <p:cNvSpPr/>
          <p:nvPr/>
        </p:nvSpPr>
        <p:spPr>
          <a:xfrm rot="5400000">
            <a:off x="2101185" y="2353171"/>
            <a:ext cx="2252311" cy="1165318"/>
          </a:xfrm>
          <a:prstGeom prst="arc">
            <a:avLst>
              <a:gd name="adj1" fmla="val 12208028"/>
              <a:gd name="adj2" fmla="val 2055094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7" name="Straight Arrow Connector 246"/>
          <p:cNvCxnSpPr>
            <a:endCxn id="246" idx="0"/>
          </p:cNvCxnSpPr>
          <p:nvPr/>
        </p:nvCxnSpPr>
        <p:spPr>
          <a:xfrm flipH="1" flipV="1">
            <a:off x="3601862" y="2073138"/>
            <a:ext cx="91050" cy="2128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32291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4765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48162" y="3121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55460" y="320040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-4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270" name="Group 269"/>
          <p:cNvGrpSpPr/>
          <p:nvPr/>
        </p:nvGrpSpPr>
        <p:grpSpPr>
          <a:xfrm>
            <a:off x="5252156" y="2069068"/>
            <a:ext cx="386644" cy="2872264"/>
            <a:chOff x="5252156" y="2069068"/>
            <a:chExt cx="386644" cy="28722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/>
                <p:cNvSpPr txBox="1"/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4" name="TextBox 2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/>
                <p:cNvSpPr txBox="1"/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5" name="TextBox 2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/>
                <p:cNvSpPr txBox="1"/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6" name="TextBox 2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/>
                <p:cNvSpPr txBox="1"/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7" name="TextBox 2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2295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/>
                <p:cNvSpPr txBox="1"/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Box 2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/>
              <p:cNvSpPr txBox="1"/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9" name="TextBox 2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333" r="-26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/>
              <p:cNvSpPr txBox="1"/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𝑳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7" name="TextBox 2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427872" y="6105565"/>
            <a:ext cx="2594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 it as </a:t>
            </a:r>
            <a:r>
              <a:rPr lang="en-US" sz="2400" b="1" dirty="0">
                <a:solidFill>
                  <a:srgbClr val="006C31"/>
                </a:solidFill>
              </a:rPr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20623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/>
      <p:bldP spid="27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Getting insight into the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/>
              <a:t>Bellman-Ford algorithm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An example in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5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Execution </a:t>
            </a:r>
            <a:r>
              <a:rPr lang="en-US" sz="3200" b="1" dirty="0"/>
              <a:t>of Bellman-Ford algorithm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graphicFrame>
        <p:nvGraphicFramePr>
          <p:cNvPr id="263" name="Content Placeholder 262"/>
          <p:cNvGraphicFramePr>
            <a:graphicFrameLocks noGrp="1"/>
          </p:cNvGraphicFramePr>
          <p:nvPr>
            <p:ph sz="half" idx="2"/>
          </p:nvPr>
        </p:nvGraphicFramePr>
        <p:xfrm>
          <a:off x="5638800" y="1905000"/>
          <a:ext cx="2819400" cy="3200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019362" y="2286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67162" y="1521023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0000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Arc 245"/>
          <p:cNvSpPr/>
          <p:nvPr/>
        </p:nvSpPr>
        <p:spPr>
          <a:xfrm rot="5400000">
            <a:off x="2101185" y="2353171"/>
            <a:ext cx="2252311" cy="1165318"/>
          </a:xfrm>
          <a:prstGeom prst="arc">
            <a:avLst>
              <a:gd name="adj1" fmla="val 12208028"/>
              <a:gd name="adj2" fmla="val 2055094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7" name="Straight Arrow Connector 246"/>
          <p:cNvCxnSpPr>
            <a:endCxn id="246" idx="0"/>
          </p:cNvCxnSpPr>
          <p:nvPr/>
        </p:nvCxnSpPr>
        <p:spPr>
          <a:xfrm flipH="1" flipV="1">
            <a:off x="3601862" y="2073138"/>
            <a:ext cx="91050" cy="2128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32291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4765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48162" y="3121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55460" y="320040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-4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270" name="Group 269"/>
          <p:cNvGrpSpPr/>
          <p:nvPr/>
        </p:nvGrpSpPr>
        <p:grpSpPr>
          <a:xfrm>
            <a:off x="5252156" y="2069068"/>
            <a:ext cx="386644" cy="2872264"/>
            <a:chOff x="5252156" y="2069068"/>
            <a:chExt cx="386644" cy="28722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/>
                <p:cNvSpPr txBox="1"/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4" name="TextBox 2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/>
                <p:cNvSpPr txBox="1"/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5" name="TextBox 2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/>
                <p:cNvSpPr txBox="1"/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6" name="TextBox 2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/>
                <p:cNvSpPr txBox="1"/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7" name="TextBox 2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2295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/>
                <p:cNvSpPr txBox="1"/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Box 2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/>
              <p:cNvSpPr txBox="1"/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9" name="TextBox 2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333" r="-26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8" name="Group 277"/>
          <p:cNvGrpSpPr/>
          <p:nvPr/>
        </p:nvGrpSpPr>
        <p:grpSpPr>
          <a:xfrm>
            <a:off x="5791200" y="2057400"/>
            <a:ext cx="457200" cy="2274332"/>
            <a:chOff x="5791200" y="2057400"/>
            <a:chExt cx="457200" cy="2274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/>
                <p:cNvSpPr txBox="1"/>
                <p:nvPr/>
              </p:nvSpPr>
              <p:spPr>
                <a:xfrm>
                  <a:off x="5806394" y="39624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3" name="TextBox 2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6394" y="3962400"/>
                  <a:ext cx="375424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/>
                <p:cNvSpPr txBox="1"/>
                <p:nvPr/>
              </p:nvSpPr>
              <p:spPr>
                <a:xfrm>
                  <a:off x="5791200" y="3288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𝟔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4" name="TextBox 2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3288268"/>
                  <a:ext cx="375424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Box 274"/>
                <p:cNvSpPr txBox="1"/>
                <p:nvPr/>
              </p:nvSpPr>
              <p:spPr>
                <a:xfrm>
                  <a:off x="5791200" y="2667000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∞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5" name="TextBox 2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2667000"/>
                  <a:ext cx="433131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t="-8333" r="-1831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Box 275"/>
                <p:cNvSpPr txBox="1"/>
                <p:nvPr/>
              </p:nvSpPr>
              <p:spPr>
                <a:xfrm>
                  <a:off x="5815269" y="2057400"/>
                  <a:ext cx="4331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∞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6" name="TextBox 2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5269" y="2057400"/>
                  <a:ext cx="433131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t="-8333" r="-18310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extBox 276"/>
              <p:cNvSpPr txBox="1"/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𝑳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7" name="TextBox 2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8" name="Group 287"/>
          <p:cNvGrpSpPr/>
          <p:nvPr/>
        </p:nvGrpSpPr>
        <p:grpSpPr>
          <a:xfrm>
            <a:off x="787863" y="2111281"/>
            <a:ext cx="910855" cy="1797237"/>
            <a:chOff x="787863" y="2111281"/>
            <a:chExt cx="910855" cy="1797237"/>
          </a:xfrm>
        </p:grpSpPr>
        <p:cxnSp>
          <p:nvCxnSpPr>
            <p:cNvPr id="281" name="Straight Arrow Connector 280"/>
            <p:cNvCxnSpPr>
              <a:stCxn id="7" idx="7"/>
              <a:endCxn id="196" idx="3"/>
            </p:cNvCxnSpPr>
            <p:nvPr/>
          </p:nvCxnSpPr>
          <p:spPr>
            <a:xfrm flipV="1">
              <a:off x="787863" y="2111281"/>
              <a:ext cx="910855" cy="806637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Arrow Connector 284"/>
            <p:cNvCxnSpPr>
              <a:stCxn id="7" idx="5"/>
              <a:endCxn id="14" idx="1"/>
            </p:cNvCxnSpPr>
            <p:nvPr/>
          </p:nvCxnSpPr>
          <p:spPr>
            <a:xfrm>
              <a:off x="787863" y="3025682"/>
              <a:ext cx="834655" cy="882836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5819219" y="4572000"/>
            <a:ext cx="2486581" cy="381000"/>
            <a:chOff x="5819219" y="4572000"/>
            <a:chExt cx="2486581" cy="381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5819219" y="45836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9219" y="4583668"/>
                  <a:ext cx="375424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6482576" y="45720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576" y="4572000"/>
                  <a:ext cx="375424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7930376" y="45720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0376" y="4572000"/>
                  <a:ext cx="375424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7168376" y="45720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8376" y="4572000"/>
                  <a:ext cx="375424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4728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/>
      <p:bldP spid="2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Execution </a:t>
            </a:r>
            <a:r>
              <a:rPr lang="en-US" sz="3200" b="1" dirty="0"/>
              <a:t>of Bellman-Ford algorithm</a:t>
            </a:r>
            <a:endParaRPr lang="en-US" sz="3200" dirty="0"/>
          </a:p>
        </p:txBody>
      </p:sp>
      <p:graphicFrame>
        <p:nvGraphicFramePr>
          <p:cNvPr id="263" name="Content Placeholder 262"/>
          <p:cNvGraphicFramePr>
            <a:graphicFrameLocks noGrp="1"/>
          </p:cNvGraphicFramePr>
          <p:nvPr>
            <p:ph sz="half" idx="2"/>
          </p:nvPr>
        </p:nvGraphicFramePr>
        <p:xfrm>
          <a:off x="5638800" y="1905000"/>
          <a:ext cx="2819400" cy="3200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019362" y="2286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67162" y="1521023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0000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cxnSpLocks/>
            <a:endCxn id="196" idx="0"/>
          </p:cNvCxnSpPr>
          <p:nvPr/>
        </p:nvCxnSpPr>
        <p:spPr>
          <a:xfrm flipH="1">
            <a:off x="1752600" y="1905000"/>
            <a:ext cx="202860" cy="7619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Arc 245"/>
          <p:cNvSpPr/>
          <p:nvPr/>
        </p:nvSpPr>
        <p:spPr>
          <a:xfrm rot="5400000">
            <a:off x="2101185" y="2353171"/>
            <a:ext cx="2252311" cy="1165318"/>
          </a:xfrm>
          <a:prstGeom prst="arc">
            <a:avLst>
              <a:gd name="adj1" fmla="val 12208028"/>
              <a:gd name="adj2" fmla="val 2055094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7" name="Straight Arrow Connector 246"/>
          <p:cNvCxnSpPr>
            <a:endCxn id="246" idx="0"/>
          </p:cNvCxnSpPr>
          <p:nvPr/>
        </p:nvCxnSpPr>
        <p:spPr>
          <a:xfrm flipH="1" flipV="1">
            <a:off x="3601862" y="2073138"/>
            <a:ext cx="91050" cy="2128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32291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4765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48162" y="3121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55460" y="320040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-4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270" name="Group 269"/>
          <p:cNvGrpSpPr/>
          <p:nvPr/>
        </p:nvGrpSpPr>
        <p:grpSpPr>
          <a:xfrm>
            <a:off x="5252156" y="2069068"/>
            <a:ext cx="386644" cy="2872264"/>
            <a:chOff x="5252156" y="2069068"/>
            <a:chExt cx="386644" cy="28722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/>
                <p:cNvSpPr txBox="1"/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4" name="TextBox 2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/>
                <p:cNvSpPr txBox="1"/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5" name="TextBox 2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/>
                <p:cNvSpPr txBox="1"/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6" name="TextBox 2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/>
                <p:cNvSpPr txBox="1"/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7" name="TextBox 2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2295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/>
                <p:cNvSpPr txBox="1"/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Box 2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/>
              <p:cNvSpPr txBox="1"/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9" name="TextBox 2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333" r="-26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/>
              <p:cNvSpPr txBox="1"/>
              <p:nvPr/>
            </p:nvSpPr>
            <p:spPr>
              <a:xfrm>
                <a:off x="5819219" y="45836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2" name="TextBox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219" y="4583668"/>
                <a:ext cx="375424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/>
              <p:cNvSpPr txBox="1"/>
              <p:nvPr/>
            </p:nvSpPr>
            <p:spPr>
              <a:xfrm>
                <a:off x="5806394" y="39624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3" name="TextBox 2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394" y="3962400"/>
                <a:ext cx="375424" cy="369332"/>
              </a:xfrm>
              <a:prstGeom prst="rect">
                <a:avLst/>
              </a:prstGeom>
              <a:blipFill rotWithShape="1">
                <a:blip r:embed="rId19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/>
              <p:cNvSpPr txBox="1"/>
              <p:nvPr/>
            </p:nvSpPr>
            <p:spPr>
              <a:xfrm>
                <a:off x="5791200" y="32882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4" name="TextBox 2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288268"/>
                <a:ext cx="375424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/>
              <p:cNvSpPr txBox="1"/>
              <p:nvPr/>
            </p:nvSpPr>
            <p:spPr>
              <a:xfrm>
                <a:off x="5791200" y="2667000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5" name="TextBox 2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667000"/>
                <a:ext cx="433131" cy="369332"/>
              </a:xfrm>
              <a:prstGeom prst="rect">
                <a:avLst/>
              </a:prstGeom>
              <a:blipFill rotWithShape="1">
                <a:blip r:embed="rId21"/>
                <a:stretch>
                  <a:fillRect t="-8333" r="-183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/>
              <p:cNvSpPr txBox="1"/>
              <p:nvPr/>
            </p:nvSpPr>
            <p:spPr>
              <a:xfrm>
                <a:off x="5815269" y="2057400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6" name="TextBox 2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269" y="2057400"/>
                <a:ext cx="433131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8333" r="-183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482576" y="2667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576" y="2667000"/>
                <a:ext cx="375424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477000" y="2069068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𝟏𝟏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069068"/>
                <a:ext cx="513281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197" r="-154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477000" y="32766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276600"/>
                <a:ext cx="375423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333" r="-213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𝑳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blipFill rotWithShape="1">
                <a:blip r:embed="rId28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/>
          <p:cNvGrpSpPr/>
          <p:nvPr/>
        </p:nvGrpSpPr>
        <p:grpSpPr>
          <a:xfrm>
            <a:off x="787863" y="2111281"/>
            <a:ext cx="910855" cy="1797237"/>
            <a:chOff x="787863" y="2111281"/>
            <a:chExt cx="910855" cy="1797237"/>
          </a:xfrm>
        </p:grpSpPr>
        <p:cxnSp>
          <p:nvCxnSpPr>
            <p:cNvPr id="75" name="Straight Arrow Connector 74"/>
            <p:cNvCxnSpPr/>
            <p:nvPr/>
          </p:nvCxnSpPr>
          <p:spPr>
            <a:xfrm flipV="1">
              <a:off x="787863" y="2111281"/>
              <a:ext cx="910855" cy="806637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87863" y="3025682"/>
              <a:ext cx="834655" cy="882836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Arrow Connector 76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4" idx="6"/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770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974068"/>
                <a:ext cx="375424" cy="369332"/>
              </a:xfrm>
              <a:prstGeom prst="rect">
                <a:avLst/>
              </a:prstGeom>
              <a:blipFill rotWithShape="1">
                <a:blip r:embed="rId29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482576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576" y="4572000"/>
                <a:ext cx="375424" cy="369332"/>
              </a:xfrm>
              <a:prstGeom prst="rect">
                <a:avLst/>
              </a:prstGeom>
              <a:blipFill rotWithShape="1">
                <a:blip r:embed="rId30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7930376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76" y="4572000"/>
                <a:ext cx="375424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7168376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376" y="4572000"/>
                <a:ext cx="375424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14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Execution </a:t>
            </a:r>
            <a:r>
              <a:rPr lang="en-US" sz="3200" b="1" dirty="0"/>
              <a:t>of Bellman-Ford algorithm</a:t>
            </a:r>
            <a:endParaRPr lang="en-US" sz="3200" dirty="0"/>
          </a:p>
        </p:txBody>
      </p:sp>
      <p:graphicFrame>
        <p:nvGraphicFramePr>
          <p:cNvPr id="263" name="Content Placeholder 262"/>
          <p:cNvGraphicFramePr>
            <a:graphicFrameLocks noGrp="1"/>
          </p:cNvGraphicFramePr>
          <p:nvPr>
            <p:ph sz="half" idx="2"/>
          </p:nvPr>
        </p:nvGraphicFramePr>
        <p:xfrm>
          <a:off x="5638800" y="1905000"/>
          <a:ext cx="2819400" cy="3200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019362" y="2286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67162" y="1521023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0000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cxnSpLocks/>
            <a:endCxn id="82" idx="0"/>
          </p:cNvCxnSpPr>
          <p:nvPr/>
        </p:nvCxnSpPr>
        <p:spPr>
          <a:xfrm flipH="1">
            <a:off x="1764155" y="1938125"/>
            <a:ext cx="173856" cy="4611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Arc 245"/>
          <p:cNvSpPr/>
          <p:nvPr/>
        </p:nvSpPr>
        <p:spPr>
          <a:xfrm rot="5400000">
            <a:off x="2101185" y="2353171"/>
            <a:ext cx="2252311" cy="1165318"/>
          </a:xfrm>
          <a:prstGeom prst="arc">
            <a:avLst>
              <a:gd name="adj1" fmla="val 12208028"/>
              <a:gd name="adj2" fmla="val 2055094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7" name="Straight Arrow Connector 246"/>
          <p:cNvCxnSpPr>
            <a:endCxn id="246" idx="0"/>
          </p:cNvCxnSpPr>
          <p:nvPr/>
        </p:nvCxnSpPr>
        <p:spPr>
          <a:xfrm flipH="1" flipV="1">
            <a:off x="3601862" y="2073138"/>
            <a:ext cx="91050" cy="2128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32291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4765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48162" y="3121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55460" y="320040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-4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270" name="Group 269"/>
          <p:cNvGrpSpPr/>
          <p:nvPr/>
        </p:nvGrpSpPr>
        <p:grpSpPr>
          <a:xfrm>
            <a:off x="5252156" y="2069068"/>
            <a:ext cx="386644" cy="2872264"/>
            <a:chOff x="5252156" y="2069068"/>
            <a:chExt cx="386644" cy="28722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/>
                <p:cNvSpPr txBox="1"/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4" name="TextBox 2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/>
                <p:cNvSpPr txBox="1"/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5" name="TextBox 2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/>
                <p:cNvSpPr txBox="1"/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6" name="TextBox 2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/>
                <p:cNvSpPr txBox="1"/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7" name="TextBox 2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2295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/>
                <p:cNvSpPr txBox="1"/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Box 2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/>
              <p:cNvSpPr txBox="1"/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9" name="TextBox 2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333" r="-26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/>
              <p:cNvSpPr txBox="1"/>
              <p:nvPr/>
            </p:nvSpPr>
            <p:spPr>
              <a:xfrm>
                <a:off x="5819219" y="45836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2" name="TextBox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219" y="4583668"/>
                <a:ext cx="375424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/>
              <p:cNvSpPr txBox="1"/>
              <p:nvPr/>
            </p:nvSpPr>
            <p:spPr>
              <a:xfrm>
                <a:off x="5806394" y="39624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3" name="TextBox 2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394" y="3962400"/>
                <a:ext cx="375424" cy="369332"/>
              </a:xfrm>
              <a:prstGeom prst="rect">
                <a:avLst/>
              </a:prstGeom>
              <a:blipFill rotWithShape="1">
                <a:blip r:embed="rId19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/>
              <p:cNvSpPr txBox="1"/>
              <p:nvPr/>
            </p:nvSpPr>
            <p:spPr>
              <a:xfrm>
                <a:off x="5791200" y="32882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4" name="TextBox 2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288268"/>
                <a:ext cx="375424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/>
              <p:cNvSpPr txBox="1"/>
              <p:nvPr/>
            </p:nvSpPr>
            <p:spPr>
              <a:xfrm>
                <a:off x="5791200" y="2667000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5" name="TextBox 2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667000"/>
                <a:ext cx="433131" cy="369332"/>
              </a:xfrm>
              <a:prstGeom prst="rect">
                <a:avLst/>
              </a:prstGeom>
              <a:blipFill rotWithShape="1">
                <a:blip r:embed="rId21"/>
                <a:stretch>
                  <a:fillRect t="-8333" r="-183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/>
              <p:cNvSpPr txBox="1"/>
              <p:nvPr/>
            </p:nvSpPr>
            <p:spPr>
              <a:xfrm>
                <a:off x="5815269" y="2057400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6" name="TextBox 2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269" y="2057400"/>
                <a:ext cx="433131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8333" r="-183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482576" y="2667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576" y="2667000"/>
                <a:ext cx="375424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477000" y="2069068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𝟏𝟏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069068"/>
                <a:ext cx="513281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197" r="-154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6477000" y="3276600"/>
            <a:ext cx="381000" cy="1664732"/>
            <a:chOff x="6477000" y="3276600"/>
            <a:chExt cx="381000" cy="1664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482576" y="45720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576" y="4572000"/>
                  <a:ext cx="375424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6477000" y="32766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𝟔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000" y="3276600"/>
                  <a:ext cx="375423" cy="36933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6477000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000" y="3974068"/>
                  <a:ext cx="375424" cy="36933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𝑳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blipFill rotWithShape="1">
                <a:blip r:embed="rId28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/>
          <p:cNvCxnSpPr/>
          <p:nvPr/>
        </p:nvCxnSpPr>
        <p:spPr>
          <a:xfrm>
            <a:off x="787863" y="3025682"/>
            <a:ext cx="834655" cy="882836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14" idx="6"/>
            <a:endCxn id="17" idx="2"/>
          </p:cNvCxnSpPr>
          <p:nvPr/>
        </p:nvCxnSpPr>
        <p:spPr>
          <a:xfrm>
            <a:off x="1752600" y="3962400"/>
            <a:ext cx="1654025" cy="0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71628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974068"/>
                <a:ext cx="375424" cy="369332"/>
              </a:xfrm>
              <a:prstGeom prst="rect">
                <a:avLst/>
              </a:prstGeom>
              <a:blipFill rotWithShape="1">
                <a:blip r:embed="rId30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162800" y="32766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3276600"/>
                <a:ext cx="375423" cy="369332"/>
              </a:xfrm>
              <a:prstGeom prst="rect">
                <a:avLst/>
              </a:prstGeom>
              <a:blipFill rotWithShape="1">
                <a:blip r:embed="rId31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7168377" y="26670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377" y="2667000"/>
                <a:ext cx="375423" cy="369332"/>
              </a:xfrm>
              <a:prstGeom prst="rect">
                <a:avLst/>
              </a:prstGeom>
              <a:blipFill rotWithShape="1">
                <a:blip r:embed="rId32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7162800" y="20574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𝟗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2057400"/>
                <a:ext cx="375423" cy="369332"/>
              </a:xfrm>
              <a:prstGeom prst="rect">
                <a:avLst/>
              </a:prstGeom>
              <a:blipFill rotWithShape="1">
                <a:blip r:embed="rId33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/>
          <p:nvPr/>
        </p:nvCxnSpPr>
        <p:spPr>
          <a:xfrm flipV="1">
            <a:off x="787863" y="2124112"/>
            <a:ext cx="910855" cy="806637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AA220E9-4866-06E5-63E4-540A2A54CCC1}"/>
              </a:ext>
            </a:extLst>
          </p:cNvPr>
          <p:cNvGrpSpPr/>
          <p:nvPr/>
        </p:nvGrpSpPr>
        <p:grpSpPr>
          <a:xfrm>
            <a:off x="1447800" y="1806482"/>
            <a:ext cx="2252311" cy="1165318"/>
            <a:chOff x="1447800" y="1806482"/>
            <a:chExt cx="2252311" cy="1165318"/>
          </a:xfrm>
        </p:grpSpPr>
        <p:sp>
          <p:nvSpPr>
            <p:cNvPr id="82" name="Arc 81"/>
            <p:cNvSpPr/>
            <p:nvPr/>
          </p:nvSpPr>
          <p:spPr>
            <a:xfrm>
              <a:off x="1447800" y="1806482"/>
              <a:ext cx="2252311" cy="1165318"/>
            </a:xfrm>
            <a:prstGeom prst="arc">
              <a:avLst>
                <a:gd name="adj1" fmla="val 12393914"/>
                <a:gd name="adj2" fmla="val 20215559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3" name="Straight Arrow Connector 82"/>
            <p:cNvCxnSpPr>
              <a:cxnSpLocks/>
            </p:cNvCxnSpPr>
            <p:nvPr/>
          </p:nvCxnSpPr>
          <p:spPr>
            <a:xfrm flipH="1">
              <a:off x="1690519" y="1879705"/>
              <a:ext cx="394843" cy="131991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Straight Arrow Connector 87"/>
          <p:cNvCxnSpPr>
            <a:stCxn id="192" idx="4"/>
            <a:endCxn id="17" idx="0"/>
          </p:cNvCxnSpPr>
          <p:nvPr/>
        </p:nvCxnSpPr>
        <p:spPr>
          <a:xfrm flipH="1">
            <a:off x="3482825" y="2133599"/>
            <a:ext cx="22375" cy="1752601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7168376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376" y="4572000"/>
                <a:ext cx="375424" cy="369332"/>
              </a:xfrm>
              <a:prstGeom prst="rect">
                <a:avLst/>
              </a:prstGeom>
              <a:blipFill rotWithShape="1">
                <a:blip r:embed="rId34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930376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76" y="4572000"/>
                <a:ext cx="375424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89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  <p:bldP spid="7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Execution </a:t>
            </a:r>
            <a:r>
              <a:rPr lang="en-US" sz="3200" b="1" dirty="0"/>
              <a:t>of Bellman-Ford algorithm</a:t>
            </a:r>
            <a:endParaRPr lang="en-US" sz="3200" dirty="0"/>
          </a:p>
        </p:txBody>
      </p:sp>
      <p:graphicFrame>
        <p:nvGraphicFramePr>
          <p:cNvPr id="263" name="Content Placeholder 262"/>
          <p:cNvGraphicFramePr>
            <a:graphicFrameLocks noGrp="1"/>
          </p:cNvGraphicFramePr>
          <p:nvPr>
            <p:ph sz="half" idx="2"/>
          </p:nvPr>
        </p:nvGraphicFramePr>
        <p:xfrm>
          <a:off x="5638800" y="1905000"/>
          <a:ext cx="2819400" cy="32004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179" name="Group 178"/>
          <p:cNvGrpSpPr/>
          <p:nvPr/>
        </p:nvGrpSpPr>
        <p:grpSpPr>
          <a:xfrm>
            <a:off x="787863" y="1981199"/>
            <a:ext cx="2793537" cy="936719"/>
            <a:chOff x="2873282" y="1981200"/>
            <a:chExt cx="2793537" cy="936719"/>
          </a:xfrm>
        </p:grpSpPr>
        <p:sp>
          <p:nvSpPr>
            <p:cNvPr id="196" name="Oval 195"/>
            <p:cNvSpPr/>
            <p:nvPr/>
          </p:nvSpPr>
          <p:spPr>
            <a:xfrm>
              <a:off x="37618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5514419" y="1981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4" name="Straight Arrow Connector 183"/>
            <p:cNvCxnSpPr>
              <a:stCxn id="7" idx="7"/>
              <a:endCxn id="196" idx="3"/>
            </p:cNvCxnSpPr>
            <p:nvPr/>
          </p:nvCxnSpPr>
          <p:spPr>
            <a:xfrm flipV="1">
              <a:off x="2873282" y="2111282"/>
              <a:ext cx="910855" cy="8066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stCxn id="196" idx="6"/>
              <a:endCxn id="192" idx="2"/>
            </p:cNvCxnSpPr>
            <p:nvPr/>
          </p:nvCxnSpPr>
          <p:spPr>
            <a:xfrm>
              <a:off x="3914219" y="2057400"/>
              <a:ext cx="16002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381000" y="1676400"/>
            <a:ext cx="3581400" cy="2743200"/>
            <a:chOff x="2466419" y="1676400"/>
            <a:chExt cx="3581400" cy="2743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7019" y="16880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/>
            <p:cNvGrpSpPr/>
            <p:nvPr/>
          </p:nvGrpSpPr>
          <p:grpSpPr>
            <a:xfrm>
              <a:off x="3575756" y="3886200"/>
              <a:ext cx="386644" cy="533400"/>
              <a:chOff x="4566356" y="3810000"/>
              <a:chExt cx="386644" cy="5334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39740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31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76219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92044" y="1676400"/>
              <a:ext cx="555775" cy="2362200"/>
              <a:chOff x="4648200" y="1600200"/>
              <a:chExt cx="555775" cy="2362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361" y="1600200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295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38100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619" y="3974068"/>
                  <a:ext cx="375424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8197" r="-1935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/>
            <p:cNvCxnSpPr>
              <a:stCxn id="7" idx="5"/>
              <a:endCxn id="14" idx="1"/>
            </p:cNvCxnSpPr>
            <p:nvPr/>
          </p:nvCxnSpPr>
          <p:spPr>
            <a:xfrm>
              <a:off x="2873282" y="3025682"/>
              <a:ext cx="834655" cy="88283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7" idx="2"/>
            </p:cNvCxnSpPr>
            <p:nvPr/>
          </p:nvCxnSpPr>
          <p:spPr>
            <a:xfrm>
              <a:off x="3838019" y="3962400"/>
              <a:ext cx="165402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H="1">
              <a:off x="5568244" y="2133599"/>
              <a:ext cx="22375" cy="1752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019362" y="228600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67162" y="1521023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0000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51992" y="2054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5</a:t>
            </a:r>
          </a:p>
        </p:txBody>
      </p:sp>
      <p:sp>
        <p:nvSpPr>
          <p:cNvPr id="38" name="Arc 37"/>
          <p:cNvSpPr/>
          <p:nvPr/>
        </p:nvSpPr>
        <p:spPr>
          <a:xfrm>
            <a:off x="1490337" y="1806482"/>
            <a:ext cx="2252311" cy="1165318"/>
          </a:xfrm>
          <a:prstGeom prst="arc">
            <a:avLst>
              <a:gd name="adj1" fmla="val 12452853"/>
              <a:gd name="adj2" fmla="val 2021555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Arrow Connector 235"/>
          <p:cNvCxnSpPr>
            <a:endCxn id="196" idx="7"/>
          </p:cNvCxnSpPr>
          <p:nvPr/>
        </p:nvCxnSpPr>
        <p:spPr>
          <a:xfrm flipH="1">
            <a:off x="1806482" y="1938125"/>
            <a:ext cx="131529" cy="6539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Arc 245"/>
          <p:cNvSpPr/>
          <p:nvPr/>
        </p:nvSpPr>
        <p:spPr>
          <a:xfrm rot="5400000">
            <a:off x="2101185" y="2353171"/>
            <a:ext cx="2252311" cy="1165318"/>
          </a:xfrm>
          <a:prstGeom prst="arc">
            <a:avLst>
              <a:gd name="adj1" fmla="val 12208028"/>
              <a:gd name="adj2" fmla="val 2055094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7" name="Straight Arrow Connector 246"/>
          <p:cNvCxnSpPr>
            <a:endCxn id="246" idx="0"/>
          </p:cNvCxnSpPr>
          <p:nvPr/>
        </p:nvCxnSpPr>
        <p:spPr>
          <a:xfrm flipH="1" flipV="1">
            <a:off x="3601862" y="2073138"/>
            <a:ext cx="91050" cy="2128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3229162" y="2816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6</a:t>
            </a:r>
          </a:p>
        </p:txBody>
      </p:sp>
      <p:cxnSp>
        <p:nvCxnSpPr>
          <p:cNvPr id="251" name="Straight Arrow Connector 250"/>
          <p:cNvCxnSpPr/>
          <p:nvPr/>
        </p:nvCxnSpPr>
        <p:spPr>
          <a:xfrm flipH="1">
            <a:off x="1730225" y="2133600"/>
            <a:ext cx="22375" cy="175260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14" idx="7"/>
            <a:endCxn id="192" idx="3"/>
          </p:cNvCxnSpPr>
          <p:nvPr/>
        </p:nvCxnSpPr>
        <p:spPr>
          <a:xfrm flipV="1">
            <a:off x="1730282" y="2111281"/>
            <a:ext cx="1721036" cy="17972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476562" y="2740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19362" y="34260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48162" y="31212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55460" y="3200400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-4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412660" y="395942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4</a:t>
            </a:r>
          </a:p>
        </p:txBody>
      </p:sp>
      <p:grpSp>
        <p:nvGrpSpPr>
          <p:cNvPr id="270" name="Group 269"/>
          <p:cNvGrpSpPr/>
          <p:nvPr/>
        </p:nvGrpSpPr>
        <p:grpSpPr>
          <a:xfrm>
            <a:off x="5252156" y="2069068"/>
            <a:ext cx="386644" cy="2872264"/>
            <a:chOff x="5252156" y="2069068"/>
            <a:chExt cx="386644" cy="28722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/>
                <p:cNvSpPr txBox="1"/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4" name="TextBox 2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5819" y="4572000"/>
                  <a:ext cx="352981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/>
                <p:cNvSpPr txBox="1"/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5" name="TextBox 2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156" y="3974068"/>
                  <a:ext cx="38664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/>
                <p:cNvSpPr txBox="1"/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6" name="TextBox 2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3288268"/>
                  <a:ext cx="375424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/>
                <p:cNvSpPr txBox="1"/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7" name="TextBox 2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186" y="2678668"/>
                  <a:ext cx="370614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2295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/>
                <p:cNvSpPr txBox="1"/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8" name="TextBox 2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3376" y="2069068"/>
                  <a:ext cx="37542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/>
              <p:cNvSpPr txBox="1"/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         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9" name="TextBox 2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776" y="5105400"/>
                <a:ext cx="2533066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333" r="-265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/>
              <p:cNvSpPr txBox="1"/>
              <p:nvPr/>
            </p:nvSpPr>
            <p:spPr>
              <a:xfrm>
                <a:off x="5819219" y="45836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2" name="TextBox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219" y="4583668"/>
                <a:ext cx="375424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/>
              <p:cNvSpPr txBox="1"/>
              <p:nvPr/>
            </p:nvSpPr>
            <p:spPr>
              <a:xfrm>
                <a:off x="5806394" y="39624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3" name="TextBox 2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394" y="3962400"/>
                <a:ext cx="375424" cy="369332"/>
              </a:xfrm>
              <a:prstGeom prst="rect">
                <a:avLst/>
              </a:prstGeom>
              <a:blipFill rotWithShape="1">
                <a:blip r:embed="rId19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/>
              <p:cNvSpPr txBox="1"/>
              <p:nvPr/>
            </p:nvSpPr>
            <p:spPr>
              <a:xfrm>
                <a:off x="5791200" y="32882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4" name="TextBox 2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288268"/>
                <a:ext cx="375424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TextBox 274"/>
              <p:cNvSpPr txBox="1"/>
              <p:nvPr/>
            </p:nvSpPr>
            <p:spPr>
              <a:xfrm>
                <a:off x="5791200" y="2667000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5" name="TextBox 2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667000"/>
                <a:ext cx="433131" cy="369332"/>
              </a:xfrm>
              <a:prstGeom prst="rect">
                <a:avLst/>
              </a:prstGeom>
              <a:blipFill rotWithShape="1">
                <a:blip r:embed="rId21"/>
                <a:stretch>
                  <a:fillRect t="-8333" r="-183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TextBox 275"/>
              <p:cNvSpPr txBox="1"/>
              <p:nvPr/>
            </p:nvSpPr>
            <p:spPr>
              <a:xfrm>
                <a:off x="5815269" y="2057400"/>
                <a:ext cx="433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6" name="TextBox 2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269" y="2057400"/>
                <a:ext cx="433131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8333" r="-183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6482576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576" y="4572000"/>
                <a:ext cx="375424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162800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572000"/>
                <a:ext cx="375424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7930376" y="4572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76" y="4572000"/>
                <a:ext cx="375424" cy="369332"/>
              </a:xfrm>
              <a:prstGeom prst="rect">
                <a:avLst/>
              </a:prstGeom>
              <a:blipFill rotWithShape="1">
                <a:blip r:embed="rId25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482576" y="26670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576" y="2667000"/>
                <a:ext cx="375424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477000" y="2069068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𝟏𝟏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069068"/>
                <a:ext cx="513281" cy="369332"/>
              </a:xfrm>
              <a:prstGeom prst="rect">
                <a:avLst/>
              </a:prstGeom>
              <a:blipFill rotWithShape="1">
                <a:blip r:embed="rId27"/>
                <a:stretch>
                  <a:fillRect t="-8197" r="-154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477000" y="32766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276600"/>
                <a:ext cx="375423" cy="369332"/>
              </a:xfrm>
              <a:prstGeom prst="rect">
                <a:avLst/>
              </a:prstGeom>
              <a:blipFill rotWithShape="1">
                <a:blip r:embed="rId28"/>
                <a:stretch>
                  <a:fillRect t="-8333" r="-213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64770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974068"/>
                <a:ext cx="375424" cy="369332"/>
              </a:xfrm>
              <a:prstGeom prst="rect">
                <a:avLst/>
              </a:prstGeom>
              <a:blipFill rotWithShape="1">
                <a:blip r:embed="rId29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7930376" y="3962400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76" y="3962400"/>
                <a:ext cx="375424" cy="369332"/>
              </a:xfrm>
              <a:prstGeom prst="rect">
                <a:avLst/>
              </a:prstGeom>
              <a:blipFill rotWithShape="1">
                <a:blip r:embed="rId31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7930377" y="2678668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77" y="2678668"/>
                <a:ext cx="375423" cy="369332"/>
              </a:xfrm>
              <a:prstGeom prst="rect">
                <a:avLst/>
              </a:prstGeom>
              <a:blipFill rotWithShape="1">
                <a:blip r:embed="rId33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930377" y="32766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77" y="3276600"/>
                <a:ext cx="375423" cy="369332"/>
              </a:xfrm>
              <a:prstGeom prst="rect">
                <a:avLst/>
              </a:prstGeom>
              <a:blipFill rotWithShape="1">
                <a:blip r:embed="rId34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7930377" y="20574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𝟖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377" y="2057400"/>
                <a:ext cx="375423" cy="369332"/>
              </a:xfrm>
              <a:prstGeom prst="rect">
                <a:avLst/>
              </a:prstGeom>
              <a:blipFill rotWithShape="1">
                <a:blip r:embed="rId36"/>
                <a:stretch>
                  <a:fillRect t="-8333" r="-1935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B050"/>
                          </a:solidFill>
                          <a:latin typeface="Cambria Math"/>
                        </a:rPr>
                        <m:t>𝑳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549" y="5638800"/>
                <a:ext cx="367408" cy="369332"/>
              </a:xfrm>
              <a:prstGeom prst="rect">
                <a:avLst/>
              </a:prstGeom>
              <a:blipFill rotWithShape="1">
                <a:blip r:embed="rId37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/>
          <p:cNvCxnSpPr/>
          <p:nvPr/>
        </p:nvCxnSpPr>
        <p:spPr>
          <a:xfrm>
            <a:off x="787863" y="3039904"/>
            <a:ext cx="834655" cy="882836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1752600" y="2088963"/>
            <a:ext cx="1721036" cy="1797237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3482825" y="2133600"/>
            <a:ext cx="22375" cy="1752601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196" idx="5"/>
            <a:endCxn id="17" idx="1"/>
          </p:cNvCxnSpPr>
          <p:nvPr/>
        </p:nvCxnSpPr>
        <p:spPr>
          <a:xfrm>
            <a:off x="1806482" y="2111281"/>
            <a:ext cx="1622461" cy="1797237"/>
          </a:xfrm>
          <a:prstGeom prst="straightConnector1">
            <a:avLst/>
          </a:prstGeom>
          <a:ln w="762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EDB4F8-7BA8-FC73-0C69-60CF3701593D}"/>
                  </a:ext>
                </a:extLst>
              </p:cNvPr>
              <p:cNvSpPr txBox="1"/>
              <p:nvPr/>
            </p:nvSpPr>
            <p:spPr>
              <a:xfrm>
                <a:off x="7162800" y="3974068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𝟕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EDB4F8-7BA8-FC73-0C69-60CF37015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3974068"/>
                <a:ext cx="375424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AC7E12-44F2-D5B4-C066-EEE515071F6B}"/>
                  </a:ext>
                </a:extLst>
              </p:cNvPr>
              <p:cNvSpPr txBox="1"/>
              <p:nvPr/>
            </p:nvSpPr>
            <p:spPr>
              <a:xfrm>
                <a:off x="7162800" y="32766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AC7E12-44F2-D5B4-C066-EEE515071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3276600"/>
                <a:ext cx="375423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BEB2C9-B940-1584-AF29-8BC6B7D12771}"/>
                  </a:ext>
                </a:extLst>
              </p:cNvPr>
              <p:cNvSpPr txBox="1"/>
              <p:nvPr/>
            </p:nvSpPr>
            <p:spPr>
              <a:xfrm>
                <a:off x="7162800" y="20574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𝟗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BEB2C9-B940-1584-AF29-8BC6B7D12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2057400"/>
                <a:ext cx="375423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509083-E446-8CB4-3232-BD33D016EACB}"/>
                  </a:ext>
                </a:extLst>
              </p:cNvPr>
              <p:cNvSpPr txBox="1"/>
              <p:nvPr/>
            </p:nvSpPr>
            <p:spPr>
              <a:xfrm>
                <a:off x="7168377" y="26670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509083-E446-8CB4-3232-BD33D016E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377" y="2667000"/>
                <a:ext cx="375423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638EDEF4-787C-13E5-D124-492D99AF68B9}"/>
              </a:ext>
            </a:extLst>
          </p:cNvPr>
          <p:cNvGrpSpPr/>
          <p:nvPr/>
        </p:nvGrpSpPr>
        <p:grpSpPr>
          <a:xfrm>
            <a:off x="1447800" y="1806482"/>
            <a:ext cx="2252311" cy="1165318"/>
            <a:chOff x="1447800" y="1806482"/>
            <a:chExt cx="2252311" cy="1165318"/>
          </a:xfrm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4E5FA208-954C-1640-4C65-27CEDA9DD637}"/>
                </a:ext>
              </a:extLst>
            </p:cNvPr>
            <p:cNvSpPr/>
            <p:nvPr/>
          </p:nvSpPr>
          <p:spPr>
            <a:xfrm>
              <a:off x="1447800" y="1806482"/>
              <a:ext cx="2252311" cy="1165318"/>
            </a:xfrm>
            <a:prstGeom prst="arc">
              <a:avLst>
                <a:gd name="adj1" fmla="val 12393914"/>
                <a:gd name="adj2" fmla="val 20215559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907358C-617E-5088-D378-DA7AFC3A4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0519" y="1879705"/>
              <a:ext cx="394843" cy="131991"/>
            </a:xfrm>
            <a:prstGeom prst="straightConnector1">
              <a:avLst/>
            </a:prstGeom>
            <a:ln w="762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283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6" grpId="0"/>
      <p:bldP spid="67" grpId="0"/>
      <p:bldP spid="6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Bellman-Ford</a:t>
            </a:r>
            <a:r>
              <a:rPr lang="en-US" sz="3600" b="1" dirty="0"/>
              <a:t> 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Given a directed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>
                        <a:latin typeface="Cambria Math"/>
                      </a:rPr>
                      <m:t>=(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: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if there is no negative cycle,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in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2000" dirty="0"/>
                  <a:t>) time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using</a:t>
                </a:r>
                <a:r>
                  <a:rPr lang="en-US" sz="2000" b="1" dirty="0"/>
                  <a:t>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 space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 : How can we reduce the space to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Computation of column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∗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2000" b="1" i="1" dirty="0">
                    <a:latin typeface="Cambria Math"/>
                  </a:rPr>
                  <a:t> </a:t>
                </a:r>
                <a:r>
                  <a:rPr lang="en-US" sz="2000" dirty="0"/>
                  <a:t>requires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only column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0" dirty="0" smtClean="0">
                        <a:latin typeface="Cambria Math"/>
                      </a:rPr>
                      <m:t>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So keeping only two arrays of size</a:t>
                </a:r>
                <a:r>
                  <a:rPr lang="en-US" sz="2000" b="1" dirty="0"/>
                  <a:t> 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suffice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29000" y="2343090"/>
                <a:ext cx="47975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then we can compute shortest paths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343090"/>
                <a:ext cx="4797595" cy="400110"/>
              </a:xfrm>
              <a:prstGeom prst="rect">
                <a:avLst/>
              </a:prstGeom>
              <a:blipFill>
                <a:blip r:embed="rId3"/>
                <a:stretch>
                  <a:fillRect l="-1398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D48BA1-16C1-F80D-5CA6-88280D3591B6}"/>
              </a:ext>
            </a:extLst>
          </p:cNvPr>
          <p:cNvSpPr/>
          <p:nvPr/>
        </p:nvSpPr>
        <p:spPr>
          <a:xfrm>
            <a:off x="419100" y="2314545"/>
            <a:ext cx="3048000" cy="4572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7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650A-383C-BFB1-579F-61BBF6B2F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D022-85FA-5AC1-FAED-5AA63CC70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Try to realize the current status: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We have an algorithm that works if there is no negative weight cycle.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algorithm is of </a:t>
            </a:r>
            <a:r>
              <a:rPr lang="en-US" sz="2000" u="sng" dirty="0"/>
              <a:t>no use unless </a:t>
            </a:r>
            <a:r>
              <a:rPr lang="en-US" sz="2000" dirty="0"/>
              <a:t>we have an efficient algorithm to determine whether there is any negative weight cycle.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How to design such an algorithm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Interestingly, a </a:t>
            </a:r>
            <a:r>
              <a:rPr lang="en-US" sz="2000" u="sng" dirty="0"/>
              <a:t>better insight </a:t>
            </a:r>
            <a:r>
              <a:rPr lang="en-US" sz="2000" dirty="0"/>
              <a:t>into the Bellman Ford algorithm will do this job a well </a:t>
            </a:r>
            <a:r>
              <a:rPr lang="en-US" sz="2000" dirty="0">
                <a:sym typeface="Wingdings" panose="05000000000000000000" pitchFamily="2" charset="2"/>
              </a:rPr>
              <a:t>.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We shall discuss it in the next lecture.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FFAC9-43C3-941E-B116-6173FBDE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7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B0A8-21BB-E305-2CA2-43765AFDC5D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II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38CD-8EC1-7011-6A62-1FA53899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Amazing </a:t>
            </a:r>
            <a:r>
              <a:rPr lang="en-US" b="1" dirty="0"/>
              <a:t>applications of </a:t>
            </a:r>
          </a:p>
          <a:p>
            <a:pPr marL="0" indent="0" algn="ctr">
              <a:buNone/>
            </a:pPr>
            <a:r>
              <a:rPr lang="en-US" b="1" dirty="0"/>
              <a:t>the </a:t>
            </a:r>
            <a:r>
              <a:rPr lang="en-US" b="1" dirty="0">
                <a:solidFill>
                  <a:srgbClr val="7030A0"/>
                </a:solidFill>
              </a:rPr>
              <a:t>Fast matrix multiplication</a:t>
            </a:r>
            <a:endParaRPr lang="en-IN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415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All Pairs Shortest Paths (APSP)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Standard Algorithms:</a:t>
                </a:r>
              </a:p>
              <a:p>
                <a:r>
                  <a:rPr lang="en-US" sz="2000" b="1" dirty="0"/>
                  <a:t>Floyd </a:t>
                </a:r>
                <a:r>
                  <a:rPr lang="en-US" sz="2000" b="1" dirty="0" err="1"/>
                  <a:t>Warshal</a:t>
                </a:r>
                <a:r>
                  <a:rPr lang="en-US" sz="2000" b="1" dirty="0"/>
                  <a:t> </a:t>
                </a:r>
                <a:r>
                  <a:rPr lang="en-US" sz="2000" dirty="0"/>
                  <a:t>Algorithm</a:t>
                </a:r>
              </a:p>
              <a:p>
                <a:r>
                  <a:rPr lang="en-US" sz="2000" b="1" dirty="0" err="1"/>
                  <a:t>Dijkstra</a:t>
                </a:r>
                <a:r>
                  <a:rPr lang="en-US" sz="2000" dirty="0" err="1"/>
                  <a:t>’s</a:t>
                </a:r>
                <a:r>
                  <a:rPr lang="en-US" sz="2000" dirty="0"/>
                  <a:t> Algorithm</a:t>
                </a:r>
              </a:p>
              <a:p>
                <a:r>
                  <a:rPr lang="en-US" sz="2000" dirty="0"/>
                  <a:t>BFS traversal (for </a:t>
                </a:r>
                <a:r>
                  <a:rPr lang="en-US" sz="2000" dirty="0" err="1"/>
                  <a:t>unweighted</a:t>
                </a:r>
                <a:r>
                  <a:rPr lang="en-US" sz="2000" dirty="0"/>
                  <a:t> graphs)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 err="1">
                    <a:solidFill>
                      <a:srgbClr val="7030A0"/>
                    </a:solidFill>
                  </a:rPr>
                  <a:t>Raimund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Seidel</a:t>
                </a:r>
                <a:r>
                  <a:rPr lang="en-US" sz="20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On the All-Pairs-Shortest-Path Problem in </a:t>
                </a:r>
                <a:r>
                  <a:rPr lang="en-US" sz="2000" dirty="0" err="1"/>
                  <a:t>Unweighted</a:t>
                </a:r>
                <a:r>
                  <a:rPr lang="en-US" sz="2000" dirty="0"/>
                  <a:t> Undirected Graphs,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JCSS,</a:t>
                </a:r>
                <a:r>
                  <a:rPr lang="en-US" sz="2000" dirty="0"/>
                  <a:t> 51(3): 400-403 (1995)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Time complexity for APSP: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𝝎</m:t>
                        </m:r>
                      </m:sup>
                    </m:sSup>
                    <m:func>
                      <m:func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log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4875276" y="1981200"/>
            <a:ext cx="3140473" cy="990600"/>
            <a:chOff x="4875276" y="1981200"/>
            <a:chExt cx="3140473" cy="990600"/>
          </a:xfrm>
        </p:grpSpPr>
        <p:sp>
          <p:nvSpPr>
            <p:cNvPr id="6" name="Right Brace 5"/>
            <p:cNvSpPr/>
            <p:nvPr/>
          </p:nvSpPr>
          <p:spPr>
            <a:xfrm>
              <a:off x="4875276" y="1981200"/>
              <a:ext cx="230124" cy="99060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5105400" y="2286000"/>
                  <a:ext cx="2910349" cy="3755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i="1" dirty="0"/>
                    <a:t>O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dirty="0"/>
                    <a:t> time in the worst case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0" y="2286000"/>
                  <a:ext cx="2910349" cy="37555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887" t="-6452" r="-2725" b="-241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/>
          <p:cNvSpPr txBox="1"/>
          <p:nvPr/>
        </p:nvSpPr>
        <p:spPr>
          <a:xfrm>
            <a:off x="2925337" y="838200"/>
            <a:ext cx="3359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415678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 rot="2687660">
            <a:off x="6223688" y="1686885"/>
            <a:ext cx="3219295" cy="3913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23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7" name="Group 36"/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4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5" name="Straight Connector 4"/>
              <p:cNvCxnSpPr>
                <a:stCxn id="4" idx="0"/>
                <a:endCxn id="8" idx="1"/>
              </p:cNvCxnSpPr>
              <p:nvPr/>
            </p:nvCxnSpPr>
            <p:spPr>
              <a:xfrm flipV="1">
                <a:off x="5034776" y="4724400"/>
                <a:ext cx="600307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Connector 13"/>
              <p:cNvCxnSpPr>
                <a:stCxn id="8" idx="3"/>
                <a:endCxn id="7" idx="0"/>
              </p:cNvCxnSpPr>
              <p:nvPr/>
            </p:nvCxnSpPr>
            <p:spPr>
              <a:xfrm>
                <a:off x="5791200" y="4724400"/>
                <a:ext cx="615176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>
                <a:stCxn id="4" idx="2"/>
                <a:endCxn id="9" idx="1"/>
              </p:cNvCxnSpPr>
              <p:nvPr/>
            </p:nvCxnSpPr>
            <p:spPr>
              <a:xfrm>
                <a:off x="5034776" y="5486400"/>
                <a:ext cx="604024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2"/>
                <a:endCxn id="9" idx="3"/>
              </p:cNvCxnSpPr>
              <p:nvPr/>
            </p:nvCxnSpPr>
            <p:spPr>
              <a:xfrm flipH="1">
                <a:off x="5794917" y="5486400"/>
                <a:ext cx="611459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4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Straight Connector 24"/>
              <p:cNvCxnSpPr>
                <a:endCxn id="4" idx="1"/>
              </p:cNvCxnSpPr>
              <p:nvPr/>
            </p:nvCxnSpPr>
            <p:spPr>
              <a:xfrm>
                <a:off x="4118517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124200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8" idx="2"/>
                <a:endCxn id="9" idx="0"/>
              </p:cNvCxnSpPr>
              <p:nvPr/>
            </p:nvCxnSpPr>
            <p:spPr>
              <a:xfrm>
                <a:off x="5713142" y="4800600"/>
                <a:ext cx="3717" cy="1143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Content Placeholder 3"/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22874138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8197" r="-5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8197" r="-3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8197" r="-3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8197" r="-2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8197" r="-1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8197" r="-166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110000" r="-5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110000" r="-3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110000" r="-3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110000" r="-2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110000" r="-1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110000" r="-1667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206557" r="-5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206557" r="-3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206557" r="-3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206557" r="-2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206557" r="-1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206557" r="-166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311667" r="-5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311667" r="-3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311667" r="-3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311667" r="-2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311667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311667" r="-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404918" r="-5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404918" r="-3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404918" r="-3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404918" r="-2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404918" r="-1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404918" r="-1667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667" t="-513333" r="-5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00000" t="-513333" r="-3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3333" t="-513333" r="-3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03333" t="-513333" r="-2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396721" t="-513333" r="-1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505000" t="-513333" r="-1667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/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083542"/>
                  </p:ext>
                </p:extLst>
              </p:nvPr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/>
                  </a:tblGrid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/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2258743"/>
                  </p:ext>
                </p:extLst>
              </p:nvPr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/>
                    <a:gridCol w="367963"/>
                    <a:gridCol w="367963"/>
                    <a:gridCol w="367963"/>
                    <a:gridCol w="367963"/>
                    <a:gridCol w="367963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" name="Multiply 40"/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Content Placeholder 3"/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89522102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31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513333" r="-201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Content Placeholder 3"/>
              <p:cNvGraphicFramePr>
                <a:graphicFrameLocks/>
              </p:cNvGraphicFramePr>
              <p:nvPr/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10022677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4" name="Equal 43"/>
          <p:cNvSpPr/>
          <p:nvPr/>
        </p:nvSpPr>
        <p:spPr>
          <a:xfrm>
            <a:off x="59436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05600" y="76200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762000"/>
                <a:ext cx="304800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068015" y="1131332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015" y="1131332"/>
                <a:ext cx="304800" cy="338554"/>
              </a:xfrm>
              <a:prstGeom prst="rect">
                <a:avLst/>
              </a:prstGeom>
              <a:blipFill rotWithShape="1">
                <a:blip r:embed="rId13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449015" y="1512332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015" y="1512332"/>
                <a:ext cx="304800" cy="338554"/>
              </a:xfrm>
              <a:prstGeom prst="rect">
                <a:avLst/>
              </a:prstGeom>
              <a:blipFill rotWithShape="1">
                <a:blip r:embed="rId14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830015" y="1859578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015" y="1859578"/>
                <a:ext cx="304800" cy="338554"/>
              </a:xfrm>
              <a:prstGeom prst="rect">
                <a:avLst/>
              </a:prstGeom>
              <a:blipFill rotWithShape="1">
                <a:blip r:embed="rId15"/>
                <a:stretch>
                  <a:fillRect t="-5357" r="-24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8211015" y="2240578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015" y="2240578"/>
                <a:ext cx="304800" cy="338554"/>
              </a:xfrm>
              <a:prstGeom prst="rect">
                <a:avLst/>
              </a:prstGeom>
              <a:blipFill rotWithShape="1">
                <a:blip r:embed="rId16"/>
                <a:stretch>
                  <a:fillRect t="-5455" r="-22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8559653" y="2601134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653" y="2601134"/>
                <a:ext cx="304800" cy="338554"/>
              </a:xfrm>
              <a:prstGeom prst="rect">
                <a:avLst/>
              </a:prstGeom>
              <a:blipFill rotWithShape="1">
                <a:blip r:embed="rId17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blipFill rotWithShape="1">
                <a:blip r:embed="rId18"/>
                <a:stretch>
                  <a:fillRect t="-5455" r="-22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blipFill rotWithShape="1">
                <a:blip r:embed="rId19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blipFill rotWithShape="1">
                <a:blip r:embed="rId20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blipFill rotWithShape="1">
                <a:blip r:embed="rId21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 rotWithShape="1">
                <a:blip r:embed="rId22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7543800" y="3135868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𝒁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35868"/>
                <a:ext cx="383438" cy="369332"/>
              </a:xfrm>
              <a:prstGeom prst="rect">
                <a:avLst/>
              </a:prstGeom>
              <a:blipFill rotWithShape="1">
                <a:blip r:embed="rId24"/>
                <a:stretch>
                  <a:fillRect t="-8197" r="-225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475591" y="3657600"/>
                <a:ext cx="2424573" cy="60471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𝐢𝐟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𝐨𝐭𝐡𝐞𝐫𝐰𝐢𝐬𝐞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91" y="3657600"/>
                <a:ext cx="2424573" cy="604717"/>
              </a:xfrm>
              <a:prstGeom prst="rect">
                <a:avLst/>
              </a:prstGeom>
              <a:blipFill rotWithShape="1">
                <a:blip r:embed="rId25"/>
                <a:stretch>
                  <a:fillRect r="-201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197" r="-203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loud Callout 51"/>
              <p:cNvSpPr/>
              <p:nvPr/>
            </p:nvSpPr>
            <p:spPr>
              <a:xfrm>
                <a:off x="4770071" y="4554602"/>
                <a:ext cx="4343400" cy="14478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can we interpret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𝒁</m:t>
                    </m:r>
                  </m:oMath>
                </a14:m>
                <a:endParaRPr lang="en-US" b="1" i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adjacency list </a:t>
                </a:r>
                <a:r>
                  <a:rPr lang="en-US" dirty="0">
                    <a:solidFill>
                      <a:schemeClr val="tx1"/>
                    </a:solidFill>
                  </a:rPr>
                  <a:t>of a graph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2" name="Cloud Callout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071" y="4554602"/>
                <a:ext cx="4343400" cy="1447800"/>
              </a:xfrm>
              <a:prstGeom prst="cloudCallou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404277" cy="369332"/>
              </a:xfrm>
              <a:prstGeom prst="rect">
                <a:avLst/>
              </a:prstGeom>
              <a:blipFill rotWithShape="1">
                <a:blip r:embed="rId28"/>
                <a:stretch>
                  <a:fillRect t="-8333" r="-196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ine Callout 2 53"/>
              <p:cNvSpPr/>
              <p:nvPr/>
            </p:nvSpPr>
            <p:spPr>
              <a:xfrm>
                <a:off x="3733800" y="76200"/>
                <a:ext cx="2438400" cy="612648"/>
              </a:xfrm>
              <a:prstGeom prst="borderCallout2">
                <a:avLst>
                  <a:gd name="adj1" fmla="val 49693"/>
                  <a:gd name="adj2" fmla="val 100508"/>
                  <a:gd name="adj3" fmla="val 49693"/>
                  <a:gd name="adj4" fmla="val 110009"/>
                  <a:gd name="adj5" fmla="val 94299"/>
                  <a:gd name="adj6" fmla="val 12299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Degree of each vertex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  <m:r>
                      <a:rPr lang="en-US" b="1" i="0" dirty="0" smtClean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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Line Callout 2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76200"/>
                <a:ext cx="2438400" cy="612648"/>
              </a:xfrm>
              <a:prstGeom prst="borderCallout2">
                <a:avLst>
                  <a:gd name="adj1" fmla="val 49693"/>
                  <a:gd name="adj2" fmla="val 100508"/>
                  <a:gd name="adj3" fmla="val 49693"/>
                  <a:gd name="adj4" fmla="val 110009"/>
                  <a:gd name="adj5" fmla="val 94299"/>
                  <a:gd name="adj6" fmla="val 122997"/>
                </a:avLst>
              </a:prstGeom>
              <a:blipFill rotWithShape="1">
                <a:blip r:embed="rId29"/>
                <a:stretch>
                  <a:fillRect t="-576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4800600" y="3591580"/>
                <a:ext cx="3128292" cy="52322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𝒁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sz="2800" dirty="0"/>
                  <a:t> : degree of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in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591580"/>
                <a:ext cx="3128292" cy="523220"/>
              </a:xfrm>
              <a:prstGeom prst="rect">
                <a:avLst/>
              </a:prstGeom>
              <a:blipFill rotWithShape="1">
                <a:blip r:embed="rId30"/>
                <a:stretch>
                  <a:fillRect t="-9091" r="-6214" b="-306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716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1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8" grpId="1" animBg="1"/>
      <p:bldP spid="41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73" grpId="0" animBg="1"/>
      <p:bldP spid="74" grpId="0" animBg="1"/>
      <p:bldP spid="75" grpId="0" animBg="1"/>
      <p:bldP spid="76" grpId="0" animBg="1"/>
      <p:bldP spid="78" grpId="0"/>
      <p:bldP spid="80" grpId="0"/>
      <p:bldP spid="82" grpId="0"/>
      <p:bldP spid="82" grpId="1"/>
      <p:bldP spid="83" grpId="0"/>
      <p:bldP spid="52" grpId="0" animBg="1"/>
      <p:bldP spid="53" grpId="0"/>
      <p:bldP spid="54" grpId="0" animBg="1"/>
      <p:bldP spid="54" grpId="1" animBg="1"/>
      <p:bldP spid="55" grpId="0" animBg="1"/>
      <p:bldP spid="5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98660317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98660317"/>
                  </p:ext>
                </p:extLst>
              </p:nvPr>
            </p:nvGraphicFramePr>
            <p:xfrm>
              <a:off x="67056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3279" r="-4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3279" r="-406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3279" r="-3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3279" r="-2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279" r="-101639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3279" r="-3333" b="-5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105000" r="-4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105000" r="-406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105000" r="-3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105000" r="-2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105000" r="-101639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105000" r="-33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201639" r="-4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201639" r="-406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201639" r="-3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201639" r="-2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201639" r="-101639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201639" r="-3333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306667" r="-4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306667" r="-406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306667" r="-3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306667" r="-2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06667" r="-101639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400000" r="-4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400000" r="-406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400000" r="-3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667" t="-400000" r="-2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400000" r="-10163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400000" r="-333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79" t="-508333" r="-4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5000" t="-508333" r="-406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639" t="-508333" r="-3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508333" r="-101639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8333" t="-508333" r="-333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8600" y="4355068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7" name="Group 36"/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5" name="Straight Connector 4"/>
              <p:cNvCxnSpPr>
                <a:stCxn id="4" idx="0"/>
                <a:endCxn id="8" idx="1"/>
              </p:cNvCxnSpPr>
              <p:nvPr/>
            </p:nvCxnSpPr>
            <p:spPr>
              <a:xfrm flipV="1">
                <a:off x="5034776" y="4724400"/>
                <a:ext cx="600307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Connector 13"/>
              <p:cNvCxnSpPr>
                <a:stCxn id="8" idx="3"/>
                <a:endCxn id="7" idx="0"/>
              </p:cNvCxnSpPr>
              <p:nvPr/>
            </p:nvCxnSpPr>
            <p:spPr>
              <a:xfrm>
                <a:off x="5791200" y="4724400"/>
                <a:ext cx="615176" cy="6096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>
                <a:stCxn id="4" idx="2"/>
                <a:endCxn id="9" idx="1"/>
              </p:cNvCxnSpPr>
              <p:nvPr/>
            </p:nvCxnSpPr>
            <p:spPr>
              <a:xfrm>
                <a:off x="5034776" y="5486400"/>
                <a:ext cx="604024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7" idx="2"/>
                <a:endCxn id="9" idx="3"/>
              </p:cNvCxnSpPr>
              <p:nvPr/>
            </p:nvCxnSpPr>
            <p:spPr>
              <a:xfrm flipH="1">
                <a:off x="5794917" y="5486400"/>
                <a:ext cx="611459" cy="5334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Straight Connector 24"/>
              <p:cNvCxnSpPr>
                <a:endCxn id="4" idx="1"/>
              </p:cNvCxnSpPr>
              <p:nvPr/>
            </p:nvCxnSpPr>
            <p:spPr>
              <a:xfrm>
                <a:off x="4118517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124200" y="5410200"/>
                <a:ext cx="8382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8" idx="2"/>
                <a:endCxn id="9" idx="0"/>
              </p:cNvCxnSpPr>
              <p:nvPr/>
            </p:nvCxnSpPr>
            <p:spPr>
              <a:xfrm>
                <a:off x="5713142" y="4800600"/>
                <a:ext cx="3717" cy="114300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/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4244712"/>
                  </p:ext>
                </p:extLst>
              </p:nvPr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/>
                  </a:tblGrid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/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616517"/>
                  </p:ext>
                </p:extLst>
              </p:nvPr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/>
                    <a:gridCol w="367963"/>
                    <a:gridCol w="367963"/>
                    <a:gridCol w="367963"/>
                    <a:gridCol w="367963"/>
                    <a:gridCol w="367963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" name="Multiply 40"/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Equal 43"/>
          <p:cNvSpPr/>
          <p:nvPr/>
        </p:nvSpPr>
        <p:spPr>
          <a:xfrm>
            <a:off x="59436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24185" y="773668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185" y="773668"/>
                <a:ext cx="304800" cy="338554"/>
              </a:xfrm>
              <a:prstGeom prst="rect">
                <a:avLst/>
              </a:prstGeom>
              <a:blipFill rotWithShape="1">
                <a:blip r:embed="rId10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086600" y="114300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1143000"/>
                <a:ext cx="304800" cy="338554"/>
              </a:xfrm>
              <a:prstGeom prst="rect">
                <a:avLst/>
              </a:prstGeom>
              <a:blipFill rotWithShape="1">
                <a:blip r:embed="rId11"/>
                <a:stretch>
                  <a:fillRect t="-5455" r="-22000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467600" y="152400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1524000"/>
                <a:ext cx="304800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848600" y="1871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1871246"/>
                <a:ext cx="304800" cy="338554"/>
              </a:xfrm>
              <a:prstGeom prst="rect">
                <a:avLst/>
              </a:prstGeom>
              <a:blipFill rotWithShape="1">
                <a:blip r:embed="rId13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8229600" y="2252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2252246"/>
                <a:ext cx="304800" cy="338554"/>
              </a:xfrm>
              <a:prstGeom prst="rect">
                <a:avLst/>
              </a:prstGeom>
              <a:blipFill rotWithShape="1">
                <a:blip r:embed="rId14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8578238" y="2612802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8238" y="2612802"/>
                <a:ext cx="304800" cy="338554"/>
              </a:xfrm>
              <a:prstGeom prst="rect">
                <a:avLst/>
              </a:prstGeom>
              <a:blipFill rotWithShape="1">
                <a:blip r:embed="rId15"/>
                <a:stretch>
                  <a:fillRect t="-5455" r="-24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/>
          <p:cNvGrpSpPr/>
          <p:nvPr/>
        </p:nvGrpSpPr>
        <p:grpSpPr>
          <a:xfrm>
            <a:off x="5091949" y="4343400"/>
            <a:ext cx="3899651" cy="2121932"/>
            <a:chOff x="228600" y="4355068"/>
            <a:chExt cx="3899651" cy="212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883" y="4355068"/>
                  <a:ext cx="365806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333" r="-2333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4" name="Group 53"/>
            <p:cNvGrpSpPr/>
            <p:nvPr/>
          </p:nvGrpSpPr>
          <p:grpSpPr>
            <a:xfrm>
              <a:off x="228600" y="4648200"/>
              <a:ext cx="3899651" cy="1828800"/>
              <a:chOff x="2866955" y="4648200"/>
              <a:chExt cx="3899651" cy="1828800"/>
            </a:xfrm>
          </p:grpSpPr>
          <p:pic>
            <p:nvPicPr>
              <p:cNvPr id="55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567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7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8317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8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5083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59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8800" y="5943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24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1800" y="5334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/>
                  <p:cNvSpPr txBox="1"/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8" name="TextBox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6955" y="5486400"/>
                    <a:ext cx="365805" cy="369332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TextBox 6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6200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t="-8197" r="-2131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0" name="TextBox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5794" y="5486400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1" name="TextBox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61076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4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/>
                  <p:cNvSpPr txBox="1"/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6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TextBox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0800" y="5193268"/>
                    <a:ext cx="365806" cy="369332"/>
                  </a:xfrm>
                  <a:prstGeom prst="rect">
                    <a:avLst/>
                  </a:prstGeom>
                  <a:blipFill rotWithShape="1">
                    <a:blip r:embed="rId25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028" y="1515965"/>
                <a:ext cx="304800" cy="338554"/>
              </a:xfrm>
              <a:prstGeom prst="rect">
                <a:avLst/>
              </a:prstGeom>
              <a:blipFill rotWithShape="1">
                <a:blip r:embed="rId26"/>
                <a:stretch>
                  <a:fillRect t="-5455" r="-22000" b="-2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755" y="1871246"/>
                <a:ext cx="304800" cy="338554"/>
              </a:xfrm>
              <a:prstGeom prst="rect">
                <a:avLst/>
              </a:prstGeom>
              <a:blipFill rotWithShape="1">
                <a:blip r:embed="rId27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2252246"/>
                <a:ext cx="304800" cy="338554"/>
              </a:xfrm>
              <a:prstGeom prst="rect">
                <a:avLst/>
              </a:prstGeom>
              <a:blipFill rotWithShape="1">
                <a:blip r:embed="rId28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633246"/>
                <a:ext cx="304800" cy="338554"/>
              </a:xfrm>
              <a:prstGeom prst="rect">
                <a:avLst/>
              </a:prstGeom>
              <a:blipFill rotWithShape="1">
                <a:blip r:embed="rId29"/>
                <a:stretch>
                  <a:fillRect t="-5357" r="-22000"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Arc 76"/>
          <p:cNvSpPr/>
          <p:nvPr/>
        </p:nvSpPr>
        <p:spPr>
          <a:xfrm>
            <a:off x="5029200" y="5017532"/>
            <a:ext cx="2377394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>
            <a:off x="6333893" y="4712732"/>
            <a:ext cx="1529901" cy="1295400"/>
            <a:chOff x="6333893" y="4712732"/>
            <a:chExt cx="1529901" cy="1295400"/>
          </a:xfrm>
        </p:grpSpPr>
        <p:cxnSp>
          <p:nvCxnSpPr>
            <p:cNvPr id="79" name="Straight Connector 78"/>
            <p:cNvCxnSpPr>
              <a:endCxn id="58" idx="1"/>
            </p:cNvCxnSpPr>
            <p:nvPr/>
          </p:nvCxnSpPr>
          <p:spPr>
            <a:xfrm flipV="1">
              <a:off x="6333893" y="4712732"/>
              <a:ext cx="1526184" cy="62126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63" idx="3"/>
              <a:endCxn id="59" idx="1"/>
            </p:cNvCxnSpPr>
            <p:nvPr/>
          </p:nvCxnSpPr>
          <p:spPr>
            <a:xfrm>
              <a:off x="6343511" y="5398532"/>
              <a:ext cx="1520283" cy="6096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Straight Connector 86"/>
          <p:cNvCxnSpPr>
            <a:stCxn id="59" idx="0"/>
            <a:endCxn id="58" idx="2"/>
          </p:cNvCxnSpPr>
          <p:nvPr/>
        </p:nvCxnSpPr>
        <p:spPr>
          <a:xfrm flipH="1" flipV="1">
            <a:off x="7938136" y="4788932"/>
            <a:ext cx="3717" cy="1143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/>
          <p:cNvGrpSpPr/>
          <p:nvPr/>
        </p:nvGrpSpPr>
        <p:grpSpPr>
          <a:xfrm>
            <a:off x="7259770" y="4712732"/>
            <a:ext cx="1293541" cy="1295400"/>
            <a:chOff x="7259770" y="4712732"/>
            <a:chExt cx="1293541" cy="1295400"/>
          </a:xfrm>
        </p:grpSpPr>
        <p:cxnSp>
          <p:nvCxnSpPr>
            <p:cNvPr id="90" name="Straight Connector 89"/>
            <p:cNvCxnSpPr/>
            <p:nvPr/>
          </p:nvCxnSpPr>
          <p:spPr>
            <a:xfrm flipV="1">
              <a:off x="7259770" y="4712732"/>
              <a:ext cx="600307" cy="6096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7259770" y="5474732"/>
              <a:ext cx="604024" cy="533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7330394" y="5398532"/>
              <a:ext cx="122291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Right Arrow 96"/>
          <p:cNvSpPr/>
          <p:nvPr/>
        </p:nvSpPr>
        <p:spPr>
          <a:xfrm>
            <a:off x="4254631" y="5156216"/>
            <a:ext cx="622169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/>
          <p:cNvGrpSpPr/>
          <p:nvPr/>
        </p:nvGrpSpPr>
        <p:grpSpPr>
          <a:xfrm>
            <a:off x="8016194" y="4712732"/>
            <a:ext cx="615176" cy="1295400"/>
            <a:chOff x="8016194" y="4712732"/>
            <a:chExt cx="615176" cy="12954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8016194" y="4712732"/>
              <a:ext cx="615176" cy="6096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8019911" y="5474732"/>
              <a:ext cx="611459" cy="5334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389850" cy="369332"/>
              </a:xfrm>
              <a:prstGeom prst="rect">
                <a:avLst/>
              </a:prstGeom>
              <a:blipFill rotWithShape="1">
                <a:blip r:embed="rId30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389850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197" r="-218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475591" y="3657600"/>
                <a:ext cx="2424574" cy="60471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𝐢𝐟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𝐨𝐭𝐡𝐞𝐫𝐰𝐢𝐬𝐞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91" y="3657600"/>
                <a:ext cx="2424574" cy="604717"/>
              </a:xfrm>
              <a:prstGeom prst="rect">
                <a:avLst/>
              </a:prstGeom>
              <a:blipFill rotWithShape="1">
                <a:blip r:embed="rId31"/>
                <a:stretch>
                  <a:fillRect r="-201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6183868"/>
                <a:ext cx="393056" cy="369332"/>
              </a:xfrm>
              <a:prstGeom prst="rect">
                <a:avLst/>
              </a:prstGeom>
              <a:blipFill rotWithShape="1">
                <a:blip r:embed="rId23"/>
                <a:stretch>
                  <a:fillRect t="-8197" r="-203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7226944" y="6248400"/>
                <a:ext cx="503599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i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944" y="6248400"/>
                <a:ext cx="503599" cy="375552"/>
              </a:xfrm>
              <a:prstGeom prst="rect">
                <a:avLst/>
              </a:prstGeom>
              <a:blipFill rotWithShape="1">
                <a:blip r:embed="rId32"/>
                <a:stretch>
                  <a:fillRect t="-6452" r="-15854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Connector 88"/>
          <p:cNvCxnSpPr/>
          <p:nvPr/>
        </p:nvCxnSpPr>
        <p:spPr>
          <a:xfrm>
            <a:off x="6328317" y="5410200"/>
            <a:ext cx="838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5334000" y="5410200"/>
            <a:ext cx="838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83383" y="3646954"/>
                <a:ext cx="1174617" cy="39164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383" y="3646954"/>
                <a:ext cx="1174617" cy="391646"/>
              </a:xfrm>
              <a:prstGeom prst="rect">
                <a:avLst/>
              </a:prstGeom>
              <a:blipFill rotWithShape="1">
                <a:blip r:embed="rId33"/>
                <a:stretch>
                  <a:fillRect l="-4145" t="-6154" r="-8290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3" name="Content Placeholder 3"/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45640889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8197" r="-5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8197" r="-3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8197" r="-3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8197" r="-2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8197" r="-1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8197" r="-166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110000" r="-5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110000" r="-3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110000" r="-3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110000" r="-2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110000" r="-1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110000" r="-1667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206557" r="-5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206557" r="-3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206557" r="-3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206557" r="-2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206557" r="-1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206557" r="-166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311667" r="-5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311667" r="-3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311667" r="-3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311667" r="-2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311667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311667" r="-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404918" r="-5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404918" r="-3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404918" r="-3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404918" r="-2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404918" r="-1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404918" r="-1667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513333" r="-5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513333" r="-3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513333" r="-3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513333" r="-2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513333" r="-1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513333" r="-1667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Content Placeholder 3"/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10656837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31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513333" r="-201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7543800" y="3124200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𝑩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404278" cy="369332"/>
              </a:xfrm>
              <a:prstGeom prst="rect">
                <a:avLst/>
              </a:prstGeom>
              <a:blipFill rotWithShape="1">
                <a:blip r:embed="rId34"/>
                <a:stretch>
                  <a:fillRect t="-8333" r="-196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759799" y="5855732"/>
                <a:ext cx="3569062" cy="9233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Every pair of vertices connected </a:t>
                </a:r>
              </a:p>
              <a:p>
                <a:r>
                  <a:rPr lang="en-US" dirty="0"/>
                  <a:t>by a path of length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appear adjacent in this graph.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799" y="5855732"/>
                <a:ext cx="3569062" cy="923330"/>
              </a:xfrm>
              <a:prstGeom prst="rect">
                <a:avLst/>
              </a:prstGeom>
              <a:blipFill rotWithShape="1">
                <a:blip r:embed="rId35"/>
                <a:stretch>
                  <a:fillRect l="-1363" t="-2614" b="-91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3505200" y="5867400"/>
                <a:ext cx="3775778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us also add each edge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  <m:r>
                      <a:rPr lang="en-US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as well to this graph if it is not already there</a:t>
                </a:r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5867400"/>
                <a:ext cx="3775778" cy="646331"/>
              </a:xfrm>
              <a:prstGeom prst="rect">
                <a:avLst/>
              </a:prstGeom>
              <a:blipFill rotWithShape="1">
                <a:blip r:embed="rId36"/>
                <a:stretch>
                  <a:fillRect l="-1127" t="-3704" r="-322" b="-120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Cloud Callout 104"/>
          <p:cNvSpPr/>
          <p:nvPr/>
        </p:nvSpPr>
        <p:spPr>
          <a:xfrm>
            <a:off x="2968408" y="5766309"/>
            <a:ext cx="4187283" cy="1102176"/>
          </a:xfrm>
          <a:prstGeom prst="cloudCallout">
            <a:avLst>
              <a:gd name="adj1" fmla="val -19768"/>
              <a:gd name="adj2" fmla="val 6857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would  you interpret this row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1561" y="1515965"/>
            <a:ext cx="2206083" cy="3552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FD9915-668A-2A61-6AB5-3ECDB9876850}"/>
                  </a:ext>
                </a:extLst>
              </p:cNvPr>
              <p:cNvSpPr txBox="1"/>
              <p:nvPr/>
            </p:nvSpPr>
            <p:spPr>
              <a:xfrm>
                <a:off x="7096772" y="77296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EFD9915-668A-2A61-6AB5-3ECDB9876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772" y="772960"/>
                <a:ext cx="304800" cy="33855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BB14C6-D995-43DB-BFE6-F2555278FCAE}"/>
                  </a:ext>
                </a:extLst>
              </p:cNvPr>
              <p:cNvSpPr txBox="1"/>
              <p:nvPr/>
            </p:nvSpPr>
            <p:spPr>
              <a:xfrm>
                <a:off x="6743700" y="1148437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BB14C6-D995-43DB-BFE6-F2555278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0" y="1148437"/>
                <a:ext cx="304800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D5573E-095F-C9F9-BBC8-5B8599AEDFA8}"/>
                  </a:ext>
                </a:extLst>
              </p:cNvPr>
              <p:cNvSpPr txBox="1"/>
              <p:nvPr/>
            </p:nvSpPr>
            <p:spPr>
              <a:xfrm>
                <a:off x="7483408" y="1143000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D5573E-095F-C9F9-BBC8-5B8599AED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408" y="1143000"/>
                <a:ext cx="304800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E97FFB-482B-47AB-0FA8-485C973776AE}"/>
                  </a:ext>
                </a:extLst>
              </p:cNvPr>
              <p:cNvSpPr txBox="1"/>
              <p:nvPr/>
            </p:nvSpPr>
            <p:spPr>
              <a:xfrm>
                <a:off x="7113760" y="1518729"/>
                <a:ext cx="304800" cy="33855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E97FFB-482B-47AB-0FA8-485C97377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60" y="1518729"/>
                <a:ext cx="304800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06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97" grpId="0" animBg="1"/>
      <p:bldP spid="88" grpId="0"/>
      <p:bldP spid="6" grpId="0" animBg="1"/>
      <p:bldP spid="11" grpId="0" animBg="1"/>
      <p:bldP spid="11" grpId="1" animBg="1"/>
      <p:bldP spid="104" grpId="0" animBg="1"/>
      <p:bldP spid="104" grpId="1" animBg="1"/>
      <p:bldP spid="105" grpId="0" animBg="1"/>
      <p:bldP spid="105" grpId="1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E6DD9D-F8EA-CEB5-823C-1BF394DAD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IN" dirty="0"/>
                  <a:t> 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E6DD9D-F8EA-CEB5-823C-1BF394DAD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01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69125-56C5-3A84-6AC4-CB3C0D442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There is an edge between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000" dirty="0"/>
                  <a:t> if </a:t>
                </a:r>
              </a:p>
              <a:p>
                <a:pPr marL="0" indent="0">
                  <a:buNone/>
                </a:pPr>
                <a:r>
                  <a:rPr lang="en-IN" sz="2000" dirty="0"/>
                  <a:t>there is a path of length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69125-56C5-3A84-6AC4-CB3C0D442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E21EA5-097D-0E30-FEDD-C10788DCA77E}"/>
                  </a:ext>
                </a:extLst>
              </p:cNvPr>
              <p:cNvSpPr txBox="1"/>
              <p:nvPr/>
            </p:nvSpPr>
            <p:spPr>
              <a:xfrm>
                <a:off x="2971800" y="3092325"/>
                <a:ext cx="3022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at most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/>
                  <a:t> between them 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E21EA5-097D-0E30-FEDD-C10788DCA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092325"/>
                <a:ext cx="3022366" cy="369332"/>
              </a:xfrm>
              <a:prstGeom prst="rect">
                <a:avLst/>
              </a:prstGeom>
              <a:blipFill>
                <a:blip r:embed="rId4"/>
                <a:stretch>
                  <a:fillRect l="-1818" t="-8197" r="-101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11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Content Placeholder 3"/>
          <p:cNvGraphicFramePr>
            <a:graphicFrameLocks/>
          </p:cNvGraphicFramePr>
          <p:nvPr/>
        </p:nvGraphicFramePr>
        <p:xfrm>
          <a:off x="6705600" y="762000"/>
          <a:ext cx="2209800" cy="220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23762" y="1515965"/>
            <a:ext cx="348638" cy="35528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 if and only if  there is a path between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 of length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+ℓ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/>
              <p:cNvGraphicFramePr>
                <a:graphicFrameLocks noGrp="1"/>
              </p:cNvGraphicFramePr>
              <p:nvPr/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568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4244712"/>
                  </p:ext>
                </p:extLst>
              </p:nvPr>
            </p:nvGraphicFramePr>
            <p:xfrm>
              <a:off x="76200" y="762000"/>
              <a:ext cx="381000" cy="2194560"/>
            </p:xfrm>
            <a:graphic>
              <a:graphicData uri="http://schemas.openxmlformats.org/drawingml/2006/table">
                <a:tbl>
                  <a:tblPr firstRow="1" bandRow="1">
                    <a:tableStyleId>{306799F8-075E-4A3A-A7F6-7FBC6576F1A4}</a:tableStyleId>
                  </a:tblPr>
                  <a:tblGrid>
                    <a:gridCol w="381000"/>
                  </a:tblGrid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  <a:tr h="315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/>
              <p:cNvGraphicFramePr>
                <a:graphicFrameLocks noGrp="1"/>
              </p:cNvGraphicFramePr>
              <p:nvPr/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796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616517"/>
                  </p:ext>
                </p:extLst>
              </p:nvPr>
            </p:nvGraphicFramePr>
            <p:xfrm>
              <a:off x="567780" y="304800"/>
              <a:ext cx="2207778" cy="3810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367963"/>
                    <a:gridCol w="367963"/>
                    <a:gridCol w="367963"/>
                    <a:gridCol w="367963"/>
                    <a:gridCol w="367963"/>
                    <a:gridCol w="367963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/>
                          <a:stretch>
                            <a:fillRect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1" name="Multiply 40"/>
          <p:cNvSpPr/>
          <p:nvPr/>
        </p:nvSpPr>
        <p:spPr>
          <a:xfrm>
            <a:off x="2743200" y="15240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Equal 43"/>
          <p:cNvSpPr/>
          <p:nvPr/>
        </p:nvSpPr>
        <p:spPr>
          <a:xfrm>
            <a:off x="5943600" y="16002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276072" y="3059668"/>
                <a:ext cx="449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072" y="3059668"/>
                <a:ext cx="449162" cy="369332"/>
              </a:xfrm>
              <a:prstGeom prst="rect">
                <a:avLst/>
              </a:prstGeom>
              <a:blipFill rotWithShape="1">
                <a:blip r:embed="rId26"/>
                <a:stretch>
                  <a:fillRect t="-8197" r="-175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324072" y="3048000"/>
                <a:ext cx="4812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latin typeface="Cambria Math"/>
                        </a:rPr>
                        <m:t>"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072" y="3048000"/>
                <a:ext cx="481222" cy="369332"/>
              </a:xfrm>
              <a:prstGeom prst="rect">
                <a:avLst/>
              </a:prstGeom>
              <a:blipFill rotWithShape="1">
                <a:blip r:embed="rId27"/>
                <a:stretch>
                  <a:fillRect t="-8197" r="-177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200400" y="4424483"/>
                <a:ext cx="2439001" cy="60471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𝐢𝐟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𝐨𝐭𝐡𝐞𝐫𝐰𝐢𝐬𝐞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424483"/>
                <a:ext cx="2439001" cy="604717"/>
              </a:xfrm>
              <a:prstGeom prst="rect">
                <a:avLst/>
              </a:prstGeom>
              <a:blipFill rotWithShape="1">
                <a:blip r:embed="rId28"/>
                <a:stretch>
                  <a:fillRect r="-15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08192" y="4413837"/>
                <a:ext cx="1237134" cy="39164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  <m:r>
                          <a:rPr lang="en-US" b="1" i="1" smtClean="0"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192" y="4413837"/>
                <a:ext cx="1237134" cy="391646"/>
              </a:xfrm>
              <a:prstGeom prst="rect">
                <a:avLst/>
              </a:prstGeom>
              <a:blipFill rotWithShape="1">
                <a:blip r:embed="rId29"/>
                <a:stretch>
                  <a:fillRect l="-3941" t="-6250" r="-7882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3" name="Content Placeholder 3"/>
              <p:cNvGraphicFramePr>
                <a:graphicFrameLocks/>
              </p:cNvGraphicFramePr>
              <p:nvPr/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3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45640889"/>
                  </p:ext>
                </p:extLst>
              </p:nvPr>
            </p:nvGraphicFramePr>
            <p:xfrm>
              <a:off x="56576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8197" r="-505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8197" r="-3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8197" r="-3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8197" r="-2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8197" r="-100000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8197" r="-166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110000" r="-505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110000" r="-3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110000" r="-3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110000" r="-2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110000" r="-100000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110000" r="-1667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206557" r="-505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206557" r="-3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206557" r="-3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206557" r="-2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206557" r="-100000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206557" r="-166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311667" r="-505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311667" r="-3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311667" r="-3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311667" r="-2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311667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311667" r="-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404918" r="-505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404918" r="-3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404918" r="-3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404918" r="-2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404918" r="-1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404918" r="-1667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667" t="-513333" r="-505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00000" t="-513333" r="-3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3333" t="-513333" r="-3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03333" t="-513333" r="-2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396721" t="-513333" r="-10000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505000" t="-513333" r="-1667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Content Placeholder 3"/>
              <p:cNvGraphicFramePr>
                <a:graphicFrameLocks/>
              </p:cNvGraphicFramePr>
              <p:nvPr/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10656837"/>
                  </p:ext>
                </p:extLst>
              </p:nvPr>
            </p:nvGraphicFramePr>
            <p:xfrm>
              <a:off x="3352800" y="7620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/>
                    <a:gridCol w="368300"/>
                    <a:gridCol w="368300"/>
                    <a:gridCol w="368300"/>
                    <a:gridCol w="368300"/>
                    <a:gridCol w="368300"/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8197" r="-495082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8197" r="-403333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8197" r="-29672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8197" r="-201667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8197" r="-98361" b="-5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8197" b="-519672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110000" r="-495082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110000" r="-40333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110000" r="-29672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110000" r="-20166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110000" r="-98361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110000" b="-428333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206557" r="-495082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206557" r="-40333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206557" r="-29672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206557" r="-201667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206557" r="-98361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206557" b="-32131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311667" r="-495082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311667" r="-403333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311667" r="-29672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311667" r="-20166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311667" r="-9836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311667" b="-226667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404918" r="-49508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404918" r="-40333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404918" r="-2967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404918" r="-201667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404918" r="-9836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404918" b="-122951"/>
                          </a:stretch>
                        </a:blipFill>
                      </a:tcPr>
                    </a:tc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t="-513333" r="-49508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01667" t="-513333" r="-40333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98361" t="-513333" r="-29672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03333" t="-513333" r="-20166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396721" t="-513333" r="-98361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505000" t="-51333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7543800" y="3124200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/>
                        </a:rPr>
                        <m:t>𝒁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3124200"/>
                <a:ext cx="383438" cy="369332"/>
              </a:xfrm>
              <a:prstGeom prst="rect">
                <a:avLst/>
              </a:prstGeom>
              <a:blipFill rotWithShape="1">
                <a:blip r:embed="rId34"/>
                <a:stretch>
                  <a:fillRect t="-8333" r="-2258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1820" y="3408556"/>
                <a:ext cx="1900905" cy="379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Adj. Matrix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20" y="3408556"/>
                <a:ext cx="1900905" cy="379784"/>
              </a:xfrm>
              <a:prstGeom prst="rect">
                <a:avLst/>
              </a:prstGeom>
              <a:blipFill rotWithShape="1">
                <a:blip r:embed="rId35"/>
                <a:stretch>
                  <a:fillRect l="-2885" t="-4839" r="-128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581400" y="3433615"/>
                <a:ext cx="1888081" cy="3792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Adj. Matrix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433615"/>
                <a:ext cx="1888081" cy="379206"/>
              </a:xfrm>
              <a:prstGeom prst="rect">
                <a:avLst/>
              </a:prstGeom>
              <a:blipFill rotWithShape="1">
                <a:blip r:embed="rId36"/>
                <a:stretch>
                  <a:fillRect l="-2913" t="-4839" r="-1618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310268" y="5029200"/>
            <a:ext cx="1524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2819400" y="5105400"/>
            <a:ext cx="3124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5943600" y="5105400"/>
            <a:ext cx="990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934200" y="5105400"/>
            <a:ext cx="990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65889" y="1527116"/>
                <a:ext cx="318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889" y="1527116"/>
                <a:ext cx="318613" cy="369332"/>
              </a:xfrm>
              <a:prstGeom prst="rect">
                <a:avLst/>
              </a:prstGeom>
              <a:blipFill rotWithShape="1">
                <a:blip r:embed="rId37"/>
                <a:stretch>
                  <a:fillRect t="-8333" r="-2264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7447503" y="381000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503" y="381000"/>
                <a:ext cx="324897" cy="369332"/>
              </a:xfrm>
              <a:prstGeom prst="rect">
                <a:avLst/>
              </a:prstGeom>
              <a:blipFill rotWithShape="1">
                <a:blip r:embed="rId38"/>
                <a:stretch>
                  <a:fillRect t="-8333" r="-2264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1EA219-3748-0FB3-9A12-7EBCDF89C94C}"/>
                  </a:ext>
                </a:extLst>
              </p:cNvPr>
              <p:cNvSpPr txBox="1"/>
              <p:nvPr/>
            </p:nvSpPr>
            <p:spPr>
              <a:xfrm>
                <a:off x="6569916" y="4377450"/>
                <a:ext cx="1264385" cy="39164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/>
                          </a:rPr>
                          <m:t>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”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1EA219-3748-0FB3-9A12-7EBCDF89C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916" y="4377450"/>
                <a:ext cx="1264385" cy="391646"/>
              </a:xfrm>
              <a:prstGeom prst="rect">
                <a:avLst/>
              </a:prstGeom>
              <a:blipFill>
                <a:blip r:embed="rId39"/>
                <a:stretch>
                  <a:fillRect l="-4000" t="-625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970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2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7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2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build="p"/>
      <p:bldP spid="41" grpId="0" animBg="1"/>
      <p:bldP spid="44" grpId="0" animBg="1"/>
      <p:bldP spid="78" grpId="0"/>
      <p:bldP spid="80" grpId="0"/>
      <p:bldP spid="83" grpId="0"/>
      <p:bldP spid="6" grpId="0" animBg="1"/>
      <p:bldP spid="103" grpId="0"/>
      <p:bldP spid="12" grpId="0"/>
      <p:bldP spid="74" grpId="0"/>
      <p:bldP spid="13" grpId="0" animBg="1"/>
      <p:bldP spid="76" grpId="0" animBg="1"/>
      <p:bldP spid="82" grpId="0" animBg="1"/>
      <p:bldP spid="84" grpId="0" animBg="1"/>
      <p:bldP spid="15" grpId="0"/>
      <p:bldP spid="102" grpId="0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FE2BB87-085E-48E7-E106-225D43C4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b="0" dirty="0"/>
                  <a:t>: If is connected, how will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000" b="0" dirty="0"/>
                  <a:t> look like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b="0" dirty="0"/>
                  <a:t>:  </a:t>
                </a:r>
                <a:r>
                  <a:rPr lang="en-US" sz="2000" dirty="0"/>
                  <a:t>Complete graph.</a:t>
                </a:r>
                <a:endParaRPr lang="en-US" sz="2000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4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36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So, we have the exact distance information for 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We wish to find exact distance information for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>
                    <a:solidFill>
                      <a:srgbClr val="006C3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blipFill rotWithShape="1">
                <a:blip r:embed="rId3"/>
                <a:stretch>
                  <a:fillRect l="-7477" t="-7955" r="-3084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blipFill rotWithShape="1">
                <a:blip r:embed="rId4"/>
                <a:stretch>
                  <a:fillRect l="-6897" t="-7955" r="-27586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𝟖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blipFill rotWithShape="1">
                <a:blip r:embed="rId5"/>
                <a:stretch>
                  <a:fillRect l="-6897" t="-8046" r="-275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48400" y="365760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6404222"/>
                  </p:ext>
                </p:extLst>
              </p:nvPr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6404222"/>
                  </p:ext>
                </p:extLst>
              </p:nvPr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1639" r="-500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1639" r="-408333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1639" r="-3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1639" r="-201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1639" r="-10500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1639" r="-3279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103333" r="-500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103333" r="-408333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103333" r="-3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103333" r="-201639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103333" r="-105000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103333" r="-3279" b="-4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200000" r="-500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200000" r="-40833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200000" r="-3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200000" r="-201639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200000" r="-105000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200000" r="-3279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305000" r="-500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305000" r="-408333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305000" r="-3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305000" r="-201639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305000" r="-105000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305000" r="-3279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398361" r="-500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398361" r="-40833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398361" r="-3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398361" r="-20163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398361" r="-1050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398361" r="-327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639" t="-506667" r="-500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333" t="-506667" r="-40833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00000" t="-506667" r="-3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0000" t="-506667" r="-201639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667" t="-506667" r="-105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98361" t="-506667" r="-3279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ight Arrow 10"/>
          <p:cNvSpPr/>
          <p:nvPr/>
        </p:nvSpPr>
        <p:spPr>
          <a:xfrm>
            <a:off x="1143000" y="37951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831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00600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022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8ADF8-53C1-7048-30BE-22CBFA11F77D}"/>
              </a:ext>
            </a:extLst>
          </p:cNvPr>
          <p:cNvSpPr txBox="1"/>
          <p:nvPr/>
        </p:nvSpPr>
        <p:spPr>
          <a:xfrm>
            <a:off x="476045" y="2886670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6" name="Cloud Callout 15">
            <a:extLst>
              <a:ext uri="{FF2B5EF4-FFF2-40B4-BE49-F238E27FC236}">
                <a16:creationId xmlns:a16="http://schemas.microsoft.com/office/drawing/2014/main" id="{408B716D-963C-53D4-2F6A-EF44C62196AA}"/>
              </a:ext>
            </a:extLst>
          </p:cNvPr>
          <p:cNvSpPr/>
          <p:nvPr/>
        </p:nvSpPr>
        <p:spPr>
          <a:xfrm>
            <a:off x="2286000" y="5828364"/>
            <a:ext cx="4876800" cy="877235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 we proceed ?</a:t>
            </a:r>
          </a:p>
        </p:txBody>
      </p:sp>
    </p:spTree>
    <p:extLst>
      <p:ext uri="{BB962C8B-B14F-4D97-AF65-F5344CB8AC3E}">
        <p14:creationId xmlns:p14="http://schemas.microsoft.com/office/powerpoint/2010/main" val="3164912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  <p:bldP spid="14" grpId="0" animBg="1"/>
      <p:bldP spid="4" grpId="0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0" dirty="0"/>
                  <a:t> </a:t>
                </a:r>
              </a:p>
              <a:p>
                <a:pPr marL="0" indent="0">
                  <a:buNone/>
                </a:pPr>
                <a:endParaRPr lang="en-US" sz="2000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4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36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222" t="-674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𝟒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53" y="3782122"/>
                <a:ext cx="649986" cy="531812"/>
              </a:xfrm>
              <a:prstGeom prst="rect">
                <a:avLst/>
              </a:prstGeom>
              <a:blipFill rotWithShape="1">
                <a:blip r:embed="rId3"/>
                <a:stretch>
                  <a:fillRect l="-7477" t="-7955" r="-30841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15" y="3782122"/>
                <a:ext cx="702885" cy="532966"/>
              </a:xfrm>
              <a:prstGeom prst="rect">
                <a:avLst/>
              </a:prstGeom>
              <a:blipFill rotWithShape="1">
                <a:blip r:embed="rId4"/>
                <a:stretch>
                  <a:fillRect l="-6897" t="-7955" r="-27586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𝟖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684" y="3770965"/>
                <a:ext cx="702885" cy="532966"/>
              </a:xfrm>
              <a:prstGeom prst="rect">
                <a:avLst/>
              </a:prstGeom>
              <a:blipFill rotWithShape="1">
                <a:blip r:embed="rId5"/>
                <a:stretch>
                  <a:fillRect l="-6897" t="-8046" r="-2758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48400" y="365760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36" y="3733800"/>
                <a:ext cx="1039515" cy="532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19279496"/>
                  </p:ext>
                </p:extLst>
              </p:nvPr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19279496"/>
                  </p:ext>
                </p:extLst>
              </p:nvPr>
            </p:nvGraphicFramePr>
            <p:xfrm>
              <a:off x="6910039" y="1447800"/>
              <a:ext cx="2209800" cy="2209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683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3448" r="-5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3448" r="-406897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3448" r="-293333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3448" r="-2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3448" r="-103448" b="-5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3448" r="-3448" b="-5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103448" r="-5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103448" r="-406897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103448" r="-293333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103448" r="-2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103448" r="-103448" b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103448" r="-3448" b="-4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203448" r="-5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203448" r="-40689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203448" r="-293333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203448" r="-2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203448" r="-103448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203448" r="-3448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303448" r="-5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303448" r="-40689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303448" r="-293333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303448" r="-2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303448" r="-103448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303448" r="-3448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403448" r="-5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403448" r="-406897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403448" r="-293333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403448" r="-2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403448" r="-103448" b="-1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403448" r="-3448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83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448" t="-503448" r="-5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3448" t="-503448" r="-406897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96667" t="-503448" r="-293333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306897" t="-503448" r="-2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406897" t="-503448" r="-10344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06897" t="-503448" r="-3448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Left Arrow 3"/>
          <p:cNvSpPr/>
          <p:nvPr/>
        </p:nvSpPr>
        <p:spPr>
          <a:xfrm>
            <a:off x="647700" y="5861674"/>
            <a:ext cx="7848600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143000" y="37951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831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00600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022592" y="38100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107660-5A3F-1DD2-B104-3D65A3E19752}"/>
              </a:ext>
            </a:extLst>
          </p:cNvPr>
          <p:cNvSpPr txBox="1"/>
          <p:nvPr/>
        </p:nvSpPr>
        <p:spPr>
          <a:xfrm>
            <a:off x="476045" y="2886670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5" name="U-turn Arrow 14">
            <a:extLst>
              <a:ext uri="{FF2B5EF4-FFF2-40B4-BE49-F238E27FC236}">
                <a16:creationId xmlns:a16="http://schemas.microsoft.com/office/drawing/2014/main" id="{B8386E85-1EC5-0E29-B646-07B57D20702F}"/>
              </a:ext>
            </a:extLst>
          </p:cNvPr>
          <p:cNvSpPr/>
          <p:nvPr/>
        </p:nvSpPr>
        <p:spPr>
          <a:xfrm flipH="1" flipV="1">
            <a:off x="6699092" y="4231241"/>
            <a:ext cx="1689057" cy="721759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U-turn Arrow 17">
            <a:extLst>
              <a:ext uri="{FF2B5EF4-FFF2-40B4-BE49-F238E27FC236}">
                <a16:creationId xmlns:a16="http://schemas.microsoft.com/office/drawing/2014/main" id="{22C9175A-0D0A-C9C4-D70C-B193BAC5D36B}"/>
              </a:ext>
            </a:extLst>
          </p:cNvPr>
          <p:cNvSpPr/>
          <p:nvPr/>
        </p:nvSpPr>
        <p:spPr>
          <a:xfrm flipH="1" flipV="1">
            <a:off x="4190999" y="4268955"/>
            <a:ext cx="1841457" cy="646330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U-turn Arrow 18">
            <a:extLst>
              <a:ext uri="{FF2B5EF4-FFF2-40B4-BE49-F238E27FC236}">
                <a16:creationId xmlns:a16="http://schemas.microsoft.com/office/drawing/2014/main" id="{7087A88D-B316-AC8A-164F-03B34F42FD17}"/>
              </a:ext>
            </a:extLst>
          </p:cNvPr>
          <p:cNvSpPr/>
          <p:nvPr/>
        </p:nvSpPr>
        <p:spPr>
          <a:xfrm flipH="1" flipV="1">
            <a:off x="2320739" y="4268955"/>
            <a:ext cx="1841457" cy="646330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U-turn Arrow 19">
            <a:extLst>
              <a:ext uri="{FF2B5EF4-FFF2-40B4-BE49-F238E27FC236}">
                <a16:creationId xmlns:a16="http://schemas.microsoft.com/office/drawing/2014/main" id="{E8897121-D278-C1C9-DA10-CA7FDED08EAC}"/>
              </a:ext>
            </a:extLst>
          </p:cNvPr>
          <p:cNvSpPr/>
          <p:nvPr/>
        </p:nvSpPr>
        <p:spPr>
          <a:xfrm flipH="1" flipV="1">
            <a:off x="464880" y="4268955"/>
            <a:ext cx="1841457" cy="646330"/>
          </a:xfrm>
          <a:prstGeom prst="uturnArrow">
            <a:avLst>
              <a:gd name="adj1" fmla="val 14294"/>
              <a:gd name="adj2" fmla="val 25000"/>
              <a:gd name="adj3" fmla="val 25000"/>
              <a:gd name="adj4" fmla="val 43750"/>
              <a:gd name="adj5" fmla="val 9998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18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Given distance matrix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how to compute distance matrix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𝑫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?  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95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305800" cy="4678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 </a:t>
                </a:r>
                <a:r>
                  <a:rPr lang="en-US" sz="2400" dirty="0"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num>
                      <m:den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odd   </a:t>
                </a:r>
                <a:r>
                  <a:rPr lang="en-US" sz="2400" dirty="0"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+ 1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305800" cy="4678363"/>
              </a:xfrm>
              <a:blipFill rotWithShape="1">
                <a:blip r:embed="rId2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dirty="0"/>
                  <a:t>Distance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3600" b="1" i="1" dirty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3600" dirty="0"/>
                  <a:t>           Distance in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/>
          <p:cNvSpPr/>
          <p:nvPr/>
        </p:nvSpPr>
        <p:spPr>
          <a:xfrm>
            <a:off x="4953000" y="2895600"/>
            <a:ext cx="2377394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/>
          <p:cNvSpPr/>
          <p:nvPr/>
        </p:nvSpPr>
        <p:spPr>
          <a:xfrm>
            <a:off x="3200400" y="2895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>
            <a:off x="1447800" y="2883932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/>
          <p:cNvSpPr/>
          <p:nvPr/>
        </p:nvSpPr>
        <p:spPr>
          <a:xfrm rot="10800000">
            <a:off x="4114800" y="2133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/>
          <p:cNvSpPr/>
          <p:nvPr/>
        </p:nvSpPr>
        <p:spPr>
          <a:xfrm rot="10800000">
            <a:off x="2286000" y="2133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1600200" y="3200400"/>
            <a:ext cx="5643610" cy="445532"/>
            <a:chOff x="1600200" y="3200400"/>
            <a:chExt cx="5643610" cy="445532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6683" y="3200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8" name="Group 7"/>
            <p:cNvGrpSpPr/>
            <p:nvPr/>
          </p:nvGrpSpPr>
          <p:grpSpPr>
            <a:xfrm>
              <a:off x="1600200" y="3200400"/>
              <a:ext cx="5643610" cy="445532"/>
              <a:chOff x="1600200" y="3200400"/>
              <a:chExt cx="5643610" cy="445532"/>
            </a:xfrm>
          </p:grpSpPr>
          <p:cxnSp>
            <p:nvCxnSpPr>
              <p:cNvPr id="19" name="Straight Connector 18"/>
              <p:cNvCxnSpPr>
                <a:stCxn id="4" idx="3"/>
              </p:cNvCxnSpPr>
              <p:nvPr/>
            </p:nvCxnSpPr>
            <p:spPr>
              <a:xfrm>
                <a:off x="1756317" y="3276600"/>
                <a:ext cx="5250366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02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384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1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28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872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016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22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6916476" y="3276600"/>
                    <a:ext cx="32733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6476" y="3276600"/>
                    <a:ext cx="327334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24528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1763321" y="4964668"/>
            <a:ext cx="5406483" cy="152400"/>
            <a:chOff x="1763321" y="4964668"/>
            <a:chExt cx="5406483" cy="152400"/>
          </a:xfrm>
        </p:grpSpPr>
        <p:cxnSp>
          <p:nvCxnSpPr>
            <p:cNvPr id="20" name="Straight Connector 19"/>
            <p:cNvCxnSpPr>
              <a:stCxn id="21" idx="3"/>
              <a:endCxn id="32" idx="3"/>
            </p:cNvCxnSpPr>
            <p:nvPr/>
          </p:nvCxnSpPr>
          <p:spPr>
            <a:xfrm>
              <a:off x="1763321" y="5040868"/>
              <a:ext cx="540648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4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8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86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226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45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85800" y="4856202"/>
                <a:ext cx="39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856202"/>
                <a:ext cx="393056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0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49944" y="3048000"/>
                <a:ext cx="503599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44" y="3048000"/>
                <a:ext cx="503599" cy="375552"/>
              </a:xfrm>
              <a:prstGeom prst="rect">
                <a:avLst/>
              </a:prstGeom>
              <a:blipFill rotWithShape="1">
                <a:blip r:embed="rId10"/>
                <a:stretch>
                  <a:fillRect t="-6452" r="-15663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2629398" y="1447800"/>
            <a:ext cx="1721005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2590800" y="2133600"/>
            <a:ext cx="22098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390793" y="372070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3400"/>
            <a:ext cx="2743200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5029200" y="457200"/>
            <a:ext cx="2743200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977745" y="4876800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745" y="4876800"/>
                <a:ext cx="410690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924800" y="312420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3124200"/>
                <a:ext cx="470000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1688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516996" y="335280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996" y="3352800"/>
                <a:ext cx="32252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2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" grpId="0" animBg="1"/>
      <p:bldP spid="24" grpId="0" animBg="1"/>
      <p:bldP spid="25" grpId="0" animBg="1"/>
      <p:bldP spid="26" grpId="0" animBg="1"/>
      <p:bldP spid="27" grpId="0" animBg="1"/>
      <p:bldP spid="33" grpId="0"/>
      <p:bldP spid="34" grpId="0"/>
      <p:bldP spid="7" grpId="0"/>
      <p:bldP spid="35" grpId="0"/>
      <p:bldP spid="36" grpId="0" animBg="1"/>
      <p:bldP spid="9" grpId="0"/>
      <p:bldP spid="41" grpId="0" animBg="1"/>
      <p:bldP spid="42" grpId="0" animBg="1"/>
      <p:bldP spid="17" grpId="0"/>
      <p:bldP spid="44" grpId="0"/>
      <p:bldP spid="4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2A924-2E9C-55E1-1E88-96396D1F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086531-B294-9E73-A868-D7456D755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305800" cy="4678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 </a:t>
                </a:r>
                <a:r>
                  <a:rPr lang="en-US" sz="2400" dirty="0"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num>
                      <m:den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odd   </a:t>
                </a:r>
                <a:r>
                  <a:rPr lang="en-US" sz="2400" dirty="0"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+ 1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305800" cy="4678363"/>
              </a:xfrm>
              <a:blipFill rotWithShape="1">
                <a:blip r:embed="rId2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266EB8-303F-25C9-A491-9147729176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dirty="0"/>
                  <a:t>Distance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3600" b="1" i="1" dirty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3600" dirty="0"/>
                  <a:t>           Distance in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>
            <a:extLst>
              <a:ext uri="{FF2B5EF4-FFF2-40B4-BE49-F238E27FC236}">
                <a16:creationId xmlns:a16="http://schemas.microsoft.com/office/drawing/2014/main" id="{BE17502F-4EB9-E32F-46C7-0059284E6A2A}"/>
              </a:ext>
            </a:extLst>
          </p:cNvPr>
          <p:cNvSpPr/>
          <p:nvPr/>
        </p:nvSpPr>
        <p:spPr>
          <a:xfrm>
            <a:off x="4953000" y="2895600"/>
            <a:ext cx="2377394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78FB8D6A-B919-133E-C090-96003447FA67}"/>
              </a:ext>
            </a:extLst>
          </p:cNvPr>
          <p:cNvSpPr/>
          <p:nvPr/>
        </p:nvSpPr>
        <p:spPr>
          <a:xfrm>
            <a:off x="3200400" y="2895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2ADF7C81-3D1A-FAFE-5332-32D852B78FB0}"/>
              </a:ext>
            </a:extLst>
          </p:cNvPr>
          <p:cNvSpPr/>
          <p:nvPr/>
        </p:nvSpPr>
        <p:spPr>
          <a:xfrm>
            <a:off x="1447800" y="2883932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69922EF4-F055-6889-5894-D48BE84FD4C8}"/>
              </a:ext>
            </a:extLst>
          </p:cNvPr>
          <p:cNvSpPr/>
          <p:nvPr/>
        </p:nvSpPr>
        <p:spPr>
          <a:xfrm rot="10800000">
            <a:off x="4114800" y="2133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96BCC6A1-E1DB-F938-8F5C-68AC8E243C61}"/>
              </a:ext>
            </a:extLst>
          </p:cNvPr>
          <p:cNvSpPr/>
          <p:nvPr/>
        </p:nvSpPr>
        <p:spPr>
          <a:xfrm rot="10800000">
            <a:off x="2286000" y="2133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71E5C-AF92-E9D2-E659-D14C9DC5791F}"/>
              </a:ext>
            </a:extLst>
          </p:cNvPr>
          <p:cNvGrpSpPr/>
          <p:nvPr/>
        </p:nvGrpSpPr>
        <p:grpSpPr>
          <a:xfrm>
            <a:off x="1600200" y="3200400"/>
            <a:ext cx="5643610" cy="445532"/>
            <a:chOff x="1600200" y="3200400"/>
            <a:chExt cx="5643610" cy="4455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C16CCA98-F269-84B7-5318-F71A463D0B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6683" y="3200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1C518F7-0472-99B3-55BA-36B07E9D0C2F}"/>
                </a:ext>
              </a:extLst>
            </p:cNvPr>
            <p:cNvGrpSpPr/>
            <p:nvPr/>
          </p:nvGrpSpPr>
          <p:grpSpPr>
            <a:xfrm>
              <a:off x="1600200" y="3200400"/>
              <a:ext cx="5643610" cy="445532"/>
              <a:chOff x="1600200" y="3200400"/>
              <a:chExt cx="5643610" cy="445532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A0522C8-DCBD-939D-770B-9A789B561ADE}"/>
                  </a:ext>
                </a:extLst>
              </p:cNvPr>
              <p:cNvCxnSpPr>
                <a:stCxn id="4" idx="3"/>
              </p:cNvCxnSpPr>
              <p:nvPr/>
            </p:nvCxnSpPr>
            <p:spPr>
              <a:xfrm>
                <a:off x="1756317" y="3276600"/>
                <a:ext cx="5250366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" name="Picture 2">
                <a:extLst>
                  <a:ext uri="{FF2B5EF4-FFF2-40B4-BE49-F238E27FC236}">
                    <a16:creationId xmlns:a16="http://schemas.microsoft.com/office/drawing/2014/main" id="{6DBB7300-292C-862F-6EA3-27774FAF94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02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71909E6B-2D5C-55F3-E937-F0B61B8E71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384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99036C7F-A66C-490B-19B4-E96A6969AC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28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2C16BE0B-FC7C-2D37-AE91-E5BBB6F4C9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872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558BF70C-9014-197A-5D41-1F1F992A0A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016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01E03E2C-B66A-F0EA-3109-3E4B8FAD96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22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B3EB102B-7E60-9179-A345-588B07A87488}"/>
                      </a:ext>
                    </a:extLst>
                  </p:cNvPr>
                  <p:cNvSpPr txBox="1"/>
                  <p:nvPr/>
                </p:nvSpPr>
                <p:spPr>
                  <a:xfrm>
                    <a:off x="6916476" y="3276600"/>
                    <a:ext cx="32733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6476" y="3276600"/>
                    <a:ext cx="327334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24528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1" name="Picture 2">
            <a:extLst>
              <a:ext uri="{FF2B5EF4-FFF2-40B4-BE49-F238E27FC236}">
                <a16:creationId xmlns:a16="http://schemas.microsoft.com/office/drawing/2014/main" id="{3231EA90-A4B8-EEA4-F4F6-BE58BA114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801E699-976D-7D20-E62C-E31861523399}"/>
              </a:ext>
            </a:extLst>
          </p:cNvPr>
          <p:cNvGrpSpPr/>
          <p:nvPr/>
        </p:nvGrpSpPr>
        <p:grpSpPr>
          <a:xfrm>
            <a:off x="1763321" y="4964668"/>
            <a:ext cx="5406483" cy="152400"/>
            <a:chOff x="1763321" y="4964668"/>
            <a:chExt cx="5406483" cy="1524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96AEBC8-91A6-D37B-382A-70C2C33DDE8F}"/>
                </a:ext>
              </a:extLst>
            </p:cNvPr>
            <p:cNvCxnSpPr>
              <a:stCxn id="21" idx="3"/>
              <a:endCxn id="32" idx="3"/>
            </p:cNvCxnSpPr>
            <p:nvPr/>
          </p:nvCxnSpPr>
          <p:spPr>
            <a:xfrm>
              <a:off x="1763321" y="5040868"/>
              <a:ext cx="540648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7F63CEA9-E67D-9CD5-96C5-E3AC64AB6E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4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B4332C03-4E80-C3CF-4E4B-81F3D34BB8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8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BF12E560-22EE-42DA-7EFB-3BF417FF1F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9A8B006F-02E6-EA2D-EBB2-7C6996D84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86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80FF8694-2308-F8CC-220E-E6F587CE4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418A5425-537E-64E0-8A9C-E9B6918AD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F919C87-33CC-A927-6FCD-B36CA6B71647}"/>
                  </a:ext>
                </a:extLst>
              </p:cNvPr>
              <p:cNvSpPr txBox="1"/>
              <p:nvPr/>
            </p:nvSpPr>
            <p:spPr>
              <a:xfrm>
                <a:off x="2371440" y="5020652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F919C87-33CC-A927-6FCD-B36CA6B7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440" y="5020652"/>
                <a:ext cx="32252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E106CEC-551E-AE38-886A-9B0FCDBE13E0}"/>
                  </a:ext>
                </a:extLst>
              </p:cNvPr>
              <p:cNvSpPr txBox="1"/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45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6F6F87D-E899-F9C2-E36B-533B42A0DACF}"/>
                  </a:ext>
                </a:extLst>
              </p:cNvPr>
              <p:cNvSpPr/>
              <p:nvPr/>
            </p:nvSpPr>
            <p:spPr>
              <a:xfrm>
                <a:off x="685800" y="4856202"/>
                <a:ext cx="39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856202"/>
                <a:ext cx="393056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0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D89E06E-2B5A-F020-3415-BFAD5578328E}"/>
                  </a:ext>
                </a:extLst>
              </p:cNvPr>
              <p:cNvSpPr/>
              <p:nvPr/>
            </p:nvSpPr>
            <p:spPr>
              <a:xfrm>
                <a:off x="749944" y="3048000"/>
                <a:ext cx="503599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44" y="3048000"/>
                <a:ext cx="503599" cy="375552"/>
              </a:xfrm>
              <a:prstGeom prst="rect">
                <a:avLst/>
              </a:prstGeom>
              <a:blipFill rotWithShape="1">
                <a:blip r:embed="rId10"/>
                <a:stretch>
                  <a:fillRect t="-6452" r="-15663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0337722B-E85B-FE96-CF2F-BCF76229A935}"/>
              </a:ext>
            </a:extLst>
          </p:cNvPr>
          <p:cNvSpPr/>
          <p:nvPr/>
        </p:nvSpPr>
        <p:spPr>
          <a:xfrm>
            <a:off x="2590800" y="2133600"/>
            <a:ext cx="22098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E61A0-A9E7-4520-156F-202461A43658}"/>
              </a:ext>
            </a:extLst>
          </p:cNvPr>
          <p:cNvSpPr txBox="1"/>
          <p:nvPr/>
        </p:nvSpPr>
        <p:spPr>
          <a:xfrm>
            <a:off x="4390793" y="372070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C01466-F5A5-31D4-9AEE-1A1BDBA68435}"/>
                  </a:ext>
                </a:extLst>
              </p:cNvPr>
              <p:cNvSpPr txBox="1"/>
              <p:nvPr/>
            </p:nvSpPr>
            <p:spPr>
              <a:xfrm>
                <a:off x="7977745" y="4876800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745" y="4876800"/>
                <a:ext cx="410690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7CAA668-FC96-0294-48F3-9C071FF986DE}"/>
                  </a:ext>
                </a:extLst>
              </p:cNvPr>
              <p:cNvSpPr txBox="1"/>
              <p:nvPr/>
            </p:nvSpPr>
            <p:spPr>
              <a:xfrm>
                <a:off x="7924800" y="312420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3124200"/>
                <a:ext cx="470000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1688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045E03-5654-5B85-7AE9-69764AF21797}"/>
                  </a:ext>
                </a:extLst>
              </p:cNvPr>
              <p:cNvSpPr txBox="1"/>
              <p:nvPr/>
            </p:nvSpPr>
            <p:spPr>
              <a:xfrm>
                <a:off x="2347006" y="3311605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0045E03-5654-5B85-7AE9-69764AF21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006" y="3311605"/>
                <a:ext cx="32252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439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2806-A233-7DE0-B5C7-072F33C3F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7D274D-6288-D4C3-BDF8-C0EF95C32D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305800" cy="46783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 </a:t>
                </a:r>
                <a:r>
                  <a:rPr lang="en-US" sz="2400" dirty="0"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num>
                      <m:den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odd   </a:t>
                </a:r>
                <a:r>
                  <a:rPr lang="en-US" sz="2400" dirty="0"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 + 1</m:t>
                        </m:r>
                      </m:num>
                      <m:den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305800" cy="4678363"/>
              </a:xfrm>
              <a:blipFill rotWithShape="1">
                <a:blip r:embed="rId2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4932475-4D7C-449B-3739-0BCFB6D1BD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dirty="0"/>
                  <a:t>Distance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3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3600" b="1" i="1" dirty="0">
                        <a:solidFill>
                          <a:srgbClr val="006C3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3600" dirty="0"/>
                  <a:t>           Distance in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𝑮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21">
            <a:extLst>
              <a:ext uri="{FF2B5EF4-FFF2-40B4-BE49-F238E27FC236}">
                <a16:creationId xmlns:a16="http://schemas.microsoft.com/office/drawing/2014/main" id="{117E6867-AAA5-0071-2494-544C2B12D035}"/>
              </a:ext>
            </a:extLst>
          </p:cNvPr>
          <p:cNvSpPr/>
          <p:nvPr/>
        </p:nvSpPr>
        <p:spPr>
          <a:xfrm>
            <a:off x="4953000" y="2895600"/>
            <a:ext cx="2377394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61A2EE4E-D0F5-DF74-13D5-7AEDB25D87D3}"/>
              </a:ext>
            </a:extLst>
          </p:cNvPr>
          <p:cNvSpPr/>
          <p:nvPr/>
        </p:nvSpPr>
        <p:spPr>
          <a:xfrm>
            <a:off x="3200400" y="2895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A5E3610B-A294-2ED5-67B2-D23189A53129}"/>
              </a:ext>
            </a:extLst>
          </p:cNvPr>
          <p:cNvSpPr/>
          <p:nvPr/>
        </p:nvSpPr>
        <p:spPr>
          <a:xfrm>
            <a:off x="1447800" y="2883932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98420E5D-B16C-816A-CC03-1CBEED28E562}"/>
              </a:ext>
            </a:extLst>
          </p:cNvPr>
          <p:cNvSpPr/>
          <p:nvPr/>
        </p:nvSpPr>
        <p:spPr>
          <a:xfrm rot="10800000">
            <a:off x="4114800" y="2133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D783C155-2199-3F52-8D0D-64E36904F715}"/>
              </a:ext>
            </a:extLst>
          </p:cNvPr>
          <p:cNvSpPr/>
          <p:nvPr/>
        </p:nvSpPr>
        <p:spPr>
          <a:xfrm rot="10800000">
            <a:off x="2286000" y="2133600"/>
            <a:ext cx="2209800" cy="1535668"/>
          </a:xfrm>
          <a:prstGeom prst="arc">
            <a:avLst>
              <a:gd name="adj1" fmla="val 12271239"/>
              <a:gd name="adj2" fmla="val 2014131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D5182C-EB62-BCB0-99C4-69FDD20523C4}"/>
              </a:ext>
            </a:extLst>
          </p:cNvPr>
          <p:cNvGrpSpPr/>
          <p:nvPr/>
        </p:nvGrpSpPr>
        <p:grpSpPr>
          <a:xfrm>
            <a:off x="1600200" y="3200400"/>
            <a:ext cx="5643610" cy="445532"/>
            <a:chOff x="1600200" y="3200400"/>
            <a:chExt cx="5643610" cy="445532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D32D0F6E-2800-AD94-4270-E6F46CBFA0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6683" y="3200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676ABD4-B63C-1C20-56E7-890149A85FDD}"/>
                </a:ext>
              </a:extLst>
            </p:cNvPr>
            <p:cNvGrpSpPr/>
            <p:nvPr/>
          </p:nvGrpSpPr>
          <p:grpSpPr>
            <a:xfrm>
              <a:off x="1600200" y="3200400"/>
              <a:ext cx="5643610" cy="445532"/>
              <a:chOff x="1600200" y="3200400"/>
              <a:chExt cx="5643610" cy="445532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CE15988-AD54-4F34-39AF-A417CC60C6FD}"/>
                  </a:ext>
                </a:extLst>
              </p:cNvPr>
              <p:cNvCxnSpPr>
                <a:stCxn id="4" idx="3"/>
              </p:cNvCxnSpPr>
              <p:nvPr/>
            </p:nvCxnSpPr>
            <p:spPr>
              <a:xfrm>
                <a:off x="1756317" y="3276600"/>
                <a:ext cx="5250366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" name="Picture 2">
                <a:extLst>
                  <a:ext uri="{FF2B5EF4-FFF2-40B4-BE49-F238E27FC236}">
                    <a16:creationId xmlns:a16="http://schemas.microsoft.com/office/drawing/2014/main" id="{E9AFE602-3A0E-6D0B-933B-4B3FDE240C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02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2CF25D21-72AD-0E2F-ED23-CF8F023EC3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384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C5F9E3CD-5FC2-75D5-F5B5-4EE90555A0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2800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E8F6599A-E867-ED83-4BD9-22C3E167FA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872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A5A2A451-EEB9-36DE-0CB2-A2171ABC78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016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DDE5571D-6CF0-76A2-3614-F80889C625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2283" y="3200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C0C426C-DE22-5C26-71BD-C1BEE1902250}"/>
                      </a:ext>
                    </a:extLst>
                  </p:cNvPr>
                  <p:cNvSpPr txBox="1"/>
                  <p:nvPr/>
                </p:nvSpPr>
                <p:spPr>
                  <a:xfrm>
                    <a:off x="6916476" y="3276600"/>
                    <a:ext cx="32733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6476" y="3276600"/>
                    <a:ext cx="327334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24528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1" name="Picture 2">
            <a:extLst>
              <a:ext uri="{FF2B5EF4-FFF2-40B4-BE49-F238E27FC236}">
                <a16:creationId xmlns:a16="http://schemas.microsoft.com/office/drawing/2014/main" id="{05AD8A29-9463-1F93-F9EE-880925B9A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37E0EF2-F7B7-BEF3-C873-FB63FE3212EE}"/>
              </a:ext>
            </a:extLst>
          </p:cNvPr>
          <p:cNvGrpSpPr/>
          <p:nvPr/>
        </p:nvGrpSpPr>
        <p:grpSpPr>
          <a:xfrm>
            <a:off x="1763321" y="4964668"/>
            <a:ext cx="5406483" cy="152400"/>
            <a:chOff x="1763321" y="4964668"/>
            <a:chExt cx="5406483" cy="1524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C6038C0-0EC8-A6F1-80A8-DE8E18FAD8FE}"/>
                </a:ext>
              </a:extLst>
            </p:cNvPr>
            <p:cNvCxnSpPr>
              <a:stCxn id="21" idx="3"/>
              <a:endCxn id="32" idx="3"/>
            </p:cNvCxnSpPr>
            <p:nvPr/>
          </p:nvCxnSpPr>
          <p:spPr>
            <a:xfrm>
              <a:off x="1763321" y="5040868"/>
              <a:ext cx="540648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E7C092DA-0EF0-1029-99E9-01E769CBE7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4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A92AF283-538C-8105-3FB9-7E07A380B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8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19DE6165-23D6-645A-9894-6E14C2BFE7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9E34A3B1-60B2-1649-567C-FEAF11CCF1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86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3E05CD96-F512-208B-1D5C-2C0AB277A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56FEDC90-9C22-3D1B-3964-1DC40BAB0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9F771B-A41B-9F0F-64B2-280248F7FE85}"/>
                  </a:ext>
                </a:extLst>
              </p:cNvPr>
              <p:cNvSpPr txBox="1"/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45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C9284D8-0ADF-EDB3-60B7-08CEA4B83A83}"/>
                  </a:ext>
                </a:extLst>
              </p:cNvPr>
              <p:cNvSpPr/>
              <p:nvPr/>
            </p:nvSpPr>
            <p:spPr>
              <a:xfrm>
                <a:off x="685800" y="4856202"/>
                <a:ext cx="39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856202"/>
                <a:ext cx="393056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0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C464307-2BE5-DBFC-7D84-F6DD52EE0D90}"/>
                  </a:ext>
                </a:extLst>
              </p:cNvPr>
              <p:cNvSpPr/>
              <p:nvPr/>
            </p:nvSpPr>
            <p:spPr>
              <a:xfrm>
                <a:off x="749944" y="3048000"/>
                <a:ext cx="503599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𝑮</m:t>
                          </m:r>
                        </m:e>
                        <m:sup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44" y="3048000"/>
                <a:ext cx="503599" cy="375552"/>
              </a:xfrm>
              <a:prstGeom prst="rect">
                <a:avLst/>
              </a:prstGeom>
              <a:blipFill rotWithShape="1">
                <a:blip r:embed="rId10"/>
                <a:stretch>
                  <a:fillRect t="-6452" r="-15663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F581036-8481-DF45-4BA3-3A23EB21E95A}"/>
              </a:ext>
            </a:extLst>
          </p:cNvPr>
          <p:cNvSpPr txBox="1"/>
          <p:nvPr/>
        </p:nvSpPr>
        <p:spPr>
          <a:xfrm>
            <a:off x="4390793" y="372070"/>
            <a:ext cx="505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A95A52-E335-B848-526D-5EDB27C18688}"/>
              </a:ext>
            </a:extLst>
          </p:cNvPr>
          <p:cNvSpPr/>
          <p:nvPr/>
        </p:nvSpPr>
        <p:spPr>
          <a:xfrm>
            <a:off x="1371600" y="533400"/>
            <a:ext cx="2743200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56933E-A6B4-54EA-285E-D0206B2FB739}"/>
              </a:ext>
            </a:extLst>
          </p:cNvPr>
          <p:cNvSpPr/>
          <p:nvPr/>
        </p:nvSpPr>
        <p:spPr>
          <a:xfrm>
            <a:off x="4187283" y="457200"/>
            <a:ext cx="3585117" cy="76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A1BFE3-4DAA-F59E-5175-73107F40B693}"/>
                  </a:ext>
                </a:extLst>
              </p:cNvPr>
              <p:cNvSpPr txBox="1"/>
              <p:nvPr/>
            </p:nvSpPr>
            <p:spPr>
              <a:xfrm>
                <a:off x="7977745" y="4876800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745" y="4876800"/>
                <a:ext cx="410690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19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6723DA6-E04C-13E6-DC68-E22B08A8B97E}"/>
                  </a:ext>
                </a:extLst>
              </p:cNvPr>
              <p:cNvSpPr txBox="1"/>
              <p:nvPr/>
            </p:nvSpPr>
            <p:spPr>
              <a:xfrm>
                <a:off x="7924800" y="312420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3124200"/>
                <a:ext cx="470000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1688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FD1B364-5F47-BE0C-F8DF-B6C2C0228157}"/>
                  </a:ext>
                </a:extLst>
              </p:cNvPr>
              <p:cNvSpPr txBox="1"/>
              <p:nvPr/>
            </p:nvSpPr>
            <p:spPr>
              <a:xfrm>
                <a:off x="6172200" y="1524000"/>
                <a:ext cx="2057400" cy="5579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524000"/>
                <a:ext cx="2057400" cy="557910"/>
              </a:xfrm>
              <a:prstGeom prst="rect">
                <a:avLst/>
              </a:prstGeom>
              <a:blipFill rotWithShape="1">
                <a:blip r:embed="rId13"/>
                <a:stretch>
                  <a:fillRect t="-9783" r="-29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54C867-1331-D797-FA62-1EDEC29870EE}"/>
                  </a:ext>
                </a:extLst>
              </p:cNvPr>
              <p:cNvSpPr txBox="1"/>
              <p:nvPr/>
            </p:nvSpPr>
            <p:spPr>
              <a:xfrm>
                <a:off x="6165196" y="2175997"/>
                <a:ext cx="2597804" cy="55791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8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196" y="2175997"/>
                <a:ext cx="2597804" cy="557910"/>
              </a:xfrm>
              <a:prstGeom prst="rect">
                <a:avLst/>
              </a:prstGeom>
              <a:blipFill rotWithShape="1">
                <a:blip r:embed="rId14"/>
                <a:stretch>
                  <a:fillRect t="-9890" r="-5386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loud Callout 42">
                <a:extLst>
                  <a:ext uri="{FF2B5EF4-FFF2-40B4-BE49-F238E27FC236}">
                    <a16:creationId xmlns:a16="http://schemas.microsoft.com/office/drawing/2014/main" id="{2B9C1610-00A5-C554-AF39-15DFC3298217}"/>
                  </a:ext>
                </a:extLst>
              </p:cNvPr>
              <p:cNvSpPr/>
              <p:nvPr/>
            </p:nvSpPr>
            <p:spPr>
              <a:xfrm>
                <a:off x="2286000" y="5257800"/>
                <a:ext cx="4343400" cy="14478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Great ! So in order to compute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𝑫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𝑫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all we need to determine is the 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parity</a:t>
                </a:r>
                <a:r>
                  <a:rPr lang="en-US" dirty="0">
                    <a:solidFill>
                      <a:schemeClr val="tx1"/>
                    </a:solidFill>
                  </a:rPr>
                  <a:t> of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 </a:t>
                </a:r>
              </a:p>
            </p:txBody>
          </p:sp>
        </mc:Choice>
        <mc:Fallback>
          <p:sp>
            <p:nvSpPr>
              <p:cNvPr id="5" name="Cloud Callout 42">
                <a:extLst>
                  <a:ext uri="{FF2B5EF4-FFF2-40B4-BE49-F238E27FC236}">
                    <a16:creationId xmlns:a16="http://schemas.microsoft.com/office/drawing/2014/main" id="{2B9C1610-00A5-C554-AF39-15DFC3298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257800"/>
                <a:ext cx="4343400" cy="1447800"/>
              </a:xfrm>
              <a:prstGeom prst="cloudCallou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49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5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dirty="0"/>
                  <a:t>: How to determine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or odd ?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≤</m:t>
                        </m:r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</a:t>
                </a:r>
                <a:r>
                  <a:rPr lang="en-US" sz="2400" dirty="0">
                    <a:sym typeface="Wingdings" pitchFamily="2" charset="2"/>
                  </a:rPr>
                  <a:t>  For each neighbor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endParaRPr lang="en-US" sz="24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odd  </a:t>
                </a:r>
                <a:r>
                  <a:rPr lang="en-US" sz="2400" dirty="0">
                    <a:sym typeface="Wingdings" pitchFamily="2" charset="2"/>
                  </a:rPr>
                  <a:t>   For each neighbor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endParaRPr lang="en-US" sz="2400" b="1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235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343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1763321" y="4343400"/>
            <a:ext cx="5406483" cy="152400"/>
            <a:chOff x="1763321" y="4964668"/>
            <a:chExt cx="5406483" cy="152400"/>
          </a:xfrm>
        </p:grpSpPr>
        <p:cxnSp>
          <p:nvCxnSpPr>
            <p:cNvPr id="7" name="Straight Connector 6"/>
            <p:cNvCxnSpPr>
              <a:stCxn id="5" idx="3"/>
              <a:endCxn id="13" idx="3"/>
            </p:cNvCxnSpPr>
            <p:nvPr/>
          </p:nvCxnSpPr>
          <p:spPr>
            <a:xfrm>
              <a:off x="1763321" y="5040868"/>
              <a:ext cx="540648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4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8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86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343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923480" y="4419600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4419600"/>
                <a:ext cx="32733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245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85800" y="4234934"/>
                <a:ext cx="39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234934"/>
                <a:ext cx="39305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20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4768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Straight Connector 17"/>
          <p:cNvCxnSpPr/>
          <p:nvPr/>
        </p:nvCxnSpPr>
        <p:spPr>
          <a:xfrm flipH="1" flipV="1">
            <a:off x="1678258" y="3629205"/>
            <a:ext cx="1" cy="7025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3"/>
          </p:cNvCxnSpPr>
          <p:nvPr/>
        </p:nvCxnSpPr>
        <p:spPr>
          <a:xfrm>
            <a:off x="1756317" y="3553005"/>
            <a:ext cx="5328424" cy="77872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524000" y="449580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495800"/>
                <a:ext cx="32252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2264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962400" y="3395693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430076" y="312420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76" y="3124200"/>
                <a:ext cx="378630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923480" y="289560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100645" y="2831068"/>
            <a:ext cx="2286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980662" y="1981200"/>
            <a:ext cx="1357162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741922" y="50292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22" y="5029200"/>
                <a:ext cx="2004331" cy="557910"/>
              </a:xfrm>
              <a:prstGeom prst="rect">
                <a:avLst/>
              </a:prstGeom>
              <a:blipFill rotWithShape="1">
                <a:blip r:embed="rId8"/>
                <a:stretch>
                  <a:fillRect t="-8511" r="-6949" b="-223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741922" y="56388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22" y="5638800"/>
                <a:ext cx="2004331" cy="557910"/>
              </a:xfrm>
              <a:prstGeom prst="rect">
                <a:avLst/>
              </a:prstGeom>
              <a:blipFill rotWithShape="1">
                <a:blip r:embed="rId9"/>
                <a:stretch>
                  <a:fillRect t="-8511" r="-6949" b="-223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2438400" y="52578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362200" y="57912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286000" y="4191000"/>
            <a:ext cx="457200" cy="48946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590800" y="381000"/>
                <a:ext cx="3569062" cy="9233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Let us explore the neighborhood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 and exploit the fact that the graph is </a:t>
                </a:r>
                <a:r>
                  <a:rPr lang="en-US" u="sng" dirty="0"/>
                  <a:t>undirected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81000"/>
                <a:ext cx="3569062" cy="923330"/>
              </a:xfrm>
              <a:prstGeom prst="rect">
                <a:avLst/>
              </a:prstGeom>
              <a:blipFill rotWithShape="1">
                <a:blip r:embed="rId10"/>
                <a:stretch>
                  <a:fillRect t="-2614" r="-1704" b="-84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Callout 2 3"/>
          <p:cNvSpPr/>
          <p:nvPr/>
        </p:nvSpPr>
        <p:spPr>
          <a:xfrm>
            <a:off x="6400800" y="3124200"/>
            <a:ext cx="2438400" cy="612648"/>
          </a:xfrm>
          <a:prstGeom prst="borderCallout2">
            <a:avLst>
              <a:gd name="adj1" fmla="val 53333"/>
              <a:gd name="adj2" fmla="val 356"/>
              <a:gd name="adj3" fmla="val 55154"/>
              <a:gd name="adj4" fmla="val -17582"/>
              <a:gd name="adj5" fmla="val 176206"/>
              <a:gd name="adj6" fmla="val -15413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about this neighbor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781800" y="25146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2514600"/>
                <a:ext cx="2004331" cy="557910"/>
              </a:xfrm>
              <a:prstGeom prst="rect">
                <a:avLst/>
              </a:prstGeom>
              <a:blipFill rotWithShape="1">
                <a:blip r:embed="rId11"/>
                <a:stretch>
                  <a:fillRect t="-8602" r="-7273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DE3EEDFA-B120-CFA5-DC0B-AD87665985A7}"/>
              </a:ext>
            </a:extLst>
          </p:cNvPr>
          <p:cNvSpPr/>
          <p:nvPr/>
        </p:nvSpPr>
        <p:spPr>
          <a:xfrm>
            <a:off x="4343400" y="2057400"/>
            <a:ext cx="1912004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17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5" grpId="0"/>
      <p:bldP spid="20" grpId="0"/>
      <p:bldP spid="21" grpId="0"/>
      <p:bldP spid="22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2" grpId="1" animBg="1"/>
      <p:bldP spid="4" grpId="0" animBg="1"/>
      <p:bldP spid="3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A02ED-2221-7E74-4F39-91EFCD0D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87A5-1441-D1EC-B413-B312A459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F7F138-5C89-0A85-FD73-9D280D0A9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dirty="0"/>
                  <a:t>: How to determine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or odd ?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≤</m:t>
                        </m:r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</a:t>
                </a:r>
                <a:r>
                  <a:rPr lang="en-US" sz="2400" dirty="0">
                    <a:sym typeface="Wingdings" pitchFamily="2" charset="2"/>
                  </a:rPr>
                  <a:t>  For each neighbor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endParaRPr lang="en-US" sz="24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odd  </a:t>
                </a:r>
                <a:r>
                  <a:rPr lang="en-US" sz="2400" dirty="0">
                    <a:sym typeface="Wingdings" pitchFamily="2" charset="2"/>
                  </a:rPr>
                  <a:t>   For each neighbor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endParaRPr lang="en-US" sz="2400" b="1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235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573234FC-ED3C-D72C-E618-D028AF9C8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343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894405C-D105-B58D-6CDA-EB504464ED55}"/>
              </a:ext>
            </a:extLst>
          </p:cNvPr>
          <p:cNvGrpSpPr/>
          <p:nvPr/>
        </p:nvGrpSpPr>
        <p:grpSpPr>
          <a:xfrm>
            <a:off x="1763321" y="4343400"/>
            <a:ext cx="5406483" cy="152400"/>
            <a:chOff x="1763321" y="4964668"/>
            <a:chExt cx="5406483" cy="1524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F92C0C4-3D35-2241-D46F-DAC061F88D7C}"/>
                </a:ext>
              </a:extLst>
            </p:cNvPr>
            <p:cNvCxnSpPr>
              <a:stCxn id="5" idx="3"/>
              <a:endCxn id="13" idx="3"/>
            </p:cNvCxnSpPr>
            <p:nvPr/>
          </p:nvCxnSpPr>
          <p:spPr>
            <a:xfrm>
              <a:off x="1763321" y="5040868"/>
              <a:ext cx="540648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0F5C8479-EF89-4847-3185-E5E867EF6F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4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1542774A-706F-0D5E-610C-425E83B0A7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8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FF9678D6-D246-5A80-9321-D5E92B13F0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78EA57E1-6C97-2D07-0B83-AF1F51E651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86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B5B36351-2E7E-4824-08BF-81FAE10EE1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23D687E2-507A-D6D9-E6FC-FC75AE95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343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75A08A-CE21-CE01-4547-3FC60E9F76A1}"/>
                  </a:ext>
                </a:extLst>
              </p:cNvPr>
              <p:cNvSpPr txBox="1"/>
              <p:nvPr/>
            </p:nvSpPr>
            <p:spPr>
              <a:xfrm>
                <a:off x="6923480" y="4419600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4419600"/>
                <a:ext cx="32733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245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AE51FB-BC81-01DF-5E1B-24AC22AD67B6}"/>
                  </a:ext>
                </a:extLst>
              </p:cNvPr>
              <p:cNvSpPr/>
              <p:nvPr/>
            </p:nvSpPr>
            <p:spPr>
              <a:xfrm>
                <a:off x="685800" y="4234934"/>
                <a:ext cx="39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234934"/>
                <a:ext cx="39305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20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>
            <a:extLst>
              <a:ext uri="{FF2B5EF4-FFF2-40B4-BE49-F238E27FC236}">
                <a16:creationId xmlns:a16="http://schemas.microsoft.com/office/drawing/2014/main" id="{669ACFDF-E213-BA22-0376-115C5735B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4768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1CE6B7-5ED2-9D9B-EB9D-AB33541BFCD8}"/>
              </a:ext>
            </a:extLst>
          </p:cNvPr>
          <p:cNvCxnSpPr/>
          <p:nvPr/>
        </p:nvCxnSpPr>
        <p:spPr>
          <a:xfrm flipH="1" flipV="1">
            <a:off x="1678258" y="3629205"/>
            <a:ext cx="1" cy="7025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EB020A-9B8F-6F09-CAE9-9EFB1FA14005}"/>
              </a:ext>
            </a:extLst>
          </p:cNvPr>
          <p:cNvCxnSpPr>
            <a:stCxn id="17" idx="3"/>
          </p:cNvCxnSpPr>
          <p:nvPr/>
        </p:nvCxnSpPr>
        <p:spPr>
          <a:xfrm>
            <a:off x="1756317" y="3553005"/>
            <a:ext cx="5328424" cy="77872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A12AB5A-202E-D029-110E-C324BA1D5AB9}"/>
                  </a:ext>
                </a:extLst>
              </p:cNvPr>
              <p:cNvSpPr txBox="1"/>
              <p:nvPr/>
            </p:nvSpPr>
            <p:spPr>
              <a:xfrm>
                <a:off x="1524000" y="449580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495800"/>
                <a:ext cx="32252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2264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3F7A162-6813-B5D7-35C0-F9135685037C}"/>
              </a:ext>
            </a:extLst>
          </p:cNvPr>
          <p:cNvSpPr txBox="1"/>
          <p:nvPr/>
        </p:nvSpPr>
        <p:spPr>
          <a:xfrm>
            <a:off x="3962400" y="3395693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1A0E0DF-AA3E-9CDC-A5A4-1BAB82233BE0}"/>
                  </a:ext>
                </a:extLst>
              </p:cNvPr>
              <p:cNvSpPr txBox="1"/>
              <p:nvPr/>
            </p:nvSpPr>
            <p:spPr>
              <a:xfrm>
                <a:off x="1430076" y="312420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76" y="3124200"/>
                <a:ext cx="378630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209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C833BE08-5EF7-512E-187B-D3712ECDC518}"/>
              </a:ext>
            </a:extLst>
          </p:cNvPr>
          <p:cNvSpPr/>
          <p:nvPr/>
        </p:nvSpPr>
        <p:spPr>
          <a:xfrm>
            <a:off x="6923480" y="289560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9D79BE-C894-0F75-F095-F4A1CDDD21C5}"/>
              </a:ext>
            </a:extLst>
          </p:cNvPr>
          <p:cNvSpPr/>
          <p:nvPr/>
        </p:nvSpPr>
        <p:spPr>
          <a:xfrm>
            <a:off x="2100645" y="2831068"/>
            <a:ext cx="2286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82E5EF-7458-C5F2-ECF3-F5EA515F9E26}"/>
              </a:ext>
            </a:extLst>
          </p:cNvPr>
          <p:cNvSpPr/>
          <p:nvPr/>
        </p:nvSpPr>
        <p:spPr>
          <a:xfrm>
            <a:off x="2948182" y="2074947"/>
            <a:ext cx="1357162" cy="5206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A50FD11-471C-C2A5-79B1-7E0C51845B94}"/>
                  </a:ext>
                </a:extLst>
              </p:cNvPr>
              <p:cNvSpPr txBox="1"/>
              <p:nvPr/>
            </p:nvSpPr>
            <p:spPr>
              <a:xfrm>
                <a:off x="5741922" y="50292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22" y="5029200"/>
                <a:ext cx="2004331" cy="557910"/>
              </a:xfrm>
              <a:prstGeom prst="rect">
                <a:avLst/>
              </a:prstGeom>
              <a:blipFill rotWithShape="1">
                <a:blip r:embed="rId8"/>
                <a:stretch>
                  <a:fillRect t="-8511" r="-6949" b="-223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9618976-87E9-30F6-0B3B-5229D80A6750}"/>
                  </a:ext>
                </a:extLst>
              </p:cNvPr>
              <p:cNvSpPr txBox="1"/>
              <p:nvPr/>
            </p:nvSpPr>
            <p:spPr>
              <a:xfrm>
                <a:off x="5741922" y="56388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22" y="5638800"/>
                <a:ext cx="2004331" cy="557910"/>
              </a:xfrm>
              <a:prstGeom prst="rect">
                <a:avLst/>
              </a:prstGeom>
              <a:blipFill rotWithShape="1">
                <a:blip r:embed="rId9"/>
                <a:stretch>
                  <a:fillRect t="-8511" r="-6949" b="-223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3054648-F109-BD22-8A54-7B7082597DAF}"/>
              </a:ext>
            </a:extLst>
          </p:cNvPr>
          <p:cNvSpPr/>
          <p:nvPr/>
        </p:nvSpPr>
        <p:spPr>
          <a:xfrm>
            <a:off x="2438400" y="52578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6D88AF-CB02-BF5F-8C47-F526AFF33D94}"/>
              </a:ext>
            </a:extLst>
          </p:cNvPr>
          <p:cNvSpPr/>
          <p:nvPr/>
        </p:nvSpPr>
        <p:spPr>
          <a:xfrm>
            <a:off x="2362200" y="57150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C21223-5FAD-66B1-8632-4738CF969589}"/>
              </a:ext>
            </a:extLst>
          </p:cNvPr>
          <p:cNvSpPr/>
          <p:nvPr/>
        </p:nvSpPr>
        <p:spPr>
          <a:xfrm>
            <a:off x="4343400" y="2055261"/>
            <a:ext cx="1912004" cy="520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D578B0-B4D3-42B4-2320-A48B211DA112}"/>
                  </a:ext>
                </a:extLst>
              </p:cNvPr>
              <p:cNvSpPr txBox="1"/>
              <p:nvPr/>
            </p:nvSpPr>
            <p:spPr>
              <a:xfrm>
                <a:off x="4312493" y="1112942"/>
                <a:ext cx="481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D578B0-B4D3-42B4-2320-A48B211DA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493" y="1112942"/>
                <a:ext cx="48122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D38274-5E33-C9DB-45DB-AFD3124C349B}"/>
                  </a:ext>
                </a:extLst>
              </p:cNvPr>
              <p:cNvSpPr txBox="1"/>
              <p:nvPr/>
            </p:nvSpPr>
            <p:spPr>
              <a:xfrm>
                <a:off x="4312492" y="1110744"/>
                <a:ext cx="481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D38274-5E33-C9DB-45DB-AFD3124C3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492" y="1110744"/>
                <a:ext cx="48122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EF946B-EAEB-BF91-C31B-A443DA603DF3}"/>
                  </a:ext>
                </a:extLst>
              </p:cNvPr>
              <p:cNvSpPr txBox="1"/>
              <p:nvPr/>
            </p:nvSpPr>
            <p:spPr>
              <a:xfrm>
                <a:off x="2590800" y="76200"/>
                <a:ext cx="3569062" cy="92333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Let us explore the neighborhood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 and exploit the fact that the graph is </a:t>
                </a:r>
                <a:r>
                  <a:rPr lang="en-US" u="sng" dirty="0"/>
                  <a:t>undirected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EF946B-EAEB-BF91-C31B-A443DA603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76200"/>
                <a:ext cx="3569062" cy="923330"/>
              </a:xfrm>
              <a:prstGeom prst="rect">
                <a:avLst/>
              </a:prstGeom>
              <a:blipFill>
                <a:blip r:embed="rId12"/>
                <a:stretch>
                  <a:fillRect t="-3268" r="-1874" b="-84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26176A-61DC-B5F5-0441-1430172B9684}"/>
                  </a:ext>
                </a:extLst>
              </p:cNvPr>
              <p:cNvSpPr txBox="1"/>
              <p:nvPr/>
            </p:nvSpPr>
            <p:spPr>
              <a:xfrm>
                <a:off x="3506729" y="2435394"/>
                <a:ext cx="481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026176A-61DC-B5F5-0441-1430172B9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729" y="2435394"/>
                <a:ext cx="48122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13F9FE-220F-624E-774E-618BB59072E3}"/>
                  </a:ext>
                </a:extLst>
              </p:cNvPr>
              <p:cNvSpPr txBox="1"/>
              <p:nvPr/>
            </p:nvSpPr>
            <p:spPr>
              <a:xfrm>
                <a:off x="4353721" y="2417348"/>
                <a:ext cx="481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13F9FE-220F-624E-774E-618BB5907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721" y="2417348"/>
                <a:ext cx="48122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D6B92F-A2A4-91C4-B1DC-6CD613CB5F14}"/>
                  </a:ext>
                </a:extLst>
              </p:cNvPr>
              <p:cNvSpPr txBox="1"/>
              <p:nvPr/>
            </p:nvSpPr>
            <p:spPr>
              <a:xfrm>
                <a:off x="5186745" y="2407207"/>
                <a:ext cx="481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D6B92F-A2A4-91C4-B1DC-6CD613CB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745" y="2407207"/>
                <a:ext cx="48122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577686-0DC8-CB5F-9364-36E93F3FB910}"/>
                  </a:ext>
                </a:extLst>
              </p:cNvPr>
              <p:cNvSpPr txBox="1"/>
              <p:nvPr/>
            </p:nvSpPr>
            <p:spPr>
              <a:xfrm>
                <a:off x="5749560" y="1164620"/>
                <a:ext cx="1052789" cy="3916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577686-0DC8-CB5F-9364-36E93F3FB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560" y="1164620"/>
                <a:ext cx="1052789" cy="391646"/>
              </a:xfrm>
              <a:prstGeom prst="rect">
                <a:avLst/>
              </a:prstGeom>
              <a:blipFill>
                <a:blip r:embed="rId16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6F0B170-CEF8-72AB-3FC7-8BD66278F1B6}"/>
                  </a:ext>
                </a:extLst>
              </p:cNvPr>
              <p:cNvSpPr txBox="1"/>
              <p:nvPr/>
            </p:nvSpPr>
            <p:spPr>
              <a:xfrm>
                <a:off x="5706280" y="2483135"/>
                <a:ext cx="1096069" cy="3916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≥3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6F0B170-CEF8-72AB-3FC7-8BD66278F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280" y="2483135"/>
                <a:ext cx="1096069" cy="391646"/>
              </a:xfrm>
              <a:prstGeom prst="rect">
                <a:avLst/>
              </a:prstGeom>
              <a:blipFill>
                <a:blip r:embed="rId1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B217BE-F3F8-F305-08D6-340276D5EBE8}"/>
                  </a:ext>
                </a:extLst>
              </p:cNvPr>
              <p:cNvSpPr txBox="1"/>
              <p:nvPr/>
            </p:nvSpPr>
            <p:spPr>
              <a:xfrm>
                <a:off x="3477562" y="2448580"/>
                <a:ext cx="481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B217BE-F3F8-F305-08D6-340276D5E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562" y="2448580"/>
                <a:ext cx="48122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1D002F-C47B-F36B-BDA9-7C6EE7C39E71}"/>
                  </a:ext>
                </a:extLst>
              </p:cNvPr>
              <p:cNvSpPr txBox="1"/>
              <p:nvPr/>
            </p:nvSpPr>
            <p:spPr>
              <a:xfrm>
                <a:off x="4324554" y="2430534"/>
                <a:ext cx="481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1D002F-C47B-F36B-BDA9-7C6EE7C39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554" y="2430534"/>
                <a:ext cx="481222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C35F1A-7DF9-9933-3847-59DCB381971E}"/>
                  </a:ext>
                </a:extLst>
              </p:cNvPr>
              <p:cNvSpPr txBox="1"/>
              <p:nvPr/>
            </p:nvSpPr>
            <p:spPr>
              <a:xfrm>
                <a:off x="5157578" y="2420393"/>
                <a:ext cx="4812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FC35F1A-7DF9-9933-3847-59DCB3819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578" y="2420393"/>
                <a:ext cx="481222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1A0D1C-D68F-0B2F-2558-788C5B6EE87D}"/>
                  </a:ext>
                </a:extLst>
              </p:cNvPr>
              <p:cNvSpPr txBox="1"/>
              <p:nvPr/>
            </p:nvSpPr>
            <p:spPr>
              <a:xfrm>
                <a:off x="5717690" y="2487891"/>
                <a:ext cx="1096069" cy="3916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1A0D1C-D68F-0B2F-2558-788C5B6EE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690" y="2487891"/>
                <a:ext cx="1096069" cy="391646"/>
              </a:xfrm>
              <a:prstGeom prst="rect">
                <a:avLst/>
              </a:prstGeom>
              <a:blipFill>
                <a:blip r:embed="rId21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BE47EA6-B7B1-8BC0-8E43-C5582C6B909B}"/>
                  </a:ext>
                </a:extLst>
              </p:cNvPr>
              <p:cNvSpPr txBox="1"/>
              <p:nvPr/>
            </p:nvSpPr>
            <p:spPr>
              <a:xfrm>
                <a:off x="5727919" y="1159864"/>
                <a:ext cx="1052789" cy="3916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BE47EA6-B7B1-8BC0-8E43-C5582C6B9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919" y="1159864"/>
                <a:ext cx="1052789" cy="391646"/>
              </a:xfrm>
              <a:prstGeom prst="rect">
                <a:avLst/>
              </a:prstGeom>
              <a:blipFill>
                <a:blip r:embed="rId2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86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5" grpId="0"/>
      <p:bldP spid="20" grpId="0"/>
      <p:bldP spid="21" grpId="0"/>
      <p:bldP spid="22" grpId="0"/>
      <p:bldP spid="26" grpId="0" animBg="1"/>
      <p:bldP spid="27" grpId="0" animBg="1"/>
      <p:bldP spid="28" grpId="0" animBg="1"/>
      <p:bldP spid="29" grpId="0" animBg="1"/>
      <p:bldP spid="30" grpId="0" animBg="1"/>
      <p:bldP spid="24" grpId="0" animBg="1"/>
      <p:bldP spid="16" grpId="0"/>
      <p:bldP spid="16" grpId="1"/>
      <p:bldP spid="34" grpId="0"/>
      <p:bldP spid="34" grpId="1"/>
      <p:bldP spid="4" grpId="0" animBg="1"/>
      <p:bldP spid="4" grpId="1" animBg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 animBg="1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 animBg="1"/>
      <p:bldP spid="43" grpId="1" animBg="1"/>
      <p:bldP spid="44" grpId="0" animBg="1"/>
      <p:bldP spid="44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FB34E-E1A1-3ECD-68EE-13C2BAB2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B7C1-F655-8BA4-5E74-AD280194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F541D0-3726-7B0E-0494-EA28946A8F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dirty="0"/>
                  <a:t>: How to determine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or odd ?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≤</m:t>
                        </m:r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even </a:t>
                </a:r>
                <a:r>
                  <a:rPr lang="en-US" sz="2400" dirty="0">
                    <a:sym typeface="Wingdings" pitchFamily="2" charset="2"/>
                  </a:rPr>
                  <a:t>  For each neighbor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endParaRPr lang="en-US" sz="24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4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is odd  </a:t>
                </a:r>
                <a:r>
                  <a:rPr lang="en-US" sz="2400" dirty="0">
                    <a:sym typeface="Wingdings" pitchFamily="2" charset="2"/>
                  </a:rPr>
                  <a:t>   For each neighbor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endParaRPr lang="en-US" sz="2400" b="1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>
                <a:blip r:embed="rId2"/>
                <a:stretch>
                  <a:fillRect l="-1235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F4258BBB-7933-AF8F-0B21-E320EA59C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343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21CDFC0-9F39-5265-7B76-2C82EAA68BAE}"/>
              </a:ext>
            </a:extLst>
          </p:cNvPr>
          <p:cNvGrpSpPr/>
          <p:nvPr/>
        </p:nvGrpSpPr>
        <p:grpSpPr>
          <a:xfrm>
            <a:off x="1763321" y="4343400"/>
            <a:ext cx="5406483" cy="152400"/>
            <a:chOff x="1763321" y="4964668"/>
            <a:chExt cx="5406483" cy="1524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2F619D3-606E-7787-EA7C-99C64AAACA13}"/>
                </a:ext>
              </a:extLst>
            </p:cNvPr>
            <p:cNvCxnSpPr>
              <a:stCxn id="5" idx="3"/>
              <a:endCxn id="13" idx="3"/>
            </p:cNvCxnSpPr>
            <p:nvPr/>
          </p:nvCxnSpPr>
          <p:spPr>
            <a:xfrm>
              <a:off x="1763321" y="5040868"/>
              <a:ext cx="540648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5EDECD8A-9860-080A-69DC-49286EC65C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4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AC97A134-085A-3C3D-836D-C431A86F6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804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9967F23B-7978-3E91-875D-21ED1480BD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3ADFDD97-2DD7-06FB-3049-4724EE7ED3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86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43CC85BF-0DFC-8A50-5CC8-C6D141C45B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287" y="4964668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2512C20D-BB39-47EB-6271-57A6CF32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343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2B9188-DF86-2B6A-B637-0EE684E36AC8}"/>
                  </a:ext>
                </a:extLst>
              </p:cNvPr>
              <p:cNvSpPr txBox="1"/>
              <p:nvPr/>
            </p:nvSpPr>
            <p:spPr>
              <a:xfrm>
                <a:off x="6923480" y="4419600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4419600"/>
                <a:ext cx="32733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2452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07D5C4-3266-4B88-1D3D-4D83012ADF4B}"/>
                  </a:ext>
                </a:extLst>
              </p:cNvPr>
              <p:cNvSpPr/>
              <p:nvPr/>
            </p:nvSpPr>
            <p:spPr>
              <a:xfrm>
                <a:off x="685800" y="4234934"/>
                <a:ext cx="3930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234934"/>
                <a:ext cx="39305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20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>
            <a:extLst>
              <a:ext uri="{FF2B5EF4-FFF2-40B4-BE49-F238E27FC236}">
                <a16:creationId xmlns:a16="http://schemas.microsoft.com/office/drawing/2014/main" id="{9D5AA8B3-0766-ACE3-5A61-1F17BA8CE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4768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50DD47-B324-4BA1-ABCB-2454F4EAC3D1}"/>
              </a:ext>
            </a:extLst>
          </p:cNvPr>
          <p:cNvCxnSpPr/>
          <p:nvPr/>
        </p:nvCxnSpPr>
        <p:spPr>
          <a:xfrm flipH="1" flipV="1">
            <a:off x="1678258" y="3629205"/>
            <a:ext cx="1" cy="7025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A837DD-521C-A4C0-FD2C-A52C6261A9F6}"/>
              </a:ext>
            </a:extLst>
          </p:cNvPr>
          <p:cNvCxnSpPr>
            <a:stCxn id="17" idx="3"/>
          </p:cNvCxnSpPr>
          <p:nvPr/>
        </p:nvCxnSpPr>
        <p:spPr>
          <a:xfrm>
            <a:off x="1756317" y="3553005"/>
            <a:ext cx="5328424" cy="778727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F49340-87CE-ECC4-AF4F-42E03C2D7254}"/>
                  </a:ext>
                </a:extLst>
              </p:cNvPr>
              <p:cNvSpPr txBox="1"/>
              <p:nvPr/>
            </p:nvSpPr>
            <p:spPr>
              <a:xfrm>
                <a:off x="1524000" y="4495800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495800"/>
                <a:ext cx="32252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2264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C275606-993F-1C47-ED12-0BCF522C57E3}"/>
                  </a:ext>
                </a:extLst>
              </p:cNvPr>
              <p:cNvSpPr txBox="1"/>
              <p:nvPr/>
            </p:nvSpPr>
            <p:spPr>
              <a:xfrm>
                <a:off x="2342579" y="441960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C275606-993F-1C47-ED12-0BCF522C5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579" y="4419600"/>
                <a:ext cx="3786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E3D18E93-7E1E-B51E-44E5-DD49D93D7780}"/>
              </a:ext>
            </a:extLst>
          </p:cNvPr>
          <p:cNvSpPr/>
          <p:nvPr/>
        </p:nvSpPr>
        <p:spPr>
          <a:xfrm>
            <a:off x="6923480" y="289560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F95586-72FE-23CB-56D5-9721F42BA63A}"/>
              </a:ext>
            </a:extLst>
          </p:cNvPr>
          <p:cNvSpPr/>
          <p:nvPr/>
        </p:nvSpPr>
        <p:spPr>
          <a:xfrm>
            <a:off x="2100645" y="2831068"/>
            <a:ext cx="2286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79C656-B3DE-4068-3AB4-1C441BC396D7}"/>
                  </a:ext>
                </a:extLst>
              </p:cNvPr>
              <p:cNvSpPr txBox="1"/>
              <p:nvPr/>
            </p:nvSpPr>
            <p:spPr>
              <a:xfrm>
                <a:off x="5741922" y="50292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22" y="5029200"/>
                <a:ext cx="2004331" cy="557910"/>
              </a:xfrm>
              <a:prstGeom prst="rect">
                <a:avLst/>
              </a:prstGeom>
              <a:blipFill rotWithShape="1">
                <a:blip r:embed="rId8"/>
                <a:stretch>
                  <a:fillRect t="-8511" r="-6949" b="-223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5C9CF44-6670-431D-B136-52A5927DFA79}"/>
                  </a:ext>
                </a:extLst>
              </p:cNvPr>
              <p:cNvSpPr txBox="1"/>
              <p:nvPr/>
            </p:nvSpPr>
            <p:spPr>
              <a:xfrm>
                <a:off x="5741922" y="56388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22" y="5638800"/>
                <a:ext cx="2004331" cy="557910"/>
              </a:xfrm>
              <a:prstGeom prst="rect">
                <a:avLst/>
              </a:prstGeom>
              <a:blipFill rotWithShape="1">
                <a:blip r:embed="rId9"/>
                <a:stretch>
                  <a:fillRect t="-8511" r="-6949" b="-223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E6C055E4-BA42-0DA4-6EC1-36BE484F12BB}"/>
              </a:ext>
            </a:extLst>
          </p:cNvPr>
          <p:cNvSpPr/>
          <p:nvPr/>
        </p:nvSpPr>
        <p:spPr>
          <a:xfrm>
            <a:off x="2286000" y="4234934"/>
            <a:ext cx="457200" cy="48946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35F7C6-B7B0-FAE3-31CB-43F71C91A527}"/>
                  </a:ext>
                </a:extLst>
              </p:cNvPr>
              <p:cNvSpPr txBox="1"/>
              <p:nvPr/>
            </p:nvSpPr>
            <p:spPr>
              <a:xfrm>
                <a:off x="6781800" y="2514600"/>
                <a:ext cx="2004331" cy="55791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𝑘𝑗</m:t>
                          </m:r>
                        </m:sub>
                      </m:sSub>
                      <m:r>
                        <a:rPr lang="en-US" sz="2800" b="0" i="1" dirty="0" smtClean="0">
                          <a:solidFill>
                            <a:srgbClr val="C00000"/>
                          </a:solidFill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2514600"/>
                <a:ext cx="2004331" cy="557910"/>
              </a:xfrm>
              <a:prstGeom prst="rect">
                <a:avLst/>
              </a:prstGeom>
              <a:blipFill rotWithShape="1">
                <a:blip r:embed="rId11"/>
                <a:stretch>
                  <a:fillRect t="-8602" r="-7273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ine Callout 2 3">
            <a:extLst>
              <a:ext uri="{FF2B5EF4-FFF2-40B4-BE49-F238E27FC236}">
                <a16:creationId xmlns:a16="http://schemas.microsoft.com/office/drawing/2014/main" id="{2FD82B0C-70E3-538E-4F61-EE81A5794C55}"/>
              </a:ext>
            </a:extLst>
          </p:cNvPr>
          <p:cNvSpPr/>
          <p:nvPr/>
        </p:nvSpPr>
        <p:spPr>
          <a:xfrm>
            <a:off x="6400800" y="3124200"/>
            <a:ext cx="2438400" cy="612648"/>
          </a:xfrm>
          <a:prstGeom prst="borderCallout2">
            <a:avLst>
              <a:gd name="adj1" fmla="val 53333"/>
              <a:gd name="adj2" fmla="val 356"/>
              <a:gd name="adj3" fmla="val 55154"/>
              <a:gd name="adj4" fmla="val -17582"/>
              <a:gd name="adj5" fmla="val 176206"/>
              <a:gd name="adj6" fmla="val -15413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about this neighbor ?</a:t>
            </a:r>
          </a:p>
        </p:txBody>
      </p:sp>
    </p:spTree>
    <p:extLst>
      <p:ext uri="{BB962C8B-B14F-4D97-AF65-F5344CB8AC3E}">
        <p14:creationId xmlns:p14="http://schemas.microsoft.com/office/powerpoint/2010/main" val="3385140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8AACB-F8A9-34AD-C089-8171B23C0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F703-6BFC-192F-A82A-4C1EFE75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A78A79-71D9-D67E-ABE7-DFAD0246B9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Theorem</a:t>
                </a:r>
                <a:r>
                  <a:rPr lang="en-US" sz="2000" dirty="0">
                    <a:sym typeface="Wingdings" pitchFamily="2" charset="2"/>
                  </a:rPr>
                  <a:t>: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even,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𝑘𝑗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odd,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AND</a:t>
                </a:r>
                <a:r>
                  <a:rPr lang="en-US" sz="2000" dirty="0"/>
                  <a:t> there exists </a:t>
                </a:r>
                <a:r>
                  <a:rPr lang="en-US" sz="2000" u="sng" dirty="0"/>
                  <a:t>at least </a:t>
                </a:r>
                <a:r>
                  <a:rPr lang="en-US" sz="2000" dirty="0"/>
                  <a:t>one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  <a:blipFill>
                <a:blip r:embed="rId2"/>
                <a:stretch>
                  <a:fillRect l="-772" t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D1061A1-F8D9-C0BB-1C90-380CC1C11962}"/>
              </a:ext>
            </a:extLst>
          </p:cNvPr>
          <p:cNvSpPr/>
          <p:nvPr/>
        </p:nvSpPr>
        <p:spPr>
          <a:xfrm>
            <a:off x="5486400" y="1173957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2D5CA2-009B-C84A-71F9-82179D27B87E}"/>
              </a:ext>
            </a:extLst>
          </p:cNvPr>
          <p:cNvSpPr/>
          <p:nvPr/>
        </p:nvSpPr>
        <p:spPr>
          <a:xfrm>
            <a:off x="2286000" y="1265239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A89A61-C7F8-4422-D321-42FD1D725050}"/>
              </a:ext>
            </a:extLst>
          </p:cNvPr>
          <p:cNvSpPr/>
          <p:nvPr/>
        </p:nvSpPr>
        <p:spPr>
          <a:xfrm>
            <a:off x="5410200" y="19812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41E331-641E-F1D1-4D5E-BE37B50662E2}"/>
              </a:ext>
            </a:extLst>
          </p:cNvPr>
          <p:cNvSpPr/>
          <p:nvPr/>
        </p:nvSpPr>
        <p:spPr>
          <a:xfrm>
            <a:off x="2209800" y="19050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1A2D3A-C5A5-3882-3B1D-74335BDE7781}"/>
              </a:ext>
            </a:extLst>
          </p:cNvPr>
          <p:cNvSpPr/>
          <p:nvPr/>
        </p:nvSpPr>
        <p:spPr>
          <a:xfrm>
            <a:off x="4876800" y="2370138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5E5F12A7-B49C-3BF7-C4E3-57857732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01EC1C-FD2D-9139-D290-9D33723279F4}"/>
                  </a:ext>
                </a:extLst>
              </p:cNvPr>
              <p:cNvSpPr txBox="1"/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93A90-C177-AFE1-968E-70FAC7AF9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>
            <a:extLst>
              <a:ext uri="{FF2B5EF4-FFF2-40B4-BE49-F238E27FC236}">
                <a16:creationId xmlns:a16="http://schemas.microsoft.com/office/drawing/2014/main" id="{25DDF603-2890-DBF5-18E2-0D1BA6ECA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14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67061746-1422-AF15-FA1E-97054559F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83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E206386A-FC7A-1E27-0CC9-72D1442D6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58271D7B-5370-11B7-950B-75CCD2A73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83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4BD16905-A1AD-EF21-A03F-66CDC1CC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00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EFB7477-F366-9A8F-53CD-298BFEB9FD7C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1678259" y="4267200"/>
            <a:ext cx="7004" cy="6974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089E79-8A88-5BD9-0218-192420F984E6}"/>
              </a:ext>
            </a:extLst>
          </p:cNvPr>
          <p:cNvCxnSpPr>
            <a:cxnSpLocks/>
            <a:stCxn id="22" idx="1"/>
            <a:endCxn id="14" idx="3"/>
          </p:cNvCxnSpPr>
          <p:nvPr/>
        </p:nvCxnSpPr>
        <p:spPr>
          <a:xfrm flipH="1">
            <a:off x="1763321" y="4800600"/>
            <a:ext cx="671362" cy="2402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306C2C-9D5F-E132-01D8-F1336EF96518}"/>
              </a:ext>
            </a:extLst>
          </p:cNvPr>
          <p:cNvCxnSpPr>
            <a:cxnSpLocks/>
            <a:stCxn id="23" idx="0"/>
            <a:endCxn id="15" idx="0"/>
          </p:cNvCxnSpPr>
          <p:nvPr/>
        </p:nvCxnSpPr>
        <p:spPr>
          <a:xfrm flipH="1" flipV="1">
            <a:off x="1685262" y="5117068"/>
            <a:ext cx="526397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DD69B27-B552-3D7B-25E0-698010CF77BE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1064942" y="5117068"/>
            <a:ext cx="620321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0E32D89-F7F1-920A-1E59-43E0490426C5}"/>
              </a:ext>
            </a:extLst>
          </p:cNvPr>
          <p:cNvCxnSpPr>
            <a:cxnSpLocks/>
            <a:stCxn id="14" idx="1"/>
            <a:endCxn id="25" idx="3"/>
          </p:cNvCxnSpPr>
          <p:nvPr/>
        </p:nvCxnSpPr>
        <p:spPr>
          <a:xfrm flipH="1" flipV="1">
            <a:off x="765717" y="4876800"/>
            <a:ext cx="841487" cy="1640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4995409-A307-F65D-3C7F-93D3AE09F75C}"/>
                  </a:ext>
                </a:extLst>
              </p:cNvPr>
              <p:cNvSpPr txBox="1"/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16E1A2-09CB-066B-4ED3-A6B546A3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042334F-7533-D6C4-BDF9-79F8768425EB}"/>
                  </a:ext>
                </a:extLst>
              </p:cNvPr>
              <p:cNvSpPr txBox="1"/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45AB29-05EC-06F1-9310-75B95C444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33E28D8-ABB5-AECD-454C-271C5BEF3841}"/>
                  </a:ext>
                </a:extLst>
              </p:cNvPr>
              <p:cNvSpPr txBox="1"/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F1E5ED-0F6B-AB1E-58FD-25393CCC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53A7F94-2595-EF2F-D824-EFE66A691566}"/>
                  </a:ext>
                </a:extLst>
              </p:cNvPr>
              <p:cNvSpPr txBox="1"/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4B5D80-8FBD-F6BE-F64B-D73F3A1AB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FAAB13-B575-EDAC-3A53-5B76DA4EB117}"/>
                  </a:ext>
                </a:extLst>
              </p:cNvPr>
              <p:cNvSpPr txBox="1"/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4187C3C-DAB8-90FB-D17F-24C6CB09E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8ED7CC-A53D-0469-7AEE-379AB0C9FCED}"/>
                  </a:ext>
                </a:extLst>
              </p:cNvPr>
              <p:cNvSpPr txBox="1"/>
              <p:nvPr/>
            </p:nvSpPr>
            <p:spPr>
              <a:xfrm>
                <a:off x="3253297" y="2984095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D2C01A-F932-23CF-6B28-8639CBF88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297" y="2984095"/>
                <a:ext cx="669671" cy="391646"/>
              </a:xfrm>
              <a:prstGeom prst="rect">
                <a:avLst/>
              </a:prstGeom>
              <a:blipFill>
                <a:blip r:embed="rId1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27EF3F9-6521-5BE2-F12E-3A1E6C1D4E4A}"/>
                  </a:ext>
                </a:extLst>
              </p:cNvPr>
              <p:cNvSpPr txBox="1"/>
              <p:nvPr/>
            </p:nvSpPr>
            <p:spPr>
              <a:xfrm>
                <a:off x="3276600" y="3338179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578EF1-AD99-4130-B4F5-303C91459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338179"/>
                <a:ext cx="664861" cy="391646"/>
              </a:xfrm>
              <a:prstGeom prst="rect">
                <a:avLst/>
              </a:prstGeom>
              <a:blipFill>
                <a:blip r:embed="rId1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F5F618C-30D1-99DC-515D-57C163310F41}"/>
                  </a:ext>
                </a:extLst>
              </p:cNvPr>
              <p:cNvSpPr txBox="1"/>
              <p:nvPr/>
            </p:nvSpPr>
            <p:spPr>
              <a:xfrm>
                <a:off x="3276600" y="3719179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CEB992-AAF3-C843-7200-E07AF096E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719179"/>
                <a:ext cx="669671" cy="391646"/>
              </a:xfrm>
              <a:prstGeom prst="rect">
                <a:avLst/>
              </a:prstGeom>
              <a:blipFill>
                <a:blip r:embed="rId12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136C08C-7139-8321-3E34-E438A8D99881}"/>
                  </a:ext>
                </a:extLst>
              </p:cNvPr>
              <p:cNvSpPr txBox="1"/>
              <p:nvPr/>
            </p:nvSpPr>
            <p:spPr>
              <a:xfrm>
                <a:off x="3276600" y="4100179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21EF303-7106-7005-8168-6E1058659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100179"/>
                <a:ext cx="664861" cy="391646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EEE6B85-1855-078A-F433-65BDB03F9D08}"/>
                  </a:ext>
                </a:extLst>
              </p:cNvPr>
              <p:cNvSpPr txBox="1"/>
              <p:nvPr/>
            </p:nvSpPr>
            <p:spPr>
              <a:xfrm>
                <a:off x="3276600" y="4481179"/>
                <a:ext cx="65364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1FD04A-B047-6EBA-AD5D-5E5556C56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481179"/>
                <a:ext cx="653640" cy="391646"/>
              </a:xfrm>
              <a:prstGeom prst="rect">
                <a:avLst/>
              </a:prstGeom>
              <a:blipFill>
                <a:blip r:embed="rId1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53BA62-DDDB-0158-DE7B-E5AB5B17BFAD}"/>
                  </a:ext>
                </a:extLst>
              </p:cNvPr>
              <p:cNvSpPr txBox="1"/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C71BB92-ECB0-D471-B514-5730FF9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A470411-6297-8EF2-01DF-4F2987CCE372}"/>
                  </a:ext>
                </a:extLst>
              </p:cNvPr>
              <p:cNvSpPr txBox="1"/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EC9FAE-CC68-7CF4-9FCB-7F0B06D4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blipFill>
                <a:blip r:embed="rId1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D374FF2-5AE3-D246-ABB7-9BB5E832A922}"/>
                  </a:ext>
                </a:extLst>
              </p:cNvPr>
              <p:cNvSpPr txBox="1"/>
              <p:nvPr/>
            </p:nvSpPr>
            <p:spPr>
              <a:xfrm>
                <a:off x="3806581" y="32779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E56A27-B799-D26D-4B53-14B44D35E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3277933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9674E8E-FF04-D39B-404C-4E8A0CF8DF4C}"/>
                  </a:ext>
                </a:extLst>
              </p:cNvPr>
              <p:cNvSpPr txBox="1"/>
              <p:nvPr/>
            </p:nvSpPr>
            <p:spPr>
              <a:xfrm>
                <a:off x="4040405" y="3261979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ED7B85E-E19F-CC3B-C913-96FE8C0C7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405" y="3261979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C664265-42F6-04F7-E8FB-1DBB95B81C8C}"/>
                  </a:ext>
                </a:extLst>
              </p:cNvPr>
              <p:cNvSpPr txBox="1"/>
              <p:nvPr/>
            </p:nvSpPr>
            <p:spPr>
              <a:xfrm>
                <a:off x="3780310" y="36589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697AF3-148E-3EB7-CD03-0F01A5B88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0" y="3658933"/>
                <a:ext cx="41069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3C5A0ED-8C09-2634-6C82-8D01753513A5}"/>
                  </a:ext>
                </a:extLst>
              </p:cNvPr>
              <p:cNvSpPr txBox="1"/>
              <p:nvPr/>
            </p:nvSpPr>
            <p:spPr>
              <a:xfrm>
                <a:off x="4040405" y="3642979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1DFC77-982E-5FE7-5A83-ED273B3C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405" y="3642979"/>
                <a:ext cx="607795" cy="395621"/>
              </a:xfrm>
              <a:prstGeom prst="rect">
                <a:avLst/>
              </a:prstGeom>
              <a:blipFill>
                <a:blip r:embed="rId2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2FBD85E-B84D-7CBB-21B3-CB0C11B3B8BE}"/>
                  </a:ext>
                </a:extLst>
              </p:cNvPr>
              <p:cNvSpPr txBox="1"/>
              <p:nvPr/>
            </p:nvSpPr>
            <p:spPr>
              <a:xfrm>
                <a:off x="3806581" y="41161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3D2E1E-5C61-D0B2-FBCB-3B9B4A70B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4116133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F4723BF-74AA-4CC3-A423-069E41BBBE1C}"/>
                  </a:ext>
                </a:extLst>
              </p:cNvPr>
              <p:cNvSpPr txBox="1"/>
              <p:nvPr/>
            </p:nvSpPr>
            <p:spPr>
              <a:xfrm>
                <a:off x="4040405" y="4100179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ABB063-1148-F199-5475-4149CB6F6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405" y="4100179"/>
                <a:ext cx="607795" cy="395621"/>
              </a:xfrm>
              <a:prstGeom prst="rect">
                <a:avLst/>
              </a:prstGeom>
              <a:blipFill>
                <a:blip r:embed="rId2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1CC4240-1287-8EA0-501A-AE59643C8E05}"/>
                  </a:ext>
                </a:extLst>
              </p:cNvPr>
              <p:cNvSpPr txBox="1"/>
              <p:nvPr/>
            </p:nvSpPr>
            <p:spPr>
              <a:xfrm>
                <a:off x="3806581" y="44971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B21286E-B200-5B18-7D60-E434E1D7A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4497133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D42BBC4-E903-7BE3-CDF5-4C02B3D7DB73}"/>
                  </a:ext>
                </a:extLst>
              </p:cNvPr>
              <p:cNvSpPr txBox="1"/>
              <p:nvPr/>
            </p:nvSpPr>
            <p:spPr>
              <a:xfrm>
                <a:off x="4040405" y="4481179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C14F677-B981-55C0-08A7-4665552FF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405" y="4481179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">
            <a:extLst>
              <a:ext uri="{FF2B5EF4-FFF2-40B4-BE49-F238E27FC236}">
                <a16:creationId xmlns:a16="http://schemas.microsoft.com/office/drawing/2014/main" id="{0DB92FCE-E5AA-26C0-0932-6CB35DADC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750B38-9617-3AC9-50BC-B03DBAD2D0CB}"/>
                  </a:ext>
                </a:extLst>
              </p:cNvPr>
              <p:cNvSpPr txBox="1"/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CD5455-8175-3774-F60F-1380B9FD6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blipFill>
                <a:blip r:embed="rId2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27DF1CE-BEA9-0CCA-9995-C5DCA29543DE}"/>
              </a:ext>
            </a:extLst>
          </p:cNvPr>
          <p:cNvSpPr/>
          <p:nvPr/>
        </p:nvSpPr>
        <p:spPr>
          <a:xfrm>
            <a:off x="838200" y="1233175"/>
            <a:ext cx="1487765" cy="39164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loud Callout 3">
                <a:extLst>
                  <a:ext uri="{FF2B5EF4-FFF2-40B4-BE49-F238E27FC236}">
                    <a16:creationId xmlns:a16="http://schemas.microsoft.com/office/drawing/2014/main" id="{11DA3DF5-2E75-6F58-C8C4-D22BB8CC76B8}"/>
                  </a:ext>
                </a:extLst>
              </p:cNvPr>
              <p:cNvSpPr/>
              <p:nvPr/>
            </p:nvSpPr>
            <p:spPr>
              <a:xfrm>
                <a:off x="609600" y="2781300"/>
                <a:ext cx="4343400" cy="14478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to determine whether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is </a:t>
                </a:r>
                <a:r>
                  <a:rPr lang="en-US" b="1" dirty="0">
                    <a:solidFill>
                      <a:schemeClr val="tx1"/>
                    </a:solidFill>
                  </a:rPr>
                  <a:t>even</a:t>
                </a:r>
                <a:r>
                  <a:rPr lang="en-US" dirty="0">
                    <a:solidFill>
                      <a:schemeClr val="tx1"/>
                    </a:solidFill>
                  </a:rPr>
                  <a:t> or </a:t>
                </a:r>
                <a:r>
                  <a:rPr lang="en-US" b="1" dirty="0">
                    <a:solidFill>
                      <a:schemeClr val="tx1"/>
                    </a:solidFill>
                  </a:rPr>
                  <a:t>odd</a:t>
                </a:r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>
          <p:sp>
            <p:nvSpPr>
              <p:cNvPr id="4" name="Cloud Callout 3">
                <a:extLst>
                  <a:ext uri="{FF2B5EF4-FFF2-40B4-BE49-F238E27FC236}">
                    <a16:creationId xmlns:a16="http://schemas.microsoft.com/office/drawing/2014/main" id="{11DA3DF5-2E75-6F58-C8C4-D22BB8CC76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781300"/>
                <a:ext cx="4343400" cy="1447800"/>
              </a:xfrm>
              <a:prstGeom prst="cloudCallou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22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7" grpId="0" animBg="1"/>
      <p:bldP spid="18" grpId="0" animBg="1"/>
      <p:bldP spid="19" grpId="0" animBg="1"/>
      <p:bldP spid="20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29" grpId="0" animBg="1"/>
      <p:bldP spid="4" grpId="0" animBg="1"/>
      <p:bldP spid="4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Theorem</a:t>
                </a:r>
                <a:r>
                  <a:rPr lang="en-US" sz="2000" dirty="0">
                    <a:sym typeface="Wingdings" pitchFamily="2" charset="2"/>
                  </a:rPr>
                  <a:t>: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even,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𝑘𝑗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odd,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AND</a:t>
                </a:r>
                <a:r>
                  <a:rPr lang="en-US" sz="2000" dirty="0"/>
                  <a:t> there exists </a:t>
                </a:r>
                <a:r>
                  <a:rPr lang="en-US" sz="2000" u="sng" dirty="0"/>
                  <a:t>at least </a:t>
                </a:r>
                <a:r>
                  <a:rPr lang="en-US" sz="2000" dirty="0"/>
                  <a:t>one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  <a:blipFill>
                <a:blip r:embed="rId2"/>
                <a:stretch>
                  <a:fillRect l="-772" t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0784CF79-99B6-BE12-0911-3FCE760DA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93A90-C177-AFE1-968E-70FAC7AF9DF1}"/>
                  </a:ext>
                </a:extLst>
              </p:cNvPr>
              <p:cNvSpPr txBox="1"/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93A90-C177-AFE1-968E-70FAC7AF9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>
            <a:extLst>
              <a:ext uri="{FF2B5EF4-FFF2-40B4-BE49-F238E27FC236}">
                <a16:creationId xmlns:a16="http://schemas.microsoft.com/office/drawing/2014/main" id="{42D66C45-837D-8D94-362D-41470D51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14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77DB7C44-9BC2-8320-86AE-ACA72E6A2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83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A36547C2-19A9-1CF6-4B56-C725CE9C5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EE47987B-CF10-67C2-7D3D-2F03B51BF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83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7DA71269-6069-EA3D-A552-ED752B5D6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00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1D48D5F-4FB9-BDE4-A37B-12E9DADC5BF0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1678259" y="4267200"/>
            <a:ext cx="7004" cy="6974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0EE0F9-C8E3-2631-5954-F5A30A693FA3}"/>
              </a:ext>
            </a:extLst>
          </p:cNvPr>
          <p:cNvCxnSpPr>
            <a:cxnSpLocks/>
            <a:stCxn id="22" idx="1"/>
            <a:endCxn id="14" idx="3"/>
          </p:cNvCxnSpPr>
          <p:nvPr/>
        </p:nvCxnSpPr>
        <p:spPr>
          <a:xfrm flipH="1">
            <a:off x="1763321" y="4800600"/>
            <a:ext cx="671362" cy="2402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C90605C-3096-A5B4-947C-8523F4F18D5A}"/>
              </a:ext>
            </a:extLst>
          </p:cNvPr>
          <p:cNvCxnSpPr>
            <a:cxnSpLocks/>
            <a:stCxn id="23" idx="0"/>
            <a:endCxn id="15" idx="0"/>
          </p:cNvCxnSpPr>
          <p:nvPr/>
        </p:nvCxnSpPr>
        <p:spPr>
          <a:xfrm flipH="1" flipV="1">
            <a:off x="1685262" y="5117068"/>
            <a:ext cx="526397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B287FB-DCC0-2F32-23A9-5F5BCBD8E51C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1064942" y="5117068"/>
            <a:ext cx="620321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E106570-A719-FF9F-DA79-DFA7AFBA4DF3}"/>
              </a:ext>
            </a:extLst>
          </p:cNvPr>
          <p:cNvCxnSpPr>
            <a:cxnSpLocks/>
            <a:stCxn id="14" idx="1"/>
            <a:endCxn id="25" idx="3"/>
          </p:cNvCxnSpPr>
          <p:nvPr/>
        </p:nvCxnSpPr>
        <p:spPr>
          <a:xfrm flipH="1" flipV="1">
            <a:off x="765717" y="4876800"/>
            <a:ext cx="841487" cy="1640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16E1A2-09CB-066B-4ED3-A6B546A3CC6F}"/>
                  </a:ext>
                </a:extLst>
              </p:cNvPr>
              <p:cNvSpPr txBox="1"/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16E1A2-09CB-066B-4ED3-A6B546A3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45AB29-05EC-06F1-9310-75B95C444819}"/>
                  </a:ext>
                </a:extLst>
              </p:cNvPr>
              <p:cNvSpPr txBox="1"/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45AB29-05EC-06F1-9310-75B95C444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F1E5ED-0F6B-AB1E-58FD-25393CCC07E2}"/>
                  </a:ext>
                </a:extLst>
              </p:cNvPr>
              <p:cNvSpPr txBox="1"/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F1E5ED-0F6B-AB1E-58FD-25393CCC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4B5D80-8FBD-F6BE-F64B-D73F3A1ABC20}"/>
                  </a:ext>
                </a:extLst>
              </p:cNvPr>
              <p:cNvSpPr txBox="1"/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4B5D80-8FBD-F6BE-F64B-D73F3A1AB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4187C3C-DAB8-90FB-D17F-24C6CB09EFB3}"/>
                  </a:ext>
                </a:extLst>
              </p:cNvPr>
              <p:cNvSpPr txBox="1"/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4187C3C-DAB8-90FB-D17F-24C6CB09E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D2C01A-F932-23CF-6B28-8639CBF88B3E}"/>
                  </a:ext>
                </a:extLst>
              </p:cNvPr>
              <p:cNvSpPr txBox="1"/>
              <p:nvPr/>
            </p:nvSpPr>
            <p:spPr>
              <a:xfrm>
                <a:off x="838200" y="297262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D2C01A-F932-23CF-6B28-8639CBF88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72624"/>
                <a:ext cx="669671" cy="391646"/>
              </a:xfrm>
              <a:prstGeom prst="rect">
                <a:avLst/>
              </a:prstGeom>
              <a:blipFill>
                <a:blip r:embed="rId1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578EF1-AD99-4130-B4F5-303C91459C64}"/>
                  </a:ext>
                </a:extLst>
              </p:cNvPr>
              <p:cNvSpPr txBox="1"/>
              <p:nvPr/>
            </p:nvSpPr>
            <p:spPr>
              <a:xfrm>
                <a:off x="1469255" y="297262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578EF1-AD99-4130-B4F5-303C91459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255" y="2972624"/>
                <a:ext cx="664861" cy="391646"/>
              </a:xfrm>
              <a:prstGeom prst="rect">
                <a:avLst/>
              </a:prstGeom>
              <a:blipFill>
                <a:blip r:embed="rId1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CEB992-AAF3-C843-7200-E07AF096EC10}"/>
                  </a:ext>
                </a:extLst>
              </p:cNvPr>
              <p:cNvSpPr txBox="1"/>
              <p:nvPr/>
            </p:nvSpPr>
            <p:spPr>
              <a:xfrm>
                <a:off x="2095500" y="297262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CEB992-AAF3-C843-7200-E07AF096E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2972624"/>
                <a:ext cx="669671" cy="391646"/>
              </a:xfrm>
              <a:prstGeom prst="rect">
                <a:avLst/>
              </a:prstGeom>
              <a:blipFill>
                <a:blip r:embed="rId1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21EF303-7106-7005-8168-6E1058659319}"/>
                  </a:ext>
                </a:extLst>
              </p:cNvPr>
              <p:cNvSpPr txBox="1"/>
              <p:nvPr/>
            </p:nvSpPr>
            <p:spPr>
              <a:xfrm>
                <a:off x="2726555" y="297262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21EF303-7106-7005-8168-6E1058659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555" y="2972624"/>
                <a:ext cx="664861" cy="391646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1FD04A-B047-6EBA-AD5D-5E5556C56781}"/>
                  </a:ext>
                </a:extLst>
              </p:cNvPr>
              <p:cNvSpPr txBox="1"/>
              <p:nvPr/>
            </p:nvSpPr>
            <p:spPr>
              <a:xfrm>
                <a:off x="3352800" y="2972624"/>
                <a:ext cx="65364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1FD04A-B047-6EBA-AD5D-5E5556C56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972624"/>
                <a:ext cx="653640" cy="391646"/>
              </a:xfrm>
              <a:prstGeom prst="rect">
                <a:avLst/>
              </a:prstGeom>
              <a:blipFill>
                <a:blip r:embed="rId1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C71BB92-ECB0-D471-B514-5730FF958745}"/>
                  </a:ext>
                </a:extLst>
              </p:cNvPr>
              <p:cNvSpPr txBox="1"/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C71BB92-ECB0-D471-B514-5730FF9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EC9FAE-CC68-7CF4-9FCB-7F0B06D47899}"/>
                  </a:ext>
                </a:extLst>
              </p:cNvPr>
              <p:cNvSpPr txBox="1"/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EC9FAE-CC68-7CF4-9FCB-7F0B06D4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blipFill>
                <a:blip r:embed="rId1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E56A27-B799-D26D-4B53-14B44D35E25F}"/>
                  </a:ext>
                </a:extLst>
              </p:cNvPr>
              <p:cNvSpPr txBox="1"/>
              <p:nvPr/>
            </p:nvSpPr>
            <p:spPr>
              <a:xfrm>
                <a:off x="3806581" y="32779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E56A27-B799-D26D-4B53-14B44D35E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3277933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ED7B85E-E19F-CC3B-C913-96FE8C0C7E0E}"/>
                  </a:ext>
                </a:extLst>
              </p:cNvPr>
              <p:cNvSpPr txBox="1"/>
              <p:nvPr/>
            </p:nvSpPr>
            <p:spPr>
              <a:xfrm>
                <a:off x="46482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ED7B85E-E19F-CC3B-C913-96FE8C0C7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2971800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697AF3-148E-3EB7-CD03-0F01A5B88C5D}"/>
                  </a:ext>
                </a:extLst>
              </p:cNvPr>
              <p:cNvSpPr txBox="1"/>
              <p:nvPr/>
            </p:nvSpPr>
            <p:spPr>
              <a:xfrm>
                <a:off x="3780310" y="36589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697AF3-148E-3EB7-CD03-0F01A5B88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0" y="3658933"/>
                <a:ext cx="41069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1DFC77-982E-5FE7-5A83-ED273B3C5210}"/>
                  </a:ext>
                </a:extLst>
              </p:cNvPr>
              <p:cNvSpPr txBox="1"/>
              <p:nvPr/>
            </p:nvSpPr>
            <p:spPr>
              <a:xfrm>
                <a:off x="53340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1DFC77-982E-5FE7-5A83-ED273B3C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971800"/>
                <a:ext cx="607795" cy="395621"/>
              </a:xfrm>
              <a:prstGeom prst="rect">
                <a:avLst/>
              </a:prstGeom>
              <a:blipFill>
                <a:blip r:embed="rId2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3D2E1E-5C61-D0B2-FBCB-3B9B4A70B5CF}"/>
                  </a:ext>
                </a:extLst>
              </p:cNvPr>
              <p:cNvSpPr txBox="1"/>
              <p:nvPr/>
            </p:nvSpPr>
            <p:spPr>
              <a:xfrm>
                <a:off x="3806581" y="41161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3D2E1E-5C61-D0B2-FBCB-3B9B4A70B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4116133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ABB063-1148-F199-5475-4149CB6F6A52}"/>
                  </a:ext>
                </a:extLst>
              </p:cNvPr>
              <p:cNvSpPr txBox="1"/>
              <p:nvPr/>
            </p:nvSpPr>
            <p:spPr>
              <a:xfrm>
                <a:off x="6021605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ABB063-1148-F199-5475-4149CB6F6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605" y="2971800"/>
                <a:ext cx="607795" cy="395621"/>
              </a:xfrm>
              <a:prstGeom prst="rect">
                <a:avLst/>
              </a:prstGeom>
              <a:blipFill>
                <a:blip r:embed="rId2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B21286E-B200-5B18-7D60-E434E1D7A279}"/>
                  </a:ext>
                </a:extLst>
              </p:cNvPr>
              <p:cNvSpPr txBox="1"/>
              <p:nvPr/>
            </p:nvSpPr>
            <p:spPr>
              <a:xfrm>
                <a:off x="3806581" y="449713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B21286E-B200-5B18-7D60-E434E1D7A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4497133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C14F677-B981-55C0-08A7-4665552FF02A}"/>
                  </a:ext>
                </a:extLst>
              </p:cNvPr>
              <p:cNvSpPr txBox="1"/>
              <p:nvPr/>
            </p:nvSpPr>
            <p:spPr>
              <a:xfrm>
                <a:off x="67056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C14F677-B981-55C0-08A7-4665552FF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971800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">
            <a:extLst>
              <a:ext uri="{FF2B5EF4-FFF2-40B4-BE49-F238E27FC236}">
                <a16:creationId xmlns:a16="http://schemas.microsoft.com/office/drawing/2014/main" id="{E9180526-CA9B-CC1A-7CA5-CC231A9C9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CD5455-8175-3774-F60F-1380B9FD6056}"/>
                  </a:ext>
                </a:extLst>
              </p:cNvPr>
              <p:cNvSpPr txBox="1"/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CD5455-8175-3774-F60F-1380B9FD6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blipFill>
                <a:blip r:embed="rId2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0371FD-229F-F04A-B303-F126639B14F1}"/>
                  </a:ext>
                </a:extLst>
              </p:cNvPr>
              <p:cNvSpPr txBox="1"/>
              <p:nvPr/>
            </p:nvSpPr>
            <p:spPr>
              <a:xfrm>
                <a:off x="1295400" y="2971800"/>
                <a:ext cx="5623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+        +       +                     +        +          +         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0371FD-229F-F04A-B303-F126639B1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971800"/>
                <a:ext cx="5623655" cy="369332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94CF5FD-28D5-E858-4B18-A7CA9651A5F3}"/>
              </a:ext>
            </a:extLst>
          </p:cNvPr>
          <p:cNvSpPr/>
          <p:nvPr/>
        </p:nvSpPr>
        <p:spPr>
          <a:xfrm>
            <a:off x="4509950" y="2971800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EBBA1C-EEC9-20F6-A4D6-5742DA537F1B}"/>
                  </a:ext>
                </a:extLst>
              </p:cNvPr>
              <p:cNvSpPr txBox="1"/>
              <p:nvPr/>
            </p:nvSpPr>
            <p:spPr>
              <a:xfrm>
                <a:off x="4460221" y="2971800"/>
                <a:ext cx="973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deg(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EBBA1C-EEC9-20F6-A4D6-5742DA537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221" y="2971800"/>
                <a:ext cx="973343" cy="369332"/>
              </a:xfrm>
              <a:prstGeom prst="rect">
                <a:avLst/>
              </a:prstGeom>
              <a:blipFill>
                <a:blip r:embed="rId24"/>
                <a:stretch>
                  <a:fillRect t="-10000" r="-519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398A042-CE19-111B-67FD-E24FBD7EF3B2}"/>
              </a:ext>
            </a:extLst>
          </p:cNvPr>
          <p:cNvSpPr/>
          <p:nvPr/>
        </p:nvSpPr>
        <p:spPr>
          <a:xfrm>
            <a:off x="838200" y="1233175"/>
            <a:ext cx="1487765" cy="39164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1907B3-0B3F-D3A7-6304-67CE93E1C767}"/>
              </a:ext>
            </a:extLst>
          </p:cNvPr>
          <p:cNvSpPr/>
          <p:nvPr/>
        </p:nvSpPr>
        <p:spPr>
          <a:xfrm>
            <a:off x="762000" y="1970554"/>
            <a:ext cx="1487765" cy="39164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1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58" grpId="0"/>
      <p:bldP spid="60" grpId="0"/>
      <p:bldP spid="4" grpId="0"/>
      <p:bldP spid="5" grpId="0" animBg="1"/>
      <p:bldP spid="8" grpId="0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Theorem</a:t>
                </a:r>
                <a:r>
                  <a:rPr lang="en-US" sz="2000" dirty="0">
                    <a:sym typeface="Wingdings" pitchFamily="2" charset="2"/>
                  </a:rPr>
                  <a:t>: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even,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𝑘𝑗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odd,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AND</a:t>
                </a:r>
                <a:r>
                  <a:rPr lang="en-US" sz="2000" dirty="0"/>
                  <a:t> there exists </a:t>
                </a:r>
                <a:r>
                  <a:rPr lang="en-US" sz="2000" u="sng" dirty="0"/>
                  <a:t>at least </a:t>
                </a:r>
                <a:r>
                  <a:rPr lang="en-US" sz="2000" dirty="0"/>
                  <a:t>one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  <a:blipFill>
                <a:blip r:embed="rId2"/>
                <a:stretch>
                  <a:fillRect l="-772" t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0784CF79-99B6-BE12-0911-3FCE760DA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93A90-C177-AFE1-968E-70FAC7AF9DF1}"/>
                  </a:ext>
                </a:extLst>
              </p:cNvPr>
              <p:cNvSpPr txBox="1"/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93A90-C177-AFE1-968E-70FAC7AF9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>
            <a:extLst>
              <a:ext uri="{FF2B5EF4-FFF2-40B4-BE49-F238E27FC236}">
                <a16:creationId xmlns:a16="http://schemas.microsoft.com/office/drawing/2014/main" id="{42D66C45-837D-8D94-362D-41470D51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14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77DB7C44-9BC2-8320-86AE-ACA72E6A2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83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A36547C2-19A9-1CF6-4B56-C725CE9C5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EE47987B-CF10-67C2-7D3D-2F03B51BF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83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7DA71269-6069-EA3D-A552-ED752B5D6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00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1D48D5F-4FB9-BDE4-A37B-12E9DADC5BF0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1678259" y="4267200"/>
            <a:ext cx="7004" cy="6974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0EE0F9-C8E3-2631-5954-F5A30A693FA3}"/>
              </a:ext>
            </a:extLst>
          </p:cNvPr>
          <p:cNvCxnSpPr>
            <a:cxnSpLocks/>
            <a:stCxn id="22" idx="1"/>
            <a:endCxn id="14" idx="3"/>
          </p:cNvCxnSpPr>
          <p:nvPr/>
        </p:nvCxnSpPr>
        <p:spPr>
          <a:xfrm flipH="1">
            <a:off x="1763321" y="4800600"/>
            <a:ext cx="671362" cy="2402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C90605C-3096-A5B4-947C-8523F4F18D5A}"/>
              </a:ext>
            </a:extLst>
          </p:cNvPr>
          <p:cNvCxnSpPr>
            <a:cxnSpLocks/>
            <a:stCxn id="23" idx="0"/>
            <a:endCxn id="15" idx="0"/>
          </p:cNvCxnSpPr>
          <p:nvPr/>
        </p:nvCxnSpPr>
        <p:spPr>
          <a:xfrm flipH="1" flipV="1">
            <a:off x="1685262" y="5117068"/>
            <a:ext cx="526397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B287FB-DCC0-2F32-23A9-5F5BCBD8E51C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1064942" y="5117068"/>
            <a:ext cx="620321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E106570-A719-FF9F-DA79-DFA7AFBA4DF3}"/>
              </a:ext>
            </a:extLst>
          </p:cNvPr>
          <p:cNvCxnSpPr>
            <a:cxnSpLocks/>
            <a:stCxn id="14" idx="1"/>
            <a:endCxn id="25" idx="3"/>
          </p:cNvCxnSpPr>
          <p:nvPr/>
        </p:nvCxnSpPr>
        <p:spPr>
          <a:xfrm flipH="1" flipV="1">
            <a:off x="765717" y="4876800"/>
            <a:ext cx="841487" cy="1640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16E1A2-09CB-066B-4ED3-A6B546A3CC6F}"/>
                  </a:ext>
                </a:extLst>
              </p:cNvPr>
              <p:cNvSpPr txBox="1"/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16E1A2-09CB-066B-4ED3-A6B546A3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45AB29-05EC-06F1-9310-75B95C444819}"/>
                  </a:ext>
                </a:extLst>
              </p:cNvPr>
              <p:cNvSpPr txBox="1"/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45AB29-05EC-06F1-9310-75B95C444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F1E5ED-0F6B-AB1E-58FD-25393CCC07E2}"/>
                  </a:ext>
                </a:extLst>
              </p:cNvPr>
              <p:cNvSpPr txBox="1"/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F1E5ED-0F6B-AB1E-58FD-25393CCC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4B5D80-8FBD-F6BE-F64B-D73F3A1ABC20}"/>
                  </a:ext>
                </a:extLst>
              </p:cNvPr>
              <p:cNvSpPr txBox="1"/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4B5D80-8FBD-F6BE-F64B-D73F3A1AB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4187C3C-DAB8-90FB-D17F-24C6CB09EFB3}"/>
                  </a:ext>
                </a:extLst>
              </p:cNvPr>
              <p:cNvSpPr txBox="1"/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4187C3C-DAB8-90FB-D17F-24C6CB09E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D2C01A-F932-23CF-6B28-8639CBF88B3E}"/>
                  </a:ext>
                </a:extLst>
              </p:cNvPr>
              <p:cNvSpPr txBox="1"/>
              <p:nvPr/>
            </p:nvSpPr>
            <p:spPr>
              <a:xfrm>
                <a:off x="838200" y="297262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D2C01A-F932-23CF-6B28-8639CBF88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72624"/>
                <a:ext cx="669671" cy="391646"/>
              </a:xfrm>
              <a:prstGeom prst="rect">
                <a:avLst/>
              </a:prstGeom>
              <a:blipFill>
                <a:blip r:embed="rId1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578EF1-AD99-4130-B4F5-303C91459C64}"/>
                  </a:ext>
                </a:extLst>
              </p:cNvPr>
              <p:cNvSpPr txBox="1"/>
              <p:nvPr/>
            </p:nvSpPr>
            <p:spPr>
              <a:xfrm>
                <a:off x="1469255" y="297262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578EF1-AD99-4130-B4F5-303C91459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255" y="2972624"/>
                <a:ext cx="664861" cy="391646"/>
              </a:xfrm>
              <a:prstGeom prst="rect">
                <a:avLst/>
              </a:prstGeom>
              <a:blipFill>
                <a:blip r:embed="rId1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CEB992-AAF3-C843-7200-E07AF096EC10}"/>
                  </a:ext>
                </a:extLst>
              </p:cNvPr>
              <p:cNvSpPr txBox="1"/>
              <p:nvPr/>
            </p:nvSpPr>
            <p:spPr>
              <a:xfrm>
                <a:off x="2095500" y="297262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CEB992-AAF3-C843-7200-E07AF096E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2972624"/>
                <a:ext cx="669671" cy="391646"/>
              </a:xfrm>
              <a:prstGeom prst="rect">
                <a:avLst/>
              </a:prstGeom>
              <a:blipFill>
                <a:blip r:embed="rId1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21EF303-7106-7005-8168-6E1058659319}"/>
                  </a:ext>
                </a:extLst>
              </p:cNvPr>
              <p:cNvSpPr txBox="1"/>
              <p:nvPr/>
            </p:nvSpPr>
            <p:spPr>
              <a:xfrm>
                <a:off x="2726555" y="297262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21EF303-7106-7005-8168-6E1058659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555" y="2972624"/>
                <a:ext cx="664861" cy="391646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1FD04A-B047-6EBA-AD5D-5E5556C56781}"/>
                  </a:ext>
                </a:extLst>
              </p:cNvPr>
              <p:cNvSpPr txBox="1"/>
              <p:nvPr/>
            </p:nvSpPr>
            <p:spPr>
              <a:xfrm>
                <a:off x="3352800" y="2972624"/>
                <a:ext cx="65364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1FD04A-B047-6EBA-AD5D-5E5556C56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972624"/>
                <a:ext cx="653640" cy="391646"/>
              </a:xfrm>
              <a:prstGeom prst="rect">
                <a:avLst/>
              </a:prstGeom>
              <a:blipFill>
                <a:blip r:embed="rId1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C71BB92-ECB0-D471-B514-5730FF958745}"/>
                  </a:ext>
                </a:extLst>
              </p:cNvPr>
              <p:cNvSpPr txBox="1"/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C71BB92-ECB0-D471-B514-5730FF9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EC9FAE-CC68-7CF4-9FCB-7F0B06D47899}"/>
                  </a:ext>
                </a:extLst>
              </p:cNvPr>
              <p:cNvSpPr txBox="1"/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EC9FAE-CC68-7CF4-9FCB-7F0B06D4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blipFill>
                <a:blip r:embed="rId1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E56A27-B799-D26D-4B53-14B44D35E25F}"/>
                  </a:ext>
                </a:extLst>
              </p:cNvPr>
              <p:cNvSpPr txBox="1"/>
              <p:nvPr/>
            </p:nvSpPr>
            <p:spPr>
              <a:xfrm>
                <a:off x="3806581" y="336446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E56A27-B799-D26D-4B53-14B44D35E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3364468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ED7B85E-E19F-CC3B-C913-96FE8C0C7E0E}"/>
                  </a:ext>
                </a:extLst>
              </p:cNvPr>
              <p:cNvSpPr txBox="1"/>
              <p:nvPr/>
            </p:nvSpPr>
            <p:spPr>
              <a:xfrm>
                <a:off x="46482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ED7B85E-E19F-CC3B-C913-96FE8C0C7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2971800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1DFC77-982E-5FE7-5A83-ED273B3C5210}"/>
                  </a:ext>
                </a:extLst>
              </p:cNvPr>
              <p:cNvSpPr txBox="1"/>
              <p:nvPr/>
            </p:nvSpPr>
            <p:spPr>
              <a:xfrm>
                <a:off x="53340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1DFC77-982E-5FE7-5A83-ED273B3C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971800"/>
                <a:ext cx="607795" cy="395621"/>
              </a:xfrm>
              <a:prstGeom prst="rect">
                <a:avLst/>
              </a:prstGeom>
              <a:blipFill>
                <a:blip r:embed="rId1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ABB063-1148-F199-5475-4149CB6F6A52}"/>
                  </a:ext>
                </a:extLst>
              </p:cNvPr>
              <p:cNvSpPr txBox="1"/>
              <p:nvPr/>
            </p:nvSpPr>
            <p:spPr>
              <a:xfrm>
                <a:off x="6021605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ABB063-1148-F199-5475-4149CB6F6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605" y="2971800"/>
                <a:ext cx="607795" cy="395621"/>
              </a:xfrm>
              <a:prstGeom prst="rect">
                <a:avLst/>
              </a:prstGeom>
              <a:blipFill>
                <a:blip r:embed="rId2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C14F677-B981-55C0-08A7-4665552FF02A}"/>
                  </a:ext>
                </a:extLst>
              </p:cNvPr>
              <p:cNvSpPr txBox="1"/>
              <p:nvPr/>
            </p:nvSpPr>
            <p:spPr>
              <a:xfrm>
                <a:off x="67056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C14F677-B981-55C0-08A7-4665552FF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971800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">
            <a:extLst>
              <a:ext uri="{FF2B5EF4-FFF2-40B4-BE49-F238E27FC236}">
                <a16:creationId xmlns:a16="http://schemas.microsoft.com/office/drawing/2014/main" id="{E9180526-CA9B-CC1A-7CA5-CC231A9C9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87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CD5455-8175-3774-F60F-1380B9FD6056}"/>
                  </a:ext>
                </a:extLst>
              </p:cNvPr>
              <p:cNvSpPr txBox="1"/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CD5455-8175-3774-F60F-1380B9FD6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80" y="5040868"/>
                <a:ext cx="327334" cy="369332"/>
              </a:xfrm>
              <a:prstGeom prst="rect">
                <a:avLst/>
              </a:prstGeom>
              <a:blipFill>
                <a:blip r:embed="rId2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0371FD-229F-F04A-B303-F126639B14F1}"/>
                  </a:ext>
                </a:extLst>
              </p:cNvPr>
              <p:cNvSpPr txBox="1"/>
              <p:nvPr/>
            </p:nvSpPr>
            <p:spPr>
              <a:xfrm>
                <a:off x="1295400" y="2983468"/>
                <a:ext cx="5623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+        +       +                     +        +          +         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0371FD-229F-F04A-B303-F126639B1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983468"/>
                <a:ext cx="5623655" cy="369332"/>
              </a:xfrm>
              <a:prstGeom prst="rect">
                <a:avLst/>
              </a:prstGeom>
              <a:blipFill>
                <a:blip r:embed="rId2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094CF5FD-28D5-E858-4B18-A7CA9651A5F3}"/>
              </a:ext>
            </a:extLst>
          </p:cNvPr>
          <p:cNvSpPr/>
          <p:nvPr/>
        </p:nvSpPr>
        <p:spPr>
          <a:xfrm>
            <a:off x="4509950" y="2927866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EBBA1C-EEC9-20F6-A4D6-5742DA537F1B}"/>
                  </a:ext>
                </a:extLst>
              </p:cNvPr>
              <p:cNvSpPr txBox="1"/>
              <p:nvPr/>
            </p:nvSpPr>
            <p:spPr>
              <a:xfrm>
                <a:off x="4460221" y="2971800"/>
                <a:ext cx="973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deg(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EBBA1C-EEC9-20F6-A4D6-5742DA537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221" y="2971800"/>
                <a:ext cx="973343" cy="369332"/>
              </a:xfrm>
              <a:prstGeom prst="rect">
                <a:avLst/>
              </a:prstGeom>
              <a:blipFill>
                <a:blip r:embed="rId23"/>
                <a:stretch>
                  <a:fillRect t="-10000" r="-519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398A042-CE19-111B-67FD-E24FBD7EF3B2}"/>
              </a:ext>
            </a:extLst>
          </p:cNvPr>
          <p:cNvSpPr/>
          <p:nvPr/>
        </p:nvSpPr>
        <p:spPr>
          <a:xfrm>
            <a:off x="838200" y="1233175"/>
            <a:ext cx="1487765" cy="39164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1818E8-1BCB-D624-BB93-73F507EF5E31}"/>
                  </a:ext>
                </a:extLst>
              </p:cNvPr>
              <p:cNvSpPr txBox="1"/>
              <p:nvPr/>
            </p:nvSpPr>
            <p:spPr>
              <a:xfrm>
                <a:off x="1251315" y="3352800"/>
                <a:ext cx="33409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+        +       +              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1818E8-1BCB-D624-BB93-73F507EF5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315" y="3352800"/>
                <a:ext cx="3340978" cy="369332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284E71-CB45-491E-53FC-F3701915542E}"/>
                  </a:ext>
                </a:extLst>
              </p:cNvPr>
              <p:cNvSpPr txBox="1"/>
              <p:nvPr/>
            </p:nvSpPr>
            <p:spPr>
              <a:xfrm>
                <a:off x="854329" y="334215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284E71-CB45-491E-53FC-F3701915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29" y="3342154"/>
                <a:ext cx="669671" cy="391646"/>
              </a:xfrm>
              <a:prstGeom prst="rect">
                <a:avLst/>
              </a:prstGeom>
              <a:blipFill>
                <a:blip r:embed="rId2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978BF7-8732-10E0-EDC6-A54E391CFF29}"/>
                  </a:ext>
                </a:extLst>
              </p:cNvPr>
              <p:cNvSpPr txBox="1"/>
              <p:nvPr/>
            </p:nvSpPr>
            <p:spPr>
              <a:xfrm>
                <a:off x="1447800" y="334215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978BF7-8732-10E0-EDC6-A54E391CF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342154"/>
                <a:ext cx="664861" cy="391646"/>
              </a:xfrm>
              <a:prstGeom prst="rect">
                <a:avLst/>
              </a:prstGeom>
              <a:blipFill>
                <a:blip r:embed="rId2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18834B-12FD-623E-2A42-D1DC1AB31881}"/>
                  </a:ext>
                </a:extLst>
              </p:cNvPr>
              <p:cNvSpPr txBox="1"/>
              <p:nvPr/>
            </p:nvSpPr>
            <p:spPr>
              <a:xfrm>
                <a:off x="2074045" y="334215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18834B-12FD-623E-2A42-D1DC1AB31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045" y="3342154"/>
                <a:ext cx="669671" cy="391646"/>
              </a:xfrm>
              <a:prstGeom prst="rect">
                <a:avLst/>
              </a:prstGeom>
              <a:blipFill>
                <a:blip r:embed="rId2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DA10A9-6484-8FBE-177E-8C49978AB83A}"/>
                  </a:ext>
                </a:extLst>
              </p:cNvPr>
              <p:cNvSpPr txBox="1"/>
              <p:nvPr/>
            </p:nvSpPr>
            <p:spPr>
              <a:xfrm>
                <a:off x="2705100" y="334215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DA10A9-6484-8FBE-177E-8C49978AB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3342154"/>
                <a:ext cx="664861" cy="391646"/>
              </a:xfrm>
              <a:prstGeom prst="rect">
                <a:avLst/>
              </a:prstGeom>
              <a:blipFill>
                <a:blip r:embed="rId2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97CF16-3C39-B30E-7209-2504D3D9D04F}"/>
                  </a:ext>
                </a:extLst>
              </p:cNvPr>
              <p:cNvSpPr txBox="1"/>
              <p:nvPr/>
            </p:nvSpPr>
            <p:spPr>
              <a:xfrm>
                <a:off x="3352800" y="3342154"/>
                <a:ext cx="65364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97CF16-3C39-B30E-7209-2504D3D9D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3342154"/>
                <a:ext cx="653640" cy="391646"/>
              </a:xfrm>
              <a:prstGeom prst="rect">
                <a:avLst/>
              </a:prstGeom>
              <a:blipFill>
                <a:blip r:embed="rId1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0BC6EA-8B6B-A6F7-BB5D-D8C51975A4CD}"/>
                  </a:ext>
                </a:extLst>
              </p:cNvPr>
              <p:cNvSpPr txBox="1"/>
              <p:nvPr/>
            </p:nvSpPr>
            <p:spPr>
              <a:xfrm>
                <a:off x="4116605" y="3352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0BC6EA-8B6B-A6F7-BB5D-D8C51975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605" y="3352800"/>
                <a:ext cx="607795" cy="395621"/>
              </a:xfrm>
              <a:prstGeom prst="rect">
                <a:avLst/>
              </a:prstGeom>
              <a:blipFill>
                <a:blip r:embed="rId2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8281A8-BDB5-8FC2-0745-C29C196032C6}"/>
                  </a:ext>
                </a:extLst>
              </p:cNvPr>
              <p:cNvSpPr txBox="1"/>
              <p:nvPr/>
            </p:nvSpPr>
            <p:spPr>
              <a:xfrm>
                <a:off x="4513057" y="3364468"/>
                <a:ext cx="973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deg(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8281A8-BDB5-8FC2-0745-C29C19603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057" y="3364468"/>
                <a:ext cx="973343" cy="369332"/>
              </a:xfrm>
              <a:prstGeom prst="rect">
                <a:avLst/>
              </a:prstGeom>
              <a:blipFill>
                <a:blip r:embed="rId30"/>
                <a:stretch>
                  <a:fillRect t="-6452" r="-384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92CC1F7-3E48-2A10-C672-7636756234DB}"/>
              </a:ext>
            </a:extLst>
          </p:cNvPr>
          <p:cNvSpPr/>
          <p:nvPr/>
        </p:nvSpPr>
        <p:spPr>
          <a:xfrm>
            <a:off x="762000" y="1970554"/>
            <a:ext cx="1487765" cy="39164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A16D76F7-6431-41FD-4BD6-C560FD96A123}"/>
              </a:ext>
            </a:extLst>
          </p:cNvPr>
          <p:cNvGraphicFramePr>
            <a:graphicFrameLocks/>
          </p:cNvGraphicFramePr>
          <p:nvPr/>
        </p:nvGraphicFramePr>
        <p:xfrm>
          <a:off x="4422669" y="4114800"/>
          <a:ext cx="1841500" cy="1841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Multiply 28">
            <a:extLst>
              <a:ext uri="{FF2B5EF4-FFF2-40B4-BE49-F238E27FC236}">
                <a16:creationId xmlns:a16="http://schemas.microsoft.com/office/drawing/2014/main" id="{8CC75721-1FB9-BD72-4DC7-4E1BA1C5676F}"/>
              </a:ext>
            </a:extLst>
          </p:cNvPr>
          <p:cNvSpPr/>
          <p:nvPr/>
        </p:nvSpPr>
        <p:spPr>
          <a:xfrm>
            <a:off x="6251469" y="45847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Content Placeholder 3">
            <a:extLst>
              <a:ext uri="{FF2B5EF4-FFF2-40B4-BE49-F238E27FC236}">
                <a16:creationId xmlns:a16="http://schemas.microsoft.com/office/drawing/2014/main" id="{C901AB40-72BE-AA1D-FEC9-E405747FD35F}"/>
              </a:ext>
            </a:extLst>
          </p:cNvPr>
          <p:cNvGraphicFramePr>
            <a:graphicFrameLocks/>
          </p:cNvGraphicFramePr>
          <p:nvPr/>
        </p:nvGraphicFramePr>
        <p:xfrm>
          <a:off x="6861069" y="4127500"/>
          <a:ext cx="1841500" cy="1841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2CDAA72-BB99-BD6E-FDF1-8840DA55A4C1}"/>
              </a:ext>
            </a:extLst>
          </p:cNvPr>
          <p:cNvSpPr txBox="1"/>
          <p:nvPr/>
        </p:nvSpPr>
        <p:spPr>
          <a:xfrm>
            <a:off x="5203846" y="4559637"/>
            <a:ext cx="5405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9D9C57B-D6CB-8F12-1437-9666768028B3}"/>
                  </a:ext>
                </a:extLst>
              </p:cNvPr>
              <p:cNvSpPr txBox="1"/>
              <p:nvPr/>
            </p:nvSpPr>
            <p:spPr>
              <a:xfrm>
                <a:off x="7364380" y="4515703"/>
                <a:ext cx="9444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sz="4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9D9C57B-D6CB-8F12-1437-966676802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380" y="4515703"/>
                <a:ext cx="944489" cy="830997"/>
              </a:xfrm>
              <a:prstGeom prst="rect">
                <a:avLst/>
              </a:prstGeom>
              <a:blipFill>
                <a:blip r:embed="rId31"/>
                <a:stretch>
                  <a:fillRect l="-6579" r="-6579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Equal 13">
            <a:extLst>
              <a:ext uri="{FF2B5EF4-FFF2-40B4-BE49-F238E27FC236}">
                <a16:creationId xmlns:a16="http://schemas.microsoft.com/office/drawing/2014/main" id="{0F03ACDC-53A9-0780-9DD4-9E13C43E83B4}"/>
              </a:ext>
            </a:extLst>
          </p:cNvPr>
          <p:cNvSpPr/>
          <p:nvPr/>
        </p:nvSpPr>
        <p:spPr>
          <a:xfrm>
            <a:off x="3660669" y="46609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372C50C-946C-43D1-1D2A-746DD036F3C7}"/>
                  </a:ext>
                </a:extLst>
              </p:cNvPr>
              <p:cNvSpPr txBox="1"/>
              <p:nvPr/>
            </p:nvSpPr>
            <p:spPr>
              <a:xfrm>
                <a:off x="2971800" y="4508500"/>
                <a:ext cx="71045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372C50C-946C-43D1-1D2A-746DD036F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508500"/>
                <a:ext cx="710451" cy="830997"/>
              </a:xfrm>
              <a:prstGeom prst="rect">
                <a:avLst/>
              </a:prstGeom>
              <a:blipFill>
                <a:blip r:embed="rId3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loud Callout 3">
                <a:extLst>
                  <a:ext uri="{FF2B5EF4-FFF2-40B4-BE49-F238E27FC236}">
                    <a16:creationId xmlns:a16="http://schemas.microsoft.com/office/drawing/2014/main" id="{94F1BDD6-0334-4317-E547-14D31BD33050}"/>
                  </a:ext>
                </a:extLst>
              </p:cNvPr>
              <p:cNvSpPr/>
              <p:nvPr/>
            </p:nvSpPr>
            <p:spPr>
              <a:xfrm>
                <a:off x="5417026" y="2730500"/>
                <a:ext cx="4343400" cy="1100287"/>
              </a:xfrm>
              <a:prstGeom prst="cloudCallout">
                <a:avLst>
                  <a:gd name="adj1" fmla="val 11820"/>
                  <a:gd name="adj2" fmla="val 925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How to efficiently determine which of these inequality holds for each pair (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)?</a:t>
                </a:r>
              </a:p>
            </p:txBody>
          </p:sp>
        </mc:Choice>
        <mc:Fallback>
          <p:sp>
            <p:nvSpPr>
              <p:cNvPr id="16" name="Cloud Callout 3">
                <a:extLst>
                  <a:ext uri="{FF2B5EF4-FFF2-40B4-BE49-F238E27FC236}">
                    <a16:creationId xmlns:a16="http://schemas.microsoft.com/office/drawing/2014/main" id="{94F1BDD6-0334-4317-E547-14D31BD33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026" y="2730500"/>
                <a:ext cx="4343400" cy="1100287"/>
              </a:xfrm>
              <a:prstGeom prst="cloudCallout">
                <a:avLst>
                  <a:gd name="adj1" fmla="val 11820"/>
                  <a:gd name="adj2" fmla="val 92500"/>
                </a:avLst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B90F7941-146B-920C-3314-17333CC47492}"/>
              </a:ext>
            </a:extLst>
          </p:cNvPr>
          <p:cNvSpPr txBox="1"/>
          <p:nvPr/>
        </p:nvSpPr>
        <p:spPr>
          <a:xfrm>
            <a:off x="2795571" y="6181765"/>
            <a:ext cx="5242910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Reduce to a </a:t>
            </a:r>
            <a:r>
              <a:rPr lang="en-US" b="1" dirty="0"/>
              <a:t>Multiplication</a:t>
            </a:r>
            <a:r>
              <a:rPr lang="en-US" dirty="0"/>
              <a:t> of </a:t>
            </a:r>
            <a:r>
              <a:rPr lang="en-US" dirty="0">
                <a:solidFill>
                  <a:srgbClr val="0070C0"/>
                </a:solidFill>
              </a:rPr>
              <a:t>2</a:t>
            </a:r>
            <a:r>
              <a:rPr lang="en-US" dirty="0"/>
              <a:t> </a:t>
            </a:r>
            <a:r>
              <a:rPr lang="en-US" u="sng" dirty="0"/>
              <a:t>suitably</a:t>
            </a:r>
            <a:r>
              <a:rPr lang="en-US" dirty="0"/>
              <a:t> built matrices.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572E04-4F3F-07A6-D10B-46AD8CFEF6E8}"/>
              </a:ext>
            </a:extLst>
          </p:cNvPr>
          <p:cNvSpPr txBox="1"/>
          <p:nvPr/>
        </p:nvSpPr>
        <p:spPr>
          <a:xfrm>
            <a:off x="1742130" y="6372076"/>
            <a:ext cx="6749220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Spend at least 1 hour on this question before going to the next slide 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096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2" grpId="0"/>
      <p:bldP spid="32" grpId="1"/>
      <p:bldP spid="34" grpId="0"/>
      <p:bldP spid="37" grpId="0" animBg="1"/>
      <p:bldP spid="38" grpId="0"/>
      <p:bldP spid="16" grpId="0" animBg="1"/>
      <p:bldP spid="16" grpId="1" animBg="1"/>
      <p:bldP spid="56" grpId="0" animBg="1"/>
      <p:bldP spid="56" grpId="1" animBg="1"/>
      <p:bldP spid="58" grpId="0" animBg="1"/>
      <p:bldP spid="58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6AFE-E636-B840-FC47-AD150F98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Content Placeholder 3">
            <a:extLst>
              <a:ext uri="{FF2B5EF4-FFF2-40B4-BE49-F238E27FC236}">
                <a16:creationId xmlns:a16="http://schemas.microsoft.com/office/drawing/2014/main" id="{4775F8A2-C5EF-A251-20EE-BADB748FFDBA}"/>
              </a:ext>
            </a:extLst>
          </p:cNvPr>
          <p:cNvGraphicFramePr>
            <a:graphicFrameLocks/>
          </p:cNvGraphicFramePr>
          <p:nvPr/>
        </p:nvGraphicFramePr>
        <p:xfrm>
          <a:off x="6861069" y="4127500"/>
          <a:ext cx="1841500" cy="1841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255EEC-A39D-FC98-E64D-822FFE8D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7393C0-4608-C972-BAD6-7AEFC8395E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Theorem</a:t>
                </a:r>
                <a:r>
                  <a:rPr lang="en-US" sz="2000" dirty="0">
                    <a:sym typeface="Wingdings" pitchFamily="2" charset="2"/>
                  </a:rPr>
                  <a:t>: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even,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𝑘𝑗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If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odd, then</a:t>
                </a:r>
                <a:r>
                  <a:rPr lang="en-US" sz="2000" dirty="0">
                    <a:sym typeface="Wingdings" pitchFamily="2" charset="2"/>
                  </a:rPr>
                  <a:t> for each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dirty="0"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AND</a:t>
                </a:r>
                <a:r>
                  <a:rPr lang="en-US" sz="2000" dirty="0"/>
                  <a:t> there exists </a:t>
                </a:r>
                <a:r>
                  <a:rPr lang="en-US" sz="2000" u="sng" dirty="0"/>
                  <a:t>at least </a:t>
                </a:r>
                <a:r>
                  <a:rPr lang="en-US" sz="2000" dirty="0"/>
                  <a:t>one neighbor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𝒌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287963"/>
              </a:xfrm>
              <a:blipFill>
                <a:blip r:embed="rId2"/>
                <a:stretch>
                  <a:fillRect l="-772" t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ADD032D3-30E2-512A-398E-3F0BE61D0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204" y="4964668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C349F6-1971-AECB-5190-8E6892B4D819}"/>
                  </a:ext>
                </a:extLst>
              </p:cNvPr>
              <p:cNvSpPr txBox="1"/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393A90-C177-AFE1-968E-70FAC7AF9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117068"/>
                <a:ext cx="3225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>
            <a:extLst>
              <a:ext uri="{FF2B5EF4-FFF2-40B4-BE49-F238E27FC236}">
                <a16:creationId xmlns:a16="http://schemas.microsoft.com/office/drawing/2014/main" id="{645ED1EF-BD00-4794-36B4-532C59C78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114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67458321-42A7-2BE9-E33F-40AE48A13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683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67276EB7-A146-D256-88BE-4370C8403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8E496D68-D8A7-C3CE-A6B1-5B4534505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83" y="5867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84E08357-823E-0996-ED32-313CE22AF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800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44EA7F-76B2-B4B7-ED44-EC5B253345A4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1678259" y="4267200"/>
            <a:ext cx="7004" cy="6974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E048EDF-B77D-1D13-69A6-504313836D66}"/>
              </a:ext>
            </a:extLst>
          </p:cNvPr>
          <p:cNvCxnSpPr>
            <a:cxnSpLocks/>
            <a:stCxn id="22" idx="1"/>
            <a:endCxn id="14" idx="3"/>
          </p:cNvCxnSpPr>
          <p:nvPr/>
        </p:nvCxnSpPr>
        <p:spPr>
          <a:xfrm flipH="1">
            <a:off x="1763321" y="4800600"/>
            <a:ext cx="671362" cy="2402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7B6DD8D-741B-E2F3-541B-CD36F509EAB5}"/>
              </a:ext>
            </a:extLst>
          </p:cNvPr>
          <p:cNvCxnSpPr>
            <a:cxnSpLocks/>
            <a:stCxn id="23" idx="0"/>
            <a:endCxn id="15" idx="0"/>
          </p:cNvCxnSpPr>
          <p:nvPr/>
        </p:nvCxnSpPr>
        <p:spPr>
          <a:xfrm flipH="1" flipV="1">
            <a:off x="1685262" y="5117068"/>
            <a:ext cx="526397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449867D-8466-F398-E220-E7D237852AA4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1064942" y="5117068"/>
            <a:ext cx="620321" cy="75033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45369B-593C-AEAF-6FC3-FA249F934894}"/>
              </a:ext>
            </a:extLst>
          </p:cNvPr>
          <p:cNvCxnSpPr>
            <a:cxnSpLocks/>
            <a:stCxn id="14" idx="1"/>
            <a:endCxn id="25" idx="3"/>
          </p:cNvCxnSpPr>
          <p:nvPr/>
        </p:nvCxnSpPr>
        <p:spPr>
          <a:xfrm flipH="1" flipV="1">
            <a:off x="765717" y="4876800"/>
            <a:ext cx="841487" cy="16406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24BFDEA-FC04-92E8-EF29-659BADCCF0AA}"/>
                  </a:ext>
                </a:extLst>
              </p:cNvPr>
              <p:cNvSpPr txBox="1"/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16E1A2-09CB-066B-4ED3-A6B546A3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738006"/>
                <a:ext cx="3225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0F01EE5-92F1-EDEF-936D-4ED1E6BAE767}"/>
                  </a:ext>
                </a:extLst>
              </p:cNvPr>
              <p:cNvSpPr txBox="1"/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245AB29-05EC-06F1-9310-75B95C444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62" y="4527034"/>
                <a:ext cx="3225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4235C08-EE68-B149-ED69-427CA3524FAC}"/>
                  </a:ext>
                </a:extLst>
              </p:cNvPr>
              <p:cNvSpPr txBox="1"/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DF1E5ED-0F6B-AB1E-58FD-25393CCC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802868"/>
                <a:ext cx="322524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A015590-ADEB-E4AE-8E31-56A9660DD119}"/>
                  </a:ext>
                </a:extLst>
              </p:cNvPr>
              <p:cNvSpPr txBox="1"/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4B5D80-8FBD-F6BE-F64B-D73F3A1AB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955268"/>
                <a:ext cx="322524" cy="369332"/>
              </a:xfrm>
              <a:prstGeom prst="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E8BECEC-703C-30E5-DA3C-66B222E9916B}"/>
                  </a:ext>
                </a:extLst>
              </p:cNvPr>
              <p:cNvSpPr txBox="1"/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4187C3C-DAB8-90FB-D17F-24C6CB09E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76" y="4495800"/>
                <a:ext cx="32252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F182E21-95BE-FBF3-719A-06D6C0B69B3E}"/>
                  </a:ext>
                </a:extLst>
              </p:cNvPr>
              <p:cNvSpPr txBox="1"/>
              <p:nvPr/>
            </p:nvSpPr>
            <p:spPr>
              <a:xfrm>
                <a:off x="838200" y="297262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D2C01A-F932-23CF-6B28-8639CBF88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72624"/>
                <a:ext cx="669671" cy="391646"/>
              </a:xfrm>
              <a:prstGeom prst="rect">
                <a:avLst/>
              </a:prstGeom>
              <a:blipFill>
                <a:blip r:embed="rId1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49193ED-FD79-629D-C329-AD5E37FB601B}"/>
                  </a:ext>
                </a:extLst>
              </p:cNvPr>
              <p:cNvSpPr txBox="1"/>
              <p:nvPr/>
            </p:nvSpPr>
            <p:spPr>
              <a:xfrm>
                <a:off x="1469255" y="297262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8578EF1-AD99-4130-B4F5-303C91459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255" y="2972624"/>
                <a:ext cx="664861" cy="391646"/>
              </a:xfrm>
              <a:prstGeom prst="rect">
                <a:avLst/>
              </a:prstGeom>
              <a:blipFill>
                <a:blip r:embed="rId11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1D5619A-A9F0-6039-6F97-9D6D94CA10F8}"/>
                  </a:ext>
                </a:extLst>
              </p:cNvPr>
              <p:cNvSpPr txBox="1"/>
              <p:nvPr/>
            </p:nvSpPr>
            <p:spPr>
              <a:xfrm>
                <a:off x="2095500" y="297262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8CEB992-AAF3-C843-7200-E07AF096E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2972624"/>
                <a:ext cx="669671" cy="391646"/>
              </a:xfrm>
              <a:prstGeom prst="rect">
                <a:avLst/>
              </a:prstGeom>
              <a:blipFill>
                <a:blip r:embed="rId1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ECDB322-C8DA-D4C6-EDA1-9FC86859FBAD}"/>
                  </a:ext>
                </a:extLst>
              </p:cNvPr>
              <p:cNvSpPr txBox="1"/>
              <p:nvPr/>
            </p:nvSpPr>
            <p:spPr>
              <a:xfrm>
                <a:off x="2726555" y="297262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21EF303-7106-7005-8168-6E1058659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555" y="2972624"/>
                <a:ext cx="664861" cy="391646"/>
              </a:xfrm>
              <a:prstGeom prst="rect">
                <a:avLst/>
              </a:prstGeom>
              <a:blipFill>
                <a:blip r:embed="rId1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7481C02-12F2-87EC-181B-E0F3BB0D72E4}"/>
                  </a:ext>
                </a:extLst>
              </p:cNvPr>
              <p:cNvSpPr txBox="1"/>
              <p:nvPr/>
            </p:nvSpPr>
            <p:spPr>
              <a:xfrm>
                <a:off x="3352800" y="2972624"/>
                <a:ext cx="65364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81FD04A-B047-6EBA-AD5D-5E5556C56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972624"/>
                <a:ext cx="653640" cy="391646"/>
              </a:xfrm>
              <a:prstGeom prst="rect">
                <a:avLst/>
              </a:prstGeom>
              <a:blipFill>
                <a:blip r:embed="rId1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AD35C86-35BA-ACCE-B638-1F07AB97B4E5}"/>
                  </a:ext>
                </a:extLst>
              </p:cNvPr>
              <p:cNvSpPr txBox="1"/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C71BB92-ECB0-D471-B514-5730FF958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0" y="2983468"/>
                <a:ext cx="4106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B438DFF-6629-03CA-ABED-8D893F742E30}"/>
                  </a:ext>
                </a:extLst>
              </p:cNvPr>
              <p:cNvSpPr txBox="1"/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EC9FAE-CC68-7CF4-9FCB-7F0B06D47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34" y="2967514"/>
                <a:ext cx="607795" cy="395621"/>
              </a:xfrm>
              <a:prstGeom prst="rect">
                <a:avLst/>
              </a:prstGeom>
              <a:blipFill>
                <a:blip r:embed="rId1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3F00D4A-286A-536D-D3D4-76098F53C65B}"/>
                  </a:ext>
                </a:extLst>
              </p:cNvPr>
              <p:cNvSpPr txBox="1"/>
              <p:nvPr/>
            </p:nvSpPr>
            <p:spPr>
              <a:xfrm>
                <a:off x="3806581" y="3364468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E56A27-B799-D26D-4B53-14B44D35E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581" y="3364468"/>
                <a:ext cx="41069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D24410E-2615-34DB-6CE0-F4BC1E1BD3A1}"/>
                  </a:ext>
                </a:extLst>
              </p:cNvPr>
              <p:cNvSpPr txBox="1"/>
              <p:nvPr/>
            </p:nvSpPr>
            <p:spPr>
              <a:xfrm>
                <a:off x="46482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ED7B85E-E19F-CC3B-C913-96FE8C0C7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2971800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4A828C8-0B8C-9F81-12D3-97A0AC6F13C4}"/>
                  </a:ext>
                </a:extLst>
              </p:cNvPr>
              <p:cNvSpPr txBox="1"/>
              <p:nvPr/>
            </p:nvSpPr>
            <p:spPr>
              <a:xfrm>
                <a:off x="53340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21DFC77-982E-5FE7-5A83-ED273B3C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971800"/>
                <a:ext cx="607795" cy="395621"/>
              </a:xfrm>
              <a:prstGeom prst="rect">
                <a:avLst/>
              </a:prstGeom>
              <a:blipFill>
                <a:blip r:embed="rId1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F7EAF6A-DC2D-A6E7-983A-29289FCCB692}"/>
                  </a:ext>
                </a:extLst>
              </p:cNvPr>
              <p:cNvSpPr txBox="1"/>
              <p:nvPr/>
            </p:nvSpPr>
            <p:spPr>
              <a:xfrm>
                <a:off x="6021605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7ABB063-1148-F199-5475-4149CB6F6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605" y="2971800"/>
                <a:ext cx="607795" cy="395621"/>
              </a:xfrm>
              <a:prstGeom prst="rect">
                <a:avLst/>
              </a:prstGeom>
              <a:blipFill>
                <a:blip r:embed="rId2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A52771C-1838-66BF-38E4-47C53E310E06}"/>
                  </a:ext>
                </a:extLst>
              </p:cNvPr>
              <p:cNvSpPr txBox="1"/>
              <p:nvPr/>
            </p:nvSpPr>
            <p:spPr>
              <a:xfrm>
                <a:off x="6705600" y="2971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C14F677-B981-55C0-08A7-4665552FF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971800"/>
                <a:ext cx="607795" cy="395621"/>
              </a:xfrm>
              <a:prstGeom prst="rect">
                <a:avLst/>
              </a:prstGeom>
              <a:blipFill>
                <a:blip r:embed="rId1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67F95B-F2FB-E562-1EAA-F9B40047DBD5}"/>
                  </a:ext>
                </a:extLst>
              </p:cNvPr>
              <p:cNvSpPr txBox="1"/>
              <p:nvPr/>
            </p:nvSpPr>
            <p:spPr>
              <a:xfrm>
                <a:off x="1295400" y="2983468"/>
                <a:ext cx="5623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+        +       +                     +        +          +         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0371FD-229F-F04A-B303-F126639B1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983468"/>
                <a:ext cx="5623655" cy="369332"/>
              </a:xfrm>
              <a:prstGeom prst="rect">
                <a:avLst/>
              </a:prstGeom>
              <a:blipFill>
                <a:blip r:embed="rId2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533A5FC7-8391-A607-4DF7-D76BC61F8BDC}"/>
              </a:ext>
            </a:extLst>
          </p:cNvPr>
          <p:cNvSpPr/>
          <p:nvPr/>
        </p:nvSpPr>
        <p:spPr>
          <a:xfrm>
            <a:off x="4509950" y="2927866"/>
            <a:ext cx="3200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A6944F-F7C3-8A0F-2909-8B3A0279A32C}"/>
                  </a:ext>
                </a:extLst>
              </p:cNvPr>
              <p:cNvSpPr txBox="1"/>
              <p:nvPr/>
            </p:nvSpPr>
            <p:spPr>
              <a:xfrm>
                <a:off x="4460221" y="2971800"/>
                <a:ext cx="973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deg(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EBBA1C-EEC9-20F6-A4D6-5742DA537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221" y="2971800"/>
                <a:ext cx="973343" cy="369332"/>
              </a:xfrm>
              <a:prstGeom prst="rect">
                <a:avLst/>
              </a:prstGeom>
              <a:blipFill>
                <a:blip r:embed="rId23"/>
                <a:stretch>
                  <a:fillRect t="-10000" r="-519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9502206-FC28-0D85-EADE-389010E4C98B}"/>
              </a:ext>
            </a:extLst>
          </p:cNvPr>
          <p:cNvSpPr/>
          <p:nvPr/>
        </p:nvSpPr>
        <p:spPr>
          <a:xfrm>
            <a:off x="838200" y="1233175"/>
            <a:ext cx="1487765" cy="39164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3E72E3-E506-1DD5-D6EF-AA36DF93954A}"/>
                  </a:ext>
                </a:extLst>
              </p:cNvPr>
              <p:cNvSpPr txBox="1"/>
              <p:nvPr/>
            </p:nvSpPr>
            <p:spPr>
              <a:xfrm>
                <a:off x="1251315" y="3352800"/>
                <a:ext cx="33409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     +        +       +                 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1818E8-1BCB-D624-BB93-73F507EF5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315" y="3352800"/>
                <a:ext cx="3340978" cy="369332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AEE336-28A5-247D-B2EC-6DBD29045217}"/>
                  </a:ext>
                </a:extLst>
              </p:cNvPr>
              <p:cNvSpPr txBox="1"/>
              <p:nvPr/>
            </p:nvSpPr>
            <p:spPr>
              <a:xfrm>
                <a:off x="854329" y="334215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284E71-CB45-491E-53FC-F37019155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29" y="3342154"/>
                <a:ext cx="669671" cy="391646"/>
              </a:xfrm>
              <a:prstGeom prst="rect">
                <a:avLst/>
              </a:prstGeom>
              <a:blipFill>
                <a:blip r:embed="rId2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CF305E-F1EC-5532-7140-E05B5B61CBA4}"/>
                  </a:ext>
                </a:extLst>
              </p:cNvPr>
              <p:cNvSpPr txBox="1"/>
              <p:nvPr/>
            </p:nvSpPr>
            <p:spPr>
              <a:xfrm>
                <a:off x="1447800" y="334215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978BF7-8732-10E0-EDC6-A54E391CF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342154"/>
                <a:ext cx="664861" cy="391646"/>
              </a:xfrm>
              <a:prstGeom prst="rect">
                <a:avLst/>
              </a:prstGeom>
              <a:blipFill>
                <a:blip r:embed="rId2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4BBA4A-0447-5157-D077-A9722DF796E2}"/>
                  </a:ext>
                </a:extLst>
              </p:cNvPr>
              <p:cNvSpPr txBox="1"/>
              <p:nvPr/>
            </p:nvSpPr>
            <p:spPr>
              <a:xfrm>
                <a:off x="2074045" y="3342154"/>
                <a:ext cx="66967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18834B-12FD-623E-2A42-D1DC1AB31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045" y="3342154"/>
                <a:ext cx="669671" cy="391646"/>
              </a:xfrm>
              <a:prstGeom prst="rect">
                <a:avLst/>
              </a:prstGeom>
              <a:blipFill>
                <a:blip r:embed="rId2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F428F3-E5CE-68D2-13F0-5514F126154F}"/>
                  </a:ext>
                </a:extLst>
              </p:cNvPr>
              <p:cNvSpPr txBox="1"/>
              <p:nvPr/>
            </p:nvSpPr>
            <p:spPr>
              <a:xfrm>
                <a:off x="2705100" y="3342154"/>
                <a:ext cx="664861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5DA10A9-6484-8FBE-177E-8C49978AB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100" y="3342154"/>
                <a:ext cx="664861" cy="391646"/>
              </a:xfrm>
              <a:prstGeom prst="rect">
                <a:avLst/>
              </a:prstGeom>
              <a:blipFill>
                <a:blip r:embed="rId2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6093E5-736D-1D43-92CE-65A90D8C6386}"/>
                  </a:ext>
                </a:extLst>
              </p:cNvPr>
              <p:cNvSpPr txBox="1"/>
              <p:nvPr/>
            </p:nvSpPr>
            <p:spPr>
              <a:xfrm>
                <a:off x="3352800" y="3342154"/>
                <a:ext cx="653640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800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97CF16-3C39-B30E-7209-2504D3D9D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3342154"/>
                <a:ext cx="653640" cy="391646"/>
              </a:xfrm>
              <a:prstGeom prst="rect">
                <a:avLst/>
              </a:prstGeom>
              <a:blipFill>
                <a:blip r:embed="rId1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E9AC62-83BA-A5EC-5A67-87B414F1D939}"/>
                  </a:ext>
                </a:extLst>
              </p:cNvPr>
              <p:cNvSpPr txBox="1"/>
              <p:nvPr/>
            </p:nvSpPr>
            <p:spPr>
              <a:xfrm>
                <a:off x="4116605" y="3352800"/>
                <a:ext cx="607795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0BC6EA-8B6B-A6F7-BB5D-D8C51975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605" y="3352800"/>
                <a:ext cx="607795" cy="395621"/>
              </a:xfrm>
              <a:prstGeom prst="rect">
                <a:avLst/>
              </a:prstGeom>
              <a:blipFill>
                <a:blip r:embed="rId2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D60337-2DC0-D35A-8BDA-E942144C40B4}"/>
                  </a:ext>
                </a:extLst>
              </p:cNvPr>
              <p:cNvSpPr txBox="1"/>
              <p:nvPr/>
            </p:nvSpPr>
            <p:spPr>
              <a:xfrm>
                <a:off x="4513057" y="3364468"/>
                <a:ext cx="973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deg(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8281A8-BDB5-8FC2-0745-C29C19603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057" y="3364468"/>
                <a:ext cx="973343" cy="369332"/>
              </a:xfrm>
              <a:prstGeom prst="rect">
                <a:avLst/>
              </a:prstGeom>
              <a:blipFill>
                <a:blip r:embed="rId30"/>
                <a:stretch>
                  <a:fillRect t="-6452" r="-384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3FC1EF-4D34-DF09-96F1-F8B429F40C37}"/>
              </a:ext>
            </a:extLst>
          </p:cNvPr>
          <p:cNvSpPr/>
          <p:nvPr/>
        </p:nvSpPr>
        <p:spPr>
          <a:xfrm>
            <a:off x="762000" y="1970554"/>
            <a:ext cx="1487765" cy="39164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8B35FC1E-9BBC-FA28-7A29-9E79EA7B205F}"/>
              </a:ext>
            </a:extLst>
          </p:cNvPr>
          <p:cNvGraphicFramePr>
            <a:graphicFrameLocks/>
          </p:cNvGraphicFramePr>
          <p:nvPr/>
        </p:nvGraphicFramePr>
        <p:xfrm>
          <a:off x="4422669" y="4114800"/>
          <a:ext cx="1841500" cy="1841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Multiply 28">
            <a:extLst>
              <a:ext uri="{FF2B5EF4-FFF2-40B4-BE49-F238E27FC236}">
                <a16:creationId xmlns:a16="http://schemas.microsoft.com/office/drawing/2014/main" id="{BA38674B-5807-2816-23BE-F11BF8C8B0E4}"/>
              </a:ext>
            </a:extLst>
          </p:cNvPr>
          <p:cNvSpPr/>
          <p:nvPr/>
        </p:nvSpPr>
        <p:spPr>
          <a:xfrm>
            <a:off x="6251469" y="4584700"/>
            <a:ext cx="609600" cy="609600"/>
          </a:xfrm>
          <a:prstGeom prst="mathMultiply">
            <a:avLst>
              <a:gd name="adj1" fmla="val 10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6CE418-4F5A-0AB6-5AEF-7D63E28CB0C8}"/>
                  </a:ext>
                </a:extLst>
              </p:cNvPr>
              <p:cNvSpPr txBox="1"/>
              <p:nvPr/>
            </p:nvSpPr>
            <p:spPr>
              <a:xfrm>
                <a:off x="7364380" y="4515703"/>
                <a:ext cx="9444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𝑫</m:t>
                      </m:r>
                      <m:r>
                        <a:rPr lang="en-US" sz="4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9D9C57B-D6CB-8F12-1437-966676802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380" y="4515703"/>
                <a:ext cx="944489" cy="830997"/>
              </a:xfrm>
              <a:prstGeom prst="rect">
                <a:avLst/>
              </a:prstGeom>
              <a:blipFill>
                <a:blip r:embed="rId31"/>
                <a:stretch>
                  <a:fillRect l="-6579" r="-6579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Equal 13">
            <a:extLst>
              <a:ext uri="{FF2B5EF4-FFF2-40B4-BE49-F238E27FC236}">
                <a16:creationId xmlns:a16="http://schemas.microsoft.com/office/drawing/2014/main" id="{2491F73D-F99C-8D8C-D8C3-1E52243E6A51}"/>
              </a:ext>
            </a:extLst>
          </p:cNvPr>
          <p:cNvSpPr/>
          <p:nvPr/>
        </p:nvSpPr>
        <p:spPr>
          <a:xfrm>
            <a:off x="3660669" y="4660900"/>
            <a:ext cx="457200" cy="609600"/>
          </a:xfrm>
          <a:prstGeom prst="mathEqual">
            <a:avLst>
              <a:gd name="adj1" fmla="val 11615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631E4A-9385-52AA-3C7E-850E24E3031B}"/>
                  </a:ext>
                </a:extLst>
              </p:cNvPr>
              <p:cNvSpPr txBox="1"/>
              <p:nvPr/>
            </p:nvSpPr>
            <p:spPr>
              <a:xfrm>
                <a:off x="2971800" y="4508500"/>
                <a:ext cx="71045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372C50C-946C-43D1-1D2A-746DD036F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4508500"/>
                <a:ext cx="710451" cy="830997"/>
              </a:xfrm>
              <a:prstGeom prst="rect">
                <a:avLst/>
              </a:prstGeom>
              <a:blipFill>
                <a:blip r:embed="rId3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49DB199-92A6-0677-21F0-655427A1C311}"/>
                  </a:ext>
                </a:extLst>
              </p:cNvPr>
              <p:cNvSpPr txBox="1"/>
              <p:nvPr/>
            </p:nvSpPr>
            <p:spPr>
              <a:xfrm>
                <a:off x="4981670" y="4550201"/>
                <a:ext cx="73128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49DB199-92A6-0677-21F0-655427A1C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670" y="4550201"/>
                <a:ext cx="731289" cy="83099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83A509-DC50-51C3-C432-7960D37BB9AB}"/>
                  </a:ext>
                </a:extLst>
              </p:cNvPr>
              <p:cNvSpPr txBox="1"/>
              <p:nvPr/>
            </p:nvSpPr>
            <p:spPr>
              <a:xfrm>
                <a:off x="3276600" y="6017295"/>
                <a:ext cx="2098716" cy="764505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𝑪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𝑫</m:t>
                              </m:r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BE70341-BD97-E082-6E04-D1639F232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6017295"/>
                <a:ext cx="2098716" cy="764505"/>
              </a:xfrm>
              <a:prstGeom prst="rect">
                <a:avLst/>
              </a:prstGeom>
              <a:blipFill>
                <a:blip r:embed="rId34"/>
                <a:stretch>
                  <a:fillRect l="-6548" t="-117460" b="-161905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Down Ribbon 61">
                <a:extLst>
                  <a:ext uri="{FF2B5EF4-FFF2-40B4-BE49-F238E27FC236}">
                    <a16:creationId xmlns:a16="http://schemas.microsoft.com/office/drawing/2014/main" id="{0B3BA167-524B-3966-6B22-5FF62D43AD30}"/>
                  </a:ext>
                </a:extLst>
              </p:cNvPr>
              <p:cNvSpPr/>
              <p:nvPr/>
            </p:nvSpPr>
            <p:spPr>
              <a:xfrm>
                <a:off x="5400622" y="6130882"/>
                <a:ext cx="3927516" cy="687324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Compare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𝑪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𝒁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  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2" name="Down Ribbon 61">
                <a:extLst>
                  <a:ext uri="{FF2B5EF4-FFF2-40B4-BE49-F238E27FC236}">
                    <a16:creationId xmlns:a16="http://schemas.microsoft.com/office/drawing/2014/main" id="{2DDEBCE4-8D19-D74D-8802-58F3CE8B83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622" y="6130882"/>
                <a:ext cx="3927516" cy="687324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346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40" grpId="0"/>
      <p:bldP spid="41" grpId="0" animBg="1"/>
      <p:bldP spid="6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b="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compute All-pairs distance matrix </a:t>
                </a:r>
              </a:p>
              <a:p>
                <a:pPr marL="0" indent="0">
                  <a:buNone/>
                </a:pPr>
                <a:r>
                  <a:rPr lang="en-US" sz="2000" dirty="0"/>
                  <a:t>for an undirected unweighted graph </a:t>
                </a:r>
              </a:p>
              <a:p>
                <a:pPr marL="0" indent="0">
                  <a:buNone/>
                </a:pPr>
                <a:r>
                  <a:rPr lang="en-US" sz="2000" dirty="0"/>
                  <a:t>in </a:t>
                </a:r>
                <a:r>
                  <a:rPr lang="en-US" sz="2000" b="1" i="1" dirty="0"/>
                  <a:t>O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func>
                      <m:func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Most of the times, we also need a matrix storing information about all-pairs shortest paths as well.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 </a:t>
                </a:r>
                <a:r>
                  <a:rPr lang="en-US" sz="2000" b="1" u="sng" dirty="0"/>
                  <a:t>randomized algorithm </a:t>
                </a:r>
                <a:r>
                  <a:rPr lang="en-US" sz="2000" dirty="0"/>
                  <a:t>to compute such matrix. </a:t>
                </a:r>
              </a:p>
              <a:p>
                <a:pPr marL="0" indent="0">
                  <a:buNone/>
                </a:pPr>
                <a:r>
                  <a:rPr lang="en-US" sz="2000" dirty="0"/>
                  <a:t>It is discussed in CS648A: Randomized Algorithms </a:t>
                </a:r>
              </a:p>
              <a:p>
                <a:pPr marL="0" indent="0">
                  <a:buNone/>
                </a:pPr>
                <a:r>
                  <a:rPr lang="en-US" sz="2000" dirty="0"/>
                  <a:t>(to be offered in the next semester).</a:t>
                </a:r>
              </a:p>
              <a:p>
                <a:pPr marL="0" indent="0">
                  <a:buNone/>
                </a:pPr>
                <a:r>
                  <a:rPr lang="en-US" sz="2000" dirty="0"/>
                  <a:t>You are welcome to register for it. Each students of this course is welcome.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>
                <a:blip r:embed="rId2"/>
                <a:stretch>
                  <a:fillRect l="-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95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2400" dirty="0"/>
              <a:t>Ponder over the entire algorithm and get amazed by its depth and elegance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633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7533</TotalTime>
  <Words>3355</Words>
  <Application>Microsoft Office PowerPoint</Application>
  <PresentationFormat>On-screen Show (4:3)</PresentationFormat>
  <Paragraphs>1348</Paragraphs>
  <Slides>43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RECAP of the Last Lecture</vt:lpstr>
      <vt:lpstr>The brilliant idea of Bellman Ford </vt:lpstr>
      <vt:lpstr>The brilliant idea of Bellman Ford </vt:lpstr>
      <vt:lpstr>PowerPoint Presentation</vt:lpstr>
      <vt:lpstr>PowerPoint Presentation</vt:lpstr>
      <vt:lpstr>PowerPoint Presentation</vt:lpstr>
      <vt:lpstr>The brilliant idea of Bellman Ford </vt:lpstr>
      <vt:lpstr>The brilliant idea of Bellman Ford </vt:lpstr>
      <vt:lpstr>The brilliant idea of Bellman Ford </vt:lpstr>
      <vt:lpstr>Base case: L(v,1)</vt:lpstr>
      <vt:lpstr> </vt:lpstr>
      <vt:lpstr>BellMAN-Ford Algorithm </vt:lpstr>
      <vt:lpstr>Bellman-Ford algorithm </vt:lpstr>
      <vt:lpstr>Execution of Bellman-Ford algorithm</vt:lpstr>
      <vt:lpstr>Getting insight into the  Bellman-Ford algorithm</vt:lpstr>
      <vt:lpstr>Execution of Bellman-Ford algorithm</vt:lpstr>
      <vt:lpstr>Execution of Bellman-Ford algorithm</vt:lpstr>
      <vt:lpstr>Execution of Bellman-Ford algorithm</vt:lpstr>
      <vt:lpstr>Execution of Bellman-Ford algorithm</vt:lpstr>
      <vt:lpstr>Bellman-Ford algorithm </vt:lpstr>
      <vt:lpstr>PowerPoint Presentation</vt:lpstr>
      <vt:lpstr>II</vt:lpstr>
      <vt:lpstr>All Pairs Shortest Paths (APSP) </vt:lpstr>
      <vt:lpstr>PowerPoint Presentation</vt:lpstr>
      <vt:lpstr>PowerPoint Presentation</vt:lpstr>
      <vt:lpstr>What is G^k ?</vt:lpstr>
      <vt:lpstr>PowerPoint Presentation</vt:lpstr>
      <vt:lpstr>PowerPoint Presentation</vt:lpstr>
      <vt:lpstr>PowerPoint Presentation</vt:lpstr>
      <vt:lpstr>PowerPoint Presentation</vt:lpstr>
      <vt:lpstr>Distance in G^2             Distance in G</vt:lpstr>
      <vt:lpstr>Distance in G^2             Distance in G</vt:lpstr>
      <vt:lpstr>Distance in G^2             Distance in 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500</cp:revision>
  <dcterms:created xsi:type="dcterms:W3CDTF">2011-12-03T04:13:03Z</dcterms:created>
  <dcterms:modified xsi:type="dcterms:W3CDTF">2025-09-26T07:10:26Z</dcterms:modified>
</cp:coreProperties>
</file>