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5"/>
  </p:notesMasterIdLst>
  <p:sldIdLst>
    <p:sldId id="428" r:id="rId2"/>
    <p:sldId id="515" r:id="rId3"/>
    <p:sldId id="548" r:id="rId4"/>
    <p:sldId id="697" r:id="rId5"/>
    <p:sldId id="607" r:id="rId6"/>
    <p:sldId id="695" r:id="rId7"/>
    <p:sldId id="696" r:id="rId8"/>
    <p:sldId id="687" r:id="rId9"/>
    <p:sldId id="609" r:id="rId10"/>
    <p:sldId id="610" r:id="rId11"/>
    <p:sldId id="611" r:id="rId12"/>
    <p:sldId id="612" r:id="rId13"/>
    <p:sldId id="613" r:id="rId14"/>
    <p:sldId id="615" r:id="rId15"/>
    <p:sldId id="579" r:id="rId16"/>
    <p:sldId id="674" r:id="rId17"/>
    <p:sldId id="691" r:id="rId18"/>
    <p:sldId id="692" r:id="rId19"/>
    <p:sldId id="591" r:id="rId20"/>
    <p:sldId id="653" r:id="rId21"/>
    <p:sldId id="645" r:id="rId22"/>
    <p:sldId id="654" r:id="rId23"/>
    <p:sldId id="698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557" autoAdjust="0"/>
    <p:restoredTop sz="94052" autoAdjust="0"/>
  </p:normalViewPr>
  <p:slideViewPr>
    <p:cSldViewPr>
      <p:cViewPr varScale="1">
        <p:scale>
          <a:sx n="105" d="100"/>
          <a:sy n="105" d="100"/>
        </p:scale>
        <p:origin x="139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 we solve any problem in this paradigm ?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3</a:t>
            </a:r>
            <a:r>
              <a:rPr lang="en-US" baseline="30000" dirty="0"/>
              <a:t>rd</a:t>
            </a:r>
            <a:r>
              <a:rPr lang="en-US" baseline="0" dirty="0"/>
              <a:t> step (</a:t>
            </a:r>
            <a:r>
              <a:rPr lang="en-US" b="1" baseline="0" dirty="0"/>
              <a:t>Combine</a:t>
            </a:r>
            <a:r>
              <a:rPr lang="en-US" baseline="0" dirty="0"/>
              <a:t> step)</a:t>
            </a:r>
            <a:r>
              <a:rPr lang="en-US" dirty="0"/>
              <a:t> is usually the main </a:t>
            </a:r>
            <a:r>
              <a:rPr lang="en-US" b="1" dirty="0"/>
              <a:t>nontrivial</a:t>
            </a:r>
            <a:r>
              <a:rPr lang="en-US" dirty="0"/>
              <a:t> step in the design of an algorithm using divide and conquer strategy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11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evaluate x^{n/2} in log n time for any given value of x: by repeated squaring: </a:t>
            </a:r>
          </a:p>
          <a:p>
            <a:r>
              <a:rPr lang="en-US" dirty="0"/>
              <a:t>For example, to compute x^1024, we compute and square x^512.</a:t>
            </a:r>
          </a:p>
          <a:p>
            <a:r>
              <a:rPr lang="en-US" dirty="0"/>
              <a:t>To compute x^512, we compute and square x^128.</a:t>
            </a:r>
          </a:p>
          <a:p>
            <a:r>
              <a:rPr lang="en-US" dirty="0"/>
              <a:t>To compute x^128, we </a:t>
            </a:r>
            <a:r>
              <a:rPr lang="en-US" dirty="0" err="1"/>
              <a:t>copute</a:t>
            </a:r>
            <a:r>
              <a:rPr lang="en-US" dirty="0"/>
              <a:t> and square x^64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To compute x^2, we square x.</a:t>
            </a:r>
          </a:p>
          <a:p>
            <a:r>
              <a:rPr lang="en-US" dirty="0"/>
              <a:t>So just O(log n) arithmetic operations are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54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evaluate x^{n/2} in log n time for any given value of x: by repeated squaring: </a:t>
            </a:r>
          </a:p>
          <a:p>
            <a:r>
              <a:rPr lang="en-US" dirty="0"/>
              <a:t>For example, to compute x^1024, we compute and square x^512.</a:t>
            </a:r>
          </a:p>
          <a:p>
            <a:r>
              <a:rPr lang="en-US" dirty="0"/>
              <a:t>To compute x^512, we compute and square x^128.</a:t>
            </a:r>
          </a:p>
          <a:p>
            <a:r>
              <a:rPr lang="en-US" dirty="0"/>
              <a:t>To compute x^128, we </a:t>
            </a:r>
            <a:r>
              <a:rPr lang="en-US" dirty="0" err="1"/>
              <a:t>copute</a:t>
            </a:r>
            <a:r>
              <a:rPr lang="en-US" dirty="0"/>
              <a:t> and square x^64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To compute x^2, we square x.</a:t>
            </a:r>
          </a:p>
          <a:p>
            <a:r>
              <a:rPr lang="en-US" dirty="0"/>
              <a:t>So just O(log n) arithmetic operations are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49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evaluate x^{n/2} in log n time for any given value of x: by repeated squaring: </a:t>
            </a:r>
          </a:p>
          <a:p>
            <a:r>
              <a:rPr lang="en-US" dirty="0"/>
              <a:t>For example, to compute x^1024, we compute and square x^512.</a:t>
            </a:r>
          </a:p>
          <a:p>
            <a:r>
              <a:rPr lang="en-US" dirty="0"/>
              <a:t>To compute x^512, we compute and square x^128.</a:t>
            </a:r>
          </a:p>
          <a:p>
            <a:r>
              <a:rPr lang="en-US" dirty="0"/>
              <a:t>To compute x^128, we </a:t>
            </a:r>
            <a:r>
              <a:rPr lang="en-US" dirty="0" err="1"/>
              <a:t>copute</a:t>
            </a:r>
            <a:r>
              <a:rPr lang="en-US" dirty="0"/>
              <a:t> and square x^64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To compute x^2, we square x.</a:t>
            </a:r>
          </a:p>
          <a:p>
            <a:r>
              <a:rPr lang="en-US" dirty="0"/>
              <a:t>So just O(log n) arithmetic operations are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71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77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27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0.png"/><Relationship Id="rId18" Type="http://schemas.openxmlformats.org/officeDocument/2006/relationships/image" Target="../media/image280.png"/><Relationship Id="rId3" Type="http://schemas.openxmlformats.org/officeDocument/2006/relationships/image" Target="../media/image310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5" Type="http://schemas.openxmlformats.org/officeDocument/2006/relationships/image" Target="../media/image251.png"/><Relationship Id="rId4" Type="http://schemas.openxmlformats.org/officeDocument/2006/relationships/image" Target="../media/image1300.png"/><Relationship Id="rId14" Type="http://schemas.openxmlformats.org/officeDocument/2006/relationships/image" Target="../media/image2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46.png"/><Relationship Id="rId12" Type="http://schemas.openxmlformats.org/officeDocument/2006/relationships/image" Target="../media/image10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91.png"/><Relationship Id="rId5" Type="http://schemas.openxmlformats.org/officeDocument/2006/relationships/image" Target="../media/image70.png"/><Relationship Id="rId10" Type="http://schemas.openxmlformats.org/officeDocument/2006/relationships/image" Target="../media/image49.png"/><Relationship Id="rId4" Type="http://schemas.openxmlformats.org/officeDocument/2006/relationships/image" Target="../media/image62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32.png"/><Relationship Id="rId3" Type="http://schemas.openxmlformats.org/officeDocument/2006/relationships/image" Target="../media/image150.png"/><Relationship Id="rId7" Type="http://schemas.openxmlformats.org/officeDocument/2006/relationships/image" Target="../media/image17.png"/><Relationship Id="rId12" Type="http://schemas.openxmlformats.org/officeDocument/2006/relationships/image" Target="../media/image220.png"/><Relationship Id="rId17" Type="http://schemas.openxmlformats.org/officeDocument/2006/relationships/image" Target="../media/image2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11" Type="http://schemas.openxmlformats.org/officeDocument/2006/relationships/image" Target="../media/image210.png"/><Relationship Id="rId5" Type="http://schemas.openxmlformats.org/officeDocument/2006/relationships/image" Target="../media/image140.png"/><Relationship Id="rId10" Type="http://schemas.openxmlformats.org/officeDocument/2006/relationships/image" Target="../media/image200.png"/><Relationship Id="rId4" Type="http://schemas.openxmlformats.org/officeDocument/2006/relationships/image" Target="../media/image130.png"/><Relationship Id="rId9" Type="http://schemas.openxmlformats.org/officeDocument/2006/relationships/image" Target="../media/image190.png"/><Relationship Id="rId14" Type="http://schemas.openxmlformats.org/officeDocument/2006/relationships/image" Target="../media/image1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32.png"/><Relationship Id="rId18" Type="http://schemas.openxmlformats.org/officeDocument/2006/relationships/image" Target="../media/image151.png"/><Relationship Id="rId3" Type="http://schemas.openxmlformats.org/officeDocument/2006/relationships/image" Target="../media/image150.png"/><Relationship Id="rId7" Type="http://schemas.openxmlformats.org/officeDocument/2006/relationships/image" Target="../media/image17.png"/><Relationship Id="rId17" Type="http://schemas.openxmlformats.org/officeDocument/2006/relationships/image" Target="../media/image2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5" Type="http://schemas.openxmlformats.org/officeDocument/2006/relationships/image" Target="../media/image140.png"/><Relationship Id="rId10" Type="http://schemas.openxmlformats.org/officeDocument/2006/relationships/image" Target="../media/image200.png"/><Relationship Id="rId4" Type="http://schemas.openxmlformats.org/officeDocument/2006/relationships/image" Target="../media/image130.png"/><Relationship Id="rId9" Type="http://schemas.openxmlformats.org/officeDocument/2006/relationships/image" Target="../media/image190.png"/><Relationship Id="rId14" Type="http://schemas.openxmlformats.org/officeDocument/2006/relationships/image" Target="../media/image14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50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../media/image411.png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3100.png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51.png"/><Relationship Id="rId18" Type="http://schemas.openxmlformats.org/officeDocument/2006/relationships/image" Target="../media/image54.png"/><Relationship Id="rId3" Type="http://schemas.openxmlformats.org/officeDocument/2006/relationships/image" Target="../media/image30.png"/><Relationship Id="rId7" Type="http://schemas.openxmlformats.org/officeDocument/2006/relationships/image" Target="../media/image42.png"/><Relationship Id="rId12" Type="http://schemas.openxmlformats.org/officeDocument/2006/relationships/image" Target="../media/image500.png"/><Relationship Id="rId17" Type="http://schemas.openxmlformats.org/officeDocument/2006/relationships/image" Target="../media/image141.png"/><Relationship Id="rId2" Type="http://schemas.openxmlformats.org/officeDocument/2006/relationships/image" Target="../media/image29.png"/><Relationship Id="rId16" Type="http://schemas.openxmlformats.org/officeDocument/2006/relationships/image" Target="../media/image131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70.png"/><Relationship Id="rId5" Type="http://schemas.openxmlformats.org/officeDocument/2006/relationships/image" Target="../media/image40.png"/><Relationship Id="rId15" Type="http://schemas.openxmlformats.org/officeDocument/2006/relationships/image" Target="../media/image53.png"/><Relationship Id="rId10" Type="http://schemas.openxmlformats.org/officeDocument/2006/relationships/image" Target="../media/image45.png"/><Relationship Id="rId19" Type="http://schemas.openxmlformats.org/officeDocument/2006/relationships/image" Target="../media/image55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Relationship Id="rId1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notesSlide" Target="../notesSlides/notesSlide6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../media/image16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495800"/>
            <a:ext cx="67818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4</a:t>
            </a:r>
          </a:p>
          <a:p>
            <a:pPr marL="342900" indent="-342900" algn="l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7030A0"/>
                </a:solidFill>
              </a:rPr>
              <a:t>Divide and Conquer </a:t>
            </a:r>
            <a:r>
              <a:rPr lang="en-US" sz="2400" b="1" dirty="0">
                <a:solidFill>
                  <a:schemeClr val="tx1"/>
                </a:solidFill>
              </a:rPr>
              <a:t>Paradigm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- </a:t>
            </a:r>
            <a:r>
              <a:rPr lang="en-US" sz="2400" b="1" dirty="0">
                <a:solidFill>
                  <a:srgbClr val="0070C0"/>
                </a:solidFill>
              </a:rPr>
              <a:t>III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pPr marL="800100" lvl="1" indent="-342900" algn="l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A number theoretic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                 </a:t>
            </a:r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39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Divide and Conquer </a:t>
            </a:r>
            <a:r>
              <a:rPr lang="en-US" sz="3600" b="1" dirty="0"/>
              <a:t>paradigm 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9295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B89B921-D39E-5EA7-8282-67E580B12C0C}"/>
              </a:ext>
            </a:extLst>
          </p:cNvPr>
          <p:cNvSpPr/>
          <p:nvPr/>
        </p:nvSpPr>
        <p:spPr>
          <a:xfrm>
            <a:off x="0" y="2590800"/>
            <a:ext cx="457200" cy="68437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0C1738-4DB1-BE48-BC13-798AEF7476A2}"/>
              </a:ext>
            </a:extLst>
          </p:cNvPr>
          <p:cNvSpPr/>
          <p:nvPr/>
        </p:nvSpPr>
        <p:spPr>
          <a:xfrm>
            <a:off x="0" y="4040030"/>
            <a:ext cx="457200" cy="68437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rgbClr val="7030A0"/>
                </a:solidFill>
              </a:rPr>
              <a:t>An Overview 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Divide</a:t>
            </a:r>
            <a:r>
              <a:rPr lang="en-US" sz="2000" dirty="0"/>
              <a:t> the problem instance into two or more instances  of the same problem.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dirty="0"/>
              <a:t>Solve each smaller instance  </a:t>
            </a:r>
            <a:r>
              <a:rPr lang="en-US" sz="2000" b="1" u="sng" dirty="0">
                <a:solidFill>
                  <a:srgbClr val="7030A0"/>
                </a:solidFill>
              </a:rPr>
              <a:t>recursively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/>
              <a:t>(base case suitably defined).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Combine</a:t>
            </a:r>
            <a:r>
              <a:rPr lang="en-US" sz="2000" dirty="0"/>
              <a:t> the solutions of the smaller instances </a:t>
            </a:r>
          </a:p>
          <a:p>
            <a:pPr marL="0" indent="0">
              <a:buNone/>
            </a:pPr>
            <a:r>
              <a:rPr lang="en-US" sz="2000" dirty="0"/>
              <a:t>         to get the solution of the original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57601" y="2819400"/>
            <a:ext cx="2819399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53200" y="2819400"/>
            <a:ext cx="2819399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81400" y="3505200"/>
            <a:ext cx="12212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00600" y="3505200"/>
            <a:ext cx="28976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6400" y="4191000"/>
            <a:ext cx="38862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F95D2-BB53-9447-82B5-0D2C548F01AF}"/>
              </a:ext>
            </a:extLst>
          </p:cNvPr>
          <p:cNvSpPr/>
          <p:nvPr/>
        </p:nvSpPr>
        <p:spPr>
          <a:xfrm>
            <a:off x="683779" y="2842419"/>
            <a:ext cx="28976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BBB239-6358-AB4E-90EA-3552CF7F4D2F}"/>
              </a:ext>
            </a:extLst>
          </p:cNvPr>
          <p:cNvSpPr/>
          <p:nvPr/>
        </p:nvSpPr>
        <p:spPr>
          <a:xfrm>
            <a:off x="609600" y="3429000"/>
            <a:ext cx="28976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659B59-A57C-854C-9BA1-86C2BBB8812D}"/>
              </a:ext>
            </a:extLst>
          </p:cNvPr>
          <p:cNvSpPr/>
          <p:nvPr/>
        </p:nvSpPr>
        <p:spPr>
          <a:xfrm>
            <a:off x="609601" y="4191000"/>
            <a:ext cx="12192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387B13-1E98-3EFD-8B13-4DFE6AA13319}"/>
              </a:ext>
            </a:extLst>
          </p:cNvPr>
          <p:cNvSpPr txBox="1"/>
          <p:nvPr/>
        </p:nvSpPr>
        <p:spPr>
          <a:xfrm>
            <a:off x="2743200" y="602456"/>
            <a:ext cx="2990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of </a:t>
            </a:r>
            <a:r>
              <a:rPr lang="en-US" sz="2800" b="1" dirty="0">
                <a:solidFill>
                  <a:srgbClr val="0070C0"/>
                </a:solidFill>
              </a:rPr>
              <a:t>today’s problem</a:t>
            </a:r>
            <a:endParaRPr lang="en-IN" sz="2800" b="1" dirty="0">
              <a:solidFill>
                <a:srgbClr val="0070C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90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6945E-18 1.11111E-6 L 3.46945E-18 -0.21667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5" grpId="1" animBg="1"/>
      <p:bldP spid="2" grpId="0"/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F9E46-7883-BCA5-9C53-B16B8AEF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r>
              <a:rPr lang="en-US" sz="2000" dirty="0"/>
              <a:t>Most </a:t>
            </a:r>
            <a:r>
              <a:rPr lang="en-US" sz="2000" u="sng" dirty="0"/>
              <a:t>non-trivial</a:t>
            </a:r>
            <a:r>
              <a:rPr lang="en-US" sz="2000" dirty="0"/>
              <a:t> and </a:t>
            </a:r>
            <a:r>
              <a:rPr lang="en-US" sz="2000" u="sng" dirty="0"/>
              <a:t>novel</a:t>
            </a:r>
            <a:r>
              <a:rPr lang="en-US" sz="2000" dirty="0"/>
              <a:t> algorithm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Invented by </a:t>
            </a:r>
            <a:r>
              <a:rPr lang="en-US" sz="2000" b="1" dirty="0">
                <a:solidFill>
                  <a:srgbClr val="7030A0"/>
                </a:solidFill>
              </a:rPr>
              <a:t>Gauss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Applications: </a:t>
            </a:r>
            <a:r>
              <a:rPr lang="en-US" sz="2000" b="1" dirty="0">
                <a:solidFill>
                  <a:srgbClr val="7030A0"/>
                </a:solidFill>
              </a:rPr>
              <a:t>Signal Processing </a:t>
            </a:r>
            <a:r>
              <a:rPr lang="en-US" sz="2000" dirty="0"/>
              <a:t>(Discrete Fourier Transform)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Amazing role of </a:t>
            </a:r>
            <a:r>
              <a:rPr lang="en-US" sz="2000" b="1" dirty="0">
                <a:solidFill>
                  <a:srgbClr val="7030A0"/>
                </a:solidFill>
              </a:rPr>
              <a:t>Complex numbers</a:t>
            </a:r>
          </a:p>
          <a:p>
            <a:endParaRPr lang="en-US" sz="2000" b="1" dirty="0">
              <a:solidFill>
                <a:srgbClr val="7030A0"/>
              </a:solidFill>
            </a:endParaRPr>
          </a:p>
          <a:p>
            <a:endParaRPr lang="en-US" sz="2000" b="1" dirty="0">
              <a:solidFill>
                <a:srgbClr val="7030A0"/>
              </a:solidFill>
            </a:endParaRPr>
          </a:p>
          <a:p>
            <a:r>
              <a:rPr lang="en-US" sz="2000" b="1" dirty="0">
                <a:solidFill>
                  <a:srgbClr val="7030A0"/>
                </a:solidFill>
              </a:rPr>
              <a:t>Joy </a:t>
            </a:r>
            <a:r>
              <a:rPr lang="en-US" sz="2000" dirty="0"/>
              <a:t>for programmers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CA91C-F418-14E6-1674-F6AC85E5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A4D577-6B1D-CBF3-3758-DD6979E4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7030A0"/>
                </a:solidFill>
              </a:rPr>
              <a:t>An Overview 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AEEA8E-E275-CED3-4F9A-2618E45F1007}"/>
              </a:ext>
            </a:extLst>
          </p:cNvPr>
          <p:cNvSpPr txBox="1"/>
          <p:nvPr/>
        </p:nvSpPr>
        <p:spPr>
          <a:xfrm>
            <a:off x="2743200" y="602456"/>
            <a:ext cx="2990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of </a:t>
            </a:r>
            <a:r>
              <a:rPr lang="en-US" sz="2800" b="1" dirty="0">
                <a:solidFill>
                  <a:srgbClr val="0070C0"/>
                </a:solidFill>
              </a:rPr>
              <a:t>today’s problem</a:t>
            </a:r>
            <a:endParaRPr lang="en-IN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4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2965449"/>
            <a:ext cx="7772400" cy="1470025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An </a:t>
            </a:r>
            <a:r>
              <a:rPr lang="en-US" sz="3600" b="1" dirty="0">
                <a:sym typeface="Wingdings" pitchFamily="2" charset="2"/>
              </a:rPr>
              <a:t>algorithm for </a:t>
            </a:r>
            <a:br>
              <a:rPr lang="en-US" sz="3600" b="1" dirty="0">
                <a:sym typeface="Wingdings" pitchFamily="2" charset="2"/>
              </a:rPr>
            </a:br>
            <a:r>
              <a:rPr lang="en-US" sz="3600" b="1" dirty="0">
                <a:sym typeface="Wingdings" pitchFamily="2" charset="2"/>
              </a:rPr>
              <a:t>multiplying two polynomials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146629" y="1683657"/>
            <a:ext cx="6400800" cy="17526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Problem </a:t>
            </a:r>
            <a:r>
              <a:rPr lang="en-US" sz="5400" b="1" dirty="0">
                <a:solidFill>
                  <a:schemeClr val="tx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493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ym typeface="Wingdings" pitchFamily="2" charset="2"/>
              </a:rPr>
              <a:t>Multiplying two polynomials</a:t>
            </a:r>
            <a:br>
              <a:rPr lang="en-US" sz="3200" b="1" dirty="0">
                <a:sym typeface="Wingdings" pitchFamily="2" charset="2"/>
              </a:rPr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63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1800" dirty="0"/>
                  <a:t> (polynomial of degree </a:t>
                </a:r>
                <a:r>
                  <a:rPr lang="en-US" sz="1800" u="sng" dirty="0"/>
                  <a:t>less than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/>
                        </a:rPr>
                        <m:t>𝑥</m:t>
                      </m:r>
                      <m:r>
                        <a:rPr lang="en-US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Problem </a:t>
                </a:r>
                <a:r>
                  <a:rPr lang="en-US" sz="1800" dirty="0"/>
                  <a:t>: Given two polynomial of degree less than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/>
                        </a:rPr>
                        <m:t>𝑥</m:t>
                      </m:r>
                      <m:r>
                        <a:rPr lang="en-US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  <m:r>
                            <a:rPr lang="en-US" sz="18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𝐵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/>
                        </a:rPr>
                        <m:t>𝑥</m:t>
                      </m:r>
                      <m:r>
                        <a:rPr lang="en-US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  <m:r>
                            <a:rPr lang="en-US" sz="18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Compute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𝐶</m:t>
                    </m:r>
                    <m:r>
                      <a:rPr lang="en-US" sz="1800" i="1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𝐴</m:t>
                    </m:r>
                    <m:r>
                      <a:rPr lang="en-US" sz="1800" b="0" i="1" smtClean="0">
                        <a:latin typeface="Cambria Math"/>
                      </a:rPr>
                      <m:t> × </m:t>
                    </m:r>
                    <m:r>
                      <a:rPr lang="en-US" sz="1800" i="1">
                        <a:latin typeface="Cambria Math"/>
                      </a:rPr>
                      <m:t>𝐵</m:t>
                    </m:r>
                  </m:oMath>
                </a14:m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𝐶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800" b="0" i="1" smtClean="0">
                              <a:latin typeface="Cambria Math"/>
                            </a:rPr>
                            <m:t>0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&lt;2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−1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1800" dirty="0"/>
                  <a:t>= 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Trivial algorithm</a:t>
                </a:r>
                <a:r>
                  <a:rPr lang="en-US" sz="1800" dirty="0"/>
                  <a:t>:</a:t>
                </a:r>
                <a:r>
                  <a:rPr lang="en-US" sz="1800" b="1" i="1" dirty="0"/>
                  <a:t> O</a:t>
                </a:r>
                <a:r>
                  <a:rPr lang="en-US" sz="1800" dirty="0"/>
                  <a:t>(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dirty="0">
                    <a:sym typeface="Wingdings" pitchFamily="2" charset="2"/>
                  </a:rPr>
                  <a:t>)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Aim:</a:t>
                </a:r>
                <a:r>
                  <a:rPr lang="en-US" sz="1800" dirty="0"/>
                  <a:t> </a:t>
                </a:r>
                <a:r>
                  <a:rPr lang="en-US" sz="1800" b="1" i="1" dirty="0"/>
                  <a:t>O</a:t>
                </a:r>
                <a:r>
                  <a:rPr lang="en-US" sz="1800" dirty="0"/>
                  <a:t>(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func>
                  </m:oMath>
                </a14:m>
                <a:r>
                  <a:rPr lang="en-US" sz="1800" dirty="0">
                    <a:sym typeface="Wingdings" pitchFamily="2" charset="2"/>
                  </a:rPr>
                  <a:t>)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638800"/>
              </a:xfrm>
              <a:blipFill>
                <a:blip r:embed="rId2"/>
                <a:stretch>
                  <a:fillRect l="-593" t="-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00200" y="4126468"/>
                <a:ext cx="47338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…+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126468"/>
                <a:ext cx="473386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267200" y="3657600"/>
            <a:ext cx="914400" cy="22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705600" y="4114800"/>
                <a:ext cx="1044773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4114800"/>
                <a:ext cx="104477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678" t="-8197" r="-99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667000" y="838200"/>
            <a:ext cx="1981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47800" y="1905000"/>
            <a:ext cx="4267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68FF7-4BF9-A9D3-0BEB-0E3CC1553416}"/>
              </a:ext>
            </a:extLst>
          </p:cNvPr>
          <p:cNvSpPr/>
          <p:nvPr/>
        </p:nvSpPr>
        <p:spPr>
          <a:xfrm>
            <a:off x="3352800" y="4191000"/>
            <a:ext cx="2819400" cy="2834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129BE-F502-3A60-B353-46D89040976B}"/>
              </a:ext>
            </a:extLst>
          </p:cNvPr>
          <p:cNvSpPr/>
          <p:nvPr/>
        </p:nvSpPr>
        <p:spPr>
          <a:xfrm>
            <a:off x="2465832" y="4184904"/>
            <a:ext cx="2819400" cy="2834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6D9034-C6B5-6EE3-73AA-A3DA72BFE091}"/>
                  </a:ext>
                </a:extLst>
              </p:cNvPr>
              <p:cNvSpPr txBox="1"/>
              <p:nvPr/>
            </p:nvSpPr>
            <p:spPr>
              <a:xfrm>
                <a:off x="518160" y="6075144"/>
                <a:ext cx="20724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Assumption</a:t>
                </a:r>
                <a:r>
                  <a:rPr lang="en-US" dirty="0"/>
                  <a:t>: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a power of </a:t>
                </a:r>
                <a:r>
                  <a:rPr lang="en-US" dirty="0">
                    <a:solidFill>
                      <a:srgbClr val="0070C0"/>
                    </a:solidFill>
                  </a:rPr>
                  <a:t>2</a:t>
                </a:r>
                <a:r>
                  <a:rPr lang="en-US" dirty="0"/>
                  <a:t>.   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6D9034-C6B5-6EE3-73AA-A3DA72BFE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6075144"/>
                <a:ext cx="2072427" cy="646331"/>
              </a:xfrm>
              <a:prstGeom prst="rect">
                <a:avLst/>
              </a:prstGeom>
              <a:blipFill>
                <a:blip r:embed="rId5"/>
                <a:stretch>
                  <a:fillRect l="-2353" t="-5660" r="-1176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73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2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Divide Step</a:t>
            </a:r>
            <a:br>
              <a:rPr lang="en-US" sz="4000" b="1" dirty="0"/>
            </a:b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2000" b="1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first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second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D037AEF-FD9D-B542-9995-D525CA52F81D}"/>
              </a:ext>
            </a:extLst>
          </p:cNvPr>
          <p:cNvSpPr txBox="1"/>
          <p:nvPr/>
        </p:nvSpPr>
        <p:spPr>
          <a:xfrm>
            <a:off x="3728756" y="887160"/>
            <a:ext cx="1686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Attempt </a:t>
            </a:r>
            <a:r>
              <a:rPr lang="en-US" sz="2800" b="1" dirty="0">
                <a:solidFill>
                  <a:srgbClr val="0070C0"/>
                </a:solidFill>
              </a:rPr>
              <a:t>1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4" name="Right Brace 13"/>
          <p:cNvSpPr/>
          <p:nvPr/>
        </p:nvSpPr>
        <p:spPr>
          <a:xfrm rot="5400000">
            <a:off x="3405396" y="2113091"/>
            <a:ext cx="438382" cy="2305391"/>
          </a:xfrm>
          <a:prstGeom prst="rightBrac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86906" y="3421528"/>
                <a:ext cx="11517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first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6" y="3421528"/>
                <a:ext cx="1151726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 rot="5400000">
            <a:off x="6959696" y="2254234"/>
            <a:ext cx="452445" cy="2087361"/>
          </a:xfrm>
          <a:prstGeom prst="rightBrac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564365" y="3421528"/>
                <a:ext cx="1408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second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365" y="3421528"/>
                <a:ext cx="1408206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577344" y="2522429"/>
                <a:ext cx="2170851" cy="46147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First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terms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344" y="2522429"/>
                <a:ext cx="2170851" cy="461473"/>
              </a:xfrm>
              <a:prstGeom prst="rect">
                <a:avLst/>
              </a:prstGeom>
              <a:blipFill>
                <a:blip r:embed="rId13"/>
                <a:stretch>
                  <a:fillRect l="-2528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597209" y="2516877"/>
                <a:ext cx="2091470" cy="46147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terms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209" y="2516877"/>
                <a:ext cx="2091470" cy="461473"/>
              </a:xfrm>
              <a:prstGeom prst="rect">
                <a:avLst/>
              </a:prstGeom>
              <a:blipFill>
                <a:blip r:embed="rId14"/>
                <a:stretch>
                  <a:fillRect l="-2332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47F585-55F4-444D-8B56-0CB1AAF9438C}"/>
                  </a:ext>
                </a:extLst>
              </p:cNvPr>
              <p:cNvSpPr txBox="1"/>
              <p:nvPr/>
            </p:nvSpPr>
            <p:spPr>
              <a:xfrm>
                <a:off x="2275103" y="2419547"/>
                <a:ext cx="2672848" cy="6592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47F585-55F4-444D-8B56-0CB1AAF94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103" y="2419547"/>
                <a:ext cx="2672848" cy="65921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/>
              <p:nvPr/>
            </p:nvSpPr>
            <p:spPr>
              <a:xfrm>
                <a:off x="5335198" y="2424408"/>
                <a:ext cx="2940484" cy="6592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 …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198" y="2424408"/>
                <a:ext cx="2940484" cy="65921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/>
              <p:nvPr/>
            </p:nvSpPr>
            <p:spPr>
              <a:xfrm>
                <a:off x="5341182" y="2458345"/>
                <a:ext cx="2810448" cy="6592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+ …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182" y="2458345"/>
                <a:ext cx="2810448" cy="65921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22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4" grpId="0" animBg="1"/>
      <p:bldP spid="8" grpId="0"/>
      <p:bldP spid="16" grpId="0" animBg="1"/>
      <p:bldP spid="17" grpId="0"/>
      <p:bldP spid="24" grpId="0" animBg="1"/>
      <p:bldP spid="25" grpId="0" animBg="1"/>
      <p:bldP spid="5" grpId="0" animBg="1"/>
      <p:bldP spid="7" grpId="0" animBg="1"/>
      <p:bldP spid="27" grpId="0" animBg="1"/>
      <p:bldP spid="2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5D4ECC9-7008-BA6B-5F5E-194AB10A5C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4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4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4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4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time algorithm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5D4ECC9-7008-BA6B-5F5E-194AB10A5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806037-3436-B355-11EC-32AD139809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first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second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first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second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=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806037-3436-B355-11EC-32AD13980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59827-0901-6EF8-5907-5BBFC74C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908A36-A5C2-2740-F6C5-279DC8330884}"/>
              </a:ext>
            </a:extLst>
          </p:cNvPr>
          <p:cNvCxnSpPr/>
          <p:nvPr/>
        </p:nvCxnSpPr>
        <p:spPr>
          <a:xfrm>
            <a:off x="3857393" y="217857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0B14AC-D62F-DEA7-C64A-40913C14F169}"/>
              </a:ext>
            </a:extLst>
          </p:cNvPr>
          <p:cNvCxnSpPr/>
          <p:nvPr/>
        </p:nvCxnSpPr>
        <p:spPr>
          <a:xfrm>
            <a:off x="5620249" y="2210958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7DF87E-2FE8-74E2-57C1-0AAE41451A7B}"/>
              </a:ext>
            </a:extLst>
          </p:cNvPr>
          <p:cNvCxnSpPr/>
          <p:nvPr/>
        </p:nvCxnSpPr>
        <p:spPr>
          <a:xfrm>
            <a:off x="3886200" y="22098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30FE61-B0EB-5620-92E0-5B0B21154C68}"/>
              </a:ext>
            </a:extLst>
          </p:cNvPr>
          <p:cNvCxnSpPr/>
          <p:nvPr/>
        </p:nvCxnSpPr>
        <p:spPr>
          <a:xfrm flipH="1">
            <a:off x="3876205" y="2194719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106BE4-5399-00B5-EFDC-F52CC0A96843}"/>
                  </a:ext>
                </a:extLst>
              </p:cNvPr>
              <p:cNvSpPr txBox="1"/>
              <p:nvPr/>
            </p:nvSpPr>
            <p:spPr>
              <a:xfrm>
                <a:off x="3124200" y="4724400"/>
                <a:ext cx="274947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8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𝒄𝒏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106BE4-5399-00B5-EFDC-F52CC0A96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724400"/>
                <a:ext cx="2749471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BAEA7E2B-FE5D-FCCF-B9BC-F0B5372AE224}"/>
                  </a:ext>
                </a:extLst>
              </p:cNvPr>
              <p:cNvSpPr/>
              <p:nvPr/>
            </p:nvSpPr>
            <p:spPr>
              <a:xfrm>
                <a:off x="2819400" y="3871799"/>
                <a:ext cx="3276600" cy="56578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Multiplication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polynomials of degree 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BAEA7E2B-FE5D-FCCF-B9BC-F0B5372AE2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871799"/>
                <a:ext cx="3276600" cy="565788"/>
              </a:xfrm>
              <a:prstGeom prst="roundRect">
                <a:avLst/>
              </a:prstGeom>
              <a:blipFill>
                <a:blip r:embed="rId5"/>
                <a:stretch>
                  <a:fillRect t="-6250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A26405-6247-9EE2-5E1B-2232B4AD74E8}"/>
                  </a:ext>
                </a:extLst>
              </p:cNvPr>
              <p:cNvSpPr txBox="1"/>
              <p:nvPr/>
            </p:nvSpPr>
            <p:spPr>
              <a:xfrm>
                <a:off x="2003151" y="3943270"/>
                <a:ext cx="7248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A26405-6247-9EE2-5E1B-2232B4AD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151" y="3943270"/>
                <a:ext cx="724878" cy="461665"/>
              </a:xfrm>
              <a:prstGeom prst="rect">
                <a:avLst/>
              </a:prstGeom>
              <a:blipFill>
                <a:blip r:embed="rId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wn Arrow 14">
            <a:extLst>
              <a:ext uri="{FF2B5EF4-FFF2-40B4-BE49-F238E27FC236}">
                <a16:creationId xmlns:a16="http://schemas.microsoft.com/office/drawing/2014/main" id="{D17F82ED-3C4B-E5C4-09A2-5C79FF02409A}"/>
              </a:ext>
            </a:extLst>
          </p:cNvPr>
          <p:cNvSpPr/>
          <p:nvPr/>
        </p:nvSpPr>
        <p:spPr>
          <a:xfrm>
            <a:off x="4734665" y="5046549"/>
            <a:ext cx="228600" cy="7764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F87F4E-A03B-8909-9694-5B2FAFE9D4BF}"/>
                  </a:ext>
                </a:extLst>
              </p:cNvPr>
              <p:cNvSpPr txBox="1"/>
              <p:nvPr/>
            </p:nvSpPr>
            <p:spPr>
              <a:xfrm>
                <a:off x="4650834" y="5958494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F87F4E-A03B-8909-9694-5B2FAFE9D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834" y="5958494"/>
                <a:ext cx="39626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3A961CA-41AD-053C-4F52-CBC0E243CED8}"/>
              </a:ext>
            </a:extLst>
          </p:cNvPr>
          <p:cNvSpPr txBox="1"/>
          <p:nvPr/>
        </p:nvSpPr>
        <p:spPr>
          <a:xfrm>
            <a:off x="7589520" y="5453618"/>
            <a:ext cx="129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5CAC8F-E976-0CCB-9BCE-F717D12C1070}"/>
                  </a:ext>
                </a:extLst>
              </p:cNvPr>
              <p:cNvSpPr txBox="1"/>
              <p:nvPr/>
            </p:nvSpPr>
            <p:spPr>
              <a:xfrm>
                <a:off x="1560722" y="441384"/>
                <a:ext cx="2517356" cy="77713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4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1.58 </m:t>
                          </m:r>
                        </m:sup>
                      </m:sSup>
                      <m:r>
                        <a:rPr lang="en-US" sz="4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5CAC8F-E976-0CCB-9BCE-F717D12C1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722" y="441384"/>
                <a:ext cx="2517356" cy="777136"/>
              </a:xfrm>
              <a:prstGeom prst="rect">
                <a:avLst/>
              </a:prstGeom>
              <a:blipFill>
                <a:blip r:embed="rId8"/>
                <a:stretch>
                  <a:fillRect l="-1000" t="-4839" r="-4000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75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2" grpId="0" animBg="1"/>
      <p:bldP spid="13" grpId="0" animBg="1"/>
      <p:bldP spid="14" grpId="0"/>
      <p:bldP spid="15" grpId="0" animBg="1"/>
      <p:bldP spid="16" grpId="0"/>
      <p:bldP spid="17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  <a:sym typeface="Wingdings" pitchFamily="2" charset="2"/>
              </a:rPr>
              <a:t>Representation</a:t>
            </a:r>
            <a:r>
              <a:rPr lang="en-US" sz="3200" b="1" dirty="0">
                <a:sym typeface="Wingdings" pitchFamily="2" charset="2"/>
              </a:rPr>
              <a:t> of a polynomial ?</a:t>
            </a:r>
            <a:br>
              <a:rPr lang="en-US" sz="3200" b="1" dirty="0">
                <a:sym typeface="Wingdings" pitchFamily="2" charset="2"/>
              </a:rPr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Coefficient</a:t>
                </a:r>
                <a:r>
                  <a:rPr lang="en-US" sz="1800" dirty="0"/>
                  <a:t> representation: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/>
                        </a:rPr>
                        <m:t>𝑥</m:t>
                      </m:r>
                      <m:r>
                        <a:rPr lang="en-US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  <m:r>
                            <a:rPr lang="en-US" sz="18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0" dirty="0">
                    <a:solidFill>
                      <a:schemeClr val="tx1"/>
                    </a:solidFill>
                  </a:rPr>
                  <a:t>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US" sz="1800" dirty="0"/>
                  <a:t>			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4724400" y="2971800"/>
            <a:ext cx="484632" cy="38100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4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  <a:sym typeface="Wingdings" pitchFamily="2" charset="2"/>
              </a:rPr>
              <a:t>Representation</a:t>
            </a:r>
            <a:r>
              <a:rPr lang="en-US" sz="3200" b="1" dirty="0">
                <a:sym typeface="Wingdings" pitchFamily="2" charset="2"/>
              </a:rPr>
              <a:t> of a polynomial ?</a:t>
            </a:r>
            <a:br>
              <a:rPr lang="en-US" sz="3200" b="1" dirty="0">
                <a:sym typeface="Wingdings" pitchFamily="2" charset="2"/>
              </a:rPr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28600" y="1600200"/>
                <a:ext cx="441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Alternate representation of polynomial  </a:t>
                </a:r>
              </a:p>
              <a:p>
                <a:pPr marL="0" indent="0">
                  <a:buNone/>
                </a:pPr>
                <a:r>
                  <a:rPr lang="en-US" sz="1600" dirty="0"/>
                  <a:t>  “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16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”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 {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, </m:t>
                    </m:r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/>
                      </a:rPr>
                      <m:t>)</m:t>
                    </m:r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r>
                      <a:rPr lang="en-US" sz="16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, </m:t>
                    </m:r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/>
                  <a:t>} </a:t>
                </a:r>
              </a:p>
              <a:p>
                <a:pPr marL="0" indent="0">
                  <a:buNone/>
                </a:pPr>
                <a:r>
                  <a:rPr lang="en-US" sz="1600" dirty="0"/>
                  <a:t>for </a:t>
                </a:r>
                <a:r>
                  <a:rPr lang="en-US" sz="1600" b="1" dirty="0"/>
                  <a:t>any</a:t>
                </a:r>
                <a:r>
                  <a:rPr lang="en-US" sz="1600" dirty="0"/>
                  <a:t> distinct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uniquely define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8600" y="1600200"/>
                <a:ext cx="4419600" cy="4525963"/>
              </a:xfrm>
              <a:blipFill rotWithShape="1">
                <a:blip r:embed="rId2"/>
                <a:stretch>
                  <a:fillRect l="-828" t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Alternate representation of polynomial    “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16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”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{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, </m:t>
                    </m:r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/>
                      </a:rPr>
                      <m:t>),(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, </m:t>
                    </m:r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, </m:t>
                    </m:r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/>
                  <a:t>}</a:t>
                </a:r>
              </a:p>
              <a:p>
                <a:pPr marL="0" indent="0">
                  <a:buNone/>
                </a:pPr>
                <a:r>
                  <a:rPr lang="en-US" sz="1600" dirty="0"/>
                  <a:t>for </a:t>
                </a:r>
                <a:r>
                  <a:rPr lang="en-US" sz="1600" b="1" dirty="0"/>
                  <a:t>any</a:t>
                </a:r>
                <a:r>
                  <a:rPr lang="en-US" sz="1600" dirty="0"/>
                  <a:t> distinct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uniquely define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3" name="Content Placeholder 2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  <a:blipFill rotWithShape="1">
                <a:blip r:embed="rId3"/>
                <a:stretch>
                  <a:fillRect l="-1545" t="-404" r="-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76200" y="3352800"/>
            <a:ext cx="4191000" cy="3276600"/>
            <a:chOff x="-609600" y="3352800"/>
            <a:chExt cx="4191000" cy="32766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371600" y="3352800"/>
              <a:ext cx="0" cy="3276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-609600" y="5105400"/>
              <a:ext cx="4191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/>
        </p:nvCxnSpPr>
        <p:spPr>
          <a:xfrm flipV="1">
            <a:off x="152400" y="3352800"/>
            <a:ext cx="3505200" cy="24384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828800" y="3733800"/>
            <a:ext cx="1219200" cy="914400"/>
            <a:chOff x="1828800" y="3733800"/>
            <a:chExt cx="1219200" cy="914400"/>
          </a:xfrm>
        </p:grpSpPr>
        <p:sp>
          <p:nvSpPr>
            <p:cNvPr id="18" name="Oval 17"/>
            <p:cNvSpPr/>
            <p:nvPr/>
          </p:nvSpPr>
          <p:spPr>
            <a:xfrm>
              <a:off x="2971800" y="3733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1828800" y="45720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115948" y="3581400"/>
                <a:ext cx="12274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 </m:t>
                      </m:r>
                      <m:r>
                        <a:rPr lang="en-US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948" y="3581400"/>
                <a:ext cx="122745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594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820548" y="4431268"/>
                <a:ext cx="1238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 </m:t>
                      </m:r>
                      <m:r>
                        <a:rPr lang="en-US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548" y="4431268"/>
                <a:ext cx="1238095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59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4495800" y="3352800"/>
            <a:ext cx="4191000" cy="3276600"/>
            <a:chOff x="-609600" y="3352800"/>
            <a:chExt cx="4191000" cy="32766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1371600" y="3352800"/>
              <a:ext cx="0" cy="3276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609600" y="5105400"/>
              <a:ext cx="4191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5130350" y="3429000"/>
            <a:ext cx="2413450" cy="2305246"/>
            <a:chOff x="5130350" y="3429000"/>
            <a:chExt cx="2413450" cy="2305246"/>
          </a:xfrm>
        </p:grpSpPr>
        <p:sp>
          <p:nvSpPr>
            <p:cNvPr id="9" name="Freeform 8"/>
            <p:cNvSpPr/>
            <p:nvPr/>
          </p:nvSpPr>
          <p:spPr>
            <a:xfrm>
              <a:off x="5130350" y="3560496"/>
              <a:ext cx="1351370" cy="2173750"/>
            </a:xfrm>
            <a:custGeom>
              <a:avLst/>
              <a:gdLst>
                <a:gd name="connsiteX0" fmla="*/ 0 w 1351370"/>
                <a:gd name="connsiteY0" fmla="*/ 0 h 2173750"/>
                <a:gd name="connsiteX1" fmla="*/ 267038 w 1351370"/>
                <a:gd name="connsiteY1" fmla="*/ 1092424 h 2173750"/>
                <a:gd name="connsiteX2" fmla="*/ 525983 w 1351370"/>
                <a:gd name="connsiteY2" fmla="*/ 1634591 h 2173750"/>
                <a:gd name="connsiteX3" fmla="*/ 930585 w 1351370"/>
                <a:gd name="connsiteY3" fmla="*/ 2055377 h 2173750"/>
                <a:gd name="connsiteX4" fmla="*/ 1197622 w 1351370"/>
                <a:gd name="connsiteY4" fmla="*/ 2160573 h 2173750"/>
                <a:gd name="connsiteX5" fmla="*/ 1351370 w 1351370"/>
                <a:gd name="connsiteY5" fmla="*/ 2168665 h 217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1370" h="2173750">
                  <a:moveTo>
                    <a:pt x="0" y="0"/>
                  </a:moveTo>
                  <a:cubicBezTo>
                    <a:pt x="89687" y="409996"/>
                    <a:pt x="179374" y="819992"/>
                    <a:pt x="267038" y="1092424"/>
                  </a:cubicBezTo>
                  <a:cubicBezTo>
                    <a:pt x="354702" y="1364856"/>
                    <a:pt x="415392" y="1474099"/>
                    <a:pt x="525983" y="1634591"/>
                  </a:cubicBezTo>
                  <a:cubicBezTo>
                    <a:pt x="636574" y="1795083"/>
                    <a:pt x="818645" y="1967713"/>
                    <a:pt x="930585" y="2055377"/>
                  </a:cubicBezTo>
                  <a:cubicBezTo>
                    <a:pt x="1042525" y="2143041"/>
                    <a:pt x="1127491" y="2141692"/>
                    <a:pt x="1197622" y="2160573"/>
                  </a:cubicBezTo>
                  <a:cubicBezTo>
                    <a:pt x="1267753" y="2179454"/>
                    <a:pt x="1309561" y="2174059"/>
                    <a:pt x="1351370" y="2168665"/>
                  </a:cubicBezTo>
                </a:path>
              </a:pathLst>
            </a:cu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6481720" y="3429000"/>
              <a:ext cx="1062080" cy="2305246"/>
            </a:xfrm>
            <a:custGeom>
              <a:avLst/>
              <a:gdLst>
                <a:gd name="connsiteX0" fmla="*/ 0 w 1351370"/>
                <a:gd name="connsiteY0" fmla="*/ 0 h 2173750"/>
                <a:gd name="connsiteX1" fmla="*/ 267038 w 1351370"/>
                <a:gd name="connsiteY1" fmla="*/ 1092424 h 2173750"/>
                <a:gd name="connsiteX2" fmla="*/ 525983 w 1351370"/>
                <a:gd name="connsiteY2" fmla="*/ 1634591 h 2173750"/>
                <a:gd name="connsiteX3" fmla="*/ 930585 w 1351370"/>
                <a:gd name="connsiteY3" fmla="*/ 2055377 h 2173750"/>
                <a:gd name="connsiteX4" fmla="*/ 1197622 w 1351370"/>
                <a:gd name="connsiteY4" fmla="*/ 2160573 h 2173750"/>
                <a:gd name="connsiteX5" fmla="*/ 1351370 w 1351370"/>
                <a:gd name="connsiteY5" fmla="*/ 2168665 h 217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1370" h="2173750">
                  <a:moveTo>
                    <a:pt x="0" y="0"/>
                  </a:moveTo>
                  <a:cubicBezTo>
                    <a:pt x="89687" y="409996"/>
                    <a:pt x="179374" y="819992"/>
                    <a:pt x="267038" y="1092424"/>
                  </a:cubicBezTo>
                  <a:cubicBezTo>
                    <a:pt x="354702" y="1364856"/>
                    <a:pt x="415392" y="1474099"/>
                    <a:pt x="525983" y="1634591"/>
                  </a:cubicBezTo>
                  <a:cubicBezTo>
                    <a:pt x="636574" y="1795083"/>
                    <a:pt x="818645" y="1967713"/>
                    <a:pt x="930585" y="2055377"/>
                  </a:cubicBezTo>
                  <a:cubicBezTo>
                    <a:pt x="1042525" y="2143041"/>
                    <a:pt x="1127491" y="2141692"/>
                    <a:pt x="1197622" y="2160573"/>
                  </a:cubicBezTo>
                  <a:cubicBezTo>
                    <a:pt x="1267753" y="2179454"/>
                    <a:pt x="1309561" y="2174059"/>
                    <a:pt x="1351370" y="2168665"/>
                  </a:cubicBezTo>
                </a:path>
              </a:pathLst>
            </a:cu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715000" y="3657600"/>
            <a:ext cx="1828800" cy="1676400"/>
            <a:chOff x="5715000" y="3657600"/>
            <a:chExt cx="1828800" cy="1676400"/>
          </a:xfrm>
        </p:grpSpPr>
        <p:grpSp>
          <p:nvGrpSpPr>
            <p:cNvPr id="25" name="Group 24"/>
            <p:cNvGrpSpPr/>
            <p:nvPr/>
          </p:nvGrpSpPr>
          <p:grpSpPr>
            <a:xfrm>
              <a:off x="5715000" y="4419600"/>
              <a:ext cx="1676400" cy="914400"/>
              <a:chOff x="1828800" y="3733800"/>
              <a:chExt cx="1676400" cy="914400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3429000" y="3733800"/>
                <a:ext cx="76200" cy="76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1828800" y="4572000"/>
                <a:ext cx="76200" cy="76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Oval 27"/>
            <p:cNvSpPr/>
            <p:nvPr/>
          </p:nvSpPr>
          <p:spPr>
            <a:xfrm>
              <a:off x="7467600" y="36576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81705" y="5410200"/>
                <a:ext cx="1238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 </m:t>
                      </m:r>
                      <m:r>
                        <a:rPr lang="en-US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705" y="5410200"/>
                <a:ext cx="1238095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588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220105" y="4419600"/>
                <a:ext cx="12274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 </m:t>
                      </m:r>
                      <m:r>
                        <a:rPr lang="en-US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105" y="4419600"/>
                <a:ext cx="1227452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59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467600" y="3505200"/>
                <a:ext cx="1238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 </m:t>
                      </m:r>
                      <m:r>
                        <a:rPr lang="en-US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3505200"/>
                <a:ext cx="1238095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59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22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25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25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 uiExpand="1" build="p"/>
      <p:bldP spid="21" grpId="0" uiExpand="1"/>
      <p:bldP spid="22" grpId="0" uiExpand="1"/>
      <p:bldP spid="29" grpId="0" uiExpand="1"/>
      <p:bldP spid="30" grpId="0" uiExpand="1"/>
      <p:bldP spid="31" grpId="0" uiExpan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  <a:sym typeface="Wingdings" pitchFamily="2" charset="2"/>
              </a:rPr>
              <a:t>Representation</a:t>
            </a:r>
            <a:r>
              <a:rPr lang="en-US" sz="3200" b="1" dirty="0">
                <a:sym typeface="Wingdings" pitchFamily="2" charset="2"/>
              </a:rPr>
              <a:t> of a polynomial ?</a:t>
            </a:r>
            <a:br>
              <a:rPr lang="en-US" sz="3200" b="1" dirty="0">
                <a:sym typeface="Wingdings" pitchFamily="2" charset="2"/>
              </a:rPr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763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Theorem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n-US" sz="1800" dirty="0"/>
                  <a:t> Let {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),(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, …,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} be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1800" dirty="0"/>
                  <a:t> pairs of numbers with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’s distinct.</a:t>
                </a:r>
              </a:p>
              <a:p>
                <a:pPr marL="0" indent="0">
                  <a:buNone/>
                </a:pPr>
                <a:r>
                  <a:rPr lang="en-US" sz="1800" dirty="0"/>
                  <a:t> There exists a </a:t>
                </a:r>
                <a:r>
                  <a:rPr lang="en-US" sz="1800" b="1" dirty="0"/>
                  <a:t>unique</a:t>
                </a:r>
                <a:r>
                  <a:rPr lang="en-US" sz="1800" dirty="0"/>
                  <a:t> polynomial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𝐴</m:t>
                    </m:r>
                  </m:oMath>
                </a14:m>
                <a:r>
                  <a:rPr lang="en-US" sz="1800" dirty="0"/>
                  <a:t> of degree less than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1800" dirty="0"/>
                  <a:t>  such that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 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∀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Proof:</a:t>
                </a:r>
                <a:r>
                  <a:rPr lang="en-US" sz="1800" dirty="0"/>
                  <a:t>  Elementary matrix theory.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763000" cy="4525963"/>
              </a:xfrm>
              <a:blipFill>
                <a:blip r:embed="rId2"/>
                <a:stretch>
                  <a:fillRect l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609600" y="3276600"/>
            <a:ext cx="32004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>
            <a:stCxn id="2" idx="0"/>
          </p:cNvCxnSpPr>
          <p:nvPr/>
        </p:nvCxnSpPr>
        <p:spPr>
          <a:xfrm flipV="1">
            <a:off x="2209800" y="2670048"/>
            <a:ext cx="2628900" cy="6065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own Ribbon 11"/>
          <p:cNvSpPr/>
          <p:nvPr/>
        </p:nvSpPr>
        <p:spPr>
          <a:xfrm>
            <a:off x="2667000" y="2057400"/>
            <a:ext cx="4191000" cy="6126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rgbClr val="7030A0"/>
                </a:solidFill>
              </a:rPr>
              <a:t>point</a:t>
            </a:r>
            <a:r>
              <a:rPr lang="en-US" dirty="0" err="1">
                <a:solidFill>
                  <a:schemeClr val="tx1"/>
                </a:solidFill>
              </a:rPr>
              <a:t>,</a:t>
            </a:r>
            <a:r>
              <a:rPr lang="en-US" dirty="0" err="1">
                <a:solidFill>
                  <a:srgbClr val="7030A0"/>
                </a:solidFill>
              </a:rPr>
              <a:t>value</a:t>
            </a:r>
            <a:r>
              <a:rPr lang="en-US" dirty="0">
                <a:solidFill>
                  <a:schemeClr val="tx1"/>
                </a:solidFill>
              </a:rPr>
              <a:t>) representation of a polynomial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0" y="3200400"/>
            <a:ext cx="1905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657600" y="3581400"/>
            <a:ext cx="30861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2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" grpId="0" animBg="1"/>
      <p:bldP spid="12" grpId="0" animBg="1"/>
      <p:bldP spid="3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Questions</a:t>
            </a:r>
            <a:br>
              <a:rPr lang="en-US" sz="3200" b="1" dirty="0">
                <a:solidFill>
                  <a:srgbClr val="C00000"/>
                </a:solidFill>
              </a:rPr>
            </a:br>
            <a:endParaRPr 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𝑩</m:t>
                    </m:r>
                    <m:r>
                      <a:rPr lang="en-US" sz="1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: two polynomial of degree less than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,</a:t>
                </a:r>
              </a:p>
              <a:p>
                <a:pPr marL="0" indent="0">
                  <a:buNone/>
                </a:pPr>
                <a:r>
                  <a:rPr lang="en-US" sz="1800" dirty="0"/>
                  <a:t>and</a:t>
                </a:r>
              </a:p>
              <a:p>
                <a:pPr marL="0" indent="0"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𝑪</m:t>
                    </m:r>
                    <m:r>
                      <a:rPr lang="en-US" sz="1800" i="1">
                        <a:latin typeface="Cambria Math"/>
                      </a:rPr>
                      <m:t>=</m:t>
                    </m:r>
                    <m:r>
                      <a:rPr lang="en-US" sz="1800" b="1" i="1">
                        <a:latin typeface="Cambria Math"/>
                      </a:rPr>
                      <m:t>𝑨</m:t>
                    </m:r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800" b="1" i="1">
                        <a:latin typeface="Cambria Math"/>
                      </a:rPr>
                      <m:t>𝑩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and</a:t>
                </a:r>
              </a:p>
              <a:p>
                <a:pPr marL="0" indent="0">
                  <a:buNone/>
                </a:pPr>
                <a:r>
                  <a:rPr lang="en-US" sz="1800" dirty="0"/>
                  <a:t>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800" dirty="0"/>
                  <a:t>}: any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1800" dirty="0"/>
                  <a:t> distinct numbers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Suppose we are given {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,</m:t>
                    </m:r>
                    <m:r>
                      <a:rPr lang="en-US" sz="1800" b="1" i="1" smtClean="0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,…</m:t>
                    </m:r>
                  </m:oMath>
                </a14:m>
                <a:r>
                  <a:rPr lang="en-US" sz="1800" dirty="0"/>
                  <a:t> ,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} and {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,</m:t>
                    </m:r>
                    <m:r>
                      <a:rPr lang="en-US" sz="1800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,</m:t>
                    </m:r>
                    <m:r>
                      <a:rPr lang="en-US" sz="1800" i="1" smtClean="0">
                        <a:latin typeface="Cambria Math"/>
                      </a:rPr>
                      <m:t>…</m:t>
                    </m:r>
                  </m:oMath>
                </a14:m>
                <a:r>
                  <a:rPr lang="en-US" sz="1800" dirty="0"/>
                  <a:t> ,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} 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 1</a:t>
                </a:r>
                <a:r>
                  <a:rPr lang="en-US" sz="1800" dirty="0"/>
                  <a:t> : How efficiently can we compute {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,</m:t>
                    </m:r>
                    <m:r>
                      <a:rPr lang="en-US" sz="1800" b="1" i="1" smtClean="0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,…</m:t>
                    </m:r>
                  </m:oMath>
                </a14:m>
                <a:r>
                  <a:rPr lang="en-US" sz="1800" dirty="0"/>
                  <a:t> ,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}  ?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 2</a:t>
                </a:r>
                <a:r>
                  <a:rPr lang="en-US" sz="1800" dirty="0"/>
                  <a:t> : What should be the </a:t>
                </a:r>
                <a:r>
                  <a:rPr lang="en-US" sz="1800" b="1" dirty="0"/>
                  <a:t>smallest</a:t>
                </a:r>
                <a:r>
                  <a:rPr lang="en-US" sz="1800" dirty="0"/>
                  <a:t> value of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18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1800" dirty="0"/>
                  <a:t>such that </a:t>
                </a:r>
              </a:p>
              <a:p>
                <a:pPr marL="0" indent="0">
                  <a:buNone/>
                </a:pPr>
                <a:r>
                  <a:rPr lang="en-US" sz="1800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/>
                          </a:rPr>
                          <m:t>, </m:t>
                        </m:r>
                        <m:r>
                          <a:rPr lang="en-US" sz="1800" b="1" i="1" smtClean="0">
                            <a:latin typeface="Cambria Math"/>
                          </a:rPr>
                          <m:t>𝑪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i="1">
                        <a:latin typeface="Cambria Math"/>
                      </a:rPr>
                      <m:t>,</m:t>
                    </m:r>
                    <m:r>
                      <a:rPr lang="en-US" sz="1800" b="0" i="1" smtClean="0">
                        <a:latin typeface="Cambria Math"/>
                      </a:rPr>
                      <m:t>…,</m:t>
                    </m:r>
                    <m:r>
                      <a:rPr lang="en-US" sz="18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 </m:t>
                    </m:r>
                    <m:r>
                      <a:rPr lang="en-US" sz="1800" b="1" i="1" smtClean="0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}  is a (</a:t>
                </a:r>
                <a:r>
                  <a:rPr lang="en-US" sz="1800" dirty="0" err="1">
                    <a:solidFill>
                      <a:srgbClr val="7030A0"/>
                    </a:solidFill>
                  </a:rPr>
                  <a:t>point,value</a:t>
                </a:r>
                <a:r>
                  <a:rPr lang="en-US" sz="1800" dirty="0"/>
                  <a:t>) representation of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𝑪</m:t>
                    </m:r>
                  </m:oMath>
                </a14:m>
                <a:r>
                  <a:rPr lang="en-US" sz="1800" dirty="0"/>
                  <a:t> ?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>
                <a:blip r:embed="rId2"/>
                <a:stretch>
                  <a:fillRect l="-593" t="-6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601335" y="3669268"/>
                <a:ext cx="1161665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335" y="3669268"/>
                <a:ext cx="116166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712" t="-8197" r="-837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43800" y="4659868"/>
                <a:ext cx="906787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4659868"/>
                <a:ext cx="90678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878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618142" y="3048000"/>
            <a:ext cx="2514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562600" y="3048000"/>
            <a:ext cx="2514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105400" y="3048000"/>
            <a:ext cx="609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52600" y="2362200"/>
            <a:ext cx="2514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76600" y="4267200"/>
            <a:ext cx="2209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486400" y="4267200"/>
            <a:ext cx="2209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52600" y="4267200"/>
            <a:ext cx="2209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724400" y="3669268"/>
            <a:ext cx="2819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76400" y="3657600"/>
            <a:ext cx="219904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162300" y="3643284"/>
            <a:ext cx="2667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581400" y="4724400"/>
            <a:ext cx="3810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7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3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3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13552" y="2133600"/>
                <a:ext cx="2144048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552" y="2133600"/>
                <a:ext cx="2144048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977" t="-3704" r="-3955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18457" y="2223276"/>
                <a:ext cx="2129494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457" y="2223276"/>
                <a:ext cx="2129494" cy="369332"/>
              </a:xfrm>
              <a:prstGeom prst="rect">
                <a:avLst/>
              </a:prstGeom>
              <a:blipFill>
                <a:blip r:embed="rId3"/>
                <a:stretch>
                  <a:fillRect l="-2279" t="-8065" r="-1140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200" y="1981200"/>
                <a:ext cx="1447800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𝑩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rgbClr val="006C31"/>
                    </a:solidFill>
                  </a:rPr>
                  <a:t>Coefficient </a:t>
                </a:r>
              </a:p>
              <a:p>
                <a:r>
                  <a:rPr lang="en-US" sz="1600" dirty="0"/>
                  <a:t>representation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981200"/>
                <a:ext cx="1447800" cy="1077218"/>
              </a:xfrm>
              <a:prstGeom prst="rect">
                <a:avLst/>
              </a:prstGeom>
              <a:blipFill>
                <a:blip r:embed="rId4"/>
                <a:stretch>
                  <a:fillRect l="-1739" b="-58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3657600" y="2209800"/>
            <a:ext cx="2231135" cy="37156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486400" y="5421868"/>
                <a:ext cx="3370859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>
                            <a:latin typeface="Cambria Math"/>
                          </a:rPr>
                          <m:t>𝑪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5421868"/>
                <a:ext cx="3370859" cy="369332"/>
              </a:xfrm>
              <a:prstGeom prst="rect">
                <a:avLst/>
              </a:prstGeom>
              <a:blipFill>
                <a:blip r:embed="rId5"/>
                <a:stretch>
                  <a:fillRect l="-1128" b="-3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38200" y="5257800"/>
                <a:ext cx="3317960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 smtClean="0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 smtClean="0">
                            <a:latin typeface="Cambria Math"/>
                          </a:rPr>
                          <m:t>𝑩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57800"/>
                <a:ext cx="3317960" cy="646331"/>
              </a:xfrm>
              <a:prstGeom prst="rect">
                <a:avLst/>
              </a:prstGeom>
              <a:blipFill>
                <a:blip r:embed="rId6"/>
                <a:stretch>
                  <a:fillRect l="-1527" r="-763" b="-211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>
            <a:off x="4156160" y="5382768"/>
            <a:ext cx="1330240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33249" y="5906869"/>
                <a:ext cx="1100751" cy="64633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  <a:p>
                <a:r>
                  <a:rPr lang="en-US" dirty="0"/>
                  <a:t>       </a:t>
                </a:r>
                <a:r>
                  <a:rPr lang="en-US" dirty="0">
                    <a:sym typeface="Wingdings" pitchFamily="2" charset="2"/>
                  </a:rPr>
                  <a:t>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249" y="5906869"/>
                <a:ext cx="1100751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3825" t="-3704" r="-8743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421970" y="1840468"/>
            <a:ext cx="3786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</a:t>
            </a:r>
            <a:endParaRPr lang="en-US" dirty="0"/>
          </a:p>
        </p:txBody>
      </p:sp>
      <p:sp>
        <p:nvSpPr>
          <p:cNvPr id="17" name="Down Arrow 16"/>
          <p:cNvSpPr/>
          <p:nvPr/>
        </p:nvSpPr>
        <p:spPr>
          <a:xfrm>
            <a:off x="2209800" y="2779931"/>
            <a:ext cx="484632" cy="2477869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0800000">
            <a:off x="7059168" y="2581364"/>
            <a:ext cx="484632" cy="282883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58695" y="3581400"/>
                <a:ext cx="1627305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95" y="3581400"/>
                <a:ext cx="1627305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602" t="-6452" r="-5576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440495" y="3733800"/>
                <a:ext cx="1627305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495" y="3733800"/>
                <a:ext cx="1627305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2974" t="-6452" r="-5204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D9B31F-9484-1F4C-A5A1-3447175844F5}"/>
                  </a:ext>
                </a:extLst>
              </p:cNvPr>
              <p:cNvSpPr txBox="1"/>
              <p:nvPr/>
            </p:nvSpPr>
            <p:spPr>
              <a:xfrm>
                <a:off x="8089157" y="1828800"/>
                <a:ext cx="1166987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rgbClr val="006C31"/>
                    </a:solidFill>
                  </a:rPr>
                  <a:t>Coefficient </a:t>
                </a:r>
              </a:p>
              <a:p>
                <a:r>
                  <a:rPr lang="en-US" sz="1600" dirty="0"/>
                  <a:t>Represent-</a:t>
                </a:r>
                <a:r>
                  <a:rPr lang="en-US" sz="1600" dirty="0" err="1"/>
                  <a:t>ation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D9B31F-9484-1F4C-A5A1-344717584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157" y="1828800"/>
                <a:ext cx="1166987" cy="1077218"/>
              </a:xfrm>
              <a:prstGeom prst="rect">
                <a:avLst/>
              </a:prstGeom>
              <a:blipFill>
                <a:blip r:embed="rId11"/>
                <a:stretch>
                  <a:fillRect l="-2591" b="-55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941B69-68BE-A447-8B89-ED9C63D4A73A}"/>
                  </a:ext>
                </a:extLst>
              </p:cNvPr>
              <p:cNvSpPr/>
              <p:nvPr/>
            </p:nvSpPr>
            <p:spPr>
              <a:xfrm>
                <a:off x="3677711" y="712752"/>
                <a:ext cx="13724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𝑪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𝑨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𝑩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941B69-68BE-A447-8B89-ED9C63D4A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711" y="712752"/>
                <a:ext cx="137249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DA50D54-0CBB-5F48-AE67-454F5B494E3D}"/>
              </a:ext>
            </a:extLst>
          </p:cNvPr>
          <p:cNvSpPr txBox="1"/>
          <p:nvPr/>
        </p:nvSpPr>
        <p:spPr>
          <a:xfrm>
            <a:off x="1327192" y="4222958"/>
            <a:ext cx="2249847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Polynomial Evaluation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D90FF6-84D0-9843-97C9-8E9C7F1FD852}"/>
              </a:ext>
            </a:extLst>
          </p:cNvPr>
          <p:cNvSpPr txBox="1"/>
          <p:nvPr/>
        </p:nvSpPr>
        <p:spPr>
          <a:xfrm>
            <a:off x="6176559" y="4171414"/>
            <a:ext cx="2500877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Polynomial Interpolation</a:t>
            </a:r>
          </a:p>
        </p:txBody>
      </p:sp>
    </p:spTree>
    <p:extLst>
      <p:ext uri="{BB962C8B-B14F-4D97-AF65-F5344CB8AC3E}">
        <p14:creationId xmlns:p14="http://schemas.microsoft.com/office/powerpoint/2010/main" val="89897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12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Polynomial Evaluation </a:t>
            </a:r>
            <a:r>
              <a:rPr lang="en-US" sz="3600" b="1" dirty="0"/>
              <a:t>Problem</a:t>
            </a: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Given a polynomial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/>
                  <a:t> of degree less than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in </a:t>
                </a:r>
                <a:r>
                  <a:rPr lang="en-US" sz="1800" u="sng" dirty="0">
                    <a:solidFill>
                      <a:srgbClr val="006C31"/>
                    </a:solidFill>
                  </a:rPr>
                  <a:t>coefficient</a:t>
                </a:r>
                <a:r>
                  <a:rPr lang="en-US" sz="1800" u="sng" dirty="0"/>
                  <a:t> representation</a:t>
                </a:r>
                <a:r>
                  <a:rPr lang="en-US" sz="1800" dirty="0"/>
                  <a:t>, </a:t>
                </a:r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  <a:p>
                <a:pPr>
                  <a:buFont typeface="+mj-lt"/>
                  <a:buAutoNum type="arabicPeriod"/>
                </a:pPr>
                <a:r>
                  <a:rPr lang="en-US" sz="1800" dirty="0"/>
                  <a:t>Choose  </a:t>
                </a:r>
                <a:r>
                  <a:rPr lang="en-US" sz="1800" b="1" dirty="0"/>
                  <a:t>any </a:t>
                </a:r>
                <a:r>
                  <a:rPr lang="en-US" sz="1800" dirty="0"/>
                  <a:t>set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 numbers</a:t>
                </a:r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  <a:p>
                <a:pPr>
                  <a:buFont typeface="+mj-lt"/>
                  <a:buAutoNum type="arabicPeriod"/>
                </a:pPr>
                <a:r>
                  <a:rPr lang="en-US" sz="1800" dirty="0"/>
                  <a:t>Compute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800" dirty="0"/>
                  <a:t> for all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  <a:blipFill>
                <a:blip r:embed="rId2"/>
                <a:stretch>
                  <a:fillRect l="-556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 flipV="1">
            <a:off x="228600" y="1600200"/>
            <a:ext cx="8686800" cy="1676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913C5-D424-3C24-714B-2AD90AA572C6}"/>
              </a:ext>
            </a:extLst>
          </p:cNvPr>
          <p:cNvSpPr/>
          <p:nvPr/>
        </p:nvSpPr>
        <p:spPr>
          <a:xfrm>
            <a:off x="2209800" y="1600200"/>
            <a:ext cx="2286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BED5D8-D8B3-EAF9-A430-95C0EC8D4FD6}"/>
              </a:ext>
            </a:extLst>
          </p:cNvPr>
          <p:cNvSpPr/>
          <p:nvPr/>
        </p:nvSpPr>
        <p:spPr>
          <a:xfrm>
            <a:off x="4419600" y="1600200"/>
            <a:ext cx="33147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8E3AE4-8B63-4223-B89B-C4E6D9877D03}"/>
              </a:ext>
            </a:extLst>
          </p:cNvPr>
          <p:cNvSpPr/>
          <p:nvPr/>
        </p:nvSpPr>
        <p:spPr>
          <a:xfrm>
            <a:off x="1447800" y="2247293"/>
            <a:ext cx="990600" cy="382214"/>
          </a:xfrm>
          <a:prstGeom prst="roundRect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8454D2-3238-0B80-158F-A1E4153BE63E}"/>
                  </a:ext>
                </a:extLst>
              </p:cNvPr>
              <p:cNvSpPr txBox="1"/>
              <p:nvPr/>
            </p:nvSpPr>
            <p:spPr>
              <a:xfrm>
                <a:off x="533400" y="5410200"/>
                <a:ext cx="63439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Please choose set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 smtClean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as per your wisdom, and freeze it </a:t>
                </a:r>
              </a:p>
              <a:p>
                <a:r>
                  <a:rPr lang="en-US" dirty="0"/>
                  <a:t>with a hope that it would be help design an efficient algorithm </a:t>
                </a:r>
                <a:r>
                  <a:rPr lang="en-US" dirty="0">
                    <a:sym typeface="Wingdings" panose="05000000000000000000" pitchFamily="2" charset="2"/>
                  </a:rPr>
                  <a:t>.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8454D2-3238-0B80-158F-A1E4153BE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410200"/>
                <a:ext cx="6343981" cy="646331"/>
              </a:xfrm>
              <a:prstGeom prst="rect">
                <a:avLst/>
              </a:prstGeom>
              <a:blipFill>
                <a:blip r:embed="rId3"/>
                <a:stretch>
                  <a:fillRect l="-865" t="-5660" b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77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9" grpId="0" animBg="1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133600"/>
            <a:ext cx="7772400" cy="1362075"/>
          </a:xfrm>
        </p:spPr>
        <p:txBody>
          <a:bodyPr/>
          <a:lstStyle/>
          <a:p>
            <a:pPr algn="ctr"/>
            <a:r>
              <a:rPr lang="en-US" sz="3600" dirty="0"/>
              <a:t>a Divide and Conquer algorithm for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200" y="2538413"/>
            <a:ext cx="7772400" cy="1500187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Polynomial Evaluation </a:t>
            </a:r>
            <a:r>
              <a:rPr lang="en-US" sz="3600" b="1" dirty="0">
                <a:solidFill>
                  <a:schemeClr val="tx1"/>
                </a:solidFill>
              </a:rPr>
              <a:t>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085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Divide Step</a:t>
            </a:r>
            <a:br>
              <a:rPr lang="en-US" sz="4000" b="1" dirty="0"/>
            </a:b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Try to express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as 2 polynomials of degree less than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037AEF-FD9D-B542-9995-D525CA52F81D}"/>
              </a:ext>
            </a:extLst>
          </p:cNvPr>
          <p:cNvSpPr txBox="1"/>
          <p:nvPr/>
        </p:nvSpPr>
        <p:spPr>
          <a:xfrm>
            <a:off x="3728756" y="887160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Idea ?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88AE70-85DF-3740-B8B0-B5A998DCDCDF}"/>
              </a:ext>
            </a:extLst>
          </p:cNvPr>
          <p:cNvSpPr/>
          <p:nvPr/>
        </p:nvSpPr>
        <p:spPr>
          <a:xfrm>
            <a:off x="838199" y="4419600"/>
            <a:ext cx="7467600" cy="4616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95400" y="2743200"/>
            <a:ext cx="23622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700453" y="2769326"/>
            <a:ext cx="1785947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86400" y="2803732"/>
            <a:ext cx="2362200" cy="396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518256-79B6-D84E-A40D-424E98B38461}"/>
                  </a:ext>
                </a:extLst>
              </p:cNvPr>
              <p:cNvSpPr txBox="1"/>
              <p:nvPr/>
            </p:nvSpPr>
            <p:spPr>
              <a:xfrm>
                <a:off x="8123776" y="1524000"/>
                <a:ext cx="428322" cy="4616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2400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518256-79B6-D84E-A40D-424E98B38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76" y="1524000"/>
                <a:ext cx="42832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9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 animBg="1"/>
      <p:bldP spid="11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Divide Step</a:t>
            </a:r>
            <a:br>
              <a:rPr lang="en-US" sz="4000" b="1" dirty="0"/>
            </a:b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Evaluating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rgbClr val="006C31"/>
                    </a:solidFill>
                  </a:rPr>
                  <a:t>  </a:t>
                </a:r>
                <a:r>
                  <a:rPr lang="en-US" sz="2000" dirty="0"/>
                  <a:t>= 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D037AEF-FD9D-B542-9995-D525CA52F81D}"/>
              </a:ext>
            </a:extLst>
          </p:cNvPr>
          <p:cNvSpPr txBox="1"/>
          <p:nvPr/>
        </p:nvSpPr>
        <p:spPr>
          <a:xfrm>
            <a:off x="3728756" y="887160"/>
            <a:ext cx="1686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Attempt </a:t>
            </a:r>
            <a:r>
              <a:rPr lang="en-US" sz="2800" b="1" dirty="0">
                <a:solidFill>
                  <a:srgbClr val="0070C0"/>
                </a:solidFill>
              </a:rPr>
              <a:t>1</a:t>
            </a:r>
            <a:endParaRPr lang="en-US" sz="28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518256-79B6-D84E-A40D-424E98B38461}"/>
                  </a:ext>
                </a:extLst>
              </p:cNvPr>
              <p:cNvSpPr txBox="1"/>
              <p:nvPr/>
            </p:nvSpPr>
            <p:spPr>
              <a:xfrm>
                <a:off x="8123776" y="1524000"/>
                <a:ext cx="428322" cy="4616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2400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518256-79B6-D84E-A40D-424E98B38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76" y="1524000"/>
                <a:ext cx="42832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/>
          <p:cNvSpPr/>
          <p:nvPr/>
        </p:nvSpPr>
        <p:spPr>
          <a:xfrm rot="5400000">
            <a:off x="3405396" y="2113091"/>
            <a:ext cx="438382" cy="2305391"/>
          </a:xfrm>
          <a:prstGeom prst="rightBrac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86906" y="3421528"/>
                <a:ext cx="11517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first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6" y="3421528"/>
                <a:ext cx="1151726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 rot="5400000">
            <a:off x="6959696" y="2254234"/>
            <a:ext cx="452445" cy="2087361"/>
          </a:xfrm>
          <a:prstGeom prst="rightBrac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564365" y="3421528"/>
                <a:ext cx="1408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second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365" y="3421528"/>
                <a:ext cx="1408206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63296" y="4296690"/>
                <a:ext cx="28032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first</m:t>
                        </m:r>
                      </m:sub>
                    </m:sSub>
                  </m:oMath>
                </a14:m>
                <a:r>
                  <a:rPr lang="en-US" sz="2000" dirty="0"/>
                  <a:t> 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296" y="4296690"/>
                <a:ext cx="2803268" cy="400110"/>
              </a:xfrm>
              <a:prstGeom prst="rect">
                <a:avLst/>
              </a:prstGeom>
              <a:blipFill>
                <a:blip r:embed="rId8"/>
                <a:stretch>
                  <a:fillRect l="-1957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60580" y="4732310"/>
                <a:ext cx="30597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second</m:t>
                        </m:r>
                      </m:sub>
                    </m:sSub>
                  </m:oMath>
                </a14:m>
                <a:r>
                  <a:rPr lang="en-US" sz="2000" dirty="0"/>
                  <a:t> 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80" y="4732310"/>
                <a:ext cx="3059748" cy="400110"/>
              </a:xfrm>
              <a:prstGeom prst="rect">
                <a:avLst/>
              </a:prstGeom>
              <a:blipFill>
                <a:blip r:embed="rId9"/>
                <a:stretch>
                  <a:fillRect l="-179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e 18"/>
          <p:cNvSpPr/>
          <p:nvPr/>
        </p:nvSpPr>
        <p:spPr>
          <a:xfrm>
            <a:off x="2816378" y="4331301"/>
            <a:ext cx="353449" cy="1688499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182890" y="5076292"/>
                <a:ext cx="2512739" cy="499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Evaluating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dirty="0"/>
                  <a:t> 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890" y="5076292"/>
                <a:ext cx="2512739" cy="499817"/>
              </a:xfrm>
              <a:prstGeom prst="rect">
                <a:avLst/>
              </a:prstGeom>
              <a:blipFill>
                <a:blip r:embed="rId10"/>
                <a:stretch>
                  <a:fillRect l="-2184" b="-2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611527" y="5591710"/>
                <a:ext cx="1511504" cy="400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b="1" dirty="0"/>
                  <a:t> 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time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527" y="5591710"/>
                <a:ext cx="1511504" cy="400110"/>
              </a:xfrm>
              <a:prstGeom prst="rect">
                <a:avLst/>
              </a:prstGeom>
              <a:blipFill>
                <a:blip r:embed="rId11"/>
                <a:stretch>
                  <a:fillRect t="-5882" r="-3600" b="-2352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676888" y="5162495"/>
                <a:ext cx="1911805" cy="400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) time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88" y="5162495"/>
                <a:ext cx="1911805" cy="400110"/>
              </a:xfrm>
              <a:prstGeom prst="rect">
                <a:avLst/>
              </a:prstGeom>
              <a:blipFill>
                <a:blip r:embed="rId12"/>
                <a:stretch>
                  <a:fillRect l="-2848" t="-7353" r="-2532" b="-2352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/>
          <p:cNvSpPr/>
          <p:nvPr/>
        </p:nvSpPr>
        <p:spPr>
          <a:xfrm>
            <a:off x="5730626" y="5191672"/>
            <a:ext cx="822574" cy="341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47F585-55F4-444D-8B56-0CB1AAF9438C}"/>
                  </a:ext>
                </a:extLst>
              </p:cNvPr>
              <p:cNvSpPr txBox="1"/>
              <p:nvPr/>
            </p:nvSpPr>
            <p:spPr>
              <a:xfrm>
                <a:off x="2288163" y="2440823"/>
                <a:ext cx="2672848" cy="6592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47F585-55F4-444D-8B56-0CB1AAF94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163" y="2440823"/>
                <a:ext cx="2672848" cy="6592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/>
              <p:nvPr/>
            </p:nvSpPr>
            <p:spPr>
              <a:xfrm>
                <a:off x="5335198" y="2438400"/>
                <a:ext cx="2940484" cy="6592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 …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198" y="2438400"/>
                <a:ext cx="2940484" cy="659219"/>
              </a:xfrm>
              <a:prstGeom prst="rect">
                <a:avLst/>
              </a:prstGeom>
              <a:blipFill>
                <a:blip r:embed="rId14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76600" y="5162490"/>
                <a:ext cx="3046856" cy="400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b="1" dirty="0"/>
                  <a:t> 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) time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162490"/>
                <a:ext cx="3046856" cy="400110"/>
              </a:xfrm>
              <a:prstGeom prst="rect">
                <a:avLst/>
              </a:prstGeom>
              <a:blipFill>
                <a:blip r:embed="rId17"/>
                <a:stretch>
                  <a:fillRect t="-7353" b="-2352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94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4" grpId="0" animBg="1"/>
      <p:bldP spid="8" grpId="0"/>
      <p:bldP spid="16" grpId="0" animBg="1"/>
      <p:bldP spid="17" grpId="0"/>
      <p:bldP spid="9" grpId="0"/>
      <p:bldP spid="18" grpId="0"/>
      <p:bldP spid="19" grpId="0" animBg="1"/>
      <p:bldP spid="20" grpId="0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5" grpId="0" animBg="1"/>
      <p:bldP spid="7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Divide Step</a:t>
            </a:r>
            <a:br>
              <a:rPr lang="en-US" sz="4000" b="1" dirty="0"/>
            </a:b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Evaluating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rgbClr val="006C31"/>
                    </a:solidFill>
                  </a:rPr>
                  <a:t>  </a:t>
                </a:r>
                <a:r>
                  <a:rPr lang="en-US" sz="2000" dirty="0"/>
                  <a:t>= 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D037AEF-FD9D-B542-9995-D525CA52F81D}"/>
              </a:ext>
            </a:extLst>
          </p:cNvPr>
          <p:cNvSpPr txBox="1"/>
          <p:nvPr/>
        </p:nvSpPr>
        <p:spPr>
          <a:xfrm>
            <a:off x="3728756" y="887160"/>
            <a:ext cx="1686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Attempt </a:t>
            </a:r>
            <a:r>
              <a:rPr lang="en-US" sz="2800" b="1" dirty="0">
                <a:solidFill>
                  <a:srgbClr val="0070C0"/>
                </a:solidFill>
              </a:rPr>
              <a:t>1</a:t>
            </a:r>
            <a:endParaRPr lang="en-US" sz="28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518256-79B6-D84E-A40D-424E98B38461}"/>
                  </a:ext>
                </a:extLst>
              </p:cNvPr>
              <p:cNvSpPr txBox="1"/>
              <p:nvPr/>
            </p:nvSpPr>
            <p:spPr>
              <a:xfrm>
                <a:off x="8123776" y="1524000"/>
                <a:ext cx="428322" cy="4616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2400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518256-79B6-D84E-A40D-424E98B38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76" y="1524000"/>
                <a:ext cx="42832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/>
          <p:cNvSpPr/>
          <p:nvPr/>
        </p:nvSpPr>
        <p:spPr>
          <a:xfrm rot="5400000">
            <a:off x="3405396" y="2113091"/>
            <a:ext cx="438382" cy="2305391"/>
          </a:xfrm>
          <a:prstGeom prst="rightBrac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86906" y="3421528"/>
                <a:ext cx="11517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first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6" y="3421528"/>
                <a:ext cx="1151726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 rot="5400000">
            <a:off x="6959696" y="2254234"/>
            <a:ext cx="452445" cy="2087361"/>
          </a:xfrm>
          <a:prstGeom prst="rightBrac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564365" y="3421528"/>
                <a:ext cx="1408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second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365" y="3421528"/>
                <a:ext cx="1408206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63296" y="4296690"/>
                <a:ext cx="28032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first</m:t>
                        </m:r>
                      </m:sub>
                    </m:sSub>
                  </m:oMath>
                </a14:m>
                <a:r>
                  <a:rPr lang="en-US" sz="2000" dirty="0"/>
                  <a:t> 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296" y="4296690"/>
                <a:ext cx="2803268" cy="400110"/>
              </a:xfrm>
              <a:prstGeom prst="rect">
                <a:avLst/>
              </a:prstGeom>
              <a:blipFill>
                <a:blip r:embed="rId8"/>
                <a:stretch>
                  <a:fillRect l="-1957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60580" y="4732310"/>
                <a:ext cx="30597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second</m:t>
                        </m:r>
                      </m:sub>
                    </m:sSub>
                  </m:oMath>
                </a14:m>
                <a:r>
                  <a:rPr lang="en-US" sz="2000" dirty="0"/>
                  <a:t> 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80" y="4732310"/>
                <a:ext cx="3059748" cy="400110"/>
              </a:xfrm>
              <a:prstGeom prst="rect">
                <a:avLst/>
              </a:prstGeom>
              <a:blipFill>
                <a:blip r:embed="rId9"/>
                <a:stretch>
                  <a:fillRect l="-179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e 18"/>
          <p:cNvSpPr/>
          <p:nvPr/>
        </p:nvSpPr>
        <p:spPr>
          <a:xfrm>
            <a:off x="2816378" y="4419600"/>
            <a:ext cx="366512" cy="1307499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182890" y="5076292"/>
                <a:ext cx="2512739" cy="499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Evaluating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dirty="0"/>
                  <a:t> 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890" y="5076292"/>
                <a:ext cx="2512739" cy="499817"/>
              </a:xfrm>
              <a:prstGeom prst="rect">
                <a:avLst/>
              </a:prstGeom>
              <a:blipFill>
                <a:blip r:embed="rId10"/>
                <a:stretch>
                  <a:fillRect l="-2184" b="-2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47F585-55F4-444D-8B56-0CB1AAF9438C}"/>
                  </a:ext>
                </a:extLst>
              </p:cNvPr>
              <p:cNvSpPr txBox="1"/>
              <p:nvPr/>
            </p:nvSpPr>
            <p:spPr>
              <a:xfrm>
                <a:off x="2288163" y="2440823"/>
                <a:ext cx="2672848" cy="6592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47F585-55F4-444D-8B56-0CB1AAF94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163" y="2440823"/>
                <a:ext cx="2672848" cy="6592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/>
              <p:nvPr/>
            </p:nvSpPr>
            <p:spPr>
              <a:xfrm>
                <a:off x="5335198" y="2438400"/>
                <a:ext cx="2940484" cy="6592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 …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198" y="2438400"/>
                <a:ext cx="2940484" cy="659219"/>
              </a:xfrm>
              <a:prstGeom prst="rect">
                <a:avLst/>
              </a:prstGeom>
              <a:blipFill>
                <a:blip r:embed="rId14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76600" y="5162490"/>
                <a:ext cx="3046856" cy="400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b="1" dirty="0"/>
                  <a:t> 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) time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162490"/>
                <a:ext cx="3046856" cy="400110"/>
              </a:xfrm>
              <a:prstGeom prst="rect">
                <a:avLst/>
              </a:prstGeom>
              <a:blipFill>
                <a:blip r:embed="rId17"/>
                <a:stretch>
                  <a:fillRect t="-7353" b="-2352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146A84-4A01-16F4-D14F-FD916EE827C7}"/>
                  </a:ext>
                </a:extLst>
              </p:cNvPr>
              <p:cNvSpPr txBox="1"/>
              <p:nvPr/>
            </p:nvSpPr>
            <p:spPr>
              <a:xfrm>
                <a:off x="1510685" y="5952205"/>
                <a:ext cx="332257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18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𝒄𝒏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146A84-4A01-16F4-D14F-FD916EE82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685" y="5952205"/>
                <a:ext cx="3322576" cy="36933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B825F79E-24F1-0EC5-C87D-E2A356F398E8}"/>
              </a:ext>
            </a:extLst>
          </p:cNvPr>
          <p:cNvSpPr/>
          <p:nvPr/>
        </p:nvSpPr>
        <p:spPr>
          <a:xfrm>
            <a:off x="5814319" y="5409275"/>
            <a:ext cx="3581400" cy="1022822"/>
          </a:xfrm>
          <a:prstGeom prst="cloudCallout">
            <a:avLst>
              <a:gd name="adj1" fmla="val 29066"/>
              <a:gd name="adj2" fmla="val 785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recurrence of the algorithm 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76F93C1A-B004-18EE-D0E3-C76215F1017C}"/>
              </a:ext>
            </a:extLst>
          </p:cNvPr>
          <p:cNvSpPr/>
          <p:nvPr/>
        </p:nvSpPr>
        <p:spPr>
          <a:xfrm>
            <a:off x="888883" y="5850503"/>
            <a:ext cx="609600" cy="592644"/>
          </a:xfrm>
          <a:prstGeom prst="mathMultiply">
            <a:avLst>
              <a:gd name="adj1" fmla="val 3912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28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Recursion </a:t>
            </a:r>
            <a:r>
              <a:rPr lang="en-US" sz="3200" b="1" dirty="0"/>
              <a:t>Tree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418791" y="1544404"/>
            <a:ext cx="3143809" cy="644992"/>
            <a:chOff x="2971799" y="2992204"/>
            <a:chExt cx="3143809" cy="644992"/>
          </a:xfrm>
        </p:grpSpPr>
        <p:cxnSp>
          <p:nvCxnSpPr>
            <p:cNvPr id="17" name="Straight Arrow Connector 16"/>
            <p:cNvCxnSpPr>
              <a:stCxn id="5" idx="3"/>
              <a:endCxn id="6" idx="7"/>
            </p:cNvCxnSpPr>
            <p:nvPr/>
          </p:nvCxnSpPr>
          <p:spPr>
            <a:xfrm flipH="1">
              <a:off x="2971799" y="2992204"/>
              <a:ext cx="1391210" cy="644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5"/>
              <a:endCxn id="7" idx="1"/>
            </p:cNvCxnSpPr>
            <p:nvPr/>
          </p:nvCxnSpPr>
          <p:spPr>
            <a:xfrm>
              <a:off x="4638954" y="2992204"/>
              <a:ext cx="1476654" cy="644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62000" y="2438400"/>
            <a:ext cx="6391555" cy="1219200"/>
            <a:chOff x="762000" y="2438400"/>
            <a:chExt cx="6391555" cy="1219200"/>
          </a:xfrm>
        </p:grpSpPr>
        <p:sp>
          <p:nvSpPr>
            <p:cNvPr id="41" name="Oval 40"/>
            <p:cNvSpPr/>
            <p:nvPr/>
          </p:nvSpPr>
          <p:spPr>
            <a:xfrm>
              <a:off x="1066800" y="28956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30387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44103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4677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>
              <a:off x="1295400" y="2458804"/>
              <a:ext cx="819150" cy="4367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2390495" y="2458804"/>
              <a:ext cx="843382" cy="3605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4690923" y="2438400"/>
              <a:ext cx="819150" cy="4367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791200" y="2458804"/>
              <a:ext cx="843382" cy="3605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762000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447800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2743200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352800" y="3192645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4124045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4728743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6181445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6781800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52400" y="4267200"/>
            <a:ext cx="7467600" cy="381000"/>
            <a:chOff x="152400" y="4267200"/>
            <a:chExt cx="7467600" cy="381000"/>
          </a:xfrm>
        </p:grpSpPr>
        <p:sp>
          <p:nvSpPr>
            <p:cNvPr id="64" name="Oval 63"/>
            <p:cNvSpPr/>
            <p:nvPr/>
          </p:nvSpPr>
          <p:spPr>
            <a:xfrm>
              <a:off x="1524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6765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12192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17526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56295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61722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/>
            <p:cNvSpPr/>
            <p:nvPr/>
          </p:nvSpPr>
          <p:spPr>
            <a:xfrm>
              <a:off x="67056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/>
            <p:cNvSpPr/>
            <p:nvPr/>
          </p:nvSpPr>
          <p:spPr>
            <a:xfrm>
              <a:off x="72297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/>
            <p:cNvSpPr/>
            <p:nvPr/>
          </p:nvSpPr>
          <p:spPr>
            <a:xfrm>
              <a:off x="308610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333375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356235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43950" y="1219200"/>
            <a:ext cx="770850" cy="381000"/>
            <a:chOff x="3343950" y="1219200"/>
            <a:chExt cx="770850" cy="381000"/>
          </a:xfrm>
        </p:grpSpPr>
        <p:sp>
          <p:nvSpPr>
            <p:cNvPr id="5" name="Oval 4"/>
            <p:cNvSpPr/>
            <p:nvPr/>
          </p:nvSpPr>
          <p:spPr>
            <a:xfrm>
              <a:off x="3724555" y="1219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3343950" y="1219200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3950" y="1219200"/>
                  <a:ext cx="38985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1371600" y="2057400"/>
            <a:ext cx="4495799" cy="457200"/>
            <a:chOff x="1371600" y="2057400"/>
            <a:chExt cx="4495799" cy="457200"/>
          </a:xfrm>
        </p:grpSpPr>
        <p:grpSp>
          <p:nvGrpSpPr>
            <p:cNvPr id="40" name="Group 39"/>
            <p:cNvGrpSpPr/>
            <p:nvPr/>
          </p:nvGrpSpPr>
          <p:grpSpPr>
            <a:xfrm>
              <a:off x="2057400" y="2133600"/>
              <a:ext cx="3809999" cy="381000"/>
              <a:chOff x="2819400" y="3962400"/>
              <a:chExt cx="3809999" cy="3810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819400" y="3962400"/>
                <a:ext cx="390245" cy="381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6239154" y="3962400"/>
                <a:ext cx="390245" cy="381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1371600" y="2057400"/>
                  <a:ext cx="740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first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600" y="2057400"/>
                  <a:ext cx="74084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4800600" y="2057400"/>
                  <a:ext cx="9786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second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2057400"/>
                  <a:ext cx="9786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4114800" y="1371600"/>
            <a:ext cx="3810000" cy="3048000"/>
            <a:chOff x="4114800" y="1371600"/>
            <a:chExt cx="3810000" cy="3048000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5943600" y="2324100"/>
              <a:ext cx="19050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6900722" y="2971800"/>
              <a:ext cx="947878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7620000" y="4419600"/>
              <a:ext cx="3048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4114800" y="1371600"/>
              <a:ext cx="37338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/>
          <p:cNvSpPr txBox="1"/>
          <p:nvPr/>
        </p:nvSpPr>
        <p:spPr>
          <a:xfrm>
            <a:off x="7604236" y="942201"/>
            <a:ext cx="625364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degree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79468" y="388203"/>
            <a:ext cx="864532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 points</a:t>
            </a:r>
          </a:p>
          <a:p>
            <a:r>
              <a:rPr lang="en-US" sz="1200" b="1" dirty="0"/>
              <a:t> for </a:t>
            </a:r>
          </a:p>
          <a:p>
            <a:r>
              <a:rPr lang="en-US" sz="1200" b="1" dirty="0"/>
              <a:t>evaluation</a:t>
            </a:r>
          </a:p>
          <a:p>
            <a:endParaRPr 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2379638" y="762000"/>
                <a:ext cx="3476657" cy="45845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firs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 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second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638" y="762000"/>
                <a:ext cx="3476657" cy="458459"/>
              </a:xfrm>
              <a:prstGeom prst="rect">
                <a:avLst/>
              </a:prstGeom>
              <a:blipFill>
                <a:blip r:embed="rId6"/>
                <a:stretch>
                  <a:fillRect b="-194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7696200" y="1185446"/>
                <a:ext cx="5750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1185446"/>
                <a:ext cx="575094" cy="338554"/>
              </a:xfrm>
              <a:prstGeom prst="rect">
                <a:avLst/>
              </a:prstGeom>
              <a:blipFill rotWithShape="1">
                <a:blip r:embed="rId7"/>
                <a:stretch>
                  <a:fillRect t="-5357" r="-851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7620000" y="2133600"/>
                <a:ext cx="7995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2133600"/>
                <a:ext cx="799514" cy="338554"/>
              </a:xfrm>
              <a:prstGeom prst="rect">
                <a:avLst/>
              </a:prstGeom>
              <a:blipFill rotWithShape="1">
                <a:blip r:embed="rId8"/>
                <a:stretch>
                  <a:fillRect t="-5357" r="-534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7658686" y="2785646"/>
                <a:ext cx="7995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686" y="2785646"/>
                <a:ext cx="799514" cy="338554"/>
              </a:xfrm>
              <a:prstGeom prst="rect">
                <a:avLst/>
              </a:prstGeom>
              <a:blipFill rotWithShape="1">
                <a:blip r:embed="rId9"/>
                <a:stretch>
                  <a:fillRect t="-5357" r="-530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7924800" y="4233446"/>
                <a:ext cx="5654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233446"/>
                <a:ext cx="565476" cy="338554"/>
              </a:xfrm>
              <a:prstGeom prst="rect">
                <a:avLst/>
              </a:prstGeom>
              <a:blipFill rotWithShape="1">
                <a:blip r:embed="rId10"/>
                <a:stretch>
                  <a:fillRect t="-5357" r="-752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8703598" y="1185446"/>
                <a:ext cx="3642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598" y="1185446"/>
                <a:ext cx="364202" cy="338554"/>
              </a:xfrm>
              <a:prstGeom prst="rect">
                <a:avLst/>
              </a:prstGeom>
              <a:blipFill rotWithShape="1">
                <a:blip r:embed="rId11"/>
                <a:stretch>
                  <a:fillRect t="-5357" r="-1333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8779798" y="2133600"/>
                <a:ext cx="3642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798" y="2133600"/>
                <a:ext cx="364202" cy="338554"/>
              </a:xfrm>
              <a:prstGeom prst="rect">
                <a:avLst/>
              </a:prstGeom>
              <a:blipFill rotWithShape="1">
                <a:blip r:embed="rId12"/>
                <a:stretch>
                  <a:fillRect t="-5357" r="-15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8772861" y="2819400"/>
                <a:ext cx="3642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861" y="2819400"/>
                <a:ext cx="364202" cy="338554"/>
              </a:xfrm>
              <a:prstGeom prst="rect">
                <a:avLst/>
              </a:prstGeom>
              <a:blipFill rotWithShape="1">
                <a:blip r:embed="rId13"/>
                <a:stretch>
                  <a:fillRect t="-5455" r="-15000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8779798" y="4233446"/>
                <a:ext cx="3642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798" y="4233446"/>
                <a:ext cx="364202" cy="338554"/>
              </a:xfrm>
              <a:prstGeom prst="rect">
                <a:avLst/>
              </a:prstGeom>
              <a:blipFill rotWithShape="1">
                <a:blip r:embed="rId14"/>
                <a:stretch>
                  <a:fillRect t="-5357" r="-15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414828" y="1185446"/>
                <a:ext cx="348172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006C31"/>
                          </a:solidFill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28" y="1185446"/>
                <a:ext cx="348172" cy="338554"/>
              </a:xfrm>
              <a:prstGeom prst="rect">
                <a:avLst/>
              </a:prstGeom>
              <a:blipFill rotWithShape="1">
                <a:blip r:embed="rId15"/>
                <a:stretch>
                  <a:fillRect t="-3448" r="-11667" b="-1896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414828" y="2099846"/>
                <a:ext cx="348172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28" y="2099846"/>
                <a:ext cx="348172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8382000" y="2780067"/>
                <a:ext cx="348172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780067"/>
                <a:ext cx="348172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382000" y="4228508"/>
                <a:ext cx="348172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4228508"/>
                <a:ext cx="348172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 rot="5400000">
            <a:off x="3771900" y="1028700"/>
            <a:ext cx="304800" cy="75438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66800" y="4953000"/>
                <a:ext cx="5656485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polynomials, each to be evaluated at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distinct numbers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953000"/>
                <a:ext cx="5656485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6452" r="-753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Arrow 20"/>
          <p:cNvSpPr/>
          <p:nvPr/>
        </p:nvSpPr>
        <p:spPr>
          <a:xfrm>
            <a:off x="6883009" y="4800600"/>
            <a:ext cx="508391" cy="86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445357" y="5005217"/>
                <a:ext cx="1510863" cy="40498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𝐭𝐢𝐦𝐞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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357" y="5005217"/>
                <a:ext cx="1510863" cy="404983"/>
              </a:xfrm>
              <a:prstGeom prst="rect">
                <a:avLst/>
              </a:prstGeom>
              <a:blipFill rotWithShape="1">
                <a:blip r:embed="rId24"/>
                <a:stretch>
                  <a:fillRect t="-2985" r="-6452" b="-19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34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1" grpId="0" animBg="1"/>
      <p:bldP spid="92" grpId="0" animBg="1"/>
      <p:bldP spid="94" grpId="0"/>
      <p:bldP spid="95" grpId="0"/>
      <p:bldP spid="96" grpId="0"/>
      <p:bldP spid="97" grpId="0"/>
      <p:bldP spid="103" grpId="0"/>
      <p:bldP spid="104" grpId="0"/>
      <p:bldP spid="105" grpId="0"/>
      <p:bldP spid="106" grpId="0"/>
      <p:bldP spid="68" grpId="0" animBg="1"/>
      <p:bldP spid="69" grpId="0" animBg="1"/>
      <p:bldP spid="80" grpId="0" animBg="1"/>
      <p:bldP spid="81" grpId="0" animBg="1"/>
      <p:bldP spid="16" grpId="0" animBg="1"/>
      <p:bldP spid="19" grpId="0" animBg="1"/>
      <p:bldP spid="21" grpId="0" animBg="1"/>
      <p:bldP spid="21" grpId="1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Divide Step</a:t>
            </a:r>
            <a:br>
              <a:rPr lang="en-US" sz="4000" b="1" dirty="0"/>
            </a:b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95400"/>
                <a:ext cx="87630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   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0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𝑒𝑣𝑒𝑛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(</m:t>
                    </m:r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</a:rPr>
                      <m:t>+ …+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US" sz="18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180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𝑜𝑑𝑑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(</m:t>
                    </m:r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</a:rPr>
                      <m:t>+ …+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US" sz="1800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sz="2000" dirty="0"/>
                  <a:t>Evaluating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rgbClr val="006C31"/>
                    </a:solidFill>
                  </a:rPr>
                  <a:t>  </a:t>
                </a:r>
                <a:r>
                  <a:rPr lang="en-US" sz="2000" dirty="0"/>
                  <a:t>= 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95400"/>
                <a:ext cx="8763000" cy="4830763"/>
              </a:xfrm>
              <a:blipFill>
                <a:blip r:embed="rId2"/>
                <a:stretch>
                  <a:fillRect l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037AEF-FD9D-B542-9995-D525CA52F81D}"/>
              </a:ext>
            </a:extLst>
          </p:cNvPr>
          <p:cNvSpPr txBox="1"/>
          <p:nvPr/>
        </p:nvSpPr>
        <p:spPr>
          <a:xfrm>
            <a:off x="3728756" y="887160"/>
            <a:ext cx="1686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Attempt </a:t>
            </a:r>
            <a:r>
              <a:rPr lang="en-US" sz="2800" b="1" dirty="0">
                <a:solidFill>
                  <a:srgbClr val="0070C0"/>
                </a:solidFill>
              </a:rPr>
              <a:t>2</a:t>
            </a:r>
            <a:endParaRPr lang="en-US" sz="28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82413" y="5017516"/>
                <a:ext cx="30020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𝑒𝑣𝑒𝑛</m:t>
                        </m:r>
                      </m:sub>
                    </m:sSub>
                  </m:oMath>
                </a14:m>
                <a:r>
                  <a:rPr lang="en-US" sz="2000" dirty="0"/>
                  <a:t>  at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413" y="5017516"/>
                <a:ext cx="3002040" cy="400110"/>
              </a:xfrm>
              <a:prstGeom prst="rect">
                <a:avLst/>
              </a:prstGeom>
              <a:blipFill>
                <a:blip r:embed="rId3"/>
                <a:stretch>
                  <a:fillRect l="-1829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900456" y="5504862"/>
                <a:ext cx="2903231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Evaluating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𝑜𝑑𝑑</m:t>
                        </m:r>
                      </m:sub>
                    </m:sSub>
                  </m:oMath>
                </a14:m>
                <a:r>
                  <a:rPr lang="en-US" sz="2000" dirty="0"/>
                  <a:t> 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456" y="5504862"/>
                <a:ext cx="2903231" cy="407099"/>
              </a:xfrm>
              <a:prstGeom prst="rect">
                <a:avLst/>
              </a:prstGeom>
              <a:blipFill>
                <a:blip r:embed="rId4"/>
                <a:stretch>
                  <a:fillRect l="-1891" t="-4478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e 18"/>
          <p:cNvSpPr/>
          <p:nvPr/>
        </p:nvSpPr>
        <p:spPr>
          <a:xfrm>
            <a:off x="2747218" y="5084000"/>
            <a:ext cx="236057" cy="1358275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352434" y="6022882"/>
                <a:ext cx="1511504" cy="400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b="1" dirty="0"/>
                  <a:t> 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time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434" y="6022882"/>
                <a:ext cx="1511504" cy="400110"/>
              </a:xfrm>
              <a:prstGeom prst="rect">
                <a:avLst/>
              </a:prstGeom>
              <a:blipFill>
                <a:blip r:embed="rId5"/>
                <a:stretch>
                  <a:fillRect t="-5882" r="-3200" b="-2352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397362" y="2240789"/>
                <a:ext cx="228684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</a:t>
                </a:r>
                <a:r>
                  <a:rPr lang="en-US" u="sng" dirty="0"/>
                  <a:t>even</a:t>
                </a:r>
                <a:r>
                  <a:rPr lang="en-US" dirty="0"/>
                  <a:t> terms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362" y="2240789"/>
                <a:ext cx="2286844" cy="369332"/>
              </a:xfrm>
              <a:prstGeom prst="rect">
                <a:avLst/>
              </a:prstGeom>
              <a:blipFill>
                <a:blip r:embed="rId6"/>
                <a:stretch>
                  <a:fillRect l="-213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717040" y="2221301"/>
                <a:ext cx="2211375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</a:t>
                </a:r>
                <a:r>
                  <a:rPr lang="en-US" u="sng" dirty="0"/>
                  <a:t>odd</a:t>
                </a:r>
                <a:r>
                  <a:rPr lang="en-US" dirty="0"/>
                  <a:t> terms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40" y="2221301"/>
                <a:ext cx="2211375" cy="369332"/>
              </a:xfrm>
              <a:prstGeom prst="rect">
                <a:avLst/>
              </a:prstGeom>
              <a:blipFill>
                <a:blip r:embed="rId7"/>
                <a:stretch>
                  <a:fillRect l="-247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47F585-55F4-444D-8B56-0CB1AAF9438C}"/>
                  </a:ext>
                </a:extLst>
              </p:cNvPr>
              <p:cNvSpPr txBox="1"/>
              <p:nvPr/>
            </p:nvSpPr>
            <p:spPr>
              <a:xfrm>
                <a:off x="1577944" y="2214348"/>
                <a:ext cx="3485249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47F585-55F4-444D-8B56-0CB1AAF94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944" y="2214348"/>
                <a:ext cx="348524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/>
              <p:nvPr/>
            </p:nvSpPr>
            <p:spPr>
              <a:xfrm>
                <a:off x="5447565" y="2201751"/>
                <a:ext cx="3538661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 dirty="0"/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928966-16C5-8043-99DD-D214CCFCE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565" y="2201751"/>
                <a:ext cx="3538661" cy="400110"/>
              </a:xfrm>
              <a:prstGeom prst="rect">
                <a:avLst/>
              </a:prstGeom>
              <a:blipFill>
                <a:blip r:embed="rId9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553435" y="2233910"/>
                <a:ext cx="3896560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435" y="2233910"/>
                <a:ext cx="3896560" cy="400110"/>
              </a:xfrm>
              <a:prstGeom prst="rect">
                <a:avLst/>
              </a:prstGeom>
              <a:blipFill>
                <a:blip r:embed="rId10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71566" y="2736256"/>
                <a:ext cx="898002" cy="37824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566" y="2736256"/>
                <a:ext cx="898002" cy="37824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949118" y="2761344"/>
                <a:ext cx="1117614" cy="37824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118" y="2761344"/>
                <a:ext cx="1117614" cy="3782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855294" y="2737820"/>
                <a:ext cx="1099916" cy="37824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294" y="2737820"/>
                <a:ext cx="1099916" cy="378245"/>
              </a:xfrm>
              <a:prstGeom prst="rect">
                <a:avLst/>
              </a:prstGeom>
              <a:blipFill>
                <a:blip r:embed="rId13"/>
                <a:stretch>
                  <a:fillRect b="-125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949118" y="2758752"/>
                <a:ext cx="1319527" cy="37824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118" y="2758752"/>
                <a:ext cx="1319527" cy="378245"/>
              </a:xfrm>
              <a:prstGeom prst="rect">
                <a:avLst/>
              </a:prstGeom>
              <a:blipFill>
                <a:blip r:embed="rId14"/>
                <a:stretch>
                  <a:fillRect b="-10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731594" y="2653136"/>
            <a:ext cx="3177947" cy="287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029322" y="2663162"/>
            <a:ext cx="3130383" cy="1427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319537" y="3747698"/>
                <a:ext cx="3259162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𝑒𝑣𝑒𝑛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  +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𝑜𝑑𝑑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537" y="3747698"/>
                <a:ext cx="3259162" cy="369332"/>
              </a:xfrm>
              <a:prstGeom prst="rect">
                <a:avLst/>
              </a:prstGeom>
              <a:blipFill>
                <a:blip r:embed="rId15"/>
                <a:stretch>
                  <a:fillRect t="-8065" r="-1119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15" y="1524000"/>
                <a:ext cx="4558620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3518256-79B6-D84E-A40D-424E98B38461}"/>
                  </a:ext>
                </a:extLst>
              </p:cNvPr>
              <p:cNvSpPr txBox="1"/>
              <p:nvPr/>
            </p:nvSpPr>
            <p:spPr>
              <a:xfrm>
                <a:off x="8123776" y="1524000"/>
                <a:ext cx="428322" cy="4616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2400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3518256-79B6-D84E-A40D-424E98B38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76" y="1524000"/>
                <a:ext cx="428322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540245" y="5029795"/>
                <a:ext cx="479555" cy="37555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b="1" i="1" dirty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245" y="5029795"/>
                <a:ext cx="479555" cy="37555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7792027" y="4953126"/>
                <a:ext cx="1328697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027" y="4953126"/>
                <a:ext cx="1328697" cy="369332"/>
              </a:xfrm>
              <a:prstGeom prst="rect">
                <a:avLst/>
              </a:prstGeom>
              <a:blipFill>
                <a:blip r:embed="rId19"/>
                <a:stretch>
                  <a:fillRect b="-1451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051432" y="4960585"/>
                <a:ext cx="716799" cy="37555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432" y="4960585"/>
                <a:ext cx="716799" cy="3755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74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9" grpId="0"/>
      <p:bldP spid="18" grpId="0"/>
      <p:bldP spid="19" grpId="0" animBg="1"/>
      <p:bldP spid="21" grpId="0" animBg="1"/>
      <p:bldP spid="24" grpId="0" animBg="1"/>
      <p:bldP spid="25" grpId="0" animBg="1"/>
      <p:bldP spid="5" grpId="0" animBg="1"/>
      <p:bldP spid="7" grpId="0" animBg="1"/>
      <p:bldP spid="27" grpId="0" animBg="1"/>
      <p:bldP spid="11" grpId="0" animBg="1"/>
      <p:bldP spid="28" grpId="0" animBg="1"/>
      <p:bldP spid="29" grpId="0" animBg="1"/>
      <p:bldP spid="30" grpId="0" animBg="1"/>
      <p:bldP spid="39" grpId="0" animBg="1"/>
      <p:bldP spid="41" grpId="0" animBg="1"/>
      <p:bldP spid="43" grpId="0" animBg="1"/>
      <p:bldP spid="44" grpId="0" animBg="1"/>
      <p:bldP spid="4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Recursion </a:t>
            </a:r>
            <a:r>
              <a:rPr lang="en-US" sz="3200" b="1" dirty="0"/>
              <a:t>Tree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46237"/>
                <a:ext cx="8229600" cy="4525963"/>
              </a:xfrm>
            </p:spPr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1800" dirty="0"/>
                  <a:t>: Is it possible to select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1800" dirty="0"/>
                  <a:t>such that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   …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46237"/>
                <a:ext cx="8229600" cy="4525963"/>
              </a:xfrm>
              <a:blipFill rotWithShape="1">
                <a:blip r:embed="rId3"/>
                <a:stretch>
                  <a:fillRect l="-741" t="-673" b="-94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418791" y="1544404"/>
            <a:ext cx="3143809" cy="644992"/>
            <a:chOff x="2971799" y="2992204"/>
            <a:chExt cx="3143809" cy="644992"/>
          </a:xfrm>
        </p:grpSpPr>
        <p:cxnSp>
          <p:nvCxnSpPr>
            <p:cNvPr id="17" name="Straight Arrow Connector 16"/>
            <p:cNvCxnSpPr>
              <a:stCxn id="5" idx="3"/>
              <a:endCxn id="6" idx="7"/>
            </p:cNvCxnSpPr>
            <p:nvPr/>
          </p:nvCxnSpPr>
          <p:spPr>
            <a:xfrm flipH="1">
              <a:off x="2971799" y="2992204"/>
              <a:ext cx="1391210" cy="644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5"/>
              <a:endCxn id="7" idx="1"/>
            </p:cNvCxnSpPr>
            <p:nvPr/>
          </p:nvCxnSpPr>
          <p:spPr>
            <a:xfrm>
              <a:off x="4638954" y="2992204"/>
              <a:ext cx="1476654" cy="644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62000" y="2438400"/>
            <a:ext cx="6391555" cy="1219200"/>
            <a:chOff x="762000" y="2438400"/>
            <a:chExt cx="6391555" cy="1219200"/>
          </a:xfrm>
        </p:grpSpPr>
        <p:sp>
          <p:nvSpPr>
            <p:cNvPr id="41" name="Oval 40"/>
            <p:cNvSpPr/>
            <p:nvPr/>
          </p:nvSpPr>
          <p:spPr>
            <a:xfrm>
              <a:off x="1066800" y="28956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30387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44103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4677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>
              <a:off x="1295400" y="2458804"/>
              <a:ext cx="819150" cy="4367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2390495" y="2458804"/>
              <a:ext cx="843382" cy="3605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4690923" y="2438400"/>
              <a:ext cx="819150" cy="4367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791200" y="2458804"/>
              <a:ext cx="843382" cy="3605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762000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447800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2743200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352800" y="3192645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4124045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4728743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6181445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6781800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52400" y="4267200"/>
            <a:ext cx="7467600" cy="381000"/>
            <a:chOff x="152400" y="4267200"/>
            <a:chExt cx="7467600" cy="381000"/>
          </a:xfrm>
        </p:grpSpPr>
        <p:sp>
          <p:nvSpPr>
            <p:cNvPr id="64" name="Oval 63"/>
            <p:cNvSpPr/>
            <p:nvPr/>
          </p:nvSpPr>
          <p:spPr>
            <a:xfrm>
              <a:off x="1524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6765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12192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17526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56295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61722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/>
            <p:cNvSpPr/>
            <p:nvPr/>
          </p:nvSpPr>
          <p:spPr>
            <a:xfrm>
              <a:off x="67056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/>
            <p:cNvSpPr/>
            <p:nvPr/>
          </p:nvSpPr>
          <p:spPr>
            <a:xfrm>
              <a:off x="72297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/>
            <p:cNvSpPr/>
            <p:nvPr/>
          </p:nvSpPr>
          <p:spPr>
            <a:xfrm>
              <a:off x="308610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333375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356235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43950" y="1219200"/>
            <a:ext cx="770850" cy="381000"/>
            <a:chOff x="3343950" y="1219200"/>
            <a:chExt cx="770850" cy="381000"/>
          </a:xfrm>
        </p:grpSpPr>
        <p:sp>
          <p:nvSpPr>
            <p:cNvPr id="5" name="Oval 4"/>
            <p:cNvSpPr/>
            <p:nvPr/>
          </p:nvSpPr>
          <p:spPr>
            <a:xfrm>
              <a:off x="3724555" y="1219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3343950" y="1219200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3950" y="1219200"/>
                  <a:ext cx="38985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1371600" y="2057400"/>
            <a:ext cx="4495799" cy="457200"/>
            <a:chOff x="1371600" y="2057400"/>
            <a:chExt cx="4495799" cy="457200"/>
          </a:xfrm>
        </p:grpSpPr>
        <p:grpSp>
          <p:nvGrpSpPr>
            <p:cNvPr id="40" name="Group 39"/>
            <p:cNvGrpSpPr/>
            <p:nvPr/>
          </p:nvGrpSpPr>
          <p:grpSpPr>
            <a:xfrm>
              <a:off x="2057400" y="2133600"/>
              <a:ext cx="3809999" cy="381000"/>
              <a:chOff x="2819400" y="3962400"/>
              <a:chExt cx="3809999" cy="3810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819400" y="3962400"/>
                <a:ext cx="390245" cy="381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6239154" y="3962400"/>
                <a:ext cx="390245" cy="381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1371600" y="2057400"/>
                  <a:ext cx="788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𝑒𝑣𝑒𝑛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600" y="2057400"/>
                  <a:ext cx="78861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007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4800600" y="2057400"/>
                  <a:ext cx="7189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𝑜𝑑𝑑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2057400"/>
                  <a:ext cx="718915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11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4114800" y="1371600"/>
            <a:ext cx="3810000" cy="3048000"/>
            <a:chOff x="4114800" y="1371600"/>
            <a:chExt cx="3810000" cy="3048000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5943600" y="2324100"/>
              <a:ext cx="19050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6900722" y="2971800"/>
              <a:ext cx="947878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7620000" y="4419600"/>
              <a:ext cx="3048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4114800" y="1371600"/>
              <a:ext cx="37338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/>
          <p:cNvSpPr txBox="1"/>
          <p:nvPr/>
        </p:nvSpPr>
        <p:spPr>
          <a:xfrm>
            <a:off x="7604236" y="942201"/>
            <a:ext cx="625364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degree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79468" y="388203"/>
            <a:ext cx="864532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 points</a:t>
            </a:r>
          </a:p>
          <a:p>
            <a:r>
              <a:rPr lang="en-US" sz="1200" b="1" dirty="0"/>
              <a:t> for </a:t>
            </a:r>
          </a:p>
          <a:p>
            <a:r>
              <a:rPr lang="en-US" sz="1200" b="1" dirty="0"/>
              <a:t>evaluation</a:t>
            </a:r>
          </a:p>
          <a:p>
            <a:endParaRPr 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2379638" y="762000"/>
                <a:ext cx="3259162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𝑒𝑣𝑒𝑛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  +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𝑜𝑑𝑑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638" y="762000"/>
                <a:ext cx="3259162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6349" r="-279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7696200" y="1185446"/>
                <a:ext cx="5750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1185446"/>
                <a:ext cx="575094" cy="338554"/>
              </a:xfrm>
              <a:prstGeom prst="rect">
                <a:avLst/>
              </a:prstGeom>
              <a:blipFill rotWithShape="1">
                <a:blip r:embed="rId8"/>
                <a:stretch>
                  <a:fillRect t="-5357" r="-851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7620000" y="2133600"/>
                <a:ext cx="7995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2133600"/>
                <a:ext cx="799514" cy="338554"/>
              </a:xfrm>
              <a:prstGeom prst="rect">
                <a:avLst/>
              </a:prstGeom>
              <a:blipFill rotWithShape="1">
                <a:blip r:embed="rId9"/>
                <a:stretch>
                  <a:fillRect t="-5357" r="-534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7658686" y="2785646"/>
                <a:ext cx="7995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686" y="2785646"/>
                <a:ext cx="799514" cy="338554"/>
              </a:xfrm>
              <a:prstGeom prst="rect">
                <a:avLst/>
              </a:prstGeom>
              <a:blipFill rotWithShape="1">
                <a:blip r:embed="rId10"/>
                <a:stretch>
                  <a:fillRect t="-5357" r="-530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7924800" y="4233446"/>
                <a:ext cx="5654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233446"/>
                <a:ext cx="565476" cy="338554"/>
              </a:xfrm>
              <a:prstGeom prst="rect">
                <a:avLst/>
              </a:prstGeom>
              <a:blipFill rotWithShape="1">
                <a:blip r:embed="rId11"/>
                <a:stretch>
                  <a:fillRect t="-5357" r="-752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8703598" y="1185446"/>
                <a:ext cx="3642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598" y="1185446"/>
                <a:ext cx="364202" cy="338554"/>
              </a:xfrm>
              <a:prstGeom prst="rect">
                <a:avLst/>
              </a:prstGeom>
              <a:blipFill rotWithShape="1">
                <a:blip r:embed="rId12"/>
                <a:stretch>
                  <a:fillRect t="-5357" r="-1333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8779798" y="2133600"/>
                <a:ext cx="3642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798" y="2133600"/>
                <a:ext cx="364202" cy="338554"/>
              </a:xfrm>
              <a:prstGeom prst="rect">
                <a:avLst/>
              </a:prstGeom>
              <a:blipFill rotWithShape="1">
                <a:blip r:embed="rId13"/>
                <a:stretch>
                  <a:fillRect t="-5357" r="-15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8772861" y="2819400"/>
                <a:ext cx="3642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861" y="2819400"/>
                <a:ext cx="364202" cy="338554"/>
              </a:xfrm>
              <a:prstGeom prst="rect">
                <a:avLst/>
              </a:prstGeom>
              <a:blipFill rotWithShape="1">
                <a:blip r:embed="rId14"/>
                <a:stretch>
                  <a:fillRect t="-5455" r="-15000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8779798" y="4233446"/>
                <a:ext cx="3642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798" y="4233446"/>
                <a:ext cx="364202" cy="338554"/>
              </a:xfrm>
              <a:prstGeom prst="rect">
                <a:avLst/>
              </a:prstGeom>
              <a:blipFill rotWithShape="1">
                <a:blip r:embed="rId15"/>
                <a:stretch>
                  <a:fillRect t="-5357" r="-15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414828" y="1185446"/>
                <a:ext cx="348172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006C31"/>
                          </a:solidFill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28" y="1185446"/>
                <a:ext cx="348172" cy="338554"/>
              </a:xfrm>
              <a:prstGeom prst="rect">
                <a:avLst/>
              </a:prstGeom>
              <a:blipFill rotWithShape="1">
                <a:blip r:embed="rId16"/>
                <a:stretch>
                  <a:fillRect t="-3448" r="-11667" b="-1896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414828" y="2099846"/>
                <a:ext cx="446468" cy="34413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28" y="2099846"/>
                <a:ext cx="446468" cy="344133"/>
              </a:xfrm>
              <a:prstGeom prst="rect">
                <a:avLst/>
              </a:prstGeom>
              <a:blipFill rotWithShape="1">
                <a:blip r:embed="rId17"/>
                <a:stretch>
                  <a:fillRect t="-1695" r="-9211" b="-18644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8382000" y="2780067"/>
                <a:ext cx="446469" cy="3434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780067"/>
                <a:ext cx="446469" cy="343492"/>
              </a:xfrm>
              <a:prstGeom prst="rect">
                <a:avLst/>
              </a:prstGeom>
              <a:blipFill rotWithShape="1">
                <a:blip r:embed="rId18"/>
                <a:stretch>
                  <a:fillRect t="-1724" r="-9333" b="-20690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382000" y="4228508"/>
                <a:ext cx="452881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4228508"/>
                <a:ext cx="452881" cy="338554"/>
              </a:xfrm>
              <a:prstGeom prst="rect">
                <a:avLst/>
              </a:prstGeom>
              <a:blipFill rotWithShape="1">
                <a:blip r:embed="rId19"/>
                <a:stretch>
                  <a:fillRect t="-3509" r="-9211" b="-2105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66800" y="5755726"/>
                <a:ext cx="1077474" cy="5688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755726"/>
                <a:ext cx="1077474" cy="568874"/>
              </a:xfrm>
              <a:prstGeom prst="rect">
                <a:avLst/>
              </a:prstGeom>
              <a:blipFill rotWithShape="1">
                <a:blip r:embed="rId20"/>
                <a:stretch>
                  <a:fillRect r="-55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2575202" y="5755726"/>
                <a:ext cx="1077474" cy="5688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202" y="5755726"/>
                <a:ext cx="1077474" cy="568874"/>
              </a:xfrm>
              <a:prstGeom prst="rect">
                <a:avLst/>
              </a:prstGeom>
              <a:blipFill rotWithShape="1">
                <a:blip r:embed="rId21"/>
                <a:stretch>
                  <a:fillRect r="-61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4114800" y="5919794"/>
                <a:ext cx="1074268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5919794"/>
                <a:ext cx="1074268" cy="369332"/>
              </a:xfrm>
              <a:prstGeom prst="rect">
                <a:avLst/>
              </a:prstGeom>
              <a:blipFill rotWithShape="1">
                <a:blip r:embed="rId22"/>
                <a:stretch>
                  <a:fillRect t="-6349" r="-618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own Ribbon 12"/>
              <p:cNvSpPr/>
              <p:nvPr/>
            </p:nvSpPr>
            <p:spPr>
              <a:xfrm>
                <a:off x="5404423" y="5679526"/>
                <a:ext cx="3498263" cy="949874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Now recall the set 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endParaRPr lang="en-US" sz="14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you selected. What is the size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𝑺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,</a:t>
                </a:r>
                <a:r>
                  <a:rPr lang="en-US" sz="14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𝑺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,</a:t>
                </a:r>
                <a:r>
                  <a:rPr lang="en-US" sz="1400" b="1" dirty="0">
                    <a:solidFill>
                      <a:srgbClr val="006C31"/>
                    </a:solidFill>
                  </a:rPr>
                  <a:t> </a:t>
                </a:r>
                <a:r>
                  <a:rPr lang="en-US" sz="1400" dirty="0">
                    <a:solidFill>
                      <a:schemeClr val="tx1"/>
                    </a:solidFill>
                  </a:rPr>
                  <a:t>…,</a:t>
                </a:r>
                <a:r>
                  <a:rPr lang="en-US" sz="14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𝑺</m:t>
                        </m:r>
                      </m:e>
                      <m:sup>
                        <m:r>
                          <a:rPr lang="en-US" sz="1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?   </a:t>
                </a:r>
              </a:p>
            </p:txBody>
          </p:sp>
        </mc:Choice>
        <mc:Fallback xmlns="">
          <p:sp>
            <p:nvSpPr>
              <p:cNvPr id="13" name="Down Ribbon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423" y="5679526"/>
                <a:ext cx="3498263" cy="949874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2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 rot="5400000">
            <a:off x="3771900" y="1028700"/>
            <a:ext cx="304800" cy="75438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66800" y="4953000"/>
                <a:ext cx="5656485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polynomials, each to be evaluated at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distinct numbers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953000"/>
                <a:ext cx="5656485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6452" r="-753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Arrow 20"/>
          <p:cNvSpPr/>
          <p:nvPr/>
        </p:nvSpPr>
        <p:spPr>
          <a:xfrm>
            <a:off x="6883009" y="4800600"/>
            <a:ext cx="508391" cy="86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445357" y="5005217"/>
                <a:ext cx="1510863" cy="40498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𝐭𝐢𝐦𝐞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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357" y="5005217"/>
                <a:ext cx="1510863" cy="404983"/>
              </a:xfrm>
              <a:prstGeom prst="rect">
                <a:avLst/>
              </a:prstGeom>
              <a:blipFill rotWithShape="1">
                <a:blip r:embed="rId25"/>
                <a:stretch>
                  <a:fillRect t="-2985" r="-6452" b="-19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Cloud Callout 85"/>
          <p:cNvSpPr/>
          <p:nvPr/>
        </p:nvSpPr>
        <p:spPr>
          <a:xfrm>
            <a:off x="5611198" y="5521907"/>
            <a:ext cx="3312387" cy="1219200"/>
          </a:xfrm>
          <a:prstGeom prst="cloudCallout">
            <a:avLst>
              <a:gd name="adj1" fmla="val -24125"/>
              <a:gd name="adj2" fmla="val 666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This hurdle is pointing to a very important question whose answer will solve this problem …</a:t>
            </a:r>
          </a:p>
        </p:txBody>
      </p:sp>
    </p:spTree>
    <p:extLst>
      <p:ext uri="{BB962C8B-B14F-4D97-AF65-F5344CB8AC3E}">
        <p14:creationId xmlns:p14="http://schemas.microsoft.com/office/powerpoint/2010/main" val="1775458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91" grpId="0" animBg="1"/>
      <p:bldP spid="92" grpId="0" animBg="1"/>
      <p:bldP spid="94" grpId="0"/>
      <p:bldP spid="95" grpId="0"/>
      <p:bldP spid="96" grpId="0"/>
      <p:bldP spid="97" grpId="0"/>
      <p:bldP spid="103" grpId="0"/>
      <p:bldP spid="104" grpId="0"/>
      <p:bldP spid="105" grpId="0"/>
      <p:bldP spid="106" grpId="0"/>
      <p:bldP spid="68" grpId="0" animBg="1"/>
      <p:bldP spid="69" grpId="0" animBg="1"/>
      <p:bldP spid="80" grpId="0" animBg="1"/>
      <p:bldP spid="81" grpId="0" animBg="1"/>
      <p:bldP spid="14" grpId="0" animBg="1"/>
      <p:bldP spid="82" grpId="0" animBg="1"/>
      <p:bldP spid="84" grpId="0" animBg="1"/>
      <p:bldP spid="13" grpId="0" animBg="1"/>
      <p:bldP spid="13" grpId="1" animBg="1"/>
      <p:bldP spid="16" grpId="0" animBg="1"/>
      <p:bldP spid="19" grpId="0" animBg="1"/>
      <p:bldP spid="21" grpId="0" animBg="1"/>
      <p:bldP spid="21" grpId="1" animBg="1"/>
      <p:bldP spid="22" grpId="0" animBg="1"/>
      <p:bldP spid="86" grpId="0" animBg="1"/>
      <p:bldP spid="8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Question</a:t>
            </a:r>
            <a:endParaRPr lang="en-US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Is it possible to select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…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2000" y="2108308"/>
                <a:ext cx="1077474" cy="5688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108308"/>
                <a:ext cx="1077474" cy="568874"/>
              </a:xfrm>
              <a:prstGeom prst="rect">
                <a:avLst/>
              </a:prstGeom>
              <a:blipFill>
                <a:blip r:embed="rId3"/>
                <a:stretch>
                  <a:fillRect b="-42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62000" y="3005850"/>
                <a:ext cx="1077474" cy="5688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005850"/>
                <a:ext cx="1077474" cy="568874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62000" y="4665777"/>
                <a:ext cx="1074268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665777"/>
                <a:ext cx="1074268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2F8A95-111E-A248-8A70-2B0B88E97D0F}"/>
                  </a:ext>
                </a:extLst>
              </p:cNvPr>
              <p:cNvSpPr txBox="1"/>
              <p:nvPr/>
            </p:nvSpPr>
            <p:spPr>
              <a:xfrm>
                <a:off x="5101681" y="2108308"/>
                <a:ext cx="2496196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2F8A95-111E-A248-8A70-2B0B88E97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81" y="2108308"/>
                <a:ext cx="2496196" cy="369332"/>
              </a:xfrm>
              <a:prstGeom prst="rect">
                <a:avLst/>
              </a:prstGeom>
              <a:blipFill>
                <a:blip r:embed="rId6"/>
                <a:stretch>
                  <a:fillRect t="-10714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D97F5F8-DA19-4248-B3C3-D0AF56EBC654}"/>
              </a:ext>
            </a:extLst>
          </p:cNvPr>
          <p:cNvSpPr/>
          <p:nvPr/>
        </p:nvSpPr>
        <p:spPr>
          <a:xfrm>
            <a:off x="706740" y="2059067"/>
            <a:ext cx="1184787" cy="66735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loud Callout 11">
            <a:extLst>
              <a:ext uri="{FF2B5EF4-FFF2-40B4-BE49-F238E27FC236}">
                <a16:creationId xmlns:a16="http://schemas.microsoft.com/office/drawing/2014/main" id="{E467F3DF-BE31-3C4B-9100-93F2C7A8B6E3}"/>
              </a:ext>
            </a:extLst>
          </p:cNvPr>
          <p:cNvSpPr/>
          <p:nvPr/>
        </p:nvSpPr>
        <p:spPr>
          <a:xfrm>
            <a:off x="3505200" y="2985748"/>
            <a:ext cx="4379187" cy="1394613"/>
          </a:xfrm>
          <a:prstGeom prst="cloudCallout">
            <a:avLst>
              <a:gd name="adj1" fmla="val -24125"/>
              <a:gd name="adj2" fmla="val 666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Good start !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But how to satisfy the remaining requirements …</a:t>
            </a:r>
          </a:p>
        </p:txBody>
      </p:sp>
      <p:sp>
        <p:nvSpPr>
          <p:cNvPr id="2" name="Left Arrow 1">
            <a:extLst>
              <a:ext uri="{FF2B5EF4-FFF2-40B4-BE49-F238E27FC236}">
                <a16:creationId xmlns:a16="http://schemas.microsoft.com/office/drawing/2014/main" id="{67B8FC9E-BFB0-F645-A1AB-0F6B830B265A}"/>
              </a:ext>
            </a:extLst>
          </p:cNvPr>
          <p:cNvSpPr/>
          <p:nvPr/>
        </p:nvSpPr>
        <p:spPr>
          <a:xfrm>
            <a:off x="2675538" y="2108308"/>
            <a:ext cx="1889088" cy="4202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5C44B-4636-329F-C4A1-1AE4A9890A2D}"/>
              </a:ext>
            </a:extLst>
          </p:cNvPr>
          <p:cNvSpPr txBox="1"/>
          <p:nvPr/>
        </p:nvSpPr>
        <p:spPr>
          <a:xfrm>
            <a:off x="5110825" y="5193268"/>
            <a:ext cx="235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Complex roots </a:t>
            </a:r>
            <a:r>
              <a:rPr lang="en-US" b="1" dirty="0"/>
              <a:t>of </a:t>
            </a:r>
            <a:r>
              <a:rPr lang="en-US" b="1" dirty="0">
                <a:solidFill>
                  <a:srgbClr val="0070C0"/>
                </a:solidFill>
              </a:rPr>
              <a:t>unity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23866-E179-6F84-DEF5-B734DABD85E0}"/>
              </a:ext>
            </a:extLst>
          </p:cNvPr>
          <p:cNvSpPr txBox="1"/>
          <p:nvPr/>
        </p:nvSpPr>
        <p:spPr>
          <a:xfrm>
            <a:off x="5089489" y="4500494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Complex numbers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014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animBg="1"/>
      <p:bldP spid="10" grpId="0" animBg="1"/>
      <p:bldP spid="11" grpId="0" animBg="1"/>
      <p:bldP spid="4" grpId="0" animBg="1"/>
      <p:bldP spid="14" grpId="0" animBg="1"/>
      <p:bldP spid="12" grpId="0" animBg="1"/>
      <p:bldP spid="12" grpId="1" animBg="1"/>
      <p:bldP spid="2" grpId="0" animBg="1"/>
      <p:bldP spid="3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88CCD-2F01-9910-9562-BF66AD1E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6C31"/>
                </a:solidFill>
              </a:rPr>
              <a:t>Homework</a:t>
            </a:r>
            <a:endParaRPr lang="en-IN" sz="3600" b="1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785EF9-8FA9-DFFC-AA7F-A3ED54736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Study the complex roots of unity (from some good source on the net)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Make sincere attempts to figure out the right choice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IN" sz="2000" dirty="0"/>
                  <a:t> ?</a:t>
                </a:r>
              </a:p>
              <a:p>
                <a:endParaRPr lang="en-IN" sz="2000" dirty="0"/>
              </a:p>
              <a:p>
                <a:endParaRPr lang="en-IN" sz="2000" dirty="0"/>
              </a:p>
              <a:p>
                <a:r>
                  <a:rPr lang="en-IN" sz="2000" dirty="0"/>
                  <a:t>This is one of the three most important algorithm. Try to internalize it fully.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785EF9-8FA9-DFFC-AA7F-A3ED54736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r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E7CE7-A7A0-9111-E9C6-0ED612E6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66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6.8|1.9|1.6|1.5|2.2|1.3|3.9|2.5|3.4|0.8|1.3|1.7|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3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6271</TotalTime>
  <Words>1811</Words>
  <Application>Microsoft Office PowerPoint</Application>
  <PresentationFormat>On-screen Show (4:3)</PresentationFormat>
  <Paragraphs>441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Divide and Conquer paradigm  </vt:lpstr>
      <vt:lpstr>An Overview </vt:lpstr>
      <vt:lpstr>An Overview </vt:lpstr>
      <vt:lpstr>An algorithm for  multiplying two polynomials</vt:lpstr>
      <vt:lpstr>Multiplying two polynomials </vt:lpstr>
      <vt:lpstr>Divide Step </vt:lpstr>
      <vt:lpstr>O(n^(log_2 3))  time algorithm </vt:lpstr>
      <vt:lpstr>Representation of a polynomial ? </vt:lpstr>
      <vt:lpstr>Representation of a polynomial ? </vt:lpstr>
      <vt:lpstr>Representation of a polynomial ? </vt:lpstr>
      <vt:lpstr>Questions </vt:lpstr>
      <vt:lpstr>PowerPoint Presentation</vt:lpstr>
      <vt:lpstr>Polynomial Evaluation Problem</vt:lpstr>
      <vt:lpstr>a Divide and Conquer algorithm for </vt:lpstr>
      <vt:lpstr>Divide Step </vt:lpstr>
      <vt:lpstr>Divide Step </vt:lpstr>
      <vt:lpstr>Divide Step </vt:lpstr>
      <vt:lpstr>The Recursion Tree   </vt:lpstr>
      <vt:lpstr>Divide Step </vt:lpstr>
      <vt:lpstr>The Recursion Tree </vt:lpstr>
      <vt:lpstr>Question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810</cp:revision>
  <dcterms:created xsi:type="dcterms:W3CDTF">2011-12-03T04:13:03Z</dcterms:created>
  <dcterms:modified xsi:type="dcterms:W3CDTF">2025-08-08T07:32:22Z</dcterms:modified>
</cp:coreProperties>
</file>