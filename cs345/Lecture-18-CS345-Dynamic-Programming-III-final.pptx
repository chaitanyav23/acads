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7"/>
  </p:notesMasterIdLst>
  <p:sldIdLst>
    <p:sldId id="560" r:id="rId2"/>
    <p:sldId id="584" r:id="rId3"/>
    <p:sldId id="585" r:id="rId4"/>
    <p:sldId id="561" r:id="rId5"/>
    <p:sldId id="497" r:id="rId6"/>
    <p:sldId id="500" r:id="rId7"/>
    <p:sldId id="499" r:id="rId8"/>
    <p:sldId id="496" r:id="rId9"/>
    <p:sldId id="586" r:id="rId10"/>
    <p:sldId id="597" r:id="rId11"/>
    <p:sldId id="716" r:id="rId12"/>
    <p:sldId id="587" r:id="rId13"/>
    <p:sldId id="590" r:id="rId14"/>
    <p:sldId id="591" r:id="rId15"/>
    <p:sldId id="592" r:id="rId16"/>
    <p:sldId id="593" r:id="rId17"/>
    <p:sldId id="594" r:id="rId18"/>
    <p:sldId id="508" r:id="rId19"/>
    <p:sldId id="509" r:id="rId20"/>
    <p:sldId id="524" r:id="rId21"/>
    <p:sldId id="501" r:id="rId22"/>
    <p:sldId id="518" r:id="rId23"/>
    <p:sldId id="507" r:id="rId24"/>
    <p:sldId id="502" r:id="rId25"/>
    <p:sldId id="512" r:id="rId26"/>
    <p:sldId id="510" r:id="rId27"/>
    <p:sldId id="527" r:id="rId28"/>
    <p:sldId id="532" r:id="rId29"/>
    <p:sldId id="571" r:id="rId30"/>
    <p:sldId id="558" r:id="rId31"/>
    <p:sldId id="696" r:id="rId32"/>
    <p:sldId id="552" r:id="rId33"/>
    <p:sldId id="708" r:id="rId34"/>
    <p:sldId id="710" r:id="rId35"/>
    <p:sldId id="698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81" autoAdjust="0"/>
    <p:restoredTop sz="94579" autoAdjust="0"/>
  </p:normalViewPr>
  <p:slideViewPr>
    <p:cSldViewPr>
      <p:cViewPr varScale="1">
        <p:scale>
          <a:sx n="106" d="100"/>
          <a:sy n="106" d="100"/>
        </p:scale>
        <p:origin x="193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9/12/2025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9/12/2025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9/12/2025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9/12/2025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9/12/2025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9/12/2025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9/12/2025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9/12/2025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10.png"/><Relationship Id="rId7" Type="http://schemas.openxmlformats.org/officeDocument/2006/relationships/image" Target="../media/image6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47.png"/><Relationship Id="rId4" Type="http://schemas.openxmlformats.org/officeDocument/2006/relationships/image" Target="../media/image3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0.png"/><Relationship Id="rId7" Type="http://schemas.openxmlformats.org/officeDocument/2006/relationships/image" Target="../media/image17.png"/><Relationship Id="rId12" Type="http://schemas.openxmlformats.org/officeDocument/2006/relationships/image" Target="../media/image37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36.png"/><Relationship Id="rId5" Type="http://schemas.openxmlformats.org/officeDocument/2006/relationships/image" Target="../media/image15.png"/><Relationship Id="rId10" Type="http://schemas.openxmlformats.org/officeDocument/2006/relationships/image" Target="../media/image35.png"/><Relationship Id="rId4" Type="http://schemas.openxmlformats.org/officeDocument/2006/relationships/image" Target="../media/image140.png"/><Relationship Id="rId9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240.png"/><Relationship Id="rId7" Type="http://schemas.openxmlformats.org/officeDocument/2006/relationships/image" Target="../media/image281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1.png"/><Relationship Id="rId5" Type="http://schemas.openxmlformats.org/officeDocument/2006/relationships/image" Target="../media/image261.png"/><Relationship Id="rId4" Type="http://schemas.openxmlformats.org/officeDocument/2006/relationships/image" Target="../media/image250.png"/><Relationship Id="rId9" Type="http://schemas.openxmlformats.org/officeDocument/2006/relationships/image" Target="../media/image30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1.png"/><Relationship Id="rId3" Type="http://schemas.openxmlformats.org/officeDocument/2006/relationships/image" Target="../media/image320.png"/><Relationship Id="rId7" Type="http://schemas.openxmlformats.org/officeDocument/2006/relationships/image" Target="../media/image360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0.png"/><Relationship Id="rId5" Type="http://schemas.openxmlformats.org/officeDocument/2006/relationships/image" Target="../media/image351.png"/><Relationship Id="rId4" Type="http://schemas.openxmlformats.org/officeDocument/2006/relationships/image" Target="../media/image340.png"/><Relationship Id="rId9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2.png"/><Relationship Id="rId7" Type="http://schemas.openxmlformats.org/officeDocument/2006/relationships/image" Target="../media/image36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00.png"/><Relationship Id="rId5" Type="http://schemas.openxmlformats.org/officeDocument/2006/relationships/image" Target="../media/image352.png"/><Relationship Id="rId10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38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2.png"/><Relationship Id="rId13" Type="http://schemas.openxmlformats.org/officeDocument/2006/relationships/image" Target="../media/image1.png"/><Relationship Id="rId3" Type="http://schemas.openxmlformats.org/officeDocument/2006/relationships/image" Target="../media/image400.png"/><Relationship Id="rId7" Type="http://schemas.openxmlformats.org/officeDocument/2006/relationships/image" Target="../media/image361.png"/><Relationship Id="rId12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00.png"/><Relationship Id="rId11" Type="http://schemas.openxmlformats.org/officeDocument/2006/relationships/image" Target="../media/image43.png"/><Relationship Id="rId5" Type="http://schemas.openxmlformats.org/officeDocument/2006/relationships/image" Target="../media/image352.png"/><Relationship Id="rId10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38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13" Type="http://schemas.openxmlformats.org/officeDocument/2006/relationships/image" Target="../media/image360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12" Type="http://schemas.openxmlformats.org/officeDocument/2006/relationships/image" Target="../media/image35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340.png"/><Relationship Id="rId5" Type="http://schemas.openxmlformats.org/officeDocument/2006/relationships/image" Target="../media/image280.png"/><Relationship Id="rId10" Type="http://schemas.openxmlformats.org/officeDocument/2006/relationships/image" Target="../media/image330.png"/><Relationship Id="rId4" Type="http://schemas.openxmlformats.org/officeDocument/2006/relationships/image" Target="../media/image270.png"/><Relationship Id="rId9" Type="http://schemas.openxmlformats.org/officeDocument/2006/relationships/image" Target="../media/image3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13" Type="http://schemas.openxmlformats.org/officeDocument/2006/relationships/image" Target="../media/image380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12" Type="http://schemas.openxmlformats.org/officeDocument/2006/relationships/image" Target="../media/image3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340.png"/><Relationship Id="rId5" Type="http://schemas.openxmlformats.org/officeDocument/2006/relationships/image" Target="../media/image280.png"/><Relationship Id="rId10" Type="http://schemas.openxmlformats.org/officeDocument/2006/relationships/image" Target="../media/image330.png"/><Relationship Id="rId4" Type="http://schemas.openxmlformats.org/officeDocument/2006/relationships/image" Target="../media/image270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13" Type="http://schemas.openxmlformats.org/officeDocument/2006/relationships/image" Target="../media/image410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12" Type="http://schemas.openxmlformats.org/officeDocument/2006/relationships/image" Target="../media/image3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340.png"/><Relationship Id="rId5" Type="http://schemas.openxmlformats.org/officeDocument/2006/relationships/image" Target="../media/image280.png"/><Relationship Id="rId10" Type="http://schemas.openxmlformats.org/officeDocument/2006/relationships/image" Target="../media/image330.png"/><Relationship Id="rId4" Type="http://schemas.openxmlformats.org/officeDocument/2006/relationships/image" Target="../media/image270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13" Type="http://schemas.openxmlformats.org/officeDocument/2006/relationships/image" Target="../media/image380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12" Type="http://schemas.openxmlformats.org/officeDocument/2006/relationships/image" Target="../media/image35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340.png"/><Relationship Id="rId5" Type="http://schemas.openxmlformats.org/officeDocument/2006/relationships/image" Target="../media/image280.png"/><Relationship Id="rId10" Type="http://schemas.openxmlformats.org/officeDocument/2006/relationships/image" Target="../media/image330.png"/><Relationship Id="rId4" Type="http://schemas.openxmlformats.org/officeDocument/2006/relationships/image" Target="../media/image270.png"/><Relationship Id="rId9" Type="http://schemas.openxmlformats.org/officeDocument/2006/relationships/image" Target="../media/image320.png"/><Relationship Id="rId14" Type="http://schemas.openxmlformats.org/officeDocument/2006/relationships/image" Target="../media/image37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00.png"/><Relationship Id="rId2" Type="http://schemas.openxmlformats.org/officeDocument/2006/relationships/image" Target="../media/image72.png"/><Relationship Id="rId16" Type="http://schemas.openxmlformats.org/officeDocument/2006/relationships/image" Target="../media/image600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57.png"/><Relationship Id="rId14" Type="http://schemas.openxmlformats.org/officeDocument/2006/relationships/image" Target="../media/image411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00.png"/><Relationship Id="rId18" Type="http://schemas.openxmlformats.org/officeDocument/2006/relationships/image" Target="../media/image110.png"/><Relationship Id="rId21" Type="http://schemas.openxmlformats.org/officeDocument/2006/relationships/image" Target="../media/image131.png"/><Relationship Id="rId12" Type="http://schemas.openxmlformats.org/officeDocument/2006/relationships/image" Target="../media/image3800.png"/><Relationship Id="rId17" Type="http://schemas.openxmlformats.org/officeDocument/2006/relationships/image" Target="../media/image100.png"/><Relationship Id="rId16" Type="http://schemas.openxmlformats.org/officeDocument/2006/relationships/image" Target="../media/image90.png"/><Relationship Id="rId20" Type="http://schemas.openxmlformats.org/officeDocument/2006/relationships/image" Target="../media/image1200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80.png"/><Relationship Id="rId19" Type="http://schemas.openxmlformats.org/officeDocument/2006/relationships/image" Target="../media/image411.png"/><Relationship Id="rId14" Type="http://schemas.openxmlformats.org/officeDocument/2006/relationships/image" Target="../media/image70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0.png"/><Relationship Id="rId7" Type="http://schemas.openxmlformats.org/officeDocument/2006/relationships/image" Target="../media/image49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0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0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53.png"/><Relationship Id="rId7" Type="http://schemas.openxmlformats.org/officeDocument/2006/relationships/image" Target="../media/image50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0.png"/><Relationship Id="rId10" Type="http://schemas.openxmlformats.org/officeDocument/2006/relationships/image" Target="../media/image1400.png"/><Relationship Id="rId4" Type="http://schemas.openxmlformats.org/officeDocument/2006/relationships/image" Target="../media/image55.png"/><Relationship Id="rId9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7" Type="http://schemas.openxmlformats.org/officeDocument/2006/relationships/image" Target="../media/image50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0.png"/><Relationship Id="rId5" Type="http://schemas.openxmlformats.org/officeDocument/2006/relationships/image" Target="../media/image55.png"/><Relationship Id="rId4" Type="http://schemas.openxmlformats.org/officeDocument/2006/relationships/image" Target="../media/image570.png"/><Relationship Id="rId9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0.png"/><Relationship Id="rId13" Type="http://schemas.openxmlformats.org/officeDocument/2006/relationships/image" Target="../media/image2100.png"/><Relationship Id="rId3" Type="http://schemas.openxmlformats.org/officeDocument/2006/relationships/image" Target="../media/image900.png"/><Relationship Id="rId7" Type="http://schemas.openxmlformats.org/officeDocument/2006/relationships/image" Target="../media/image21.png"/><Relationship Id="rId12" Type="http://schemas.openxmlformats.org/officeDocument/2006/relationships/image" Target="../media/image170.png"/><Relationship Id="rId2" Type="http://schemas.openxmlformats.org/officeDocument/2006/relationships/image" Target="../media/image4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1.png"/><Relationship Id="rId11" Type="http://schemas.openxmlformats.org/officeDocument/2006/relationships/image" Target="../media/image160.png"/><Relationship Id="rId5" Type="http://schemas.openxmlformats.org/officeDocument/2006/relationships/image" Target="../media/image1100.png"/><Relationship Id="rId10" Type="http://schemas.openxmlformats.org/officeDocument/2006/relationships/image" Target="../media/image151.png"/><Relationship Id="rId4" Type="http://schemas.openxmlformats.org/officeDocument/2006/relationships/image" Target="../media/image1000.png"/><Relationship Id="rId9" Type="http://schemas.openxmlformats.org/officeDocument/2006/relationships/image" Target="../media/image14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0.png"/><Relationship Id="rId13" Type="http://schemas.openxmlformats.org/officeDocument/2006/relationships/image" Target="../media/image2100.png"/><Relationship Id="rId3" Type="http://schemas.openxmlformats.org/officeDocument/2006/relationships/image" Target="../media/image900.png"/><Relationship Id="rId7" Type="http://schemas.openxmlformats.org/officeDocument/2006/relationships/image" Target="../media/image21.png"/><Relationship Id="rId12" Type="http://schemas.openxmlformats.org/officeDocument/2006/relationships/image" Target="../media/image170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1.png"/><Relationship Id="rId11" Type="http://schemas.openxmlformats.org/officeDocument/2006/relationships/image" Target="../media/image160.png"/><Relationship Id="rId5" Type="http://schemas.openxmlformats.org/officeDocument/2006/relationships/image" Target="../media/image1100.png"/><Relationship Id="rId10" Type="http://schemas.openxmlformats.org/officeDocument/2006/relationships/image" Target="../media/image151.png"/><Relationship Id="rId4" Type="http://schemas.openxmlformats.org/officeDocument/2006/relationships/image" Target="../media/image1000.png"/><Relationship Id="rId9" Type="http://schemas.openxmlformats.org/officeDocument/2006/relationships/image" Target="../media/image141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png"/><Relationship Id="rId18" Type="http://schemas.openxmlformats.org/officeDocument/2006/relationships/image" Target="../media/image201.png"/><Relationship Id="rId21" Type="http://schemas.openxmlformats.org/officeDocument/2006/relationships/image" Target="../media/image412.png"/><Relationship Id="rId12" Type="http://schemas.openxmlformats.org/officeDocument/2006/relationships/image" Target="../media/image541.png"/><Relationship Id="rId17" Type="http://schemas.openxmlformats.org/officeDocument/2006/relationships/image" Target="../media/image82.png"/><Relationship Id="rId2" Type="http://schemas.openxmlformats.org/officeDocument/2006/relationships/image" Target="../media/image2.png"/><Relationship Id="rId16" Type="http://schemas.openxmlformats.org/officeDocument/2006/relationships/image" Target="../media/image191.png"/><Relationship Id="rId20" Type="http://schemas.openxmlformats.org/officeDocument/2006/relationships/image" Target="../media/image3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5.png"/><Relationship Id="rId11" Type="http://schemas.openxmlformats.org/officeDocument/2006/relationships/image" Target="../media/image1701.png"/><Relationship Id="rId15" Type="http://schemas.openxmlformats.org/officeDocument/2006/relationships/image" Target="../media/image180.png"/><Relationship Id="rId10" Type="http://schemas.openxmlformats.org/officeDocument/2006/relationships/image" Target="../media/image1601.png"/><Relationship Id="rId19" Type="http://schemas.openxmlformats.org/officeDocument/2006/relationships/image" Target="../media/image3.png"/><Relationship Id="rId9" Type="http://schemas.openxmlformats.org/officeDocument/2006/relationships/image" Target="../media/image153.png"/><Relationship Id="rId14" Type="http://schemas.openxmlformats.org/officeDocument/2006/relationships/image" Target="../media/image73.pn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41.png"/><Relationship Id="rId18" Type="http://schemas.openxmlformats.org/officeDocument/2006/relationships/image" Target="../media/image201.png"/><Relationship Id="rId12" Type="http://schemas.openxmlformats.org/officeDocument/2006/relationships/image" Target="../media/image200.png"/><Relationship Id="rId17" Type="http://schemas.openxmlformats.org/officeDocument/2006/relationships/image" Target="../media/image191.png"/><Relationship Id="rId2" Type="http://schemas.openxmlformats.org/officeDocument/2006/relationships/image" Target="../media/image171.png"/><Relationship Id="rId16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5.png"/><Relationship Id="rId11" Type="http://schemas.openxmlformats.org/officeDocument/2006/relationships/image" Target="../media/image1701.png"/><Relationship Id="rId15" Type="http://schemas.openxmlformats.org/officeDocument/2006/relationships/image" Target="../media/image73.png"/><Relationship Id="rId10" Type="http://schemas.openxmlformats.org/officeDocument/2006/relationships/image" Target="../media/image1601.png"/><Relationship Id="rId19" Type="http://schemas.openxmlformats.org/officeDocument/2006/relationships/image" Target="../media/image3.png"/><Relationship Id="rId9" Type="http://schemas.openxmlformats.org/officeDocument/2006/relationships/image" Target="../media/image153.png"/><Relationship Id="rId14" Type="http://schemas.openxmlformats.org/officeDocument/2006/relationships/image" Target="../media/image6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1.png"/><Relationship Id="rId13" Type="http://schemas.openxmlformats.org/officeDocument/2006/relationships/image" Target="../media/image30.png"/><Relationship Id="rId7" Type="http://schemas.openxmlformats.org/officeDocument/2006/relationships/image" Target="../media/image216.png"/><Relationship Id="rId12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602.png"/><Relationship Id="rId15" Type="http://schemas.openxmlformats.org/officeDocument/2006/relationships/image" Target="../media/image32.png"/><Relationship Id="rId10" Type="http://schemas.openxmlformats.org/officeDocument/2006/relationships/image" Target="../media/image154.png"/><Relationship Id="rId9" Type="http://schemas.openxmlformats.org/officeDocument/2006/relationships/image" Target="../media/image1411.png"/><Relationship Id="rId14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1.png"/><Relationship Id="rId7" Type="http://schemas.openxmlformats.org/officeDocument/2006/relationships/image" Target="../media/image216.png"/><Relationship Id="rId12" Type="http://schemas.openxmlformats.org/officeDocument/2006/relationships/image" Target="../media/image2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602.png"/><Relationship Id="rId10" Type="http://schemas.openxmlformats.org/officeDocument/2006/relationships/image" Target="../media/image154.png"/><Relationship Id="rId9" Type="http://schemas.openxmlformats.org/officeDocument/2006/relationships/image" Target="../media/image141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0.png"/><Relationship Id="rId13" Type="http://schemas.openxmlformats.org/officeDocument/2006/relationships/image" Target="../media/image2900.png"/><Relationship Id="rId12" Type="http://schemas.openxmlformats.org/officeDocument/2006/relationships/image" Target="../media/image2800.png"/><Relationship Id="rId2" Type="http://schemas.openxmlformats.org/officeDocument/2006/relationships/image" Target="../media/image313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33.png"/><Relationship Id="rId15" Type="http://schemas.openxmlformats.org/officeDocument/2006/relationships/image" Target="../media/image3100.png"/><Relationship Id="rId10" Type="http://schemas.openxmlformats.org/officeDocument/2006/relationships/image" Target="../media/image323.png"/><Relationship Id="rId9" Type="http://schemas.openxmlformats.org/officeDocument/2006/relationships/image" Target="../media/image2400.png"/><Relationship Id="rId14" Type="http://schemas.openxmlformats.org/officeDocument/2006/relationships/image" Target="../media/image3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99848"/>
            <a:ext cx="7239000" cy="1596152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 fontScale="92500" lnSpcReduction="20000"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18</a:t>
            </a:r>
            <a:endParaRPr lang="en-US" sz="2400" b="1" dirty="0">
              <a:solidFill>
                <a:srgbClr val="0070C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7030A0"/>
                </a:solidFill>
              </a:rPr>
              <a:t>Dynamic Programming – III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chemeClr val="tx1"/>
                </a:solidFill>
              </a:rPr>
              <a:t>Optimal triangulation of a polygon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 err="1">
                <a:solidFill>
                  <a:schemeClr val="tx1"/>
                </a:solidFill>
              </a:rPr>
              <a:t>Bitonic</a:t>
            </a:r>
            <a:r>
              <a:rPr lang="en-US" sz="2000" b="1" dirty="0">
                <a:solidFill>
                  <a:schemeClr val="tx1"/>
                </a:solidFill>
              </a:rPr>
              <a:t> Tour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chemeClr val="tx1"/>
                </a:solidFill>
              </a:rPr>
              <a:t>Shortest paths in the presence of negative </a:t>
            </a:r>
            <a:r>
              <a:rPr lang="en-US" sz="2000" b="1">
                <a:solidFill>
                  <a:schemeClr val="tx1"/>
                </a:solidFill>
              </a:rPr>
              <a:t>edge weights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438400" y="3062734"/>
            <a:ext cx="426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                  CS345</a:t>
            </a:r>
            <a:endParaRPr lang="en-US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0878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828800"/>
            <a:ext cx="7772400" cy="1362075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OPTMAL Triangulation </a:t>
            </a:r>
            <a:r>
              <a:rPr lang="en-US" sz="3200" dirty="0"/>
              <a:t>of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br>
              <a:rPr lang="en-US" sz="3200" dirty="0">
                <a:solidFill>
                  <a:srgbClr val="7030A0"/>
                </a:solidFill>
              </a:rPr>
            </a:br>
            <a:r>
              <a:rPr lang="en-US" sz="3200" dirty="0">
                <a:solidFill>
                  <a:srgbClr val="0070C0"/>
                </a:solidFill>
              </a:rPr>
              <a:t>a CONVEX POLYGON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546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867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B050"/>
                        </a:solidFill>
                        <a:latin typeface="Cambria Math"/>
                      </a:rPr>
                      <m:t>𝝎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sz="2000" dirty="0"/>
                  <a:t>) : weight of triangle formed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Assumption</a:t>
                </a:r>
                <a:r>
                  <a:rPr lang="en-US" sz="2000" dirty="0"/>
                  <a:t>: It takes </a:t>
                </a:r>
                <a:r>
                  <a:rPr lang="en-US" sz="2000" b="1" dirty="0"/>
                  <a:t>O</a:t>
                </a:r>
                <a:r>
                  <a:rPr lang="en-US" sz="2000" dirty="0"/>
                  <a:t>(1) time to compute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B050"/>
                        </a:solidFill>
                        <a:latin typeface="Cambria Math"/>
                      </a:rPr>
                      <m:t>𝝎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FF0000"/>
                    </a:solidFill>
                  </a:rPr>
                  <a:t>Cost</a:t>
                </a:r>
                <a:r>
                  <a:rPr lang="en-US" sz="2000" b="1" dirty="0"/>
                  <a:t> of a triangulation </a:t>
                </a:r>
                <a:r>
                  <a:rPr lang="en-US" sz="2000" dirty="0"/>
                  <a:t>: sum of the weight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2000" dirty="0"/>
                  <a:t> triangles formed.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Aim</a:t>
                </a:r>
                <a:r>
                  <a:rPr lang="en-US" sz="2000" dirty="0"/>
                  <a:t>: Compute triangulation of minimum cost.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867400"/>
              </a:xfrm>
              <a:blipFill>
                <a:blip r:embed="rId2"/>
                <a:stretch>
                  <a:fillRect l="-741" t="-520" b="-25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2438400" y="2057400"/>
            <a:ext cx="3962400" cy="3581400"/>
            <a:chOff x="2362200" y="2057400"/>
            <a:chExt cx="3962400" cy="3581400"/>
          </a:xfrm>
        </p:grpSpPr>
        <p:cxnSp>
          <p:nvCxnSpPr>
            <p:cNvPr id="34" name="Straight Connector 33"/>
            <p:cNvCxnSpPr/>
            <p:nvPr/>
          </p:nvCxnSpPr>
          <p:spPr>
            <a:xfrm flipH="1" flipV="1">
              <a:off x="2362200" y="3562350"/>
              <a:ext cx="457200" cy="13906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/>
            <p:cNvGrpSpPr/>
            <p:nvPr/>
          </p:nvGrpSpPr>
          <p:grpSpPr>
            <a:xfrm>
              <a:off x="2362200" y="2057400"/>
              <a:ext cx="3962400" cy="3581400"/>
              <a:chOff x="2362200" y="2057400"/>
              <a:chExt cx="3962400" cy="3581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3733800" y="5638800"/>
                <a:ext cx="16002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H="1">
                <a:off x="5334000" y="4876800"/>
                <a:ext cx="762000" cy="76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096000" y="3886200"/>
                <a:ext cx="2286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867400" y="2514600"/>
                <a:ext cx="457200" cy="1371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4953000" y="2057400"/>
                <a:ext cx="914400" cy="4572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2895600" y="2057400"/>
                <a:ext cx="2057400" cy="533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2362200" y="2590800"/>
                <a:ext cx="5334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 flipV="1">
                <a:off x="2819400" y="4953000"/>
                <a:ext cx="914400" cy="685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/>
          <p:cNvGrpSpPr/>
          <p:nvPr/>
        </p:nvGrpSpPr>
        <p:grpSpPr>
          <a:xfrm>
            <a:off x="2326392" y="1688068"/>
            <a:ext cx="4488983" cy="4243864"/>
            <a:chOff x="2326392" y="1688068"/>
            <a:chExt cx="4488983" cy="4243864"/>
          </a:xfrm>
        </p:grpSpPr>
        <p:grpSp>
          <p:nvGrpSpPr>
            <p:cNvPr id="3" name="Group 2"/>
            <p:cNvGrpSpPr/>
            <p:nvPr/>
          </p:nvGrpSpPr>
          <p:grpSpPr>
            <a:xfrm>
              <a:off x="2326392" y="1688068"/>
              <a:ext cx="4488983" cy="4243864"/>
              <a:chOff x="2326392" y="1688068"/>
              <a:chExt cx="4488983" cy="424386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Rectangle 1"/>
                  <p:cNvSpPr/>
                  <p:nvPr/>
                </p:nvSpPr>
                <p:spPr>
                  <a:xfrm>
                    <a:off x="5224225" y="5562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" name="Rectangle 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4225" y="5562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/>
                  <p:cNvSpPr/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/>
                  <p:cNvSpPr/>
                  <p:nvPr/>
                </p:nvSpPr>
                <p:spPr>
                  <a:xfrm>
                    <a:off x="4800600" y="1688068"/>
                    <a:ext cx="45230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0600" y="1688068"/>
                    <a:ext cx="452303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75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/>
                  <p:cNvSpPr/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Rectangle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101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/>
                  <p:cNvSpPr/>
                  <p:nvPr/>
                </p:nvSpPr>
                <p:spPr>
                  <a:xfrm>
                    <a:off x="3469392" y="5562600"/>
                    <a:ext cx="49879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9392" y="5562600"/>
                    <a:ext cx="498791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5854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Freeform 6"/>
            <p:cNvSpPr/>
            <p:nvPr/>
          </p:nvSpPr>
          <p:spPr>
            <a:xfrm>
              <a:off x="5791200" y="2133600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 rot="16200000">
              <a:off x="2559011" y="2118068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2438400" y="2514600"/>
            <a:ext cx="3962400" cy="3124200"/>
            <a:chOff x="2438400" y="2514600"/>
            <a:chExt cx="3962400" cy="3124200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2438400" y="3562350"/>
              <a:ext cx="3962400" cy="3238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V="1">
              <a:off x="2895600" y="3886200"/>
              <a:ext cx="3505200" cy="10668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3810000" y="4876800"/>
              <a:ext cx="2362200" cy="762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V="1">
              <a:off x="2895600" y="4876800"/>
              <a:ext cx="3276600" cy="76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2971800" y="2590800"/>
              <a:ext cx="3429000" cy="1295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V="1">
              <a:off x="2971800" y="2514600"/>
              <a:ext cx="2971800" cy="76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/>
          <p:cNvSpPr/>
          <p:nvPr/>
        </p:nvSpPr>
        <p:spPr>
          <a:xfrm>
            <a:off x="1447800" y="914400"/>
            <a:ext cx="4267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895600" y="6096000"/>
            <a:ext cx="5029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1905000" y="1371600"/>
            <a:ext cx="4207328" cy="4249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6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1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8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0" grpId="0" animBg="1"/>
      <p:bldP spid="35" grpId="0" animBg="1"/>
      <p:bldP spid="3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32E91FD-EF15-A92A-7CCC-AA5112E21A02}"/>
              </a:ext>
            </a:extLst>
          </p:cNvPr>
          <p:cNvSpPr/>
          <p:nvPr/>
        </p:nvSpPr>
        <p:spPr>
          <a:xfrm>
            <a:off x="2476870" y="2050742"/>
            <a:ext cx="2592280" cy="3595456"/>
          </a:xfrm>
          <a:custGeom>
            <a:avLst/>
            <a:gdLst>
              <a:gd name="connsiteX0" fmla="*/ 2592280 w 2592280"/>
              <a:gd name="connsiteY0" fmla="*/ 0 h 3595456"/>
              <a:gd name="connsiteX1" fmla="*/ 1376039 w 2592280"/>
              <a:gd name="connsiteY1" fmla="*/ 3595456 h 3595456"/>
              <a:gd name="connsiteX2" fmla="*/ 452761 w 2592280"/>
              <a:gd name="connsiteY2" fmla="*/ 2885242 h 3595456"/>
              <a:gd name="connsiteX3" fmla="*/ 0 w 2592280"/>
              <a:gd name="connsiteY3" fmla="*/ 1509204 h 3595456"/>
              <a:gd name="connsiteX4" fmla="*/ 532660 w 2592280"/>
              <a:gd name="connsiteY4" fmla="*/ 523782 h 3595456"/>
              <a:gd name="connsiteX5" fmla="*/ 2592280 w 2592280"/>
              <a:gd name="connsiteY5" fmla="*/ 0 h 3595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92280" h="3595456">
                <a:moveTo>
                  <a:pt x="2592280" y="0"/>
                </a:moveTo>
                <a:lnTo>
                  <a:pt x="1376039" y="3595456"/>
                </a:lnTo>
                <a:lnTo>
                  <a:pt x="452761" y="2885242"/>
                </a:lnTo>
                <a:lnTo>
                  <a:pt x="0" y="1509204"/>
                </a:lnTo>
                <a:lnTo>
                  <a:pt x="532660" y="523782"/>
                </a:lnTo>
                <a:lnTo>
                  <a:pt x="259228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6DDD897-AE8D-E574-9416-D4DC3A08C416}"/>
              </a:ext>
            </a:extLst>
          </p:cNvPr>
          <p:cNvSpPr/>
          <p:nvPr/>
        </p:nvSpPr>
        <p:spPr>
          <a:xfrm>
            <a:off x="5086905" y="2068497"/>
            <a:ext cx="1349406" cy="3568823"/>
          </a:xfrm>
          <a:custGeom>
            <a:avLst/>
            <a:gdLst>
              <a:gd name="connsiteX0" fmla="*/ 0 w 1349406"/>
              <a:gd name="connsiteY0" fmla="*/ 0 h 3568823"/>
              <a:gd name="connsiteX1" fmla="*/ 896645 w 1349406"/>
              <a:gd name="connsiteY1" fmla="*/ 452761 h 3568823"/>
              <a:gd name="connsiteX2" fmla="*/ 1349406 w 1349406"/>
              <a:gd name="connsiteY2" fmla="*/ 1811045 h 3568823"/>
              <a:gd name="connsiteX3" fmla="*/ 1127464 w 1349406"/>
              <a:gd name="connsiteY3" fmla="*/ 2805344 h 3568823"/>
              <a:gd name="connsiteX4" fmla="*/ 346229 w 1349406"/>
              <a:gd name="connsiteY4" fmla="*/ 3568823 h 3568823"/>
              <a:gd name="connsiteX5" fmla="*/ 0 w 1349406"/>
              <a:gd name="connsiteY5" fmla="*/ 0 h 3568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9406" h="3568823">
                <a:moveTo>
                  <a:pt x="0" y="0"/>
                </a:moveTo>
                <a:lnTo>
                  <a:pt x="896645" y="452761"/>
                </a:lnTo>
                <a:lnTo>
                  <a:pt x="1349406" y="1811045"/>
                </a:lnTo>
                <a:lnTo>
                  <a:pt x="1127464" y="2805344"/>
                </a:lnTo>
                <a:lnTo>
                  <a:pt x="346229" y="356882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ontent Placeholder 84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534400" cy="5486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If the opt. triangulation has triangle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), what can we infer 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85" name="Content Placeholder 8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534400" cy="5486400"/>
              </a:xfrm>
              <a:blipFill>
                <a:blip r:embed="rId2"/>
                <a:stretch>
                  <a:fillRect l="-714" t="-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02BD1B0-B6AC-7518-EF5B-62B8E5575885}"/>
              </a:ext>
            </a:extLst>
          </p:cNvPr>
          <p:cNvSpPr/>
          <p:nvPr/>
        </p:nvSpPr>
        <p:spPr>
          <a:xfrm>
            <a:off x="3861787" y="2061275"/>
            <a:ext cx="1562349" cy="3572520"/>
          </a:xfrm>
          <a:custGeom>
            <a:avLst/>
            <a:gdLst>
              <a:gd name="connsiteX0" fmla="*/ 0 w 2334828"/>
              <a:gd name="connsiteY0" fmla="*/ 736847 h 745724"/>
              <a:gd name="connsiteX1" fmla="*/ 2334828 w 2334828"/>
              <a:gd name="connsiteY1" fmla="*/ 0 h 745724"/>
              <a:gd name="connsiteX2" fmla="*/ 1606859 w 2334828"/>
              <a:gd name="connsiteY2" fmla="*/ 745724 h 745724"/>
              <a:gd name="connsiteX3" fmla="*/ 0 w 2334828"/>
              <a:gd name="connsiteY3" fmla="*/ 736847 h 745724"/>
              <a:gd name="connsiteX0" fmla="*/ 0 w 2334828"/>
              <a:gd name="connsiteY0" fmla="*/ 736847 h 741918"/>
              <a:gd name="connsiteX1" fmla="*/ 2334828 w 2334828"/>
              <a:gd name="connsiteY1" fmla="*/ 0 h 741918"/>
              <a:gd name="connsiteX2" fmla="*/ 1454310 w 2334828"/>
              <a:gd name="connsiteY2" fmla="*/ 741918 h 741918"/>
              <a:gd name="connsiteX3" fmla="*/ 0 w 2334828"/>
              <a:gd name="connsiteY3" fmla="*/ 736847 h 741918"/>
              <a:gd name="connsiteX0" fmla="*/ 0 w 2334828"/>
              <a:gd name="connsiteY0" fmla="*/ 736847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36847 h 748264"/>
              <a:gd name="connsiteX0" fmla="*/ 0 w 2334828"/>
              <a:gd name="connsiteY0" fmla="*/ 743193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43193 h 748264"/>
              <a:gd name="connsiteX0" fmla="*/ 0 w 2334828"/>
              <a:gd name="connsiteY0" fmla="*/ 743193 h 743193"/>
              <a:gd name="connsiteX1" fmla="*/ 2334828 w 2334828"/>
              <a:gd name="connsiteY1" fmla="*/ 0 h 743193"/>
              <a:gd name="connsiteX2" fmla="*/ 1747014 w 2334828"/>
              <a:gd name="connsiteY2" fmla="*/ 739803 h 743193"/>
              <a:gd name="connsiteX3" fmla="*/ 0 w 2334828"/>
              <a:gd name="connsiteY3" fmla="*/ 743193 h 743193"/>
              <a:gd name="connsiteX0" fmla="*/ 0 w 3048886"/>
              <a:gd name="connsiteY0" fmla="*/ 743193 h 743193"/>
              <a:gd name="connsiteX1" fmla="*/ 2334828 w 3048886"/>
              <a:gd name="connsiteY1" fmla="*/ 0 h 743193"/>
              <a:gd name="connsiteX2" fmla="*/ 3048886 w 3048886"/>
              <a:gd name="connsiteY2" fmla="*/ 737961 h 743193"/>
              <a:gd name="connsiteX3" fmla="*/ 0 w 3048886"/>
              <a:gd name="connsiteY3" fmla="*/ 743193 h 743193"/>
              <a:gd name="connsiteX0" fmla="*/ 1639307 w 4688193"/>
              <a:gd name="connsiteY0" fmla="*/ 634500 h 634500"/>
              <a:gd name="connsiteX1" fmla="*/ 0 w 4688193"/>
              <a:gd name="connsiteY1" fmla="*/ 0 h 634500"/>
              <a:gd name="connsiteX2" fmla="*/ 4688193 w 4688193"/>
              <a:gd name="connsiteY2" fmla="*/ 629268 h 634500"/>
              <a:gd name="connsiteX3" fmla="*/ 1639307 w 4688193"/>
              <a:gd name="connsiteY3" fmla="*/ 634500 h 634500"/>
              <a:gd name="connsiteX0" fmla="*/ 2684230 w 5733116"/>
              <a:gd name="connsiteY0" fmla="*/ 426326 h 426326"/>
              <a:gd name="connsiteX1" fmla="*/ 0 w 5733116"/>
              <a:gd name="connsiteY1" fmla="*/ 0 h 426326"/>
              <a:gd name="connsiteX2" fmla="*/ 5733116 w 5733116"/>
              <a:gd name="connsiteY2" fmla="*/ 421094 h 426326"/>
              <a:gd name="connsiteX3" fmla="*/ 2684230 w 5733116"/>
              <a:gd name="connsiteY3" fmla="*/ 426326 h 426326"/>
              <a:gd name="connsiteX0" fmla="*/ 1742086 w 4790972"/>
              <a:gd name="connsiteY0" fmla="*/ 142620 h 142620"/>
              <a:gd name="connsiteX1" fmla="*/ 0 w 4790972"/>
              <a:gd name="connsiteY1" fmla="*/ 0 h 142620"/>
              <a:gd name="connsiteX2" fmla="*/ 4790972 w 4790972"/>
              <a:gd name="connsiteY2" fmla="*/ 137388 h 142620"/>
              <a:gd name="connsiteX3" fmla="*/ 1742086 w 4790972"/>
              <a:gd name="connsiteY3" fmla="*/ 142620 h 142620"/>
              <a:gd name="connsiteX0" fmla="*/ 1742086 w 4705323"/>
              <a:gd name="connsiteY0" fmla="*/ 142620 h 142620"/>
              <a:gd name="connsiteX1" fmla="*/ 0 w 4705323"/>
              <a:gd name="connsiteY1" fmla="*/ 0 h 142620"/>
              <a:gd name="connsiteX2" fmla="*/ 4705323 w 4705323"/>
              <a:gd name="connsiteY2" fmla="*/ 141072 h 142620"/>
              <a:gd name="connsiteX3" fmla="*/ 1742086 w 4705323"/>
              <a:gd name="connsiteY3" fmla="*/ 142620 h 142620"/>
              <a:gd name="connsiteX0" fmla="*/ 0 w 2963237"/>
              <a:gd name="connsiteY0" fmla="*/ 741351 h 741351"/>
              <a:gd name="connsiteX1" fmla="*/ 2386217 w 2963237"/>
              <a:gd name="connsiteY1" fmla="*/ 0 h 741351"/>
              <a:gd name="connsiteX2" fmla="*/ 2963237 w 2963237"/>
              <a:gd name="connsiteY2" fmla="*/ 739803 h 741351"/>
              <a:gd name="connsiteX3" fmla="*/ 0 w 2963237"/>
              <a:gd name="connsiteY3" fmla="*/ 741351 h 741351"/>
              <a:gd name="connsiteX0" fmla="*/ 0 w 3014627"/>
              <a:gd name="connsiteY0" fmla="*/ 741351 h 741351"/>
              <a:gd name="connsiteX1" fmla="*/ 2386217 w 3014627"/>
              <a:gd name="connsiteY1" fmla="*/ 0 h 741351"/>
              <a:gd name="connsiteX2" fmla="*/ 3014627 w 3014627"/>
              <a:gd name="connsiteY2" fmla="*/ 739803 h 741351"/>
              <a:gd name="connsiteX3" fmla="*/ 0 w 3014627"/>
              <a:gd name="connsiteY3" fmla="*/ 741351 h 741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4627" h="741351">
                <a:moveTo>
                  <a:pt x="0" y="741351"/>
                </a:moveTo>
                <a:lnTo>
                  <a:pt x="2386217" y="0"/>
                </a:lnTo>
                <a:lnTo>
                  <a:pt x="3014627" y="739803"/>
                </a:lnTo>
                <a:lnTo>
                  <a:pt x="0" y="741351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How to compute </a:t>
            </a:r>
            <a:r>
              <a:rPr lang="en-US" sz="3200" b="1" dirty="0">
                <a:solidFill>
                  <a:srgbClr val="7030A0"/>
                </a:solidFill>
              </a:rPr>
              <a:t>optimal</a:t>
            </a:r>
            <a:r>
              <a:rPr lang="en-US" sz="3200" b="1" dirty="0"/>
              <a:t> triangulation ?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pSp>
        <p:nvGrpSpPr>
          <p:cNvPr id="47" name="Group 46"/>
          <p:cNvGrpSpPr/>
          <p:nvPr/>
        </p:nvGrpSpPr>
        <p:grpSpPr>
          <a:xfrm>
            <a:off x="2481025" y="2057400"/>
            <a:ext cx="3962400" cy="3581400"/>
            <a:chOff x="2362200" y="2057400"/>
            <a:chExt cx="3962400" cy="3581400"/>
          </a:xfrm>
        </p:grpSpPr>
        <p:cxnSp>
          <p:nvCxnSpPr>
            <p:cNvPr id="34" name="Straight Connector 33"/>
            <p:cNvCxnSpPr/>
            <p:nvPr/>
          </p:nvCxnSpPr>
          <p:spPr>
            <a:xfrm flipH="1" flipV="1">
              <a:off x="2362200" y="3562350"/>
              <a:ext cx="457200" cy="13906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Group 45"/>
            <p:cNvGrpSpPr/>
            <p:nvPr/>
          </p:nvGrpSpPr>
          <p:grpSpPr>
            <a:xfrm>
              <a:off x="2362200" y="2057400"/>
              <a:ext cx="3962400" cy="3581400"/>
              <a:chOff x="2362200" y="2057400"/>
              <a:chExt cx="3962400" cy="3581400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3733800" y="5638800"/>
                <a:ext cx="16002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H="1">
                <a:off x="5334000" y="4876800"/>
                <a:ext cx="762000" cy="7620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H="1">
                <a:off x="6096000" y="3886200"/>
                <a:ext cx="2286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5867400" y="2514600"/>
                <a:ext cx="457200" cy="1371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4953000" y="2057400"/>
                <a:ext cx="914400" cy="4572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2895600" y="2057400"/>
                <a:ext cx="2057400" cy="533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2362200" y="2590800"/>
                <a:ext cx="533400" cy="9906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flipH="1" flipV="1">
                <a:off x="2819400" y="4953000"/>
                <a:ext cx="914400" cy="685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/>
          <p:cNvGrpSpPr/>
          <p:nvPr/>
        </p:nvGrpSpPr>
        <p:grpSpPr>
          <a:xfrm>
            <a:off x="2369017" y="1611868"/>
            <a:ext cx="4488983" cy="4484132"/>
            <a:chOff x="2326392" y="1611868"/>
            <a:chExt cx="4488983" cy="4484132"/>
          </a:xfrm>
        </p:grpSpPr>
        <p:grpSp>
          <p:nvGrpSpPr>
            <p:cNvPr id="3" name="Group 2"/>
            <p:cNvGrpSpPr/>
            <p:nvPr/>
          </p:nvGrpSpPr>
          <p:grpSpPr>
            <a:xfrm>
              <a:off x="2326392" y="1611868"/>
              <a:ext cx="4488983" cy="4484132"/>
              <a:chOff x="2326392" y="1611868"/>
              <a:chExt cx="4488983" cy="44841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" name="Rectangle 1"/>
                  <p:cNvSpPr/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" name="Rectangle 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4225" y="57266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/>
                  <p:cNvSpPr/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" name="Rectangle 1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96000" y="46482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333" r="-14815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4600" y="3657600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/>
                  <p:cNvSpPr/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𝒌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" name="Rectangle 2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00600" y="1611868"/>
                    <a:ext cx="492379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/>
                  <p:cNvSpPr/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Rectangle 2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26392" y="4888468"/>
                    <a:ext cx="721608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101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/>
                  <p:cNvSpPr/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4" name="Rectangle 2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69392" y="5650468"/>
                    <a:ext cx="498791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197" r="-1585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" name="Freeform 6"/>
            <p:cNvSpPr/>
            <p:nvPr/>
          </p:nvSpPr>
          <p:spPr>
            <a:xfrm>
              <a:off x="5791200" y="2133600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 rot="16200000">
              <a:off x="2559011" y="2118068"/>
              <a:ext cx="642257" cy="740229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Curved Connector 11"/>
          <p:cNvCxnSpPr/>
          <p:nvPr/>
        </p:nvCxnSpPr>
        <p:spPr>
          <a:xfrm rot="16200000" flipV="1">
            <a:off x="6171159" y="2706141"/>
            <a:ext cx="1040368" cy="1800285"/>
          </a:xfrm>
          <a:prstGeom prst="curvedConnector2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/>
          <p:cNvCxnSpPr/>
          <p:nvPr/>
        </p:nvCxnSpPr>
        <p:spPr>
          <a:xfrm rot="5400000" flipH="1" flipV="1">
            <a:off x="1762379" y="2480832"/>
            <a:ext cx="1144370" cy="2354905"/>
          </a:xfrm>
          <a:prstGeom prst="curvedConnector2">
            <a:avLst/>
          </a:prstGeom>
          <a:ln w="571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600200" y="1143000"/>
            <a:ext cx="2438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6705600" y="1139439"/>
            <a:ext cx="2545571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6384012" y="4058334"/>
                <a:ext cx="2820965" cy="64633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Polygon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dirty="0"/>
                  <a:t>) must be  </a:t>
                </a:r>
              </a:p>
              <a:p>
                <a:r>
                  <a:rPr lang="en-US" dirty="0"/>
                  <a:t>optimally triangulated. </a:t>
                </a: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012" y="4058334"/>
                <a:ext cx="2820965" cy="646331"/>
              </a:xfrm>
              <a:prstGeom prst="rect">
                <a:avLst/>
              </a:prstGeom>
              <a:blipFill>
                <a:blip r:embed="rId9"/>
                <a:stretch>
                  <a:fillRect l="-1728" t="-5660" r="-864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0" y="4230469"/>
                <a:ext cx="2662075" cy="64633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Polygon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dirty="0"/>
                  <a:t>) must </a:t>
                </a:r>
              </a:p>
              <a:p>
                <a:r>
                  <a:rPr lang="en-US" dirty="0"/>
                  <a:t>be optimally triangulated. </a:t>
                </a: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30469"/>
                <a:ext cx="2662075" cy="646331"/>
              </a:xfrm>
              <a:prstGeom prst="rect">
                <a:avLst/>
              </a:prstGeom>
              <a:blipFill>
                <a:blip r:embed="rId10"/>
                <a:stretch>
                  <a:fillRect l="-1831" t="-5660" r="-686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/>
          <p:cNvGrpSpPr/>
          <p:nvPr/>
        </p:nvGrpSpPr>
        <p:grpSpPr>
          <a:xfrm>
            <a:off x="2938226" y="2069068"/>
            <a:ext cx="2133599" cy="2883932"/>
            <a:chOff x="2938226" y="2069068"/>
            <a:chExt cx="2133599" cy="2883932"/>
          </a:xfrm>
        </p:grpSpPr>
        <p:cxnSp>
          <p:nvCxnSpPr>
            <p:cNvPr id="13" name="Straight Connector 12"/>
            <p:cNvCxnSpPr/>
            <p:nvPr/>
          </p:nvCxnSpPr>
          <p:spPr>
            <a:xfrm flipH="1">
              <a:off x="2938226" y="2590800"/>
              <a:ext cx="76199" cy="23622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2938226" y="2069068"/>
              <a:ext cx="2133599" cy="288393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/>
          <p:cNvGrpSpPr/>
          <p:nvPr/>
        </p:nvGrpSpPr>
        <p:grpSpPr>
          <a:xfrm>
            <a:off x="5089414" y="2069068"/>
            <a:ext cx="1354011" cy="3581400"/>
            <a:chOff x="5089414" y="2069068"/>
            <a:chExt cx="1354011" cy="3581400"/>
          </a:xfrm>
        </p:grpSpPr>
        <p:cxnSp>
          <p:nvCxnSpPr>
            <p:cNvPr id="48" name="Straight Connector 47"/>
            <p:cNvCxnSpPr/>
            <p:nvPr/>
          </p:nvCxnSpPr>
          <p:spPr>
            <a:xfrm flipH="1" flipV="1">
              <a:off x="5089414" y="2069068"/>
              <a:ext cx="1354011" cy="181713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cxnSpLocks/>
            </p:cNvCxnSpPr>
            <p:nvPr/>
          </p:nvCxnSpPr>
          <p:spPr>
            <a:xfrm flipH="1">
              <a:off x="5463711" y="3859768"/>
              <a:ext cx="979714" cy="17907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 49"/>
          <p:cNvSpPr/>
          <p:nvPr/>
        </p:nvSpPr>
        <p:spPr>
          <a:xfrm>
            <a:off x="4038600" y="1143000"/>
            <a:ext cx="2743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3852625" y="5638800"/>
            <a:ext cx="16002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7B1D664-F0F3-B8C2-64CD-E89052662CF7}"/>
              </a:ext>
            </a:extLst>
          </p:cNvPr>
          <p:cNvGrpSpPr/>
          <p:nvPr/>
        </p:nvGrpSpPr>
        <p:grpSpPr>
          <a:xfrm>
            <a:off x="3852623" y="2069067"/>
            <a:ext cx="1591039" cy="3569731"/>
            <a:chOff x="3809999" y="3629607"/>
            <a:chExt cx="1940307" cy="2009193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DB372BE-3DEE-FF24-D2E6-69F919C651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09999" y="3629607"/>
              <a:ext cx="1508291" cy="2009193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BFC96C9-FFC0-296F-1A5E-B617CAB608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18291" y="3629607"/>
              <a:ext cx="432015" cy="200919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Down Ribbon 39">
                <a:extLst>
                  <a:ext uri="{FF2B5EF4-FFF2-40B4-BE49-F238E27FC236}">
                    <a16:creationId xmlns:a16="http://schemas.microsoft.com/office/drawing/2014/main" id="{380E505F-6E64-5FCA-0F8B-3AE629AD421E}"/>
                  </a:ext>
                </a:extLst>
              </p:cNvPr>
              <p:cNvSpPr/>
              <p:nvPr/>
            </p:nvSpPr>
            <p:spPr>
              <a:xfrm>
                <a:off x="-17016" y="5904148"/>
                <a:ext cx="9161016" cy="953852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Otherwise, we can replace it with optimal triangulation of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to  get a triangulation of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with cost less than the optimal.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 contradiction !</a:t>
                </a:r>
              </a:p>
            </p:txBody>
          </p:sp>
        </mc:Choice>
        <mc:Fallback xmlns="">
          <p:sp>
            <p:nvSpPr>
              <p:cNvPr id="6" name="Down Ribbon 39">
                <a:extLst>
                  <a:ext uri="{FF2B5EF4-FFF2-40B4-BE49-F238E27FC236}">
                    <a16:creationId xmlns:a16="http://schemas.microsoft.com/office/drawing/2014/main" id="{380E505F-6E64-5FCA-0F8B-3AE629AD42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016" y="5904148"/>
                <a:ext cx="9161016" cy="953852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11"/>
                <a:stretch>
                  <a:fillRect b="-149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Down Ribbon 39">
                <a:extLst>
                  <a:ext uri="{FF2B5EF4-FFF2-40B4-BE49-F238E27FC236}">
                    <a16:creationId xmlns:a16="http://schemas.microsoft.com/office/drawing/2014/main" id="{C6F110C7-ACD5-3191-79F5-E24BB55DD273}"/>
                  </a:ext>
                </a:extLst>
              </p:cNvPr>
              <p:cNvSpPr/>
              <p:nvPr/>
            </p:nvSpPr>
            <p:spPr>
              <a:xfrm>
                <a:off x="-17016" y="5922986"/>
                <a:ext cx="9161016" cy="953852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Otherwise, we can replace it with optimal triangulation of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to  get a triangulation of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with cost less than the optimal.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 contradiction !</a:t>
                </a:r>
              </a:p>
            </p:txBody>
          </p:sp>
        </mc:Choice>
        <mc:Fallback xmlns="">
          <p:sp>
            <p:nvSpPr>
              <p:cNvPr id="10" name="Down Ribbon 39">
                <a:extLst>
                  <a:ext uri="{FF2B5EF4-FFF2-40B4-BE49-F238E27FC236}">
                    <a16:creationId xmlns:a16="http://schemas.microsoft.com/office/drawing/2014/main" id="{C6F110C7-ACD5-3191-79F5-E24BB55DD2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016" y="5922986"/>
                <a:ext cx="9161016" cy="953852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12"/>
                <a:stretch>
                  <a:fillRect b="-149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loud Callout 2">
            <a:extLst>
              <a:ext uri="{FF2B5EF4-FFF2-40B4-BE49-F238E27FC236}">
                <a16:creationId xmlns:a16="http://schemas.microsoft.com/office/drawing/2014/main" id="{38E4C523-B048-F291-C434-DDED6C45634F}"/>
              </a:ext>
            </a:extLst>
          </p:cNvPr>
          <p:cNvSpPr/>
          <p:nvPr/>
        </p:nvSpPr>
        <p:spPr>
          <a:xfrm>
            <a:off x="-62289" y="5211584"/>
            <a:ext cx="3713990" cy="1075812"/>
          </a:xfrm>
          <a:prstGeom prst="cloudCallout">
            <a:avLst>
              <a:gd name="adj1" fmla="val -29690"/>
              <a:gd name="adj2" fmla="val 8590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Can you give a recursive formulation for the problem ?</a:t>
            </a:r>
          </a:p>
        </p:txBody>
      </p:sp>
      <p:sp>
        <p:nvSpPr>
          <p:cNvPr id="27" name="Cloud Callout 2">
            <a:extLst>
              <a:ext uri="{FF2B5EF4-FFF2-40B4-BE49-F238E27FC236}">
                <a16:creationId xmlns:a16="http://schemas.microsoft.com/office/drawing/2014/main" id="{7CF07EC1-70F0-9A69-BA91-D928F79E8D62}"/>
              </a:ext>
            </a:extLst>
          </p:cNvPr>
          <p:cNvSpPr/>
          <p:nvPr/>
        </p:nvSpPr>
        <p:spPr>
          <a:xfrm>
            <a:off x="4699987" y="5310164"/>
            <a:ext cx="4497539" cy="1008795"/>
          </a:xfrm>
          <a:prstGeom prst="cloudCallout">
            <a:avLst>
              <a:gd name="adj1" fmla="val -29690"/>
              <a:gd name="adj2" fmla="val 8590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will be the recursive term ?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How many parameters 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0027A3-0471-C9D4-AD3C-8C270FE1C1D8}"/>
              </a:ext>
            </a:extLst>
          </p:cNvPr>
          <p:cNvSpPr txBox="1"/>
          <p:nvPr/>
        </p:nvSpPr>
        <p:spPr>
          <a:xfrm>
            <a:off x="1396264" y="6346136"/>
            <a:ext cx="6874831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Spend some time pondering over these questions before moving on…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047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" dur="1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" dur="1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0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4" grpId="0" animBg="1"/>
      <p:bldP spid="85" grpId="0" build="p"/>
      <p:bldP spid="54" grpId="0" animBg="1"/>
      <p:bldP spid="5" grpId="0"/>
      <p:bldP spid="38" grpId="0" animBg="1"/>
      <p:bldP spid="40" grpId="0" animBg="1"/>
      <p:bldP spid="41" grpId="0" animBg="1"/>
      <p:bldP spid="42" grpId="0" animBg="1"/>
      <p:bldP spid="50" grpId="0" animBg="1"/>
      <p:bldP spid="6" grpId="0" animBg="1"/>
      <p:bldP spid="6" grpId="1" animBg="1"/>
      <p:bldP spid="10" grpId="0" animBg="1"/>
      <p:bldP spid="10" grpId="1" animBg="1"/>
      <p:bldP spid="17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828800"/>
            <a:ext cx="7772400" cy="1362075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Recursive formulation </a:t>
            </a:r>
            <a:br>
              <a:rPr lang="en-US" sz="3200" dirty="0">
                <a:solidFill>
                  <a:srgbClr val="7030A0"/>
                </a:solidFill>
              </a:rPr>
            </a:br>
            <a:r>
              <a:rPr lang="en-US" sz="3200" dirty="0"/>
              <a:t>of OPTMAL Triangulation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i="1" smtClean="0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): 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weight of optimal triangulation of polygon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8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8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)</a:t>
                </a:r>
                <a:r>
                  <a:rPr lang="en-US" sz="2800" dirty="0"/>
                  <a:t> </a:t>
                </a:r>
                <a:br>
                  <a:rPr lang="en-US" sz="2800" dirty="0"/>
                </a:br>
                <a:endParaRPr 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l="-863" t="-4065" r="-2980" b="-11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41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3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940538F-96D2-74FF-60AB-4EA62D0DD648}"/>
              </a:ext>
            </a:extLst>
          </p:cNvPr>
          <p:cNvSpPr/>
          <p:nvPr/>
        </p:nvSpPr>
        <p:spPr>
          <a:xfrm rot="3095016">
            <a:off x="1135688" y="2244165"/>
            <a:ext cx="3920789" cy="2336020"/>
          </a:xfrm>
          <a:custGeom>
            <a:avLst/>
            <a:gdLst>
              <a:gd name="connsiteX0" fmla="*/ 0 w 2334828"/>
              <a:gd name="connsiteY0" fmla="*/ 736847 h 745724"/>
              <a:gd name="connsiteX1" fmla="*/ 2334828 w 2334828"/>
              <a:gd name="connsiteY1" fmla="*/ 0 h 745724"/>
              <a:gd name="connsiteX2" fmla="*/ 1606859 w 2334828"/>
              <a:gd name="connsiteY2" fmla="*/ 745724 h 745724"/>
              <a:gd name="connsiteX3" fmla="*/ 0 w 2334828"/>
              <a:gd name="connsiteY3" fmla="*/ 736847 h 745724"/>
              <a:gd name="connsiteX0" fmla="*/ 0 w 2334828"/>
              <a:gd name="connsiteY0" fmla="*/ 736847 h 741918"/>
              <a:gd name="connsiteX1" fmla="*/ 2334828 w 2334828"/>
              <a:gd name="connsiteY1" fmla="*/ 0 h 741918"/>
              <a:gd name="connsiteX2" fmla="*/ 1454310 w 2334828"/>
              <a:gd name="connsiteY2" fmla="*/ 741918 h 741918"/>
              <a:gd name="connsiteX3" fmla="*/ 0 w 2334828"/>
              <a:gd name="connsiteY3" fmla="*/ 736847 h 741918"/>
              <a:gd name="connsiteX0" fmla="*/ 0 w 2334828"/>
              <a:gd name="connsiteY0" fmla="*/ 736847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36847 h 748264"/>
              <a:gd name="connsiteX0" fmla="*/ 0 w 2334828"/>
              <a:gd name="connsiteY0" fmla="*/ 743193 h 748264"/>
              <a:gd name="connsiteX1" fmla="*/ 2334828 w 2334828"/>
              <a:gd name="connsiteY1" fmla="*/ 0 h 748264"/>
              <a:gd name="connsiteX2" fmla="*/ 1737258 w 2334828"/>
              <a:gd name="connsiteY2" fmla="*/ 748264 h 748264"/>
              <a:gd name="connsiteX3" fmla="*/ 0 w 2334828"/>
              <a:gd name="connsiteY3" fmla="*/ 743193 h 748264"/>
              <a:gd name="connsiteX0" fmla="*/ 0 w 2334828"/>
              <a:gd name="connsiteY0" fmla="*/ 743193 h 743193"/>
              <a:gd name="connsiteX1" fmla="*/ 2334828 w 2334828"/>
              <a:gd name="connsiteY1" fmla="*/ 0 h 743193"/>
              <a:gd name="connsiteX2" fmla="*/ 1747014 w 2334828"/>
              <a:gd name="connsiteY2" fmla="*/ 739803 h 743193"/>
              <a:gd name="connsiteX3" fmla="*/ 0 w 2334828"/>
              <a:gd name="connsiteY3" fmla="*/ 743193 h 743193"/>
              <a:gd name="connsiteX0" fmla="*/ 0 w 3048886"/>
              <a:gd name="connsiteY0" fmla="*/ 743193 h 743193"/>
              <a:gd name="connsiteX1" fmla="*/ 2334828 w 3048886"/>
              <a:gd name="connsiteY1" fmla="*/ 0 h 743193"/>
              <a:gd name="connsiteX2" fmla="*/ 3048886 w 3048886"/>
              <a:gd name="connsiteY2" fmla="*/ 737961 h 743193"/>
              <a:gd name="connsiteX3" fmla="*/ 0 w 3048886"/>
              <a:gd name="connsiteY3" fmla="*/ 743193 h 743193"/>
              <a:gd name="connsiteX0" fmla="*/ 1639307 w 4688193"/>
              <a:gd name="connsiteY0" fmla="*/ 634500 h 634500"/>
              <a:gd name="connsiteX1" fmla="*/ 0 w 4688193"/>
              <a:gd name="connsiteY1" fmla="*/ 0 h 634500"/>
              <a:gd name="connsiteX2" fmla="*/ 4688193 w 4688193"/>
              <a:gd name="connsiteY2" fmla="*/ 629268 h 634500"/>
              <a:gd name="connsiteX3" fmla="*/ 1639307 w 4688193"/>
              <a:gd name="connsiteY3" fmla="*/ 634500 h 634500"/>
              <a:gd name="connsiteX0" fmla="*/ 2684230 w 5733116"/>
              <a:gd name="connsiteY0" fmla="*/ 426326 h 426326"/>
              <a:gd name="connsiteX1" fmla="*/ 0 w 5733116"/>
              <a:gd name="connsiteY1" fmla="*/ 0 h 426326"/>
              <a:gd name="connsiteX2" fmla="*/ 5733116 w 5733116"/>
              <a:gd name="connsiteY2" fmla="*/ 421094 h 426326"/>
              <a:gd name="connsiteX3" fmla="*/ 2684230 w 5733116"/>
              <a:gd name="connsiteY3" fmla="*/ 426326 h 426326"/>
              <a:gd name="connsiteX0" fmla="*/ 1742086 w 4790972"/>
              <a:gd name="connsiteY0" fmla="*/ 142620 h 142620"/>
              <a:gd name="connsiteX1" fmla="*/ 0 w 4790972"/>
              <a:gd name="connsiteY1" fmla="*/ 0 h 142620"/>
              <a:gd name="connsiteX2" fmla="*/ 4790972 w 4790972"/>
              <a:gd name="connsiteY2" fmla="*/ 137388 h 142620"/>
              <a:gd name="connsiteX3" fmla="*/ 1742086 w 4790972"/>
              <a:gd name="connsiteY3" fmla="*/ 142620 h 142620"/>
              <a:gd name="connsiteX0" fmla="*/ 1742086 w 4705323"/>
              <a:gd name="connsiteY0" fmla="*/ 142620 h 142620"/>
              <a:gd name="connsiteX1" fmla="*/ 0 w 4705323"/>
              <a:gd name="connsiteY1" fmla="*/ 0 h 142620"/>
              <a:gd name="connsiteX2" fmla="*/ 4705323 w 4705323"/>
              <a:gd name="connsiteY2" fmla="*/ 141072 h 142620"/>
              <a:gd name="connsiteX3" fmla="*/ 1742086 w 4705323"/>
              <a:gd name="connsiteY3" fmla="*/ 142620 h 142620"/>
              <a:gd name="connsiteX0" fmla="*/ 0 w 2963237"/>
              <a:gd name="connsiteY0" fmla="*/ 741351 h 741351"/>
              <a:gd name="connsiteX1" fmla="*/ 2386217 w 2963237"/>
              <a:gd name="connsiteY1" fmla="*/ 0 h 741351"/>
              <a:gd name="connsiteX2" fmla="*/ 2963237 w 2963237"/>
              <a:gd name="connsiteY2" fmla="*/ 739803 h 741351"/>
              <a:gd name="connsiteX3" fmla="*/ 0 w 2963237"/>
              <a:gd name="connsiteY3" fmla="*/ 741351 h 741351"/>
              <a:gd name="connsiteX0" fmla="*/ 0 w 3014627"/>
              <a:gd name="connsiteY0" fmla="*/ 741351 h 741351"/>
              <a:gd name="connsiteX1" fmla="*/ 2386217 w 3014627"/>
              <a:gd name="connsiteY1" fmla="*/ 0 h 741351"/>
              <a:gd name="connsiteX2" fmla="*/ 3014627 w 3014627"/>
              <a:gd name="connsiteY2" fmla="*/ 739803 h 741351"/>
              <a:gd name="connsiteX3" fmla="*/ 0 w 3014627"/>
              <a:gd name="connsiteY3" fmla="*/ 741351 h 741351"/>
              <a:gd name="connsiteX0" fmla="*/ 0 w 3503953"/>
              <a:gd name="connsiteY0" fmla="*/ 483783 h 483783"/>
              <a:gd name="connsiteX1" fmla="*/ 3503952 w 3503953"/>
              <a:gd name="connsiteY1" fmla="*/ 0 h 483783"/>
              <a:gd name="connsiteX2" fmla="*/ 3014627 w 3503953"/>
              <a:gd name="connsiteY2" fmla="*/ 482235 h 483783"/>
              <a:gd name="connsiteX3" fmla="*/ 0 w 3503953"/>
              <a:gd name="connsiteY3" fmla="*/ 483783 h 483783"/>
              <a:gd name="connsiteX0" fmla="*/ 0 w 7565350"/>
              <a:gd name="connsiteY0" fmla="*/ 483783 h 484759"/>
              <a:gd name="connsiteX1" fmla="*/ 3503952 w 7565350"/>
              <a:gd name="connsiteY1" fmla="*/ 0 h 484759"/>
              <a:gd name="connsiteX2" fmla="*/ 7565350 w 7565350"/>
              <a:gd name="connsiteY2" fmla="*/ 484759 h 484759"/>
              <a:gd name="connsiteX3" fmla="*/ 0 w 7565350"/>
              <a:gd name="connsiteY3" fmla="*/ 483783 h 484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65350" h="484759">
                <a:moveTo>
                  <a:pt x="0" y="483783"/>
                </a:moveTo>
                <a:lnTo>
                  <a:pt x="3503952" y="0"/>
                </a:lnTo>
                <a:lnTo>
                  <a:pt x="7565350" y="484759"/>
                </a:lnTo>
                <a:lnTo>
                  <a:pt x="0" y="483783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Recursive formulation </a:t>
                </a:r>
                <a:r>
                  <a:rPr lang="en-US" sz="3200" b="1" dirty="0"/>
                  <a:t>for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</m:oMath>
                </a14:m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3200" dirty="0"/>
                  <a:t>,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3200" dirty="0"/>
                  <a:t>)</a:t>
                </a:r>
                <a:br>
                  <a:rPr lang="en-US" sz="3200" dirty="0"/>
                </a:br>
                <a:endParaRPr lang="en-US" sz="3200" dirty="0"/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14"/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2000" dirty="0"/>
                  <a:t>) = 0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For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&gt;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br>
                  <a:rPr lang="en-US" sz="2000" dirty="0"/>
                </a:br>
                <a:endParaRPr lang="en-US" sz="2000" i="1" dirty="0">
                  <a:solidFill>
                    <a:srgbClr val="C0000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) =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/>
                                </a:rPr>
                                <m:t>?</m:t>
                              </m:r>
                            </m:lim>
                          </m:limLow>
                          <m:r>
                            <a:rPr lang="en-US" b="0" i="1" smtClean="0">
                              <a:latin typeface="Cambria Math"/>
                            </a:rPr>
                            <m:t>   </m:t>
                          </m:r>
                        </m:fName>
                        <m:e>
                          <m:r>
                            <a:rPr lang="en-US" b="0" i="1" smtClean="0">
                              <a:latin typeface="Cambria Math"/>
                            </a:rPr>
                            <m:t>?        </m:t>
                          </m:r>
                        </m:e>
                      </m:func>
                    </m:oMath>
                  </m:oMathPara>
                </a14:m>
                <a:endParaRPr lang="en-US" sz="2000" i="1" dirty="0">
                  <a:solidFill>
                    <a:srgbClr val="C0000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br>
                  <a:rPr lang="en-US" sz="2000" dirty="0"/>
                </a:br>
                <a:endParaRPr lang="en-US" sz="2000" dirty="0"/>
              </a:p>
            </p:txBody>
          </p:sp>
        </mc:Choice>
        <mc:Fallback xmlns="">
          <p:sp>
            <p:nvSpPr>
              <p:cNvPr id="15" name="Content Placeholder 1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 rotWithShape="1">
                <a:blip r:embed="rId3"/>
                <a:stretch>
                  <a:fillRect l="-1662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E9ED8-BBDD-47A1-9C62-8C7F2ACFBD70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56" name="Group 55"/>
          <p:cNvGrpSpPr/>
          <p:nvPr/>
        </p:nvGrpSpPr>
        <p:grpSpPr>
          <a:xfrm>
            <a:off x="950208" y="2057400"/>
            <a:ext cx="3429000" cy="3604736"/>
            <a:chOff x="950208" y="2057400"/>
            <a:chExt cx="3429000" cy="3604736"/>
          </a:xfrm>
        </p:grpSpPr>
        <p:grpSp>
          <p:nvGrpSpPr>
            <p:cNvPr id="32" name="Group 31"/>
            <p:cNvGrpSpPr/>
            <p:nvPr/>
          </p:nvGrpSpPr>
          <p:grpSpPr>
            <a:xfrm>
              <a:off x="950208" y="2057400"/>
              <a:ext cx="3429000" cy="3604736"/>
              <a:chOff x="950208" y="2057400"/>
              <a:chExt cx="3429000" cy="3604736"/>
            </a:xfrm>
          </p:grpSpPr>
          <p:grpSp>
            <p:nvGrpSpPr>
              <p:cNvPr id="46" name="Group 45"/>
              <p:cNvGrpSpPr/>
              <p:nvPr/>
            </p:nvGrpSpPr>
            <p:grpSpPr>
              <a:xfrm>
                <a:off x="950208" y="2057400"/>
                <a:ext cx="3429000" cy="3581400"/>
                <a:chOff x="2895600" y="2057400"/>
                <a:chExt cx="3429000" cy="3581400"/>
              </a:xfrm>
            </p:grpSpPr>
            <p:cxnSp>
              <p:nvCxnSpPr>
                <p:cNvPr id="11" name="Straight Connector 10"/>
                <p:cNvCxnSpPr/>
                <p:nvPr/>
              </p:nvCxnSpPr>
              <p:spPr>
                <a:xfrm flipH="1">
                  <a:off x="5334000" y="4876800"/>
                  <a:ext cx="762000" cy="7620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/>
                <p:cNvCxnSpPr/>
                <p:nvPr/>
              </p:nvCxnSpPr>
              <p:spPr>
                <a:xfrm flipH="1">
                  <a:off x="6096000" y="3886200"/>
                  <a:ext cx="228600" cy="9906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/>
                <p:cNvCxnSpPr/>
                <p:nvPr/>
              </p:nvCxnSpPr>
              <p:spPr>
                <a:xfrm>
                  <a:off x="5867400" y="2514600"/>
                  <a:ext cx="457200" cy="13716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/>
              </p:nvCxnSpPr>
              <p:spPr>
                <a:xfrm>
                  <a:off x="4953000" y="2057400"/>
                  <a:ext cx="914400" cy="4572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/>
              </p:nvCxnSpPr>
              <p:spPr>
                <a:xfrm flipV="1">
                  <a:off x="2895600" y="2057400"/>
                  <a:ext cx="1028700" cy="53340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7" name="Straight Connector 66"/>
              <p:cNvCxnSpPr/>
              <p:nvPr/>
            </p:nvCxnSpPr>
            <p:spPr>
              <a:xfrm flipH="1" flipV="1">
                <a:off x="950208" y="2590800"/>
                <a:ext cx="2449286" cy="307133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5" name="Straight Connector 54"/>
            <p:cNvCxnSpPr/>
            <p:nvPr/>
          </p:nvCxnSpPr>
          <p:spPr>
            <a:xfrm>
              <a:off x="1978908" y="2057400"/>
              <a:ext cx="10287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3851021" y="2069068"/>
                <a:ext cx="4923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1021" y="2069068"/>
                <a:ext cx="492379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481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/>
          <p:cNvGrpSpPr/>
          <p:nvPr/>
        </p:nvGrpSpPr>
        <p:grpSpPr>
          <a:xfrm>
            <a:off x="457200" y="1509205"/>
            <a:ext cx="4458305" cy="4586795"/>
            <a:chOff x="457200" y="1509205"/>
            <a:chExt cx="4458305" cy="45867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angle 1"/>
                <p:cNvSpPr/>
                <p:nvPr/>
              </p:nvSpPr>
              <p:spPr>
                <a:xfrm>
                  <a:off x="3202633" y="5726668"/>
                  <a:ext cx="45230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" name="Rectangle 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633" y="5726668"/>
                  <a:ext cx="452303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733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/>
                <p:cNvSpPr/>
                <p:nvPr/>
              </p:nvSpPr>
              <p:spPr>
                <a:xfrm>
                  <a:off x="4074408" y="4648200"/>
                  <a:ext cx="67512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𝒊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4408" y="4648200"/>
                  <a:ext cx="675121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1712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/>
                <p:cNvSpPr/>
                <p:nvPr/>
              </p:nvSpPr>
              <p:spPr>
                <a:xfrm>
                  <a:off x="457200" y="2362200"/>
                  <a:ext cx="455509" cy="3956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𝒋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2362200"/>
                  <a:ext cx="455509" cy="395621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6250" r="-16000" b="-187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Freeform 6"/>
            <p:cNvSpPr/>
            <p:nvPr/>
          </p:nvSpPr>
          <p:spPr>
            <a:xfrm rot="18815703">
              <a:off x="2170752" y="1471854"/>
              <a:ext cx="832575" cy="907278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 59"/>
            <p:cNvSpPr/>
            <p:nvPr/>
          </p:nvSpPr>
          <p:spPr>
            <a:xfrm rot="2526605">
              <a:off x="4082930" y="3447102"/>
              <a:ext cx="832575" cy="907278"/>
            </a:xfrm>
            <a:custGeom>
              <a:avLst/>
              <a:gdLst>
                <a:gd name="connsiteX0" fmla="*/ 0 w 642257"/>
                <a:gd name="connsiteY0" fmla="*/ 0 h 740229"/>
                <a:gd name="connsiteX1" fmla="*/ 348343 w 642257"/>
                <a:gd name="connsiteY1" fmla="*/ 228600 h 740229"/>
                <a:gd name="connsiteX2" fmla="*/ 642257 w 642257"/>
                <a:gd name="connsiteY2" fmla="*/ 740229 h 7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2257" h="740229">
                  <a:moveTo>
                    <a:pt x="0" y="0"/>
                  </a:moveTo>
                  <a:cubicBezTo>
                    <a:pt x="120650" y="52614"/>
                    <a:pt x="241300" y="105229"/>
                    <a:pt x="348343" y="228600"/>
                  </a:cubicBezTo>
                  <a:cubicBezTo>
                    <a:pt x="455386" y="351971"/>
                    <a:pt x="548821" y="546100"/>
                    <a:pt x="642257" y="740229"/>
                  </a:cubicBezTo>
                </a:path>
              </a:pathLst>
            </a:custGeom>
            <a:ln w="38100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1" name="Straight Connector 60"/>
          <p:cNvCxnSpPr/>
          <p:nvPr/>
        </p:nvCxnSpPr>
        <p:spPr>
          <a:xfrm flipH="1" flipV="1">
            <a:off x="939322" y="2590800"/>
            <a:ext cx="2449286" cy="307133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982525" y="2552545"/>
            <a:ext cx="2939483" cy="3109591"/>
            <a:chOff x="982525" y="2552545"/>
            <a:chExt cx="2939483" cy="3109591"/>
          </a:xfrm>
        </p:grpSpPr>
        <p:cxnSp>
          <p:nvCxnSpPr>
            <p:cNvPr id="62" name="Straight Connector 61"/>
            <p:cNvCxnSpPr/>
            <p:nvPr/>
          </p:nvCxnSpPr>
          <p:spPr>
            <a:xfrm flipV="1">
              <a:off x="3388608" y="2560010"/>
              <a:ext cx="533400" cy="3102126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flipV="1">
              <a:off x="982525" y="2552545"/>
              <a:ext cx="2937191" cy="30789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510004" y="3440668"/>
                <a:ext cx="2590453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  <m:r>
                      <m:rPr>
                        <m:nor/>
                      </m:rPr>
                      <a:rPr lang="en-US" dirty="0"/>
                      <m:t>(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m:rPr>
                        <m:nor/>
                      </m:rPr>
                      <a:rPr lang="en-US" dirty="0"/>
                      <m:t>)+</m:t>
                    </m:r>
                    <m:r>
                      <a:rPr lang="en-US" b="1" i="1">
                        <a:solidFill>
                          <a:srgbClr val="00B050"/>
                        </a:solidFill>
                        <a:latin typeface="Cambria Math"/>
                      </a:rPr>
                      <m:t>𝝎</m:t>
                    </m:r>
                    <m:r>
                      <m:rPr>
                        <m:nor/>
                      </m:rPr>
                      <a:rPr lang="en-US" dirty="0"/>
                      <m:t>(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m:rPr>
                        <m:nor/>
                      </m:rPr>
                      <a:rPr lang="en-US" dirty="0"/>
                      <m:t>)</m:t>
                    </m:r>
                  </m:oMath>
                </a14:m>
                <a:r>
                  <a:rPr lang="en-US" dirty="0"/>
                  <a:t> )</a:t>
                </a: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004" y="3440668"/>
                <a:ext cx="2590453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2118" t="-8197" r="-329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5867399" y="3716075"/>
                <a:ext cx="770147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dirty="0"/>
                  <a:t>&lt;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&lt;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399" y="3716075"/>
                <a:ext cx="770147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333" r="-1259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5715000" y="1523999"/>
            <a:ext cx="649726" cy="5450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724400" y="1295400"/>
            <a:ext cx="115256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Base case: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24400" y="1992868"/>
            <a:ext cx="14411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Generic case:</a:t>
            </a:r>
          </a:p>
        </p:txBody>
      </p:sp>
      <p:sp>
        <p:nvSpPr>
          <p:cNvPr id="8" name="Rectangle 7"/>
          <p:cNvSpPr/>
          <p:nvPr/>
        </p:nvSpPr>
        <p:spPr>
          <a:xfrm>
            <a:off x="5690787" y="3352800"/>
            <a:ext cx="914400" cy="914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5AF29B-0415-EC2F-E8CF-8CE83C61F1D8}"/>
              </a:ext>
            </a:extLst>
          </p:cNvPr>
          <p:cNvSpPr/>
          <p:nvPr/>
        </p:nvSpPr>
        <p:spPr>
          <a:xfrm>
            <a:off x="7964447" y="3309813"/>
            <a:ext cx="1136010" cy="5450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B45BA6-956C-6875-7764-8BEF835266A0}"/>
              </a:ext>
            </a:extLst>
          </p:cNvPr>
          <p:cNvSpPr/>
          <p:nvPr/>
        </p:nvSpPr>
        <p:spPr>
          <a:xfrm>
            <a:off x="7230876" y="3352800"/>
            <a:ext cx="1136010" cy="54506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20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uiExpand="1" build="p"/>
      <p:bldP spid="21" grpId="0"/>
      <p:bldP spid="50" grpId="0" animBg="1"/>
      <p:bldP spid="54" grpId="0" animBg="1"/>
      <p:bldP spid="3" grpId="0" animBg="1"/>
      <p:bldP spid="6" grpId="0" animBg="1"/>
      <p:bldP spid="34" grpId="0" animBg="1"/>
      <p:bldP spid="8" grpId="0" animBg="1"/>
      <p:bldP spid="10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828800"/>
            <a:ext cx="7772400" cy="1362075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Recursive ALGORITHM </a:t>
            </a:r>
            <a:br>
              <a:rPr lang="en-US" sz="3200" dirty="0">
                <a:solidFill>
                  <a:srgbClr val="7030A0"/>
                </a:solidFill>
              </a:rPr>
            </a:br>
            <a:r>
              <a:rPr lang="en-US" sz="3200" dirty="0"/>
              <a:t>of OPTMAL Triangulation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8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Recursive algorithm </a:t>
                </a:r>
                <a:r>
                  <a:rPr lang="en-US" sz="3200" b="1" dirty="0"/>
                  <a:t>for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</m:oMath>
                </a14:m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3200" dirty="0"/>
                  <a:t>,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3200" dirty="0"/>
                  <a:t>)</a:t>
                </a:r>
                <a:br>
                  <a:rPr lang="en-US" sz="3200" dirty="0"/>
                </a:br>
                <a:endParaRPr lang="en-US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267200" cy="49530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</a:t>
                </a:r>
                <a:r>
                  <a:rPr lang="en-US" sz="2000" b="1" dirty="0"/>
                  <a:t>If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2000" dirty="0"/>
                  <a:t>)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return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:r>
                  <a:rPr lang="en-US" sz="2000" b="1" dirty="0"/>
                  <a:t>Else</a:t>
                </a:r>
              </a:p>
              <a:p>
                <a:pPr marL="0" indent="0">
                  <a:buNone/>
                </a:pPr>
                <a:r>
                  <a:rPr lang="en-US" sz="2000" dirty="0"/>
                  <a:t> {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  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∞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</a:t>
                </a:r>
                <a:r>
                  <a:rPr lang="en-US" sz="2000" b="1" dirty="0"/>
                  <a:t>For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)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{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𝑒𝑚𝑝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sz="2000" dirty="0"/>
                  <a:t>) +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) +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B050"/>
                        </a:solidFill>
                        <a:latin typeface="Cambria Math"/>
                      </a:rPr>
                      <m:t>𝝎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);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If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&gt;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𝑡𝑒𝑚𝑝</m:t>
                    </m:r>
                  </m:oMath>
                </a14:m>
                <a:r>
                  <a:rPr lang="en-US" sz="2000" dirty="0"/>
                  <a:t>)</a:t>
                </a: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dirty="0"/>
                  <a:t>         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𝑡𝑒𝑚𝑝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}</a:t>
                </a:r>
              </a:p>
              <a:p>
                <a:pPr marL="0" indent="0">
                  <a:buNone/>
                </a:pPr>
                <a:r>
                  <a:rPr lang="en-US" sz="2000" dirty="0"/>
                  <a:t> }</a:t>
                </a:r>
              </a:p>
              <a:p>
                <a:pPr marL="0" indent="0">
                  <a:buNone/>
                </a:pPr>
                <a:r>
                  <a:rPr lang="en-US" sz="2000" dirty="0"/>
                  <a:t> return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267200" cy="4953000"/>
              </a:xfrm>
              <a:blipFill rotWithShape="1">
                <a:blip r:embed="rId3"/>
                <a:stretch>
                  <a:fillRect l="-1429" t="-1232" r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600200"/>
                <a:ext cx="4495800" cy="48768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: </a:t>
                </a:r>
                <a:r>
                  <a:rPr lang="en-US" sz="1800" dirty="0"/>
                  <a:t>worst case running  time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sz="2000" dirty="0"/>
                  <a:t>) =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=   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sz="2000" dirty="0"/>
                  <a:t>)  +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) +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     +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3</m:t>
                    </m:r>
                  </m:oMath>
                </a14:m>
                <a:r>
                  <a:rPr lang="en-US" sz="2000" dirty="0"/>
                  <a:t>)  +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−2</m:t>
                    </m:r>
                  </m:oMath>
                </a14:m>
                <a:r>
                  <a:rPr lang="en-US" sz="2000" dirty="0"/>
                  <a:t>) +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      :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+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)  +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sz="2000" dirty="0"/>
                  <a:t>) +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𝑐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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&gt;</a:t>
                </a:r>
                <a:r>
                  <a:rPr lang="en-US" sz="2000" dirty="0">
                    <a:solidFill>
                      <a:srgbClr val="0070C0"/>
                    </a:solidFill>
                  </a:rPr>
                  <a:t> 2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)         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/>
                      </a:rPr>
                      <m:t>&gt;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Exponential !!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But how many sub-problems are there ? </a:t>
                </a:r>
              </a:p>
              <a:p>
                <a:pPr marL="0" indent="0">
                  <a:buNone/>
                </a:pPr>
                <a:r>
                  <a:rPr lang="en-US" sz="2000" dirty="0"/>
                  <a:t>Only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0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en-US" sz="2000" b="0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600200"/>
                <a:ext cx="4495800" cy="4876800"/>
              </a:xfrm>
              <a:blipFill rotWithShape="1">
                <a:blip r:embed="rId4"/>
                <a:stretch>
                  <a:fillRect l="-1493" t="-1250" r="-271" b="-7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486400" y="2286000"/>
            <a:ext cx="2404826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7BDCD4F-F871-3DBA-CF5F-22921542E5CA}"/>
              </a:ext>
            </a:extLst>
          </p:cNvPr>
          <p:cNvSpPr/>
          <p:nvPr/>
        </p:nvSpPr>
        <p:spPr>
          <a:xfrm>
            <a:off x="6096000" y="274638"/>
            <a:ext cx="990600" cy="639762"/>
          </a:xfrm>
          <a:prstGeom prst="round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778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1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Recursive algorithm </a:t>
                </a:r>
                <a:r>
                  <a:rPr lang="en-US" sz="3200" b="1" dirty="0"/>
                  <a:t>for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</m:oMath>
                </a14:m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3200" dirty="0"/>
                  <a:t>,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3200" dirty="0"/>
                  <a:t>)</a:t>
                </a:r>
                <a:br>
                  <a:rPr lang="en-US" sz="3200" dirty="0"/>
                </a:br>
                <a:endParaRPr lang="en-US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419600" cy="49530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</a:t>
                </a:r>
                <a:r>
                  <a:rPr lang="en-US" sz="2000" b="1" dirty="0"/>
                  <a:t>If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2000" dirty="0"/>
                  <a:t>)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return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:r>
                  <a:rPr lang="en-US" sz="2000" b="1" dirty="0"/>
                  <a:t>Else</a:t>
                </a:r>
              </a:p>
              <a:p>
                <a:pPr marL="0" indent="0">
                  <a:buNone/>
                </a:pPr>
                <a:r>
                  <a:rPr lang="en-US" sz="2000" dirty="0"/>
                  <a:t> {</a:t>
                </a: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0070C0"/>
                        </a:solidFill>
                        <a:latin typeface="Cambria Math"/>
                      </a:rPr>
                      <m:t>   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∞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</a:t>
                </a:r>
                <a:r>
                  <a:rPr lang="en-US" sz="2000" b="1" dirty="0"/>
                  <a:t>For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)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{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𝑡𝑒𝑚𝑝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sz="2000" dirty="0"/>
                  <a:t>) +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) +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B050"/>
                        </a:solidFill>
                        <a:latin typeface="Cambria Math"/>
                      </a:rPr>
                      <m:t>𝝎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>
                        <a:latin typeface="Cambria Math"/>
                      </a:rPr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sz="2000" i="1">
                        <a:latin typeface="Cambria Math"/>
                      </a:rPr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);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If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&gt;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𝑡𝑒𝑚𝑝</m:t>
                    </m:r>
                  </m:oMath>
                </a14:m>
                <a:r>
                  <a:rPr lang="en-US" sz="2000" dirty="0"/>
                  <a:t>)</a:t>
                </a: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dirty="0"/>
                  <a:t>         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𝑡𝑒𝑚𝑝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}</a:t>
                </a:r>
              </a:p>
              <a:p>
                <a:pPr marL="0" indent="0">
                  <a:buNone/>
                </a:pPr>
                <a:r>
                  <a:rPr lang="en-US" sz="2000" dirty="0"/>
                  <a:t> }</a:t>
                </a:r>
              </a:p>
              <a:p>
                <a:pPr marL="0" indent="0">
                  <a:buNone/>
                </a:pPr>
                <a:r>
                  <a:rPr lang="en-US" sz="2000" dirty="0"/>
                  <a:t> return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419600" cy="4953000"/>
              </a:xfrm>
              <a:blipFill rotWithShape="1">
                <a:blip r:embed="rId3"/>
                <a:stretch>
                  <a:fillRect l="-1379" t="-1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447800"/>
                <a:ext cx="4495800" cy="5029200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b="1" dirty="0"/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b="1" dirty="0"/>
                  <a:t>] =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447800"/>
                <a:ext cx="4495800" cy="5029200"/>
              </a:xfrm>
              <a:blipFill rotWithShape="1">
                <a:blip r:embed="rId4"/>
                <a:stretch>
                  <a:fillRect t="-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5359901" y="5269468"/>
                <a:ext cx="33738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70C0"/>
                    </a:solidFill>
                  </a:rPr>
                  <a:t>1   2          ...       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01" y="5269468"/>
                <a:ext cx="3373809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444" t="-8197" r="-216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6629400" y="56388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5638800"/>
                <a:ext cx="38048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67"/>
          <p:cNvGrpSpPr/>
          <p:nvPr/>
        </p:nvGrpSpPr>
        <p:grpSpPr>
          <a:xfrm>
            <a:off x="4876800" y="1828800"/>
            <a:ext cx="456420" cy="3352800"/>
            <a:chOff x="4876800" y="1828800"/>
            <a:chExt cx="456420" cy="3352800"/>
          </a:xfrm>
        </p:grpSpPr>
        <p:sp>
          <p:nvSpPr>
            <p:cNvPr id="59" name="TextBox 58"/>
            <p:cNvSpPr txBox="1"/>
            <p:nvPr/>
          </p:nvSpPr>
          <p:spPr>
            <a:xfrm>
              <a:off x="4953000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1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956114" y="46598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2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/>
                <p:cNvSpPr txBox="1"/>
                <p:nvPr/>
              </p:nvSpPr>
              <p:spPr>
                <a:xfrm>
                  <a:off x="4876800" y="1828800"/>
                  <a:ext cx="3745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800" y="1828800"/>
                  <a:ext cx="374590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967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TextBox 63"/>
            <p:cNvSpPr txBox="1"/>
            <p:nvPr/>
          </p:nvSpPr>
          <p:spPr>
            <a:xfrm rot="5173825">
              <a:off x="4976872" y="4432482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7620000" y="5269468"/>
                <a:ext cx="324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5269468"/>
                <a:ext cx="324897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2264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4939188" y="4202668"/>
                <a:ext cx="318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188" y="4202668"/>
                <a:ext cx="318612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197" r="-2264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5410200" y="1964473"/>
            <a:ext cx="3276600" cy="3217127"/>
            <a:chOff x="5410200" y="1964473"/>
            <a:chExt cx="3276600" cy="3217127"/>
          </a:xfrm>
        </p:grpSpPr>
        <p:grpSp>
          <p:nvGrpSpPr>
            <p:cNvPr id="6" name="Group 5"/>
            <p:cNvGrpSpPr/>
            <p:nvPr/>
          </p:nvGrpSpPr>
          <p:grpSpPr>
            <a:xfrm>
              <a:off x="5410200" y="1964473"/>
              <a:ext cx="3276600" cy="3217127"/>
              <a:chOff x="5257800" y="2057400"/>
              <a:chExt cx="3276600" cy="3217127"/>
            </a:xfrm>
          </p:grpSpPr>
          <p:grpSp>
            <p:nvGrpSpPr>
              <p:cNvPr id="5" name="Group 4"/>
              <p:cNvGrpSpPr/>
              <p:nvPr/>
            </p:nvGrpSpPr>
            <p:grpSpPr>
              <a:xfrm>
                <a:off x="5257800" y="2057400"/>
                <a:ext cx="3276600" cy="3217127"/>
                <a:chOff x="5257800" y="2057400"/>
                <a:chExt cx="3276600" cy="3217127"/>
              </a:xfrm>
            </p:grpSpPr>
            <p:grpSp>
              <p:nvGrpSpPr>
                <p:cNvPr id="57" name="Group 56"/>
                <p:cNvGrpSpPr/>
                <p:nvPr/>
              </p:nvGrpSpPr>
              <p:grpSpPr>
                <a:xfrm>
                  <a:off x="5257800" y="2057400"/>
                  <a:ext cx="3276600" cy="3217127"/>
                  <a:chOff x="5257800" y="2057400"/>
                  <a:chExt cx="3276600" cy="3217127"/>
                </a:xfrm>
              </p:grpSpPr>
              <p:sp>
                <p:nvSpPr>
                  <p:cNvPr id="26" name="Rectangle 25"/>
                  <p:cNvSpPr/>
                  <p:nvPr/>
                </p:nvSpPr>
                <p:spPr>
                  <a:xfrm>
                    <a:off x="5257800" y="2057400"/>
                    <a:ext cx="3276600" cy="3200400"/>
                  </a:xfrm>
                  <a:prstGeom prst="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9" name="Straight Connector 28"/>
                  <p:cNvCxnSpPr/>
                  <p:nvPr/>
                </p:nvCxnSpPr>
                <p:spPr>
                  <a:xfrm>
                    <a:off x="5715000" y="2057400"/>
                    <a:ext cx="0" cy="32004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/>
                  <p:cNvCxnSpPr/>
                  <p:nvPr/>
                </p:nvCxnSpPr>
                <p:spPr>
                  <a:xfrm>
                    <a:off x="6172200" y="2057400"/>
                    <a:ext cx="0" cy="32004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/>
                  <p:cNvCxnSpPr/>
                  <p:nvPr/>
                </p:nvCxnSpPr>
                <p:spPr>
                  <a:xfrm>
                    <a:off x="6629400" y="2057400"/>
                    <a:ext cx="0" cy="32004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/>
                  <p:cNvCxnSpPr/>
                  <p:nvPr/>
                </p:nvCxnSpPr>
                <p:spPr>
                  <a:xfrm flipH="1">
                    <a:off x="7081024" y="2057400"/>
                    <a:ext cx="5576" cy="321712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/>
                  <p:cNvCxnSpPr/>
                  <p:nvPr/>
                </p:nvCxnSpPr>
                <p:spPr>
                  <a:xfrm>
                    <a:off x="7543800" y="2057400"/>
                    <a:ext cx="0" cy="321712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/>
                  <p:cNvCxnSpPr/>
                  <p:nvPr/>
                </p:nvCxnSpPr>
                <p:spPr>
                  <a:xfrm>
                    <a:off x="8001000" y="2057400"/>
                    <a:ext cx="0" cy="32004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Connector 43"/>
                  <p:cNvCxnSpPr/>
                  <p:nvPr/>
                </p:nvCxnSpPr>
                <p:spPr>
                  <a:xfrm>
                    <a:off x="5257800" y="2514600"/>
                    <a:ext cx="32766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/>
                  <p:cNvCxnSpPr/>
                  <p:nvPr/>
                </p:nvCxnSpPr>
                <p:spPr>
                  <a:xfrm>
                    <a:off x="5257800" y="2971800"/>
                    <a:ext cx="32766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/>
                  <p:cNvCxnSpPr/>
                  <p:nvPr/>
                </p:nvCxnSpPr>
                <p:spPr>
                  <a:xfrm>
                    <a:off x="5257800" y="3429000"/>
                    <a:ext cx="32766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/>
                  <p:cNvCxnSpPr/>
                  <p:nvPr/>
                </p:nvCxnSpPr>
                <p:spPr>
                  <a:xfrm>
                    <a:off x="5257800" y="3886200"/>
                    <a:ext cx="32766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/>
                  <p:cNvCxnSpPr/>
                  <p:nvPr/>
                </p:nvCxnSpPr>
                <p:spPr>
                  <a:xfrm>
                    <a:off x="5257800" y="4343400"/>
                    <a:ext cx="32766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/>
                  <p:cNvCxnSpPr/>
                  <p:nvPr/>
                </p:nvCxnSpPr>
                <p:spPr>
                  <a:xfrm>
                    <a:off x="5257800" y="4800600"/>
                    <a:ext cx="32766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5" name="Straight Connector 44"/>
                <p:cNvCxnSpPr/>
                <p:nvPr/>
              </p:nvCxnSpPr>
              <p:spPr>
                <a:xfrm>
                  <a:off x="5486400" y="2057400"/>
                  <a:ext cx="0" cy="32004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>
                <a:xfrm>
                  <a:off x="5943600" y="2057400"/>
                  <a:ext cx="0" cy="32004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/>
                <p:cNvCxnSpPr/>
                <p:nvPr/>
              </p:nvCxnSpPr>
              <p:spPr>
                <a:xfrm>
                  <a:off x="6400800" y="2057400"/>
                  <a:ext cx="0" cy="32004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>
                <a:xfrm flipH="1">
                  <a:off x="6852424" y="2057400"/>
                  <a:ext cx="5576" cy="321712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>
                <a:xfrm>
                  <a:off x="7315200" y="2057400"/>
                  <a:ext cx="0" cy="321712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>
                <a:xfrm>
                  <a:off x="7772400" y="2057400"/>
                  <a:ext cx="0" cy="32004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6" name="Straight Connector 55"/>
              <p:cNvCxnSpPr/>
              <p:nvPr/>
            </p:nvCxnSpPr>
            <p:spPr>
              <a:xfrm>
                <a:off x="5257800" y="2743200"/>
                <a:ext cx="3276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>
                <a:off x="5257800" y="3200400"/>
                <a:ext cx="3276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5257800" y="3657600"/>
                <a:ext cx="3276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>
                <a:off x="5257800" y="4114800"/>
                <a:ext cx="3276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>
                <a:off x="5257800" y="4572000"/>
                <a:ext cx="3276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>
                <a:off x="5257800" y="5029200"/>
                <a:ext cx="3276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Straight Connector 79"/>
            <p:cNvCxnSpPr/>
            <p:nvPr/>
          </p:nvCxnSpPr>
          <p:spPr>
            <a:xfrm>
              <a:off x="8382000" y="19812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5410200" y="22098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5638800" y="2133600"/>
            <a:ext cx="3048000" cy="3048000"/>
            <a:chOff x="5638800" y="2133600"/>
            <a:chExt cx="3048000" cy="3048000"/>
          </a:xfrm>
        </p:grpSpPr>
        <p:sp>
          <p:nvSpPr>
            <p:cNvPr id="7" name="TextBox 6"/>
            <p:cNvSpPr txBox="1"/>
            <p:nvPr/>
          </p:nvSpPr>
          <p:spPr>
            <a:xfrm>
              <a:off x="5638800" y="48738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867400" y="46482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6048562" y="4419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6324600" y="4191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6553200" y="39624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781800" y="37338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6962962" y="35052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7239000" y="3276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7467600" y="3048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7648762" y="28194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7877362" y="25908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8153400" y="23622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8410762" y="2133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</p:grpSp>
      <p:sp>
        <p:nvSpPr>
          <p:cNvPr id="71" name="Rectangle 70"/>
          <p:cNvSpPr/>
          <p:nvPr/>
        </p:nvSpPr>
        <p:spPr>
          <a:xfrm>
            <a:off x="7696200" y="4267200"/>
            <a:ext cx="228600" cy="2286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>
            <a:stCxn id="73" idx="3"/>
            <a:endCxn id="71" idx="1"/>
          </p:cNvCxnSpPr>
          <p:nvPr/>
        </p:nvCxnSpPr>
        <p:spPr>
          <a:xfrm flipV="1">
            <a:off x="5257800" y="4381500"/>
            <a:ext cx="2438400" cy="583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71" idx="2"/>
          </p:cNvCxnSpPr>
          <p:nvPr/>
        </p:nvCxnSpPr>
        <p:spPr>
          <a:xfrm>
            <a:off x="7810500" y="4495800"/>
            <a:ext cx="0" cy="77366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/>
          <p:cNvSpPr/>
          <p:nvPr/>
        </p:nvSpPr>
        <p:spPr>
          <a:xfrm>
            <a:off x="8382000" y="4953000"/>
            <a:ext cx="304800" cy="22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324600" y="4267200"/>
            <a:ext cx="228600" cy="2118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6553200" y="3810000"/>
            <a:ext cx="1371600" cy="669073"/>
            <a:chOff x="6553200" y="3810000"/>
            <a:chExt cx="1371600" cy="669073"/>
          </a:xfrm>
        </p:grpSpPr>
        <p:sp>
          <p:nvSpPr>
            <p:cNvPr id="103" name="Rectangle 102"/>
            <p:cNvSpPr/>
            <p:nvPr/>
          </p:nvSpPr>
          <p:spPr>
            <a:xfrm>
              <a:off x="6553200" y="4267200"/>
              <a:ext cx="228600" cy="21187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7696200" y="3810000"/>
              <a:ext cx="228600" cy="21187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467600" y="2895600"/>
            <a:ext cx="457200" cy="1583473"/>
            <a:chOff x="7467600" y="2895600"/>
            <a:chExt cx="457200" cy="1583473"/>
          </a:xfrm>
        </p:grpSpPr>
        <p:sp>
          <p:nvSpPr>
            <p:cNvPr id="108" name="Rectangle 107"/>
            <p:cNvSpPr/>
            <p:nvPr/>
          </p:nvSpPr>
          <p:spPr>
            <a:xfrm>
              <a:off x="7467600" y="4267200"/>
              <a:ext cx="228600" cy="21187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7696200" y="2895600"/>
              <a:ext cx="228600" cy="21187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239000" y="3124200"/>
            <a:ext cx="685800" cy="1354873"/>
            <a:chOff x="7239000" y="3124200"/>
            <a:chExt cx="685800" cy="1354873"/>
          </a:xfrm>
        </p:grpSpPr>
        <p:sp>
          <p:nvSpPr>
            <p:cNvPr id="107" name="Rectangle 106"/>
            <p:cNvSpPr/>
            <p:nvPr/>
          </p:nvSpPr>
          <p:spPr>
            <a:xfrm>
              <a:off x="7239000" y="4267200"/>
              <a:ext cx="228600" cy="21187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7696200" y="3124200"/>
              <a:ext cx="228600" cy="21187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7010400" y="3352800"/>
            <a:ext cx="914400" cy="1126273"/>
            <a:chOff x="7010400" y="3352800"/>
            <a:chExt cx="914400" cy="1126273"/>
          </a:xfrm>
        </p:grpSpPr>
        <p:sp>
          <p:nvSpPr>
            <p:cNvPr id="106" name="Rectangle 105"/>
            <p:cNvSpPr/>
            <p:nvPr/>
          </p:nvSpPr>
          <p:spPr>
            <a:xfrm>
              <a:off x="7010400" y="4267200"/>
              <a:ext cx="228600" cy="21187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7696200" y="3352800"/>
              <a:ext cx="228600" cy="21187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6781800" y="3581400"/>
            <a:ext cx="1143000" cy="897673"/>
            <a:chOff x="6781800" y="3581400"/>
            <a:chExt cx="1143000" cy="897673"/>
          </a:xfrm>
        </p:grpSpPr>
        <p:sp>
          <p:nvSpPr>
            <p:cNvPr id="105" name="Rectangle 104"/>
            <p:cNvSpPr/>
            <p:nvPr/>
          </p:nvSpPr>
          <p:spPr>
            <a:xfrm>
              <a:off x="6781800" y="4267200"/>
              <a:ext cx="228600" cy="21187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7696200" y="3581400"/>
              <a:ext cx="228600" cy="211873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84" name="Straight Arrow Connector 83"/>
          <p:cNvCxnSpPr>
            <a:endCxn id="108" idx="3"/>
          </p:cNvCxnSpPr>
          <p:nvPr/>
        </p:nvCxnSpPr>
        <p:spPr>
          <a:xfrm>
            <a:off x="6462619" y="4373136"/>
            <a:ext cx="1233581" cy="1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>
            <a:stCxn id="109" idx="0"/>
          </p:cNvCxnSpPr>
          <p:nvPr/>
        </p:nvCxnSpPr>
        <p:spPr>
          <a:xfrm>
            <a:off x="7810500" y="2895600"/>
            <a:ext cx="0" cy="1354873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7696200" y="4038600"/>
            <a:ext cx="228600" cy="2118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45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3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8" grpId="0"/>
      <p:bldP spid="63" grpId="0"/>
      <p:bldP spid="72" grpId="0"/>
      <p:bldP spid="73" grpId="0"/>
      <p:bldP spid="71" grpId="0" animBg="1"/>
      <p:bldP spid="100" grpId="0" animBg="1"/>
      <p:bldP spid="17" grpId="0" animBg="1"/>
      <p:bldP spid="8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5B0E9-6D86-29E7-9E98-CB3AFBB17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CD18775-C795-E981-1C0A-AB7B53EBB0E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Iterative algorithm </a:t>
                </a:r>
                <a:r>
                  <a:rPr lang="en-US" sz="3200" b="1" dirty="0"/>
                  <a:t>for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</m:oMath>
                </a14:m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3200" dirty="0"/>
                  <a:t>,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3200" dirty="0"/>
                  <a:t>)</a:t>
                </a:r>
                <a:br>
                  <a:rPr lang="en-US" sz="3200" dirty="0"/>
                </a:br>
                <a:endParaRPr lang="en-US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8A1F766-0864-83F0-C32A-316AD9269DC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447800"/>
                <a:ext cx="4495800" cy="502920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b="1" dirty="0"/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b="1" dirty="0"/>
                  <a:t>] =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447800"/>
                <a:ext cx="4495800" cy="5029200"/>
              </a:xfrm>
              <a:blipFill rotWithShape="1">
                <a:blip r:embed="rId4"/>
                <a:stretch>
                  <a:fillRect t="-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D685E50-119A-6A13-914D-F1A6267C3B2B}"/>
                  </a:ext>
                </a:extLst>
              </p:cNvPr>
              <p:cNvSpPr txBox="1"/>
              <p:nvPr/>
            </p:nvSpPr>
            <p:spPr>
              <a:xfrm>
                <a:off x="5359901" y="5269468"/>
                <a:ext cx="33738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70C0"/>
                    </a:solidFill>
                  </a:rPr>
                  <a:t>1   2          ...       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01" y="5269468"/>
                <a:ext cx="3373809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444" t="-8197" r="-216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F6B1520-F8D7-3E35-4AEC-256D87B28292}"/>
                  </a:ext>
                </a:extLst>
              </p:cNvPr>
              <p:cNvSpPr txBox="1"/>
              <p:nvPr/>
            </p:nvSpPr>
            <p:spPr>
              <a:xfrm>
                <a:off x="6629400" y="56388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5638800"/>
                <a:ext cx="38048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F29C8FAE-615E-3497-C996-92A93FC51FD7}"/>
              </a:ext>
            </a:extLst>
          </p:cNvPr>
          <p:cNvGrpSpPr/>
          <p:nvPr/>
        </p:nvGrpSpPr>
        <p:grpSpPr>
          <a:xfrm>
            <a:off x="4876800" y="1828800"/>
            <a:ext cx="456420" cy="3352800"/>
            <a:chOff x="4876800" y="1828800"/>
            <a:chExt cx="456420" cy="3352800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F4A2BE7-0301-164C-3D6D-0D3673D3E2F9}"/>
                </a:ext>
              </a:extLst>
            </p:cNvPr>
            <p:cNvSpPr txBox="1"/>
            <p:nvPr/>
          </p:nvSpPr>
          <p:spPr>
            <a:xfrm>
              <a:off x="4953000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1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C8BD694-2320-5940-094D-6A2A2D88822E}"/>
                </a:ext>
              </a:extLst>
            </p:cNvPr>
            <p:cNvSpPr txBox="1"/>
            <p:nvPr/>
          </p:nvSpPr>
          <p:spPr>
            <a:xfrm>
              <a:off x="4956114" y="46598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2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D5F4A639-A864-6F15-D5C9-22C387F66999}"/>
                    </a:ext>
                  </a:extLst>
                </p:cNvPr>
                <p:cNvSpPr txBox="1"/>
                <p:nvPr/>
              </p:nvSpPr>
              <p:spPr>
                <a:xfrm>
                  <a:off x="4876800" y="1828800"/>
                  <a:ext cx="3745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800" y="1828800"/>
                  <a:ext cx="374590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967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51D53D4-0D1D-A628-CE2B-E5C955B64B48}"/>
                </a:ext>
              </a:extLst>
            </p:cNvPr>
            <p:cNvSpPr txBox="1"/>
            <p:nvPr/>
          </p:nvSpPr>
          <p:spPr>
            <a:xfrm rot="5173825">
              <a:off x="4976872" y="4432482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68EFE78-0AA3-4D6E-BB75-C263C15D8F2F}"/>
                  </a:ext>
                </a:extLst>
              </p:cNvPr>
              <p:cNvSpPr txBox="1"/>
              <p:nvPr/>
            </p:nvSpPr>
            <p:spPr>
              <a:xfrm>
                <a:off x="7620000" y="5269468"/>
                <a:ext cx="324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5269468"/>
                <a:ext cx="324897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2264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060D544-1EB9-1D7E-CF39-B4A0DD437F4A}"/>
                  </a:ext>
                </a:extLst>
              </p:cNvPr>
              <p:cNvSpPr txBox="1"/>
              <p:nvPr/>
            </p:nvSpPr>
            <p:spPr>
              <a:xfrm>
                <a:off x="4939188" y="4202668"/>
                <a:ext cx="318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188" y="4202668"/>
                <a:ext cx="318612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197" r="-2264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9929976F-13B7-E616-0532-4DDC17B3AF26}"/>
              </a:ext>
            </a:extLst>
          </p:cNvPr>
          <p:cNvGrpSpPr/>
          <p:nvPr/>
        </p:nvGrpSpPr>
        <p:grpSpPr>
          <a:xfrm>
            <a:off x="5410200" y="1964473"/>
            <a:ext cx="3276600" cy="3217127"/>
            <a:chOff x="5410200" y="1964473"/>
            <a:chExt cx="3276600" cy="321712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05AEF44-F05C-BF3B-F02E-FFD313399E83}"/>
                </a:ext>
              </a:extLst>
            </p:cNvPr>
            <p:cNvGrpSpPr/>
            <p:nvPr/>
          </p:nvGrpSpPr>
          <p:grpSpPr>
            <a:xfrm>
              <a:off x="5410200" y="1964473"/>
              <a:ext cx="3276600" cy="3217127"/>
              <a:chOff x="5257800" y="2057400"/>
              <a:chExt cx="3276600" cy="321712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742DF321-E4B4-4296-25EA-1BCE7AD834A8}"/>
                  </a:ext>
                </a:extLst>
              </p:cNvPr>
              <p:cNvGrpSpPr/>
              <p:nvPr/>
            </p:nvGrpSpPr>
            <p:grpSpPr>
              <a:xfrm>
                <a:off x="5257800" y="2057400"/>
                <a:ext cx="3276600" cy="3217127"/>
                <a:chOff x="5257800" y="2057400"/>
                <a:chExt cx="3276600" cy="3217127"/>
              </a:xfrm>
            </p:grpSpPr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78DC065B-B2A0-AEEE-D25A-7612072737F9}"/>
                    </a:ext>
                  </a:extLst>
                </p:cNvPr>
                <p:cNvGrpSpPr/>
                <p:nvPr/>
              </p:nvGrpSpPr>
              <p:grpSpPr>
                <a:xfrm>
                  <a:off x="5257800" y="2057400"/>
                  <a:ext cx="3276600" cy="3217127"/>
                  <a:chOff x="5257800" y="2057400"/>
                  <a:chExt cx="3276600" cy="3217127"/>
                </a:xfrm>
              </p:grpSpPr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F5CC8B28-FB9C-ACFB-BA07-ABE92ECD6865}"/>
                      </a:ext>
                    </a:extLst>
                  </p:cNvPr>
                  <p:cNvSpPr/>
                  <p:nvPr/>
                </p:nvSpPr>
                <p:spPr>
                  <a:xfrm>
                    <a:off x="5257800" y="2057400"/>
                    <a:ext cx="3276600" cy="3200400"/>
                  </a:xfrm>
                  <a:prstGeom prst="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6C9D2399-A785-23B1-F8C0-E38DB0C797D8}"/>
                      </a:ext>
                    </a:extLst>
                  </p:cNvPr>
                  <p:cNvCxnSpPr/>
                  <p:nvPr/>
                </p:nvCxnSpPr>
                <p:spPr>
                  <a:xfrm>
                    <a:off x="5715000" y="2057400"/>
                    <a:ext cx="0" cy="32004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AFCC0CC1-D89F-2EA4-EF4E-DBE392466B83}"/>
                      </a:ext>
                    </a:extLst>
                  </p:cNvPr>
                  <p:cNvCxnSpPr/>
                  <p:nvPr/>
                </p:nvCxnSpPr>
                <p:spPr>
                  <a:xfrm>
                    <a:off x="6172200" y="2057400"/>
                    <a:ext cx="0" cy="32004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D0E4B873-FFC3-3033-C402-4FFD0B0353C5}"/>
                      </a:ext>
                    </a:extLst>
                  </p:cNvPr>
                  <p:cNvCxnSpPr/>
                  <p:nvPr/>
                </p:nvCxnSpPr>
                <p:spPr>
                  <a:xfrm>
                    <a:off x="6629400" y="2057400"/>
                    <a:ext cx="0" cy="32004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762B38B2-8075-4D01-2BA4-8539CEEE1E3A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7081024" y="2057400"/>
                    <a:ext cx="5576" cy="321712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A01A7192-ED10-4884-F4E4-5ECFE7CA3717}"/>
                      </a:ext>
                    </a:extLst>
                  </p:cNvPr>
                  <p:cNvCxnSpPr/>
                  <p:nvPr/>
                </p:nvCxnSpPr>
                <p:spPr>
                  <a:xfrm>
                    <a:off x="7543800" y="2057400"/>
                    <a:ext cx="0" cy="321712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195A50D2-95BA-26AE-01D5-73FFB4F22C08}"/>
                      </a:ext>
                    </a:extLst>
                  </p:cNvPr>
                  <p:cNvCxnSpPr/>
                  <p:nvPr/>
                </p:nvCxnSpPr>
                <p:spPr>
                  <a:xfrm>
                    <a:off x="8001000" y="2057400"/>
                    <a:ext cx="0" cy="32004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A2D2FDA2-F204-41D8-A752-4A938CCCE7BE}"/>
                      </a:ext>
                    </a:extLst>
                  </p:cNvPr>
                  <p:cNvCxnSpPr/>
                  <p:nvPr/>
                </p:nvCxnSpPr>
                <p:spPr>
                  <a:xfrm>
                    <a:off x="5257800" y="2514600"/>
                    <a:ext cx="32766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0CF1D77C-3A04-A50C-2E0D-CFB4CCBE790C}"/>
                      </a:ext>
                    </a:extLst>
                  </p:cNvPr>
                  <p:cNvCxnSpPr/>
                  <p:nvPr/>
                </p:nvCxnSpPr>
                <p:spPr>
                  <a:xfrm>
                    <a:off x="5257800" y="2971800"/>
                    <a:ext cx="32766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F049B03B-88B7-0C5B-3255-5024614989FD}"/>
                      </a:ext>
                    </a:extLst>
                  </p:cNvPr>
                  <p:cNvCxnSpPr/>
                  <p:nvPr/>
                </p:nvCxnSpPr>
                <p:spPr>
                  <a:xfrm>
                    <a:off x="5257800" y="3429000"/>
                    <a:ext cx="32766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AAC9B2A0-E3F6-780B-4C41-3B646AE274FC}"/>
                      </a:ext>
                    </a:extLst>
                  </p:cNvPr>
                  <p:cNvCxnSpPr/>
                  <p:nvPr/>
                </p:nvCxnSpPr>
                <p:spPr>
                  <a:xfrm>
                    <a:off x="5257800" y="3886200"/>
                    <a:ext cx="32766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987957FA-5329-930E-0530-1E5655AF321A}"/>
                      </a:ext>
                    </a:extLst>
                  </p:cNvPr>
                  <p:cNvCxnSpPr/>
                  <p:nvPr/>
                </p:nvCxnSpPr>
                <p:spPr>
                  <a:xfrm>
                    <a:off x="5257800" y="4343400"/>
                    <a:ext cx="32766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416D41C3-DCED-885D-DDC4-085A3FD2C444}"/>
                      </a:ext>
                    </a:extLst>
                  </p:cNvPr>
                  <p:cNvCxnSpPr/>
                  <p:nvPr/>
                </p:nvCxnSpPr>
                <p:spPr>
                  <a:xfrm>
                    <a:off x="5257800" y="4800600"/>
                    <a:ext cx="32766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CF322584-0946-FB3F-9951-9D4053F59BA5}"/>
                    </a:ext>
                  </a:extLst>
                </p:cNvPr>
                <p:cNvCxnSpPr/>
                <p:nvPr/>
              </p:nvCxnSpPr>
              <p:spPr>
                <a:xfrm>
                  <a:off x="5486400" y="2057400"/>
                  <a:ext cx="0" cy="32004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F5FD93C7-6C54-147B-B2A7-27105F32E88E}"/>
                    </a:ext>
                  </a:extLst>
                </p:cNvPr>
                <p:cNvCxnSpPr/>
                <p:nvPr/>
              </p:nvCxnSpPr>
              <p:spPr>
                <a:xfrm>
                  <a:off x="5943600" y="2057400"/>
                  <a:ext cx="0" cy="32004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97C97086-B883-FE01-D71D-121A7C859D93}"/>
                    </a:ext>
                  </a:extLst>
                </p:cNvPr>
                <p:cNvCxnSpPr/>
                <p:nvPr/>
              </p:nvCxnSpPr>
              <p:spPr>
                <a:xfrm>
                  <a:off x="6400800" y="2057400"/>
                  <a:ext cx="0" cy="32004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E1137293-A1EE-766B-871E-16A2F624B1E0}"/>
                    </a:ext>
                  </a:extLst>
                </p:cNvPr>
                <p:cNvCxnSpPr/>
                <p:nvPr/>
              </p:nvCxnSpPr>
              <p:spPr>
                <a:xfrm flipH="1">
                  <a:off x="6852424" y="2057400"/>
                  <a:ext cx="5576" cy="321712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91F9B28B-0FFD-91FF-1F16-6B78EC5341FE}"/>
                    </a:ext>
                  </a:extLst>
                </p:cNvPr>
                <p:cNvCxnSpPr/>
                <p:nvPr/>
              </p:nvCxnSpPr>
              <p:spPr>
                <a:xfrm>
                  <a:off x="7315200" y="2057400"/>
                  <a:ext cx="0" cy="321712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BB1C192B-FE70-82C6-1B95-3F55699E256B}"/>
                    </a:ext>
                  </a:extLst>
                </p:cNvPr>
                <p:cNvCxnSpPr/>
                <p:nvPr/>
              </p:nvCxnSpPr>
              <p:spPr>
                <a:xfrm>
                  <a:off x="7772400" y="2057400"/>
                  <a:ext cx="0" cy="32004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DDA24404-0F85-B505-99F1-EEBA88224F35}"/>
                  </a:ext>
                </a:extLst>
              </p:cNvPr>
              <p:cNvCxnSpPr/>
              <p:nvPr/>
            </p:nvCxnSpPr>
            <p:spPr>
              <a:xfrm>
                <a:off x="5257800" y="2743200"/>
                <a:ext cx="3276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0F965955-4FBF-7759-51F1-D59571912122}"/>
                  </a:ext>
                </a:extLst>
              </p:cNvPr>
              <p:cNvCxnSpPr/>
              <p:nvPr/>
            </p:nvCxnSpPr>
            <p:spPr>
              <a:xfrm>
                <a:off x="5257800" y="3200400"/>
                <a:ext cx="3276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BAE25265-2C5A-ECED-1A5C-63FD276C2B68}"/>
                  </a:ext>
                </a:extLst>
              </p:cNvPr>
              <p:cNvCxnSpPr/>
              <p:nvPr/>
            </p:nvCxnSpPr>
            <p:spPr>
              <a:xfrm>
                <a:off x="5257800" y="3657600"/>
                <a:ext cx="3276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5E3A6FA9-FE88-E024-AFD1-23D3EBDD5F26}"/>
                  </a:ext>
                </a:extLst>
              </p:cNvPr>
              <p:cNvCxnSpPr/>
              <p:nvPr/>
            </p:nvCxnSpPr>
            <p:spPr>
              <a:xfrm>
                <a:off x="5257800" y="4114800"/>
                <a:ext cx="3276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C8F9E0F-4A89-D271-3D89-FE0C1F330EAE}"/>
                  </a:ext>
                </a:extLst>
              </p:cNvPr>
              <p:cNvCxnSpPr/>
              <p:nvPr/>
            </p:nvCxnSpPr>
            <p:spPr>
              <a:xfrm>
                <a:off x="5257800" y="4572000"/>
                <a:ext cx="3276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D2DC20DD-4908-FEC3-6A69-0E266C8814BC}"/>
                  </a:ext>
                </a:extLst>
              </p:cNvPr>
              <p:cNvCxnSpPr/>
              <p:nvPr/>
            </p:nvCxnSpPr>
            <p:spPr>
              <a:xfrm>
                <a:off x="5257800" y="5029200"/>
                <a:ext cx="3276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3B29CF2F-2A84-72F2-8F70-14970E91458D}"/>
                </a:ext>
              </a:extLst>
            </p:cNvPr>
            <p:cNvCxnSpPr/>
            <p:nvPr/>
          </p:nvCxnSpPr>
          <p:spPr>
            <a:xfrm>
              <a:off x="8382000" y="19812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E9C723D-6462-8B6B-8035-773CC1596E35}"/>
                </a:ext>
              </a:extLst>
            </p:cNvPr>
            <p:cNvCxnSpPr/>
            <p:nvPr/>
          </p:nvCxnSpPr>
          <p:spPr>
            <a:xfrm>
              <a:off x="5410200" y="22098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61A5F2F-5DCA-8DBA-E94E-EC542DD1520B}"/>
              </a:ext>
            </a:extLst>
          </p:cNvPr>
          <p:cNvGrpSpPr/>
          <p:nvPr/>
        </p:nvGrpSpPr>
        <p:grpSpPr>
          <a:xfrm>
            <a:off x="5638800" y="2133600"/>
            <a:ext cx="3048000" cy="3048000"/>
            <a:chOff x="5638800" y="2133600"/>
            <a:chExt cx="3048000" cy="30480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76C6494-75BD-131C-BA53-6453431F9D40}"/>
                </a:ext>
              </a:extLst>
            </p:cNvPr>
            <p:cNvSpPr txBox="1"/>
            <p:nvPr/>
          </p:nvSpPr>
          <p:spPr>
            <a:xfrm>
              <a:off x="5638800" y="48738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8CDB524-9FDD-CB9F-C2DD-7593A684BDE9}"/>
                </a:ext>
              </a:extLst>
            </p:cNvPr>
            <p:cNvSpPr txBox="1"/>
            <p:nvPr/>
          </p:nvSpPr>
          <p:spPr>
            <a:xfrm>
              <a:off x="5867400" y="46482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66041A1-EB4C-8222-E124-B760EC6B22C8}"/>
                </a:ext>
              </a:extLst>
            </p:cNvPr>
            <p:cNvSpPr txBox="1"/>
            <p:nvPr/>
          </p:nvSpPr>
          <p:spPr>
            <a:xfrm>
              <a:off x="6048562" y="4419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76339D9-6DB5-1552-207E-88D769C61AE7}"/>
                </a:ext>
              </a:extLst>
            </p:cNvPr>
            <p:cNvSpPr txBox="1"/>
            <p:nvPr/>
          </p:nvSpPr>
          <p:spPr>
            <a:xfrm>
              <a:off x="6324600" y="4191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A959CC0-B276-340F-832C-A084B9F8450A}"/>
                </a:ext>
              </a:extLst>
            </p:cNvPr>
            <p:cNvSpPr txBox="1"/>
            <p:nvPr/>
          </p:nvSpPr>
          <p:spPr>
            <a:xfrm>
              <a:off x="6553200" y="39624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CFBAC8C-805D-7B35-6018-EE67112C21C9}"/>
                </a:ext>
              </a:extLst>
            </p:cNvPr>
            <p:cNvSpPr txBox="1"/>
            <p:nvPr/>
          </p:nvSpPr>
          <p:spPr>
            <a:xfrm>
              <a:off x="6781800" y="37338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EB1F41CE-8EB3-C28D-AC27-83C69E2D76D4}"/>
                </a:ext>
              </a:extLst>
            </p:cNvPr>
            <p:cNvSpPr txBox="1"/>
            <p:nvPr/>
          </p:nvSpPr>
          <p:spPr>
            <a:xfrm>
              <a:off x="6962962" y="35052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14D614A8-66F0-5736-D23E-974D313158D4}"/>
                </a:ext>
              </a:extLst>
            </p:cNvPr>
            <p:cNvSpPr txBox="1"/>
            <p:nvPr/>
          </p:nvSpPr>
          <p:spPr>
            <a:xfrm>
              <a:off x="7239000" y="3276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2F4C2D5-15D5-F08F-4CEF-B1745EB971F4}"/>
                </a:ext>
              </a:extLst>
            </p:cNvPr>
            <p:cNvSpPr txBox="1"/>
            <p:nvPr/>
          </p:nvSpPr>
          <p:spPr>
            <a:xfrm>
              <a:off x="7467600" y="3048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5093F94-D8F6-759E-8F5A-C94DFD9593F1}"/>
                </a:ext>
              </a:extLst>
            </p:cNvPr>
            <p:cNvSpPr txBox="1"/>
            <p:nvPr/>
          </p:nvSpPr>
          <p:spPr>
            <a:xfrm>
              <a:off x="7648762" y="28194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E6D95D7D-BD14-866A-2E2B-65EF6A11332A}"/>
                </a:ext>
              </a:extLst>
            </p:cNvPr>
            <p:cNvSpPr txBox="1"/>
            <p:nvPr/>
          </p:nvSpPr>
          <p:spPr>
            <a:xfrm>
              <a:off x="7877362" y="25908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7342EF0-1008-E2C8-11AE-2C5198E63D2A}"/>
                </a:ext>
              </a:extLst>
            </p:cNvPr>
            <p:cNvSpPr txBox="1"/>
            <p:nvPr/>
          </p:nvSpPr>
          <p:spPr>
            <a:xfrm>
              <a:off x="8153400" y="23622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7638FDC-FB52-B617-E397-3FED2627B9E7}"/>
                </a:ext>
              </a:extLst>
            </p:cNvPr>
            <p:cNvSpPr txBox="1"/>
            <p:nvPr/>
          </p:nvSpPr>
          <p:spPr>
            <a:xfrm>
              <a:off x="8410762" y="2133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</p:grp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028AD0C-3A27-3D90-84FB-3BAA6A51827F}"/>
              </a:ext>
            </a:extLst>
          </p:cNvPr>
          <p:cNvCxnSpPr>
            <a:stCxn id="71" idx="2"/>
          </p:cNvCxnSpPr>
          <p:nvPr/>
        </p:nvCxnSpPr>
        <p:spPr>
          <a:xfrm>
            <a:off x="7810500" y="4495800"/>
            <a:ext cx="0" cy="77366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CD1A54E7-EE95-A745-95B8-22F0BABD8943}"/>
              </a:ext>
            </a:extLst>
          </p:cNvPr>
          <p:cNvSpPr/>
          <p:nvPr/>
        </p:nvSpPr>
        <p:spPr>
          <a:xfrm>
            <a:off x="8382000" y="4953000"/>
            <a:ext cx="304800" cy="22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644C85E-FB6B-BCC9-E8A5-56B35DF44CA5}"/>
              </a:ext>
            </a:extLst>
          </p:cNvPr>
          <p:cNvGrpSpPr/>
          <p:nvPr/>
        </p:nvGrpSpPr>
        <p:grpSpPr>
          <a:xfrm>
            <a:off x="6781800" y="3352800"/>
            <a:ext cx="1905000" cy="1828800"/>
            <a:chOff x="6781800" y="3352800"/>
            <a:chExt cx="1905000" cy="182880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06BB72F-132F-4E36-0939-9ED01409E817}"/>
                </a:ext>
              </a:extLst>
            </p:cNvPr>
            <p:cNvSpPr/>
            <p:nvPr/>
          </p:nvSpPr>
          <p:spPr>
            <a:xfrm>
              <a:off x="7696200" y="4038600"/>
              <a:ext cx="228600" cy="228600"/>
            </a:xfrm>
            <a:prstGeom prst="rect">
              <a:avLst/>
            </a:prstGeom>
            <a:solidFill>
              <a:srgbClr val="006C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BC3E18C7-4245-E45B-92B7-2ED18A51E815}"/>
                </a:ext>
              </a:extLst>
            </p:cNvPr>
            <p:cNvSpPr/>
            <p:nvPr/>
          </p:nvSpPr>
          <p:spPr>
            <a:xfrm>
              <a:off x="7924800" y="3810000"/>
              <a:ext cx="228600" cy="228600"/>
            </a:xfrm>
            <a:prstGeom prst="rect">
              <a:avLst/>
            </a:prstGeom>
            <a:solidFill>
              <a:srgbClr val="006C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1EBC56D-F793-B235-C54D-94131C28BC63}"/>
                </a:ext>
              </a:extLst>
            </p:cNvPr>
            <p:cNvSpPr/>
            <p:nvPr/>
          </p:nvSpPr>
          <p:spPr>
            <a:xfrm>
              <a:off x="8153400" y="3581400"/>
              <a:ext cx="228600" cy="228600"/>
            </a:xfrm>
            <a:prstGeom prst="rect">
              <a:avLst/>
            </a:prstGeom>
            <a:solidFill>
              <a:srgbClr val="006C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38D6A579-0727-E1AB-5C28-BB81E47C3DBB}"/>
                </a:ext>
              </a:extLst>
            </p:cNvPr>
            <p:cNvSpPr/>
            <p:nvPr/>
          </p:nvSpPr>
          <p:spPr>
            <a:xfrm>
              <a:off x="8382000" y="3352800"/>
              <a:ext cx="304800" cy="220236"/>
            </a:xfrm>
            <a:prstGeom prst="rect">
              <a:avLst/>
            </a:prstGeom>
            <a:solidFill>
              <a:srgbClr val="006C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8394B9D-828D-1C13-9E7F-A980BE264844}"/>
                </a:ext>
              </a:extLst>
            </p:cNvPr>
            <p:cNvSpPr/>
            <p:nvPr/>
          </p:nvSpPr>
          <p:spPr>
            <a:xfrm>
              <a:off x="7467600" y="4267200"/>
              <a:ext cx="228600" cy="228600"/>
            </a:xfrm>
            <a:prstGeom prst="rect">
              <a:avLst/>
            </a:prstGeom>
            <a:solidFill>
              <a:srgbClr val="006C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2C5978FD-9EEE-EE25-665C-1D7BDB06B4AA}"/>
                </a:ext>
              </a:extLst>
            </p:cNvPr>
            <p:cNvSpPr/>
            <p:nvPr/>
          </p:nvSpPr>
          <p:spPr>
            <a:xfrm>
              <a:off x="7239000" y="4495800"/>
              <a:ext cx="228600" cy="228600"/>
            </a:xfrm>
            <a:prstGeom prst="rect">
              <a:avLst/>
            </a:prstGeom>
            <a:solidFill>
              <a:srgbClr val="006C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B417FA08-EC2E-A555-3452-9E24004FE5CD}"/>
                </a:ext>
              </a:extLst>
            </p:cNvPr>
            <p:cNvSpPr/>
            <p:nvPr/>
          </p:nvSpPr>
          <p:spPr>
            <a:xfrm>
              <a:off x="7010400" y="4724400"/>
              <a:ext cx="228600" cy="228600"/>
            </a:xfrm>
            <a:prstGeom prst="rect">
              <a:avLst/>
            </a:prstGeom>
            <a:solidFill>
              <a:srgbClr val="006C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2FA25381-899D-0818-BAC6-D46D9D3FE861}"/>
                </a:ext>
              </a:extLst>
            </p:cNvPr>
            <p:cNvSpPr/>
            <p:nvPr/>
          </p:nvSpPr>
          <p:spPr>
            <a:xfrm>
              <a:off x="6781800" y="4953000"/>
              <a:ext cx="228600" cy="228600"/>
            </a:xfrm>
            <a:prstGeom prst="rect">
              <a:avLst/>
            </a:prstGeom>
            <a:solidFill>
              <a:srgbClr val="006C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24632D1-687A-608D-6D6D-27F91EF121EF}"/>
              </a:ext>
            </a:extLst>
          </p:cNvPr>
          <p:cNvGrpSpPr/>
          <p:nvPr/>
        </p:nvGrpSpPr>
        <p:grpSpPr>
          <a:xfrm>
            <a:off x="7010400" y="3581400"/>
            <a:ext cx="1676400" cy="1600200"/>
            <a:chOff x="7010400" y="3581400"/>
            <a:chExt cx="1676400" cy="1600200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EAEB1099-F13A-2849-8D96-32ECF6E9F8E5}"/>
                </a:ext>
              </a:extLst>
            </p:cNvPr>
            <p:cNvSpPr/>
            <p:nvPr/>
          </p:nvSpPr>
          <p:spPr>
            <a:xfrm>
              <a:off x="7696200" y="4267200"/>
              <a:ext cx="228600" cy="2286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3B7C735C-FD50-7FD9-1322-FEF18CE09A11}"/>
                </a:ext>
              </a:extLst>
            </p:cNvPr>
            <p:cNvSpPr/>
            <p:nvPr/>
          </p:nvSpPr>
          <p:spPr>
            <a:xfrm>
              <a:off x="7924800" y="4038600"/>
              <a:ext cx="228600" cy="2286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B418C4DF-ECD7-86C2-6D95-393C769BE4A5}"/>
                </a:ext>
              </a:extLst>
            </p:cNvPr>
            <p:cNvSpPr/>
            <p:nvPr/>
          </p:nvSpPr>
          <p:spPr>
            <a:xfrm>
              <a:off x="8153400" y="3810000"/>
              <a:ext cx="228600" cy="2286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BE8AD6F2-BB2F-3BA4-E631-3F22707A84AE}"/>
                </a:ext>
              </a:extLst>
            </p:cNvPr>
            <p:cNvSpPr/>
            <p:nvPr/>
          </p:nvSpPr>
          <p:spPr>
            <a:xfrm>
              <a:off x="8382000" y="3581400"/>
              <a:ext cx="304800" cy="2286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C5B958FA-4E6C-571A-05D3-82EDCBF44E7A}"/>
                </a:ext>
              </a:extLst>
            </p:cNvPr>
            <p:cNvSpPr/>
            <p:nvPr/>
          </p:nvSpPr>
          <p:spPr>
            <a:xfrm>
              <a:off x="7467600" y="4495800"/>
              <a:ext cx="228600" cy="2286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059A772-6267-4E9C-DFDE-393D31C763EA}"/>
                </a:ext>
              </a:extLst>
            </p:cNvPr>
            <p:cNvSpPr/>
            <p:nvPr/>
          </p:nvSpPr>
          <p:spPr>
            <a:xfrm>
              <a:off x="7239000" y="4724400"/>
              <a:ext cx="228600" cy="2286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1D6214F7-3DB4-88DE-0C35-EF7A8E1477B3}"/>
                </a:ext>
              </a:extLst>
            </p:cNvPr>
            <p:cNvSpPr/>
            <p:nvPr/>
          </p:nvSpPr>
          <p:spPr>
            <a:xfrm>
              <a:off x="7010400" y="4953000"/>
              <a:ext cx="228600" cy="2286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Down Arrow 8">
            <a:extLst>
              <a:ext uri="{FF2B5EF4-FFF2-40B4-BE49-F238E27FC236}">
                <a16:creationId xmlns:a16="http://schemas.microsoft.com/office/drawing/2014/main" id="{B47494B2-F6EE-4BB3-4346-0C8000D103A7}"/>
              </a:ext>
            </a:extLst>
          </p:cNvPr>
          <p:cNvSpPr/>
          <p:nvPr/>
        </p:nvSpPr>
        <p:spPr>
          <a:xfrm rot="18866829">
            <a:off x="7141933" y="3565800"/>
            <a:ext cx="697414" cy="5322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3EECF2-C6F7-C314-1A9E-FEF40BD43DE5}"/>
              </a:ext>
            </a:extLst>
          </p:cNvPr>
          <p:cNvCxnSpPr>
            <a:stCxn id="73" idx="3"/>
            <a:endCxn id="71" idx="1"/>
          </p:cNvCxnSpPr>
          <p:nvPr/>
        </p:nvCxnSpPr>
        <p:spPr>
          <a:xfrm flipV="1">
            <a:off x="5257800" y="4381500"/>
            <a:ext cx="2438400" cy="583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6B1E805-B3E1-37AD-B01D-6B1245F5BA4F}"/>
              </a:ext>
            </a:extLst>
          </p:cNvPr>
          <p:cNvGrpSpPr/>
          <p:nvPr/>
        </p:nvGrpSpPr>
        <p:grpSpPr>
          <a:xfrm>
            <a:off x="5524755" y="4800600"/>
            <a:ext cx="1409445" cy="369332"/>
            <a:chOff x="5029200" y="5715000"/>
            <a:chExt cx="1409445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03643DD-9ABB-24F6-A9FD-20F2C6B9389C}"/>
                </a:ext>
              </a:extLst>
            </p:cNvPr>
            <p:cNvCxnSpPr/>
            <p:nvPr/>
          </p:nvCxnSpPr>
          <p:spPr>
            <a:xfrm>
              <a:off x="5029200" y="5981700"/>
              <a:ext cx="140944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85FBB47-7F62-494A-4F76-9B1DD93F3058}"/>
                    </a:ext>
                  </a:extLst>
                </p:cNvPr>
                <p:cNvSpPr txBox="1"/>
                <p:nvPr/>
              </p:nvSpPr>
              <p:spPr>
                <a:xfrm>
                  <a:off x="5562600" y="5715000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70C0"/>
                            </a:solidFill>
                            <a:latin typeface="Cambria Math"/>
                          </a:rPr>
                          <m:t>Δ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2600" y="5715000"/>
                  <a:ext cx="375423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8333" r="-2131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4C50CC0-8C87-A9E1-5FF8-851225E20B05}"/>
              </a:ext>
            </a:extLst>
          </p:cNvPr>
          <p:cNvGrpSpPr/>
          <p:nvPr/>
        </p:nvGrpSpPr>
        <p:grpSpPr>
          <a:xfrm>
            <a:off x="5524755" y="4800600"/>
            <a:ext cx="1409445" cy="369332"/>
            <a:chOff x="5029200" y="5715000"/>
            <a:chExt cx="1409445" cy="3693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7AE1DE8-856D-BB88-6BAD-6E195AC5B958}"/>
                </a:ext>
              </a:extLst>
            </p:cNvPr>
            <p:cNvCxnSpPr/>
            <p:nvPr/>
          </p:nvCxnSpPr>
          <p:spPr>
            <a:xfrm>
              <a:off x="5029200" y="5981700"/>
              <a:ext cx="140944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EEB5687-8D09-5A8B-77B8-1B7189A836BB}"/>
                    </a:ext>
                  </a:extLst>
                </p:cNvPr>
                <p:cNvSpPr txBox="1"/>
                <p:nvPr/>
              </p:nvSpPr>
              <p:spPr>
                <a:xfrm>
                  <a:off x="5562600" y="5715000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70C0"/>
                            </a:solidFill>
                            <a:latin typeface="Cambria Math"/>
                          </a:rPr>
                          <m:t>Δ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2600" y="5715000"/>
                  <a:ext cx="375423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8333" r="-2131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244047A-1EE5-F53D-9A58-2C0D9BD071EA}"/>
              </a:ext>
            </a:extLst>
          </p:cNvPr>
          <p:cNvSpPr txBox="1"/>
          <p:nvPr/>
        </p:nvSpPr>
        <p:spPr>
          <a:xfrm>
            <a:off x="318528" y="5877580"/>
            <a:ext cx="85069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6C31"/>
                </a:solidFill>
              </a:rPr>
              <a:t>Homework</a:t>
            </a:r>
            <a:r>
              <a:rPr lang="en-US" dirty="0"/>
              <a:t>: </a:t>
            </a:r>
          </a:p>
          <a:p>
            <a:r>
              <a:rPr lang="en-US" dirty="0"/>
              <a:t>Write a neat and efficient iterative algorithm. The solution is given on the following slide.</a:t>
            </a:r>
          </a:p>
          <a:p>
            <a:r>
              <a:rPr lang="en-US" dirty="0"/>
              <a:t>Watch it only after making sincere attempts on your own. 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261C36-7EAA-C38F-2BD5-8B707C83B9E5}"/>
              </a:ext>
            </a:extLst>
          </p:cNvPr>
          <p:cNvSpPr/>
          <p:nvPr/>
        </p:nvSpPr>
        <p:spPr>
          <a:xfrm>
            <a:off x="7695945" y="4270177"/>
            <a:ext cx="228600" cy="2286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115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4" presetClass="exit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3" grpId="0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905C7-74CF-3AE6-BD11-6C94CE3D4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FFD2E49-F1BD-6328-6DF9-9080C967C75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Iterative algorithm </a:t>
                </a:r>
                <a:r>
                  <a:rPr lang="en-US" sz="3200" b="1" dirty="0"/>
                  <a:t>for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</m:oMath>
                </a14:m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3200" dirty="0"/>
                  <a:t>,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3200" dirty="0"/>
                  <a:t>)</a:t>
                </a:r>
                <a:br>
                  <a:rPr lang="en-US" sz="3200" dirty="0"/>
                </a:br>
                <a:endParaRPr lang="en-US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025588-B86C-8853-74B9-E7CE755DDAC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199" y="1066800"/>
                <a:ext cx="4606895" cy="56388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0" dirty="0">
                    <a:solidFill>
                      <a:srgbClr val="C00000"/>
                    </a:solidFill>
                  </a:rPr>
                  <a:t>Iterative-opt-</a:t>
                </a:r>
                <a:r>
                  <a:rPr lang="en-US" sz="2000" b="0" dirty="0" err="1">
                    <a:solidFill>
                      <a:srgbClr val="C00000"/>
                    </a:solidFill>
                  </a:rPr>
                  <a:t>traingulation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){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for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)  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2000" dirty="0"/>
                  <a:t>] 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  <a:r>
                  <a:rPr lang="en-US" sz="2000" b="1" dirty="0"/>
                  <a:t>for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Δ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) { 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for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/>
                  <a:t> to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r>
                  <a:rPr lang="en-US" sz="2000" dirty="0"/>
                  <a:t>  ) {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     </a:t>
                </a:r>
                <a:r>
                  <a:rPr lang="en-US" sz="2000" dirty="0">
                    <a:solidFill>
                      <a:srgbClr val="C00000"/>
                    </a:solidFill>
                    <a:sym typeface="Wingdings" pitchFamily="2" charset="2"/>
                  </a:rPr>
                  <a:t>?</a:t>
                </a:r>
                <a:r>
                  <a:rPr lang="en-US" sz="2000" dirty="0">
                    <a:sym typeface="Wingdings" pitchFamily="2" charset="2"/>
                  </a:rPr>
                  <a:t>       </a:t>
                </a:r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] 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∞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</a:t>
                </a:r>
                <a:r>
                  <a:rPr lang="en-US" sz="2000" b="1" dirty="0"/>
                  <a:t>for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 )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𝑡𝑒𝑚𝑝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sz="2000" dirty="0"/>
                  <a:t>] +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] +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B050"/>
                        </a:solidFill>
                        <a:latin typeface="Cambria Math"/>
                      </a:rPr>
                      <m:t>𝝎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>
                        <a:latin typeface="Cambria Math"/>
                      </a:rPr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sz="2000" i="1">
                        <a:latin typeface="Cambria Math"/>
                      </a:rPr>
                      <m:t>,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); 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            </a:t>
                </a:r>
                <a:r>
                  <a:rPr lang="en-US" sz="2000" b="1" dirty="0"/>
                  <a:t>If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] &gt;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𝑡𝑒𝑚𝑝</m:t>
                    </m:r>
                  </m:oMath>
                </a14:m>
                <a:r>
                  <a:rPr lang="en-US" sz="2000" dirty="0"/>
                  <a:t>)</a:t>
                </a: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]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𝑡𝑒𝑚𝑝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}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}</a:t>
                </a:r>
              </a:p>
              <a:p>
                <a:pPr marL="0" indent="0">
                  <a:buNone/>
                </a:pPr>
                <a:r>
                  <a:rPr lang="en-US" sz="2000" dirty="0"/>
                  <a:t> }</a:t>
                </a:r>
              </a:p>
              <a:p>
                <a:pPr marL="0" indent="0">
                  <a:buNone/>
                </a:pPr>
                <a:r>
                  <a:rPr lang="en-US" sz="2000" dirty="0"/>
                  <a:t> return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];</a:t>
                </a:r>
              </a:p>
              <a:p>
                <a:pPr marL="0" indent="0">
                  <a:buNone/>
                </a:pPr>
                <a:r>
                  <a:rPr lang="en-US" sz="2000" dirty="0"/>
                  <a:t>}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199" y="1066800"/>
                <a:ext cx="4606895" cy="5638800"/>
              </a:xfrm>
              <a:blipFill rotWithShape="1">
                <a:blip r:embed="rId3"/>
                <a:stretch>
                  <a:fillRect l="-1323" t="-541" r="-1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7962945-A323-4E91-7FA8-4ACF0D3111A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48200" y="1447800"/>
                <a:ext cx="4495800" cy="502920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b="1" dirty="0"/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b="1" dirty="0"/>
                  <a:t>] =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48200" y="1447800"/>
                <a:ext cx="4495800" cy="5029200"/>
              </a:xfrm>
              <a:blipFill rotWithShape="1">
                <a:blip r:embed="rId4"/>
                <a:stretch>
                  <a:fillRect t="-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A1001C3-3A45-ED14-1454-CD6D90DE027B}"/>
                  </a:ext>
                </a:extLst>
              </p:cNvPr>
              <p:cNvSpPr txBox="1"/>
              <p:nvPr/>
            </p:nvSpPr>
            <p:spPr>
              <a:xfrm>
                <a:off x="5359901" y="5269468"/>
                <a:ext cx="33738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70C0"/>
                    </a:solidFill>
                  </a:rPr>
                  <a:t>1   2          ...       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9901" y="5269468"/>
                <a:ext cx="3373809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444" t="-8197" r="-216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3F3BACB-6E15-9F02-3B94-D1AC19C022F4}"/>
                  </a:ext>
                </a:extLst>
              </p:cNvPr>
              <p:cNvSpPr txBox="1"/>
              <p:nvPr/>
            </p:nvSpPr>
            <p:spPr>
              <a:xfrm>
                <a:off x="6629400" y="56388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5638800"/>
                <a:ext cx="380489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EB70629D-AD85-43E5-7CC9-B9CD5CE01590}"/>
              </a:ext>
            </a:extLst>
          </p:cNvPr>
          <p:cNvGrpSpPr/>
          <p:nvPr/>
        </p:nvGrpSpPr>
        <p:grpSpPr>
          <a:xfrm>
            <a:off x="4876800" y="1828800"/>
            <a:ext cx="456420" cy="3352800"/>
            <a:chOff x="4876800" y="1828800"/>
            <a:chExt cx="456420" cy="3352800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125795B-CEB3-0634-DF3E-0522A1C58BC7}"/>
                </a:ext>
              </a:extLst>
            </p:cNvPr>
            <p:cNvSpPr txBox="1"/>
            <p:nvPr/>
          </p:nvSpPr>
          <p:spPr>
            <a:xfrm>
              <a:off x="4953000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1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6C68A50-F095-1DCB-774C-B271F74A930E}"/>
                </a:ext>
              </a:extLst>
            </p:cNvPr>
            <p:cNvSpPr txBox="1"/>
            <p:nvPr/>
          </p:nvSpPr>
          <p:spPr>
            <a:xfrm>
              <a:off x="4956114" y="46598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2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9A12B63A-B60D-EBE0-2C49-6021D4D7BB6A}"/>
                    </a:ext>
                  </a:extLst>
                </p:cNvPr>
                <p:cNvSpPr txBox="1"/>
                <p:nvPr/>
              </p:nvSpPr>
              <p:spPr>
                <a:xfrm>
                  <a:off x="4876800" y="1828800"/>
                  <a:ext cx="3745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800" y="1828800"/>
                  <a:ext cx="374590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967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47528E0-11D1-8A46-FA01-F676813EFB46}"/>
                </a:ext>
              </a:extLst>
            </p:cNvPr>
            <p:cNvSpPr txBox="1"/>
            <p:nvPr/>
          </p:nvSpPr>
          <p:spPr>
            <a:xfrm rot="5173825">
              <a:off x="4976872" y="4432482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9F5EFEC4-F152-0066-5537-9635A5E79E0A}"/>
                  </a:ext>
                </a:extLst>
              </p:cNvPr>
              <p:cNvSpPr txBox="1"/>
              <p:nvPr/>
            </p:nvSpPr>
            <p:spPr>
              <a:xfrm>
                <a:off x="7620000" y="5269468"/>
                <a:ext cx="3248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0" y="5269468"/>
                <a:ext cx="324897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2264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9D65408-016C-15D2-AD86-5E0E87FF0183}"/>
                  </a:ext>
                </a:extLst>
              </p:cNvPr>
              <p:cNvSpPr txBox="1"/>
              <p:nvPr/>
            </p:nvSpPr>
            <p:spPr>
              <a:xfrm>
                <a:off x="4939188" y="4202668"/>
                <a:ext cx="318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188" y="4202668"/>
                <a:ext cx="318612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197" r="-2264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773E8E11-976C-05F1-609F-0B3C2E26594E}"/>
              </a:ext>
            </a:extLst>
          </p:cNvPr>
          <p:cNvGrpSpPr/>
          <p:nvPr/>
        </p:nvGrpSpPr>
        <p:grpSpPr>
          <a:xfrm>
            <a:off x="5410200" y="1964473"/>
            <a:ext cx="3276600" cy="3217127"/>
            <a:chOff x="5410200" y="1964473"/>
            <a:chExt cx="3276600" cy="321712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716ABA4-8EE4-D383-1107-316FF4CB73CA}"/>
                </a:ext>
              </a:extLst>
            </p:cNvPr>
            <p:cNvGrpSpPr/>
            <p:nvPr/>
          </p:nvGrpSpPr>
          <p:grpSpPr>
            <a:xfrm>
              <a:off x="5410200" y="1964473"/>
              <a:ext cx="3276600" cy="3217127"/>
              <a:chOff x="5257800" y="2057400"/>
              <a:chExt cx="3276600" cy="3217127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757CE4FF-0725-E1FB-B6BB-1A5245CC8381}"/>
                  </a:ext>
                </a:extLst>
              </p:cNvPr>
              <p:cNvGrpSpPr/>
              <p:nvPr/>
            </p:nvGrpSpPr>
            <p:grpSpPr>
              <a:xfrm>
                <a:off x="5257800" y="2057400"/>
                <a:ext cx="3276600" cy="3217127"/>
                <a:chOff x="5257800" y="2057400"/>
                <a:chExt cx="3276600" cy="3217127"/>
              </a:xfrm>
            </p:grpSpPr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03FA68D4-DC3C-B56D-DE06-CE1C18554697}"/>
                    </a:ext>
                  </a:extLst>
                </p:cNvPr>
                <p:cNvGrpSpPr/>
                <p:nvPr/>
              </p:nvGrpSpPr>
              <p:grpSpPr>
                <a:xfrm>
                  <a:off x="5257800" y="2057400"/>
                  <a:ext cx="3276600" cy="3217127"/>
                  <a:chOff x="5257800" y="2057400"/>
                  <a:chExt cx="3276600" cy="3217127"/>
                </a:xfrm>
              </p:grpSpPr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AEABB202-6EC3-3281-C717-15A1A5DC0466}"/>
                      </a:ext>
                    </a:extLst>
                  </p:cNvPr>
                  <p:cNvSpPr/>
                  <p:nvPr/>
                </p:nvSpPr>
                <p:spPr>
                  <a:xfrm>
                    <a:off x="5257800" y="2057400"/>
                    <a:ext cx="3276600" cy="3200400"/>
                  </a:xfrm>
                  <a:prstGeom prst="rect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9" name="Straight Connector 28">
                    <a:extLst>
                      <a:ext uri="{FF2B5EF4-FFF2-40B4-BE49-F238E27FC236}">
                        <a16:creationId xmlns:a16="http://schemas.microsoft.com/office/drawing/2014/main" id="{BE1FA61E-40BF-7C93-ED42-2C2A246D4CEB}"/>
                      </a:ext>
                    </a:extLst>
                  </p:cNvPr>
                  <p:cNvCxnSpPr/>
                  <p:nvPr/>
                </p:nvCxnSpPr>
                <p:spPr>
                  <a:xfrm>
                    <a:off x="5715000" y="2057400"/>
                    <a:ext cx="0" cy="32004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3E10EE8B-DE0F-640C-CF04-7EE6593E3040}"/>
                      </a:ext>
                    </a:extLst>
                  </p:cNvPr>
                  <p:cNvCxnSpPr/>
                  <p:nvPr/>
                </p:nvCxnSpPr>
                <p:spPr>
                  <a:xfrm>
                    <a:off x="6172200" y="2057400"/>
                    <a:ext cx="0" cy="32004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40C00FCC-271B-42E9-3B84-8C0D85D013E0}"/>
                      </a:ext>
                    </a:extLst>
                  </p:cNvPr>
                  <p:cNvCxnSpPr/>
                  <p:nvPr/>
                </p:nvCxnSpPr>
                <p:spPr>
                  <a:xfrm>
                    <a:off x="6629400" y="2057400"/>
                    <a:ext cx="0" cy="32004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3E58B0D3-AEB2-3B8D-F760-71A94B827031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7081024" y="2057400"/>
                    <a:ext cx="5576" cy="321712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7AC7CCBA-686B-7B0C-326E-B05058AF5D0C}"/>
                      </a:ext>
                    </a:extLst>
                  </p:cNvPr>
                  <p:cNvCxnSpPr/>
                  <p:nvPr/>
                </p:nvCxnSpPr>
                <p:spPr>
                  <a:xfrm>
                    <a:off x="7543800" y="2057400"/>
                    <a:ext cx="0" cy="3217127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E6845FDA-1A52-9FC4-7FE1-B1A37FD4A198}"/>
                      </a:ext>
                    </a:extLst>
                  </p:cNvPr>
                  <p:cNvCxnSpPr/>
                  <p:nvPr/>
                </p:nvCxnSpPr>
                <p:spPr>
                  <a:xfrm>
                    <a:off x="8001000" y="2057400"/>
                    <a:ext cx="0" cy="320040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Straight Connector 43">
                    <a:extLst>
                      <a:ext uri="{FF2B5EF4-FFF2-40B4-BE49-F238E27FC236}">
                        <a16:creationId xmlns:a16="http://schemas.microsoft.com/office/drawing/2014/main" id="{560A0C28-1128-4836-0782-62AA1AE20D08}"/>
                      </a:ext>
                    </a:extLst>
                  </p:cNvPr>
                  <p:cNvCxnSpPr/>
                  <p:nvPr/>
                </p:nvCxnSpPr>
                <p:spPr>
                  <a:xfrm>
                    <a:off x="5257800" y="2514600"/>
                    <a:ext cx="32766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Connector 45">
                    <a:extLst>
                      <a:ext uri="{FF2B5EF4-FFF2-40B4-BE49-F238E27FC236}">
                        <a16:creationId xmlns:a16="http://schemas.microsoft.com/office/drawing/2014/main" id="{04CFB8D9-54E0-A92F-4126-C40AE1F21D6D}"/>
                      </a:ext>
                    </a:extLst>
                  </p:cNvPr>
                  <p:cNvCxnSpPr/>
                  <p:nvPr/>
                </p:nvCxnSpPr>
                <p:spPr>
                  <a:xfrm>
                    <a:off x="5257800" y="2971800"/>
                    <a:ext cx="32766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443EFE26-610C-56BA-5DB9-38352544B0B6}"/>
                      </a:ext>
                    </a:extLst>
                  </p:cNvPr>
                  <p:cNvCxnSpPr/>
                  <p:nvPr/>
                </p:nvCxnSpPr>
                <p:spPr>
                  <a:xfrm>
                    <a:off x="5257800" y="3429000"/>
                    <a:ext cx="32766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1419D524-6588-91A7-3602-7C4764F5C0BB}"/>
                      </a:ext>
                    </a:extLst>
                  </p:cNvPr>
                  <p:cNvCxnSpPr/>
                  <p:nvPr/>
                </p:nvCxnSpPr>
                <p:spPr>
                  <a:xfrm>
                    <a:off x="5257800" y="3886200"/>
                    <a:ext cx="32766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4579F993-1ECE-4513-3767-E9C35095D2C3}"/>
                      </a:ext>
                    </a:extLst>
                  </p:cNvPr>
                  <p:cNvCxnSpPr/>
                  <p:nvPr/>
                </p:nvCxnSpPr>
                <p:spPr>
                  <a:xfrm>
                    <a:off x="5257800" y="4343400"/>
                    <a:ext cx="32766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A571A622-7824-7127-37C6-D4DCC17D3932}"/>
                      </a:ext>
                    </a:extLst>
                  </p:cNvPr>
                  <p:cNvCxnSpPr/>
                  <p:nvPr/>
                </p:nvCxnSpPr>
                <p:spPr>
                  <a:xfrm>
                    <a:off x="5257800" y="4800600"/>
                    <a:ext cx="3276600" cy="0"/>
                  </a:xfrm>
                  <a:prstGeom prst="line">
                    <a:avLst/>
                  </a:prstGeom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722DD0B-0887-D01D-A527-D284F7DEE4A5}"/>
                    </a:ext>
                  </a:extLst>
                </p:cNvPr>
                <p:cNvCxnSpPr/>
                <p:nvPr/>
              </p:nvCxnSpPr>
              <p:spPr>
                <a:xfrm>
                  <a:off x="5486400" y="2057400"/>
                  <a:ext cx="0" cy="32004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C843BEA8-8EFE-F559-EA22-28214F86B902}"/>
                    </a:ext>
                  </a:extLst>
                </p:cNvPr>
                <p:cNvCxnSpPr/>
                <p:nvPr/>
              </p:nvCxnSpPr>
              <p:spPr>
                <a:xfrm>
                  <a:off x="5943600" y="2057400"/>
                  <a:ext cx="0" cy="32004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39B0BAA6-098E-D82A-8992-E08CABB07D61}"/>
                    </a:ext>
                  </a:extLst>
                </p:cNvPr>
                <p:cNvCxnSpPr/>
                <p:nvPr/>
              </p:nvCxnSpPr>
              <p:spPr>
                <a:xfrm>
                  <a:off x="6400800" y="2057400"/>
                  <a:ext cx="0" cy="32004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E87DB9D1-B873-B5E7-3617-1E49CEA732E7}"/>
                    </a:ext>
                  </a:extLst>
                </p:cNvPr>
                <p:cNvCxnSpPr/>
                <p:nvPr/>
              </p:nvCxnSpPr>
              <p:spPr>
                <a:xfrm flipH="1">
                  <a:off x="6852424" y="2057400"/>
                  <a:ext cx="5576" cy="321712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4E7A3D93-99AB-E1DD-5E04-8528445E7C7B}"/>
                    </a:ext>
                  </a:extLst>
                </p:cNvPr>
                <p:cNvCxnSpPr/>
                <p:nvPr/>
              </p:nvCxnSpPr>
              <p:spPr>
                <a:xfrm>
                  <a:off x="7315200" y="2057400"/>
                  <a:ext cx="0" cy="321712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049EB4D0-6FC7-A682-1810-0D44D2BFAB68}"/>
                    </a:ext>
                  </a:extLst>
                </p:cNvPr>
                <p:cNvCxnSpPr/>
                <p:nvPr/>
              </p:nvCxnSpPr>
              <p:spPr>
                <a:xfrm>
                  <a:off x="7772400" y="2057400"/>
                  <a:ext cx="0" cy="32004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B459E6C-E152-7A20-657C-3613B9E1A964}"/>
                  </a:ext>
                </a:extLst>
              </p:cNvPr>
              <p:cNvCxnSpPr/>
              <p:nvPr/>
            </p:nvCxnSpPr>
            <p:spPr>
              <a:xfrm>
                <a:off x="5257800" y="2743200"/>
                <a:ext cx="3276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F51A0398-71A0-B558-BD99-C19CC518770C}"/>
                  </a:ext>
                </a:extLst>
              </p:cNvPr>
              <p:cNvCxnSpPr/>
              <p:nvPr/>
            </p:nvCxnSpPr>
            <p:spPr>
              <a:xfrm>
                <a:off x="5257800" y="3200400"/>
                <a:ext cx="3276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6BAD00FB-D8AC-F99E-0151-CCB2F0C46540}"/>
                  </a:ext>
                </a:extLst>
              </p:cNvPr>
              <p:cNvCxnSpPr/>
              <p:nvPr/>
            </p:nvCxnSpPr>
            <p:spPr>
              <a:xfrm>
                <a:off x="5257800" y="3657600"/>
                <a:ext cx="3276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DB3D9460-2054-CA80-B8A2-E683451F4FB1}"/>
                  </a:ext>
                </a:extLst>
              </p:cNvPr>
              <p:cNvCxnSpPr/>
              <p:nvPr/>
            </p:nvCxnSpPr>
            <p:spPr>
              <a:xfrm>
                <a:off x="5257800" y="4114800"/>
                <a:ext cx="3276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221CB9F2-08C1-7C37-FEEF-CB2CFCF98922}"/>
                  </a:ext>
                </a:extLst>
              </p:cNvPr>
              <p:cNvCxnSpPr/>
              <p:nvPr/>
            </p:nvCxnSpPr>
            <p:spPr>
              <a:xfrm>
                <a:off x="5257800" y="4572000"/>
                <a:ext cx="3276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332AFB65-965D-5029-D662-111F5996C4D5}"/>
                  </a:ext>
                </a:extLst>
              </p:cNvPr>
              <p:cNvCxnSpPr/>
              <p:nvPr/>
            </p:nvCxnSpPr>
            <p:spPr>
              <a:xfrm>
                <a:off x="5257800" y="5029200"/>
                <a:ext cx="32766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CADE526-C2F2-D9F5-0C5D-1EBB60B856E2}"/>
                </a:ext>
              </a:extLst>
            </p:cNvPr>
            <p:cNvCxnSpPr/>
            <p:nvPr/>
          </p:nvCxnSpPr>
          <p:spPr>
            <a:xfrm>
              <a:off x="8382000" y="19812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92280D2-C617-AFCA-ED20-FB02C5F6A36B}"/>
                </a:ext>
              </a:extLst>
            </p:cNvPr>
            <p:cNvCxnSpPr/>
            <p:nvPr/>
          </p:nvCxnSpPr>
          <p:spPr>
            <a:xfrm>
              <a:off x="5410200" y="22098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E97E4F6-3FD9-9642-853F-0867551ABDBC}"/>
              </a:ext>
            </a:extLst>
          </p:cNvPr>
          <p:cNvGrpSpPr/>
          <p:nvPr/>
        </p:nvGrpSpPr>
        <p:grpSpPr>
          <a:xfrm>
            <a:off x="5638800" y="2133600"/>
            <a:ext cx="3048000" cy="3048000"/>
            <a:chOff x="5638800" y="2133600"/>
            <a:chExt cx="3048000" cy="30480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2CF47FC-F945-D3C9-6186-C6F623621C54}"/>
                </a:ext>
              </a:extLst>
            </p:cNvPr>
            <p:cNvSpPr txBox="1"/>
            <p:nvPr/>
          </p:nvSpPr>
          <p:spPr>
            <a:xfrm>
              <a:off x="5638800" y="48738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B08FE85-940A-1C86-2094-CE6DA31073BD}"/>
                </a:ext>
              </a:extLst>
            </p:cNvPr>
            <p:cNvSpPr txBox="1"/>
            <p:nvPr/>
          </p:nvSpPr>
          <p:spPr>
            <a:xfrm>
              <a:off x="5867400" y="46482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DA4D5CC-1FCD-D462-341E-B1E9AD291EBA}"/>
                </a:ext>
              </a:extLst>
            </p:cNvPr>
            <p:cNvSpPr txBox="1"/>
            <p:nvPr/>
          </p:nvSpPr>
          <p:spPr>
            <a:xfrm>
              <a:off x="6048562" y="4419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B5D3544D-AD3B-16E2-0118-4C6AFA79E5BE}"/>
                </a:ext>
              </a:extLst>
            </p:cNvPr>
            <p:cNvSpPr txBox="1"/>
            <p:nvPr/>
          </p:nvSpPr>
          <p:spPr>
            <a:xfrm>
              <a:off x="6324600" y="4191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79DB08F-16D4-2232-7DE4-4E274BA18402}"/>
                </a:ext>
              </a:extLst>
            </p:cNvPr>
            <p:cNvSpPr txBox="1"/>
            <p:nvPr/>
          </p:nvSpPr>
          <p:spPr>
            <a:xfrm>
              <a:off x="6553200" y="39624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4EDD404-7BF6-0CFF-2B41-358946D6FDEE}"/>
                </a:ext>
              </a:extLst>
            </p:cNvPr>
            <p:cNvSpPr txBox="1"/>
            <p:nvPr/>
          </p:nvSpPr>
          <p:spPr>
            <a:xfrm>
              <a:off x="6781800" y="37338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B0226C2-184E-B948-3A8C-2B2674C5971B}"/>
                </a:ext>
              </a:extLst>
            </p:cNvPr>
            <p:cNvSpPr txBox="1"/>
            <p:nvPr/>
          </p:nvSpPr>
          <p:spPr>
            <a:xfrm>
              <a:off x="6962962" y="35052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C96A97C0-955F-491D-9845-A534F272E998}"/>
                </a:ext>
              </a:extLst>
            </p:cNvPr>
            <p:cNvSpPr txBox="1"/>
            <p:nvPr/>
          </p:nvSpPr>
          <p:spPr>
            <a:xfrm>
              <a:off x="7239000" y="3276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3C3DF778-5F4F-BF20-A2F9-E2ADD10C9E17}"/>
                </a:ext>
              </a:extLst>
            </p:cNvPr>
            <p:cNvSpPr txBox="1"/>
            <p:nvPr/>
          </p:nvSpPr>
          <p:spPr>
            <a:xfrm>
              <a:off x="7467600" y="3048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9467B26-6634-631E-A187-CFD2AFDE7A3C}"/>
                </a:ext>
              </a:extLst>
            </p:cNvPr>
            <p:cNvSpPr txBox="1"/>
            <p:nvPr/>
          </p:nvSpPr>
          <p:spPr>
            <a:xfrm>
              <a:off x="7648762" y="28194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938079A-16B8-24E8-FBBD-3A176B08AE6B}"/>
                </a:ext>
              </a:extLst>
            </p:cNvPr>
            <p:cNvSpPr txBox="1"/>
            <p:nvPr/>
          </p:nvSpPr>
          <p:spPr>
            <a:xfrm>
              <a:off x="7877362" y="25908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75C2F10-605D-DB15-3B62-B59BD014D333}"/>
                </a:ext>
              </a:extLst>
            </p:cNvPr>
            <p:cNvSpPr txBox="1"/>
            <p:nvPr/>
          </p:nvSpPr>
          <p:spPr>
            <a:xfrm>
              <a:off x="8153400" y="23622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849D7782-1290-5DEC-3F3C-CD071749F4F1}"/>
                </a:ext>
              </a:extLst>
            </p:cNvPr>
            <p:cNvSpPr txBox="1"/>
            <p:nvPr/>
          </p:nvSpPr>
          <p:spPr>
            <a:xfrm>
              <a:off x="8410762" y="2133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</p:grp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7FBAC03-4C03-F460-C160-33F9A7535714}"/>
              </a:ext>
            </a:extLst>
          </p:cNvPr>
          <p:cNvCxnSpPr>
            <a:stCxn id="71" idx="2"/>
          </p:cNvCxnSpPr>
          <p:nvPr/>
        </p:nvCxnSpPr>
        <p:spPr>
          <a:xfrm>
            <a:off x="7810500" y="4495800"/>
            <a:ext cx="0" cy="77366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044F853A-94C6-AFAF-0204-39E126DE0304}"/>
              </a:ext>
            </a:extLst>
          </p:cNvPr>
          <p:cNvSpPr/>
          <p:nvPr/>
        </p:nvSpPr>
        <p:spPr>
          <a:xfrm>
            <a:off x="8382000" y="4953000"/>
            <a:ext cx="304800" cy="22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26B642-016D-D04D-B44F-A60DB64EABC9}"/>
              </a:ext>
            </a:extLst>
          </p:cNvPr>
          <p:cNvGrpSpPr/>
          <p:nvPr/>
        </p:nvGrpSpPr>
        <p:grpSpPr>
          <a:xfrm>
            <a:off x="6781800" y="3352800"/>
            <a:ext cx="1905000" cy="1828800"/>
            <a:chOff x="6781800" y="3352800"/>
            <a:chExt cx="1905000" cy="182880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2801D83D-2EB0-4324-2290-E05FC115C1BB}"/>
                </a:ext>
              </a:extLst>
            </p:cNvPr>
            <p:cNvSpPr/>
            <p:nvPr/>
          </p:nvSpPr>
          <p:spPr>
            <a:xfrm>
              <a:off x="7696200" y="4038600"/>
              <a:ext cx="228600" cy="228600"/>
            </a:xfrm>
            <a:prstGeom prst="rect">
              <a:avLst/>
            </a:prstGeom>
            <a:solidFill>
              <a:srgbClr val="006C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8E225ACB-DD78-C2C6-8749-F47DE25B6FF3}"/>
                </a:ext>
              </a:extLst>
            </p:cNvPr>
            <p:cNvSpPr/>
            <p:nvPr/>
          </p:nvSpPr>
          <p:spPr>
            <a:xfrm>
              <a:off x="7924800" y="3810000"/>
              <a:ext cx="228600" cy="228600"/>
            </a:xfrm>
            <a:prstGeom prst="rect">
              <a:avLst/>
            </a:prstGeom>
            <a:solidFill>
              <a:srgbClr val="006C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3420AD2-5FAF-4A6A-8531-E60763195133}"/>
                </a:ext>
              </a:extLst>
            </p:cNvPr>
            <p:cNvSpPr/>
            <p:nvPr/>
          </p:nvSpPr>
          <p:spPr>
            <a:xfrm>
              <a:off x="8153400" y="3581400"/>
              <a:ext cx="228600" cy="228600"/>
            </a:xfrm>
            <a:prstGeom prst="rect">
              <a:avLst/>
            </a:prstGeom>
            <a:solidFill>
              <a:srgbClr val="006C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41701B5-43E0-4F34-01F7-A603113E4663}"/>
                </a:ext>
              </a:extLst>
            </p:cNvPr>
            <p:cNvSpPr/>
            <p:nvPr/>
          </p:nvSpPr>
          <p:spPr>
            <a:xfrm>
              <a:off x="8382000" y="3352800"/>
              <a:ext cx="304800" cy="220236"/>
            </a:xfrm>
            <a:prstGeom prst="rect">
              <a:avLst/>
            </a:prstGeom>
            <a:solidFill>
              <a:srgbClr val="006C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E0B0D663-0613-80AB-0220-1D3F83E2E3FC}"/>
                </a:ext>
              </a:extLst>
            </p:cNvPr>
            <p:cNvSpPr/>
            <p:nvPr/>
          </p:nvSpPr>
          <p:spPr>
            <a:xfrm>
              <a:off x="7467600" y="4267200"/>
              <a:ext cx="228600" cy="228600"/>
            </a:xfrm>
            <a:prstGeom prst="rect">
              <a:avLst/>
            </a:prstGeom>
            <a:solidFill>
              <a:srgbClr val="006C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A5EC1EE-16E6-E8C7-94D3-D8FC117D3F93}"/>
                </a:ext>
              </a:extLst>
            </p:cNvPr>
            <p:cNvSpPr/>
            <p:nvPr/>
          </p:nvSpPr>
          <p:spPr>
            <a:xfrm>
              <a:off x="7239000" y="4495800"/>
              <a:ext cx="228600" cy="228600"/>
            </a:xfrm>
            <a:prstGeom prst="rect">
              <a:avLst/>
            </a:prstGeom>
            <a:solidFill>
              <a:srgbClr val="006C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0271E13-CD67-DC80-F54C-E5E2F7C5324B}"/>
                </a:ext>
              </a:extLst>
            </p:cNvPr>
            <p:cNvSpPr/>
            <p:nvPr/>
          </p:nvSpPr>
          <p:spPr>
            <a:xfrm>
              <a:off x="7010400" y="4724400"/>
              <a:ext cx="228600" cy="228600"/>
            </a:xfrm>
            <a:prstGeom prst="rect">
              <a:avLst/>
            </a:prstGeom>
            <a:solidFill>
              <a:srgbClr val="006C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C87C6137-43F3-B875-AA01-EFFD22B16564}"/>
                </a:ext>
              </a:extLst>
            </p:cNvPr>
            <p:cNvSpPr/>
            <p:nvPr/>
          </p:nvSpPr>
          <p:spPr>
            <a:xfrm>
              <a:off x="6781800" y="4953000"/>
              <a:ext cx="228600" cy="228600"/>
            </a:xfrm>
            <a:prstGeom prst="rect">
              <a:avLst/>
            </a:prstGeom>
            <a:solidFill>
              <a:srgbClr val="006C3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F96E97-B5C0-0961-2EFE-F4D6F958832D}"/>
              </a:ext>
            </a:extLst>
          </p:cNvPr>
          <p:cNvGrpSpPr/>
          <p:nvPr/>
        </p:nvGrpSpPr>
        <p:grpSpPr>
          <a:xfrm>
            <a:off x="7010400" y="3581400"/>
            <a:ext cx="1676400" cy="1600200"/>
            <a:chOff x="7010400" y="3581400"/>
            <a:chExt cx="1676400" cy="1600200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BB5B2F2-7BCE-6CB5-F7CA-37A0819E3FFB}"/>
                </a:ext>
              </a:extLst>
            </p:cNvPr>
            <p:cNvSpPr/>
            <p:nvPr/>
          </p:nvSpPr>
          <p:spPr>
            <a:xfrm>
              <a:off x="7696200" y="4267200"/>
              <a:ext cx="228600" cy="2286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69F250BB-B669-8868-F97D-5843DCF1C012}"/>
                </a:ext>
              </a:extLst>
            </p:cNvPr>
            <p:cNvSpPr/>
            <p:nvPr/>
          </p:nvSpPr>
          <p:spPr>
            <a:xfrm>
              <a:off x="7924800" y="4038600"/>
              <a:ext cx="228600" cy="2286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76C54C9-CB06-5204-776D-CF66E36E644B}"/>
                </a:ext>
              </a:extLst>
            </p:cNvPr>
            <p:cNvSpPr/>
            <p:nvPr/>
          </p:nvSpPr>
          <p:spPr>
            <a:xfrm>
              <a:off x="8153400" y="3810000"/>
              <a:ext cx="228600" cy="2286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EFE37D39-5F4F-22F1-0629-AA5EE2F722CE}"/>
                </a:ext>
              </a:extLst>
            </p:cNvPr>
            <p:cNvSpPr/>
            <p:nvPr/>
          </p:nvSpPr>
          <p:spPr>
            <a:xfrm>
              <a:off x="8382000" y="3581400"/>
              <a:ext cx="304800" cy="2286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69C8836-1CE2-0575-F5BB-16284C35D9E0}"/>
                </a:ext>
              </a:extLst>
            </p:cNvPr>
            <p:cNvSpPr/>
            <p:nvPr/>
          </p:nvSpPr>
          <p:spPr>
            <a:xfrm>
              <a:off x="7467600" y="4495800"/>
              <a:ext cx="228600" cy="2286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64528E8-A71D-1145-C263-AFDF7B32056B}"/>
                </a:ext>
              </a:extLst>
            </p:cNvPr>
            <p:cNvSpPr/>
            <p:nvPr/>
          </p:nvSpPr>
          <p:spPr>
            <a:xfrm>
              <a:off x="7239000" y="4724400"/>
              <a:ext cx="228600" cy="2286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CE33A043-8783-2111-5A57-3C3A57CD1E91}"/>
                </a:ext>
              </a:extLst>
            </p:cNvPr>
            <p:cNvSpPr/>
            <p:nvPr/>
          </p:nvSpPr>
          <p:spPr>
            <a:xfrm>
              <a:off x="7010400" y="4953000"/>
              <a:ext cx="228600" cy="2286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Down Arrow 8">
            <a:extLst>
              <a:ext uri="{FF2B5EF4-FFF2-40B4-BE49-F238E27FC236}">
                <a16:creationId xmlns:a16="http://schemas.microsoft.com/office/drawing/2014/main" id="{BBBE5DD5-9C34-051B-4A2C-08AB55C9E52E}"/>
              </a:ext>
            </a:extLst>
          </p:cNvPr>
          <p:cNvSpPr/>
          <p:nvPr/>
        </p:nvSpPr>
        <p:spPr>
          <a:xfrm rot="18866829">
            <a:off x="7141933" y="3565800"/>
            <a:ext cx="697414" cy="53222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317145-D628-AC04-1A93-74B5C77893D0}"/>
              </a:ext>
            </a:extLst>
          </p:cNvPr>
          <p:cNvCxnSpPr>
            <a:stCxn id="73" idx="3"/>
            <a:endCxn id="71" idx="1"/>
          </p:cNvCxnSpPr>
          <p:nvPr/>
        </p:nvCxnSpPr>
        <p:spPr>
          <a:xfrm flipV="1">
            <a:off x="5257800" y="4381500"/>
            <a:ext cx="2438400" cy="583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E9DBEA8-2C02-2100-2484-DCA3316E3F82}"/>
              </a:ext>
            </a:extLst>
          </p:cNvPr>
          <p:cNvGrpSpPr/>
          <p:nvPr/>
        </p:nvGrpSpPr>
        <p:grpSpPr>
          <a:xfrm>
            <a:off x="5524755" y="4800600"/>
            <a:ext cx="1409445" cy="369332"/>
            <a:chOff x="5029200" y="5715000"/>
            <a:chExt cx="1409445" cy="369332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C962F55-F2A3-2883-90BE-29F8BF11757A}"/>
                </a:ext>
              </a:extLst>
            </p:cNvPr>
            <p:cNvCxnSpPr/>
            <p:nvPr/>
          </p:nvCxnSpPr>
          <p:spPr>
            <a:xfrm>
              <a:off x="5029200" y="5981700"/>
              <a:ext cx="140944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D0EAC28-85A5-5BD6-F29C-2772D1E43BD0}"/>
                    </a:ext>
                  </a:extLst>
                </p:cNvPr>
                <p:cNvSpPr txBox="1"/>
                <p:nvPr/>
              </p:nvSpPr>
              <p:spPr>
                <a:xfrm>
                  <a:off x="5562600" y="5715000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70C0"/>
                            </a:solidFill>
                            <a:latin typeface="Cambria Math"/>
                          </a:rPr>
                          <m:t>Δ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2600" y="5715000"/>
                  <a:ext cx="375423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8333" r="-2131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03A981F-B303-6EE0-CBFA-BDC4148C251C}"/>
              </a:ext>
            </a:extLst>
          </p:cNvPr>
          <p:cNvSpPr txBox="1"/>
          <p:nvPr/>
        </p:nvSpPr>
        <p:spPr>
          <a:xfrm>
            <a:off x="886198" y="3593068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{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2991DDC-FF5F-7A59-D57E-01417F46DC38}"/>
                  </a:ext>
                </a:extLst>
              </p:cNvPr>
              <p:cNvSpPr txBox="1"/>
              <p:nvPr/>
            </p:nvSpPr>
            <p:spPr>
              <a:xfrm>
                <a:off x="2236879" y="2209800"/>
                <a:ext cx="788164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70C0"/>
                          </a:solidFill>
                          <a:latin typeface="Cambria Math"/>
                        </a:rPr>
                        <m:t>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879" y="2209800"/>
                <a:ext cx="788164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333" r="-930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24396E-F988-210F-086E-DE4C772DE1D0}"/>
                  </a:ext>
                </a:extLst>
              </p:cNvPr>
              <p:cNvSpPr txBox="1"/>
              <p:nvPr/>
            </p:nvSpPr>
            <p:spPr>
              <a:xfrm>
                <a:off x="1524000" y="2526268"/>
                <a:ext cx="73218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𝑖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0070C0"/>
                          </a:solidFill>
                          <a:latin typeface="Cambria Math"/>
                        </a:rPr>
                        <m:t>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526268"/>
                <a:ext cx="732188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197" r="-100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F17C8F50-8ACF-3909-DCE1-1A0CB938ECBF}"/>
              </a:ext>
            </a:extLst>
          </p:cNvPr>
          <p:cNvSpPr/>
          <p:nvPr/>
        </p:nvSpPr>
        <p:spPr>
          <a:xfrm>
            <a:off x="1828800" y="3276600"/>
            <a:ext cx="647700" cy="3642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935E799-AF6D-76ED-4D95-5BE49E7DCCFD}"/>
              </a:ext>
            </a:extLst>
          </p:cNvPr>
          <p:cNvSpPr/>
          <p:nvPr/>
        </p:nvSpPr>
        <p:spPr>
          <a:xfrm>
            <a:off x="2743200" y="3276600"/>
            <a:ext cx="647700" cy="3642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6819803-3854-D70C-2E04-151C05EF1434}"/>
              </a:ext>
            </a:extLst>
          </p:cNvPr>
          <p:cNvGrpSpPr/>
          <p:nvPr/>
        </p:nvGrpSpPr>
        <p:grpSpPr>
          <a:xfrm>
            <a:off x="7093636" y="3206234"/>
            <a:ext cx="1409445" cy="369332"/>
            <a:chOff x="5029200" y="5715000"/>
            <a:chExt cx="1409445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2F74336-DC57-2265-57AC-D80EF9C98ADA}"/>
                </a:ext>
              </a:extLst>
            </p:cNvPr>
            <p:cNvCxnSpPr/>
            <p:nvPr/>
          </p:nvCxnSpPr>
          <p:spPr>
            <a:xfrm>
              <a:off x="5029200" y="5981700"/>
              <a:ext cx="140944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8B61F92-E486-631B-C7B9-681142DCBF0B}"/>
                    </a:ext>
                  </a:extLst>
                </p:cNvPr>
                <p:cNvSpPr txBox="1"/>
                <p:nvPr/>
              </p:nvSpPr>
              <p:spPr>
                <a:xfrm>
                  <a:off x="5562600" y="5715000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70C0"/>
                            </a:solidFill>
                            <a:latin typeface="Cambria Math"/>
                          </a:rPr>
                          <m:t>Δ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2600" y="5715000"/>
                  <a:ext cx="375423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8333" r="-21311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2EF983A-EE6F-0E33-B36E-D710D11F5242}"/>
              </a:ext>
            </a:extLst>
          </p:cNvPr>
          <p:cNvSpPr/>
          <p:nvPr/>
        </p:nvSpPr>
        <p:spPr>
          <a:xfrm>
            <a:off x="2630960" y="1464527"/>
            <a:ext cx="1823533" cy="3642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6CA280-8E6E-CD5C-BBE3-29DA8317EF1F}"/>
                  </a:ext>
                </a:extLst>
              </p:cNvPr>
              <p:cNvSpPr txBox="1"/>
              <p:nvPr/>
            </p:nvSpPr>
            <p:spPr>
              <a:xfrm>
                <a:off x="1685730" y="3423941"/>
                <a:ext cx="2026965" cy="369332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Polygons of sides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70C0"/>
                        </a:solidFill>
                        <a:latin typeface="Cambria Math"/>
                      </a:rPr>
                      <m:t>Δ</m:t>
                    </m:r>
                  </m:oMath>
                </a14:m>
                <a:r>
                  <a:rPr lang="en-US" dirty="0"/>
                  <a:t> </a:t>
                </a:r>
                <a:endParaRPr lang="en-IN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A6CA280-8E6E-CD5C-BBE3-29DA8317E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5730" y="3423941"/>
                <a:ext cx="2026965" cy="369332"/>
              </a:xfrm>
              <a:prstGeom prst="rect">
                <a:avLst/>
              </a:prstGeom>
              <a:blipFill>
                <a:blip r:embed="rId13"/>
                <a:stretch>
                  <a:fillRect l="-2711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2970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2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2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25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25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25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 animBg="1"/>
      <p:bldP spid="15" grpId="0" animBg="1"/>
      <p:bldP spid="16" grpId="0" animBg="1"/>
      <p:bldP spid="102" grpId="0" animBg="1"/>
      <p:bldP spid="20" grpId="0" animBg="1"/>
      <p:bldP spid="21" grpId="0" animBg="1"/>
      <p:bldP spid="21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5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Iterative algorithm </a:t>
                </a:r>
                <a:r>
                  <a:rPr lang="en-US" sz="3200" b="1" dirty="0"/>
                  <a:t>for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C00000"/>
                        </a:solidFill>
                        <a:latin typeface="Cambria Math"/>
                      </a:rPr>
                      <m:t>𝜏</m:t>
                    </m:r>
                  </m:oMath>
                </a14:m>
                <a:r>
                  <a:rPr lang="en-US" sz="3200" dirty="0"/>
                  <a:t>(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3200" dirty="0"/>
                  <a:t>,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3200" dirty="0"/>
                  <a:t>)</a:t>
                </a:r>
                <a:br>
                  <a:rPr lang="en-US" sz="3200" dirty="0"/>
                </a:br>
                <a:endParaRPr lang="en-US" sz="3200" dirty="0"/>
              </a:p>
            </p:txBody>
          </p:sp>
        </mc:Choice>
        <mc:Fallback xmlns="">
          <p:sp>
            <p:nvSpPr>
              <p:cNvPr id="6" name="Title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Theorem:</a:t>
                </a: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Given a convex polygon 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points and a weight function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B050"/>
                        </a:solidFill>
                        <a:latin typeface="Cambria Math"/>
                      </a:rPr>
                      <m:t>𝝎</m:t>
                    </m:r>
                  </m:oMath>
                </a14:m>
                <a:r>
                  <a:rPr lang="en-US" sz="2000" dirty="0"/>
                  <a:t>, we can compute its optimal triangulation in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/>
                  <a:t>) time.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Points to Ponder</a:t>
                </a:r>
                <a:r>
                  <a:rPr lang="en-US" sz="2000" dirty="0"/>
                  <a:t>: </a:t>
                </a:r>
              </a:p>
              <a:p>
                <a:r>
                  <a:rPr lang="en-US" sz="2000" dirty="0"/>
                  <a:t>How crucial is convexity ?</a:t>
                </a:r>
              </a:p>
              <a:p>
                <a:r>
                  <a:rPr lang="en-US" sz="2000" dirty="0"/>
                  <a:t>What if the input is a set of </a:t>
                </a:r>
                <a:r>
                  <a:rPr lang="en-US" sz="2000" u="sng" dirty="0"/>
                  <a:t>points</a:t>
                </a:r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741" t="-674" r="-1259" b="-6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pSp>
        <p:nvGrpSpPr>
          <p:cNvPr id="42" name="Group 41"/>
          <p:cNvGrpSpPr/>
          <p:nvPr/>
        </p:nvGrpSpPr>
        <p:grpSpPr>
          <a:xfrm>
            <a:off x="2438400" y="2743200"/>
            <a:ext cx="3962400" cy="2057400"/>
            <a:chOff x="2438400" y="2590800"/>
            <a:chExt cx="3962400" cy="2057400"/>
          </a:xfrm>
        </p:grpSpPr>
        <p:cxnSp>
          <p:nvCxnSpPr>
            <p:cNvPr id="9" name="Straight Connector 8"/>
            <p:cNvCxnSpPr/>
            <p:nvPr/>
          </p:nvCxnSpPr>
          <p:spPr>
            <a:xfrm flipH="1" flipV="1">
              <a:off x="2439112" y="2590800"/>
              <a:ext cx="457200" cy="13906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4724400" y="4648200"/>
              <a:ext cx="6858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5410200" y="3886200"/>
              <a:ext cx="762000" cy="762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>
              <a:off x="6172200" y="2895600"/>
              <a:ext cx="228600" cy="9906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5676900" y="3259864"/>
              <a:ext cx="114300" cy="70253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4427434" y="3259864"/>
              <a:ext cx="1249466" cy="70253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3886200" y="3259864"/>
              <a:ext cx="541234" cy="72158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2438400" y="2590800"/>
              <a:ext cx="1447800" cy="13716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 flipV="1">
              <a:off x="2895600" y="3962400"/>
              <a:ext cx="838200" cy="3048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3733800" y="4267200"/>
              <a:ext cx="0" cy="381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H="1" flipV="1">
              <a:off x="5410200" y="2819400"/>
              <a:ext cx="381000" cy="44046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H="1" flipV="1">
              <a:off x="5410200" y="2819400"/>
              <a:ext cx="990600" cy="762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V="1">
              <a:off x="3733800" y="4343400"/>
              <a:ext cx="914400" cy="3048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H="1" flipV="1">
              <a:off x="4648200" y="4343400"/>
              <a:ext cx="76200" cy="3048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3" name="Straight Connector 42"/>
          <p:cNvCxnSpPr/>
          <p:nvPr/>
        </p:nvCxnSpPr>
        <p:spPr>
          <a:xfrm>
            <a:off x="4724400" y="4800600"/>
            <a:ext cx="6858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410200" y="2971800"/>
            <a:ext cx="0" cy="1828800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>
            <a:off x="4724400" y="3009900"/>
            <a:ext cx="685800" cy="1790700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2438400" y="2743200"/>
            <a:ext cx="2286000" cy="2057400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2439112" y="2743200"/>
            <a:ext cx="2971088" cy="2057400"/>
          </a:xfrm>
          <a:prstGeom prst="line">
            <a:avLst/>
          </a:prstGeom>
          <a:ln w="3810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Down Ribbon 58"/>
          <p:cNvSpPr/>
          <p:nvPr/>
        </p:nvSpPr>
        <p:spPr>
          <a:xfrm>
            <a:off x="4572000" y="5029200"/>
            <a:ext cx="1600200" cy="4572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Not much.</a:t>
            </a:r>
          </a:p>
        </p:txBody>
      </p:sp>
      <p:sp>
        <p:nvSpPr>
          <p:cNvPr id="60" name="Down Ribbon 59"/>
          <p:cNvSpPr/>
          <p:nvPr/>
        </p:nvSpPr>
        <p:spPr>
          <a:xfrm>
            <a:off x="4876800" y="5562600"/>
            <a:ext cx="4267200" cy="45720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No polynomial time algorithm till date </a:t>
            </a:r>
            <a:r>
              <a:rPr lang="en-US" sz="1400" dirty="0">
                <a:solidFill>
                  <a:schemeClr val="tx1"/>
                </a:solidFill>
                <a:sym typeface="Wingdings" pitchFamily="2" charset="2"/>
              </a:rPr>
              <a:t>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615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59" grpId="0" animBg="1"/>
      <p:bldP spid="6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828800"/>
            <a:ext cx="7772400" cy="1362075"/>
          </a:xfrm>
        </p:spPr>
        <p:txBody>
          <a:bodyPr/>
          <a:lstStyle/>
          <a:p>
            <a:pPr algn="ctr"/>
            <a:r>
              <a:rPr lang="en-US" sz="3200" dirty="0" err="1">
                <a:solidFill>
                  <a:srgbClr val="7030A0"/>
                </a:solidFill>
              </a:rPr>
              <a:t>Bitonic</a:t>
            </a:r>
            <a:r>
              <a:rPr lang="en-US" sz="3200" dirty="0">
                <a:solidFill>
                  <a:srgbClr val="7030A0"/>
                </a:solidFill>
              </a:rPr>
              <a:t> tour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73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rgbClr val="7030A0"/>
                </a:solidFill>
              </a:rPr>
              <a:t>Bitonic</a:t>
            </a:r>
            <a:r>
              <a:rPr lang="en-US" sz="3600" b="1" dirty="0">
                <a:solidFill>
                  <a:srgbClr val="7030A0"/>
                </a:solidFill>
              </a:rPr>
              <a:t> tour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5638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There are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points in a plane.</a:t>
                </a:r>
                <a:endParaRPr lang="en-US" sz="2000" b="1" i="1" dirty="0">
                  <a:solidFill>
                    <a:srgbClr val="7030A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: distance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2000" dirty="0"/>
                  <a:t>: Given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points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&gt; in increasing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-coordinates, </a:t>
                </a:r>
              </a:p>
              <a:p>
                <a:pPr marL="0" indent="0">
                  <a:buNone/>
                </a:pPr>
                <a:r>
                  <a:rPr lang="en-US" sz="2000" dirty="0"/>
                  <a:t>We need to travel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u="sng" dirty="0"/>
                  <a:t>twice</a:t>
                </a:r>
                <a:r>
                  <a:rPr lang="en-US" sz="2000" dirty="0"/>
                  <a:t>, each time from </a:t>
                </a:r>
                <a:r>
                  <a:rPr lang="en-US" sz="2000" u="sng" dirty="0"/>
                  <a:t>right to left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We need to ensure that each intermediate point is visited </a:t>
                </a:r>
                <a:r>
                  <a:rPr lang="en-US" sz="2000" u="sng" dirty="0"/>
                  <a:t>exactly once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What is the least distance that needs to be traveled ? </a:t>
                </a:r>
              </a:p>
              <a:p>
                <a:pPr marL="0" indent="0">
                  <a:buNone/>
                </a:pPr>
                <a:r>
                  <a:rPr lang="en-US" sz="2000" dirty="0"/>
                  <a:t> 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5638800"/>
              </a:xfrm>
              <a:blipFill>
                <a:blip r:embed="rId2"/>
                <a:stretch>
                  <a:fillRect l="-741" t="-649" b="-3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057400" y="2286000"/>
            <a:ext cx="6159262" cy="2438400"/>
            <a:chOff x="2057400" y="2286000"/>
            <a:chExt cx="6159262" cy="2438400"/>
          </a:xfrm>
        </p:grpSpPr>
        <p:grpSp>
          <p:nvGrpSpPr>
            <p:cNvPr id="10" name="Group 9"/>
            <p:cNvGrpSpPr/>
            <p:nvPr/>
          </p:nvGrpSpPr>
          <p:grpSpPr>
            <a:xfrm>
              <a:off x="2057400" y="3349823"/>
              <a:ext cx="490775" cy="460177"/>
              <a:chOff x="2667000" y="2740223"/>
              <a:chExt cx="490775" cy="46017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5262697" y="2892623"/>
              <a:ext cx="490775" cy="460177"/>
              <a:chOff x="2667000" y="2740223"/>
              <a:chExt cx="490775" cy="460177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3814897" y="2819400"/>
              <a:ext cx="490775" cy="460177"/>
              <a:chOff x="2667000" y="2740223"/>
              <a:chExt cx="490775" cy="460177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3124200" y="3962400"/>
              <a:ext cx="490775" cy="460177"/>
              <a:chOff x="2667000" y="2740223"/>
              <a:chExt cx="490775" cy="460177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4119697" y="4264223"/>
              <a:ext cx="490775" cy="460177"/>
              <a:chOff x="2667000" y="2740223"/>
              <a:chExt cx="490775" cy="460177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/>
            <p:cNvGrpSpPr/>
            <p:nvPr/>
          </p:nvGrpSpPr>
          <p:grpSpPr>
            <a:xfrm>
              <a:off x="2748097" y="2895600"/>
              <a:ext cx="490775" cy="460177"/>
              <a:chOff x="2667000" y="2740223"/>
              <a:chExt cx="490775" cy="460177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/>
            <p:cNvGrpSpPr/>
            <p:nvPr/>
          </p:nvGrpSpPr>
          <p:grpSpPr>
            <a:xfrm>
              <a:off x="4729297" y="2286000"/>
              <a:ext cx="490775" cy="460177"/>
              <a:chOff x="2667000" y="2740223"/>
              <a:chExt cx="490775" cy="460177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/>
            <p:cNvGrpSpPr/>
            <p:nvPr/>
          </p:nvGrpSpPr>
          <p:grpSpPr>
            <a:xfrm>
              <a:off x="6100897" y="3578423"/>
              <a:ext cx="490775" cy="460177"/>
              <a:chOff x="2667000" y="2740223"/>
              <a:chExt cx="490775" cy="460177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/>
            <p:cNvGrpSpPr/>
            <p:nvPr/>
          </p:nvGrpSpPr>
          <p:grpSpPr>
            <a:xfrm>
              <a:off x="5567497" y="4188023"/>
              <a:ext cx="490775" cy="460177"/>
              <a:chOff x="2667000" y="2740223"/>
              <a:chExt cx="490775" cy="46017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6858000" y="3124200"/>
              <a:ext cx="591765" cy="460177"/>
              <a:chOff x="2667000" y="2740223"/>
              <a:chExt cx="591765" cy="460177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Group 37"/>
            <p:cNvGrpSpPr/>
            <p:nvPr/>
          </p:nvGrpSpPr>
          <p:grpSpPr>
            <a:xfrm>
              <a:off x="7624897" y="3730823"/>
              <a:ext cx="591765" cy="460177"/>
              <a:chOff x="2667000" y="2740223"/>
              <a:chExt cx="591765" cy="460177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0" name="TextBox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43" name="Straight Connector 42"/>
          <p:cNvCxnSpPr>
            <a:stCxn id="36" idx="4"/>
            <a:endCxn id="39" idx="2"/>
          </p:cNvCxnSpPr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5491297" y="2968823"/>
            <a:ext cx="1519103" cy="20228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5"/>
            <a:endCxn id="12" idx="2"/>
          </p:cNvCxnSpPr>
          <p:nvPr/>
        </p:nvCxnSpPr>
        <p:spPr>
          <a:xfrm>
            <a:off x="4946738" y="2351041"/>
            <a:ext cx="468359" cy="57968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21" idx="7"/>
          </p:cNvCxnSpPr>
          <p:nvPr/>
        </p:nvCxnSpPr>
        <p:spPr>
          <a:xfrm flipH="1">
            <a:off x="4337138" y="2351041"/>
            <a:ext cx="544559" cy="1924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21" idx="3"/>
            <a:endCxn id="24" idx="7"/>
          </p:cNvCxnSpPr>
          <p:nvPr/>
        </p:nvCxnSpPr>
        <p:spPr>
          <a:xfrm flipH="1" flipV="1">
            <a:off x="2965538" y="2906759"/>
            <a:ext cx="1317718" cy="142250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24" idx="3"/>
            <a:endCxn id="7" idx="7"/>
          </p:cNvCxnSpPr>
          <p:nvPr/>
        </p:nvCxnSpPr>
        <p:spPr>
          <a:xfrm flipH="1">
            <a:off x="2274841" y="2960641"/>
            <a:ext cx="636815" cy="400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8" idx="2"/>
            <a:endCxn id="7" idx="5"/>
          </p:cNvCxnSpPr>
          <p:nvPr/>
        </p:nvCxnSpPr>
        <p:spPr>
          <a:xfrm flipH="1" flipV="1">
            <a:off x="2274841" y="3414864"/>
            <a:ext cx="1001759" cy="585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8" idx="7"/>
            <a:endCxn id="15" idx="3"/>
          </p:cNvCxnSpPr>
          <p:nvPr/>
        </p:nvCxnSpPr>
        <p:spPr>
          <a:xfrm flipV="1">
            <a:off x="3341641" y="2884441"/>
            <a:ext cx="636815" cy="10891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33" idx="0"/>
            <a:endCxn id="15" idx="5"/>
          </p:cNvCxnSpPr>
          <p:nvPr/>
        </p:nvCxnSpPr>
        <p:spPr>
          <a:xfrm flipH="1" flipV="1">
            <a:off x="4032338" y="2884441"/>
            <a:ext cx="1725659" cy="13035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endCxn id="30" idx="3"/>
          </p:cNvCxnSpPr>
          <p:nvPr/>
        </p:nvCxnSpPr>
        <p:spPr>
          <a:xfrm flipV="1">
            <a:off x="5796097" y="3643464"/>
            <a:ext cx="468359" cy="5475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0" idx="6"/>
            <a:endCxn id="39" idx="3"/>
          </p:cNvCxnSpPr>
          <p:nvPr/>
        </p:nvCxnSpPr>
        <p:spPr>
          <a:xfrm>
            <a:off x="6329497" y="3616523"/>
            <a:ext cx="1458959" cy="17934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Left Arrow 1"/>
          <p:cNvSpPr/>
          <p:nvPr/>
        </p:nvSpPr>
        <p:spPr>
          <a:xfrm>
            <a:off x="5486400" y="2133600"/>
            <a:ext cx="561396" cy="484632"/>
          </a:xfrm>
          <a:prstGeom prst="left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Left Arrow 51"/>
          <p:cNvSpPr/>
          <p:nvPr/>
        </p:nvSpPr>
        <p:spPr>
          <a:xfrm rot="10800000" flipH="1">
            <a:off x="4627666" y="4734403"/>
            <a:ext cx="535002" cy="561741"/>
          </a:xfrm>
          <a:prstGeom prst="left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loud Callout 2">
            <a:extLst>
              <a:ext uri="{FF2B5EF4-FFF2-40B4-BE49-F238E27FC236}">
                <a16:creationId xmlns:a16="http://schemas.microsoft.com/office/drawing/2014/main" id="{7A23EDDA-8700-01F8-963C-F6E41F680044}"/>
              </a:ext>
            </a:extLst>
          </p:cNvPr>
          <p:cNvSpPr/>
          <p:nvPr/>
        </p:nvSpPr>
        <p:spPr>
          <a:xfrm>
            <a:off x="5567498" y="554143"/>
            <a:ext cx="3913874" cy="969858"/>
          </a:xfrm>
          <a:prstGeom prst="cloudCallout">
            <a:avLst>
              <a:gd name="adj1" fmla="val -29690"/>
              <a:gd name="adj2" fmla="val 8590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Let us reformulate the problem to make it 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uni</a:t>
            </a:r>
            <a:r>
              <a:rPr lang="en-US" dirty="0">
                <a:solidFill>
                  <a:schemeClr val="tx1"/>
                </a:solidFill>
              </a:rPr>
              <a:t>-directional.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2A6C323-16CA-AF30-6FA0-A2A7573069B7}"/>
              </a:ext>
            </a:extLst>
          </p:cNvPr>
          <p:cNvSpPr/>
          <p:nvPr/>
        </p:nvSpPr>
        <p:spPr>
          <a:xfrm>
            <a:off x="4571999" y="5334000"/>
            <a:ext cx="3205297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2B25406-7DD7-9F12-BF40-6938AB89B438}"/>
              </a:ext>
            </a:extLst>
          </p:cNvPr>
          <p:cNvSpPr/>
          <p:nvPr/>
        </p:nvSpPr>
        <p:spPr>
          <a:xfrm>
            <a:off x="4572000" y="5743773"/>
            <a:ext cx="3205297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0434CDE-6CEC-39FE-B17D-96049B2532E4}"/>
              </a:ext>
            </a:extLst>
          </p:cNvPr>
          <p:cNvSpPr/>
          <p:nvPr/>
        </p:nvSpPr>
        <p:spPr>
          <a:xfrm>
            <a:off x="3045551" y="6138714"/>
            <a:ext cx="4879249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433B79-72B8-569C-07FC-BB239B79F7F4}"/>
              </a:ext>
            </a:extLst>
          </p:cNvPr>
          <p:cNvSpPr/>
          <p:nvPr/>
        </p:nvSpPr>
        <p:spPr>
          <a:xfrm>
            <a:off x="1522945" y="5257800"/>
            <a:ext cx="3086472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loud Callout 2">
            <a:extLst>
              <a:ext uri="{FF2B5EF4-FFF2-40B4-BE49-F238E27FC236}">
                <a16:creationId xmlns:a16="http://schemas.microsoft.com/office/drawing/2014/main" id="{41594944-11B3-194C-5009-D823AC871D7D}"/>
              </a:ext>
            </a:extLst>
          </p:cNvPr>
          <p:cNvSpPr/>
          <p:nvPr/>
        </p:nvSpPr>
        <p:spPr>
          <a:xfrm>
            <a:off x="112785" y="0"/>
            <a:ext cx="3713990" cy="1075812"/>
          </a:xfrm>
          <a:prstGeom prst="cloudCallout">
            <a:avLst>
              <a:gd name="adj1" fmla="val -29690"/>
              <a:gd name="adj2" fmla="val 8590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Can you give a recursive formulation for the problem ?</a:t>
            </a:r>
          </a:p>
        </p:txBody>
      </p:sp>
      <p:sp>
        <p:nvSpPr>
          <p:cNvPr id="48" name="Cloud Callout 2">
            <a:extLst>
              <a:ext uri="{FF2B5EF4-FFF2-40B4-BE49-F238E27FC236}">
                <a16:creationId xmlns:a16="http://schemas.microsoft.com/office/drawing/2014/main" id="{C468C6B3-D318-C8B9-CDD8-1461A84F4A71}"/>
              </a:ext>
            </a:extLst>
          </p:cNvPr>
          <p:cNvSpPr/>
          <p:nvPr/>
        </p:nvSpPr>
        <p:spPr>
          <a:xfrm>
            <a:off x="4875061" y="98580"/>
            <a:ext cx="4497539" cy="1008795"/>
          </a:xfrm>
          <a:prstGeom prst="cloudCallout">
            <a:avLst>
              <a:gd name="adj1" fmla="val -29690"/>
              <a:gd name="adj2" fmla="val 8590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What will be the recursive term ?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How many parameters 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E98DD51-DA6C-CD4E-FAED-9EE71DE1128B}"/>
              </a:ext>
            </a:extLst>
          </p:cNvPr>
          <p:cNvSpPr txBox="1"/>
          <p:nvPr/>
        </p:nvSpPr>
        <p:spPr>
          <a:xfrm>
            <a:off x="1783864" y="948513"/>
            <a:ext cx="6874831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Spend some time pondering over these questions before moving on…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2084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9" dur="1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9" dur="1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9" dur="1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2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" grpId="0" uiExpand="1" animBg="1"/>
      <p:bldP spid="52" grpId="0" animBg="1"/>
      <p:bldP spid="8" grpId="0" animBg="1"/>
      <p:bldP spid="8" grpId="1" animBg="1"/>
      <p:bldP spid="42" grpId="0" animBg="1"/>
      <p:bldP spid="44" grpId="0" animBg="1"/>
      <p:bldP spid="45" grpId="0" animBg="1"/>
      <p:bldP spid="3" grpId="0" animBg="1"/>
      <p:bldP spid="46" grpId="0" animBg="1"/>
      <p:bldP spid="48" grpId="0" animBg="1"/>
      <p:bldP spid="4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New Idea</a:t>
            </a:r>
            <a:r>
              <a:rPr lang="en-US" sz="3600" b="1" dirty="0"/>
              <a:t>: </a:t>
            </a:r>
            <a:br>
              <a:rPr lang="en-US" sz="3600" b="1" dirty="0"/>
            </a:br>
            <a:r>
              <a:rPr lang="en-US" sz="3600" b="1" dirty="0"/>
              <a:t>Generalize the problem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1600200"/>
            <a:ext cx="89154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057400" y="2286000"/>
            <a:ext cx="5392365" cy="2438400"/>
            <a:chOff x="2057400" y="2286000"/>
            <a:chExt cx="5392365" cy="2438400"/>
          </a:xfrm>
        </p:grpSpPr>
        <p:grpSp>
          <p:nvGrpSpPr>
            <p:cNvPr id="10" name="Group 9"/>
            <p:cNvGrpSpPr/>
            <p:nvPr/>
          </p:nvGrpSpPr>
          <p:grpSpPr>
            <a:xfrm>
              <a:off x="2057400" y="3349823"/>
              <a:ext cx="490775" cy="460177"/>
              <a:chOff x="2667000" y="2740223"/>
              <a:chExt cx="490775" cy="46017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5262697" y="2892623"/>
              <a:ext cx="490775" cy="460177"/>
              <a:chOff x="2667000" y="2740223"/>
              <a:chExt cx="490775" cy="460177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3814897" y="2819400"/>
              <a:ext cx="490775" cy="460177"/>
              <a:chOff x="2667000" y="2740223"/>
              <a:chExt cx="490775" cy="460177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3124200" y="3962400"/>
              <a:ext cx="490775" cy="460177"/>
              <a:chOff x="2667000" y="2740223"/>
              <a:chExt cx="490775" cy="460177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4119697" y="4264223"/>
              <a:ext cx="490775" cy="460177"/>
              <a:chOff x="2667000" y="2740223"/>
              <a:chExt cx="490775" cy="460177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/>
            <p:cNvGrpSpPr/>
            <p:nvPr/>
          </p:nvGrpSpPr>
          <p:grpSpPr>
            <a:xfrm>
              <a:off x="2748097" y="2895600"/>
              <a:ext cx="490775" cy="460177"/>
              <a:chOff x="2667000" y="2740223"/>
              <a:chExt cx="490775" cy="460177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/>
            <p:cNvGrpSpPr/>
            <p:nvPr/>
          </p:nvGrpSpPr>
          <p:grpSpPr>
            <a:xfrm>
              <a:off x="4729297" y="2286000"/>
              <a:ext cx="490775" cy="460177"/>
              <a:chOff x="2667000" y="2740223"/>
              <a:chExt cx="490775" cy="460177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/>
            <p:cNvGrpSpPr/>
            <p:nvPr/>
          </p:nvGrpSpPr>
          <p:grpSpPr>
            <a:xfrm>
              <a:off x="6100897" y="3578423"/>
              <a:ext cx="490775" cy="460177"/>
              <a:chOff x="2667000" y="2740223"/>
              <a:chExt cx="490775" cy="460177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/>
            <p:cNvGrpSpPr/>
            <p:nvPr/>
          </p:nvGrpSpPr>
          <p:grpSpPr>
            <a:xfrm>
              <a:off x="5567497" y="4188023"/>
              <a:ext cx="490775" cy="460177"/>
              <a:chOff x="2667000" y="2740223"/>
              <a:chExt cx="490775" cy="46017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6858000" y="3124200"/>
              <a:ext cx="591765" cy="460177"/>
              <a:chOff x="2667000" y="2740223"/>
              <a:chExt cx="591765" cy="460177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" name="Group 2"/>
          <p:cNvGrpSpPr/>
          <p:nvPr/>
        </p:nvGrpSpPr>
        <p:grpSpPr>
          <a:xfrm>
            <a:off x="7584192" y="3733800"/>
            <a:ext cx="721608" cy="381000"/>
            <a:chOff x="7584192" y="4114800"/>
            <a:chExt cx="721608" cy="381000"/>
          </a:xfrm>
        </p:grpSpPr>
        <p:sp>
          <p:nvSpPr>
            <p:cNvPr id="50" name="Oval 49"/>
            <p:cNvSpPr/>
            <p:nvPr/>
          </p:nvSpPr>
          <p:spPr>
            <a:xfrm>
              <a:off x="7772400" y="41148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7584192" y="4126468"/>
                  <a:ext cx="721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4192" y="4126468"/>
                  <a:ext cx="721608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8197" r="-1092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Oval 52"/>
          <p:cNvSpPr/>
          <p:nvPr/>
        </p:nvSpPr>
        <p:spPr>
          <a:xfrm>
            <a:off x="7777297" y="37338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197" r="-1463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57">
            <a:extLst>
              <a:ext uri="{FF2B5EF4-FFF2-40B4-BE49-F238E27FC236}">
                <a16:creationId xmlns:a16="http://schemas.microsoft.com/office/drawing/2014/main" id="{BE517749-7458-E748-B5CA-D6FAFB042A90}"/>
              </a:ext>
            </a:extLst>
          </p:cNvPr>
          <p:cNvSpPr/>
          <p:nvPr/>
        </p:nvSpPr>
        <p:spPr>
          <a:xfrm>
            <a:off x="2247900" y="952500"/>
            <a:ext cx="46101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5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New Idea</a:t>
            </a:r>
            <a:r>
              <a:rPr lang="en-US" sz="3600" b="1" dirty="0"/>
              <a:t>: </a:t>
            </a:r>
            <a:br>
              <a:rPr lang="en-US" sz="3600" b="1" dirty="0"/>
            </a:br>
            <a:r>
              <a:rPr lang="en-US" sz="3600" b="1" dirty="0"/>
              <a:t>Generalize the problem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1600200"/>
            <a:ext cx="8915400" cy="4525963"/>
          </a:xfrm>
        </p:spPr>
        <p:txBody>
          <a:bodyPr/>
          <a:lstStyle/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057400" y="2286000"/>
            <a:ext cx="5392365" cy="2438400"/>
            <a:chOff x="2057400" y="2286000"/>
            <a:chExt cx="5392365" cy="2438400"/>
          </a:xfrm>
        </p:grpSpPr>
        <p:grpSp>
          <p:nvGrpSpPr>
            <p:cNvPr id="10" name="Group 9"/>
            <p:cNvGrpSpPr/>
            <p:nvPr/>
          </p:nvGrpSpPr>
          <p:grpSpPr>
            <a:xfrm>
              <a:off x="2057400" y="3349823"/>
              <a:ext cx="490775" cy="460177"/>
              <a:chOff x="2667000" y="2740223"/>
              <a:chExt cx="490775" cy="46017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5262697" y="2892623"/>
              <a:ext cx="490775" cy="460177"/>
              <a:chOff x="2667000" y="2740223"/>
              <a:chExt cx="490775" cy="460177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3814897" y="2819400"/>
              <a:ext cx="490775" cy="460177"/>
              <a:chOff x="2667000" y="2740223"/>
              <a:chExt cx="490775" cy="460177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3124200" y="3962400"/>
              <a:ext cx="490775" cy="460177"/>
              <a:chOff x="2667000" y="2740223"/>
              <a:chExt cx="490775" cy="460177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4119697" y="4264223"/>
              <a:ext cx="490775" cy="460177"/>
              <a:chOff x="2667000" y="2740223"/>
              <a:chExt cx="490775" cy="460177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/>
            <p:cNvGrpSpPr/>
            <p:nvPr/>
          </p:nvGrpSpPr>
          <p:grpSpPr>
            <a:xfrm>
              <a:off x="2748097" y="2895600"/>
              <a:ext cx="490775" cy="460177"/>
              <a:chOff x="2667000" y="2740223"/>
              <a:chExt cx="490775" cy="460177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/>
            <p:cNvGrpSpPr/>
            <p:nvPr/>
          </p:nvGrpSpPr>
          <p:grpSpPr>
            <a:xfrm>
              <a:off x="4729297" y="2286000"/>
              <a:ext cx="490775" cy="460177"/>
              <a:chOff x="2667000" y="2740223"/>
              <a:chExt cx="490775" cy="460177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/>
            <p:cNvGrpSpPr/>
            <p:nvPr/>
          </p:nvGrpSpPr>
          <p:grpSpPr>
            <a:xfrm>
              <a:off x="6100897" y="3578423"/>
              <a:ext cx="490775" cy="460177"/>
              <a:chOff x="2667000" y="2740223"/>
              <a:chExt cx="490775" cy="460177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/>
            <p:cNvGrpSpPr/>
            <p:nvPr/>
          </p:nvGrpSpPr>
          <p:grpSpPr>
            <a:xfrm>
              <a:off x="5567497" y="4188023"/>
              <a:ext cx="490775" cy="460177"/>
              <a:chOff x="2667000" y="2740223"/>
              <a:chExt cx="490775" cy="46017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6858000" y="3124200"/>
              <a:ext cx="591765" cy="460177"/>
              <a:chOff x="2667000" y="2740223"/>
              <a:chExt cx="591765" cy="460177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47" name="Straight Connector 46"/>
          <p:cNvCxnSpPr/>
          <p:nvPr/>
        </p:nvCxnSpPr>
        <p:spPr>
          <a:xfrm>
            <a:off x="5491297" y="2968823"/>
            <a:ext cx="1519103" cy="20228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5"/>
            <a:endCxn id="12" idx="2"/>
          </p:cNvCxnSpPr>
          <p:nvPr/>
        </p:nvCxnSpPr>
        <p:spPr>
          <a:xfrm>
            <a:off x="4946738" y="2351041"/>
            <a:ext cx="468359" cy="57968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21" idx="7"/>
          </p:cNvCxnSpPr>
          <p:nvPr/>
        </p:nvCxnSpPr>
        <p:spPr>
          <a:xfrm flipH="1">
            <a:off x="4337138" y="2351041"/>
            <a:ext cx="544559" cy="1924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21" idx="3"/>
            <a:endCxn id="24" idx="7"/>
          </p:cNvCxnSpPr>
          <p:nvPr/>
        </p:nvCxnSpPr>
        <p:spPr>
          <a:xfrm flipH="1" flipV="1">
            <a:off x="2965538" y="2906759"/>
            <a:ext cx="1317718" cy="142250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24" idx="3"/>
            <a:endCxn id="7" idx="7"/>
          </p:cNvCxnSpPr>
          <p:nvPr/>
        </p:nvCxnSpPr>
        <p:spPr>
          <a:xfrm flipH="1">
            <a:off x="2274841" y="2960641"/>
            <a:ext cx="636815" cy="400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8" idx="2"/>
            <a:endCxn id="7" idx="5"/>
          </p:cNvCxnSpPr>
          <p:nvPr/>
        </p:nvCxnSpPr>
        <p:spPr>
          <a:xfrm flipH="1" flipV="1">
            <a:off x="2274841" y="3414864"/>
            <a:ext cx="1001759" cy="585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8" idx="7"/>
            <a:endCxn id="15" idx="3"/>
          </p:cNvCxnSpPr>
          <p:nvPr/>
        </p:nvCxnSpPr>
        <p:spPr>
          <a:xfrm flipV="1">
            <a:off x="3341641" y="2884441"/>
            <a:ext cx="636815" cy="10891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33" idx="0"/>
            <a:endCxn id="15" idx="5"/>
          </p:cNvCxnSpPr>
          <p:nvPr/>
        </p:nvCxnSpPr>
        <p:spPr>
          <a:xfrm flipH="1" flipV="1">
            <a:off x="4032338" y="2884441"/>
            <a:ext cx="1725659" cy="13035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endCxn id="30" idx="3"/>
          </p:cNvCxnSpPr>
          <p:nvPr/>
        </p:nvCxnSpPr>
        <p:spPr>
          <a:xfrm flipV="1">
            <a:off x="5796097" y="3643464"/>
            <a:ext cx="468359" cy="5475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0" idx="6"/>
          </p:cNvCxnSpPr>
          <p:nvPr/>
        </p:nvCxnSpPr>
        <p:spPr>
          <a:xfrm>
            <a:off x="6329497" y="3616523"/>
            <a:ext cx="1481003" cy="6477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7584192" y="4191000"/>
            <a:ext cx="721608" cy="381000"/>
            <a:chOff x="7584192" y="4572000"/>
            <a:chExt cx="721608" cy="381000"/>
          </a:xfrm>
        </p:grpSpPr>
        <p:sp>
          <p:nvSpPr>
            <p:cNvPr id="50" name="Oval 49"/>
            <p:cNvSpPr/>
            <p:nvPr/>
          </p:nvSpPr>
          <p:spPr>
            <a:xfrm>
              <a:off x="7772400" y="45720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7584192" y="4583668"/>
                  <a:ext cx="721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4192" y="4583668"/>
                  <a:ext cx="721608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Oval 52"/>
          <p:cNvSpPr/>
          <p:nvPr/>
        </p:nvSpPr>
        <p:spPr>
          <a:xfrm>
            <a:off x="7777297" y="37338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197" r="-1463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/>
          <p:cNvCxnSpPr/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475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New Idea</a:t>
            </a:r>
            <a:r>
              <a:rPr lang="en-US" sz="3600" b="1" dirty="0"/>
              <a:t>: </a:t>
            </a:r>
            <a:br>
              <a:rPr lang="en-US" sz="3600" b="1" dirty="0"/>
            </a:br>
            <a:r>
              <a:rPr lang="en-US" sz="3600" b="1" dirty="0"/>
              <a:t>Generalize the problem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10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2000" dirty="0"/>
                  <a:t>: Given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 points 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,…,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&gt; in increasing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-coordinates, </a:t>
                </a:r>
              </a:p>
              <a:p>
                <a:pPr marL="0" indent="0">
                  <a:buNone/>
                </a:pPr>
                <a:r>
                  <a:rPr lang="en-US" sz="2000" dirty="0"/>
                  <a:t>We need to travel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What is the least distance traveled ?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10600" cy="4525963"/>
              </a:xfrm>
              <a:blipFill rotWithShape="1">
                <a:blip r:embed="rId2"/>
                <a:stretch>
                  <a:fillRect l="-708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057400" y="2286000"/>
            <a:ext cx="5392365" cy="2438400"/>
            <a:chOff x="2057400" y="2286000"/>
            <a:chExt cx="5392365" cy="2438400"/>
          </a:xfrm>
        </p:grpSpPr>
        <p:grpSp>
          <p:nvGrpSpPr>
            <p:cNvPr id="10" name="Group 9"/>
            <p:cNvGrpSpPr/>
            <p:nvPr/>
          </p:nvGrpSpPr>
          <p:grpSpPr>
            <a:xfrm>
              <a:off x="2057400" y="3349823"/>
              <a:ext cx="490775" cy="460177"/>
              <a:chOff x="2667000" y="2740223"/>
              <a:chExt cx="490775" cy="460177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5262697" y="2892623"/>
              <a:ext cx="490775" cy="460177"/>
              <a:chOff x="2667000" y="2740223"/>
              <a:chExt cx="490775" cy="460177"/>
            </a:xfrm>
          </p:grpSpPr>
          <p:sp>
            <p:nvSpPr>
              <p:cNvPr id="12" name="Oval 11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𝟕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4" name="Group 13"/>
            <p:cNvGrpSpPr/>
            <p:nvPr/>
          </p:nvGrpSpPr>
          <p:grpSpPr>
            <a:xfrm>
              <a:off x="3814897" y="2819400"/>
              <a:ext cx="490775" cy="460177"/>
              <a:chOff x="2667000" y="2740223"/>
              <a:chExt cx="490775" cy="460177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𝟒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" name="Group 16"/>
            <p:cNvGrpSpPr/>
            <p:nvPr/>
          </p:nvGrpSpPr>
          <p:grpSpPr>
            <a:xfrm>
              <a:off x="3124200" y="3962400"/>
              <a:ext cx="490775" cy="460177"/>
              <a:chOff x="2667000" y="2740223"/>
              <a:chExt cx="490775" cy="460177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𝟑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oup 19"/>
            <p:cNvGrpSpPr/>
            <p:nvPr/>
          </p:nvGrpSpPr>
          <p:grpSpPr>
            <a:xfrm>
              <a:off x="4119697" y="4264223"/>
              <a:ext cx="490775" cy="460177"/>
              <a:chOff x="2667000" y="2740223"/>
              <a:chExt cx="490775" cy="460177"/>
            </a:xfrm>
          </p:grpSpPr>
          <p:sp>
            <p:nvSpPr>
              <p:cNvPr id="21" name="Oval 20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𝟓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3" name="Group 22"/>
            <p:cNvGrpSpPr/>
            <p:nvPr/>
          </p:nvGrpSpPr>
          <p:grpSpPr>
            <a:xfrm>
              <a:off x="2748097" y="2895600"/>
              <a:ext cx="490775" cy="460177"/>
              <a:chOff x="2667000" y="2740223"/>
              <a:chExt cx="490775" cy="460177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/>
            <p:cNvGrpSpPr/>
            <p:nvPr/>
          </p:nvGrpSpPr>
          <p:grpSpPr>
            <a:xfrm>
              <a:off x="4729297" y="2286000"/>
              <a:ext cx="490775" cy="460177"/>
              <a:chOff x="2667000" y="2740223"/>
              <a:chExt cx="490775" cy="460177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𝟔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8" name="TextBox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333" r="-1625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" name="Group 28"/>
            <p:cNvGrpSpPr/>
            <p:nvPr/>
          </p:nvGrpSpPr>
          <p:grpSpPr>
            <a:xfrm>
              <a:off x="6100897" y="3578423"/>
              <a:ext cx="490775" cy="460177"/>
              <a:chOff x="2667000" y="2740223"/>
              <a:chExt cx="490775" cy="460177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𝟗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1" name="TextBox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1625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Group 31"/>
            <p:cNvGrpSpPr/>
            <p:nvPr/>
          </p:nvGrpSpPr>
          <p:grpSpPr>
            <a:xfrm>
              <a:off x="5567497" y="4188023"/>
              <a:ext cx="490775" cy="460177"/>
              <a:chOff x="2667000" y="2740223"/>
              <a:chExt cx="490775" cy="460177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𝟖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490775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16049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34"/>
            <p:cNvGrpSpPr/>
            <p:nvPr/>
          </p:nvGrpSpPr>
          <p:grpSpPr>
            <a:xfrm>
              <a:off x="6858000" y="3124200"/>
              <a:ext cx="591765" cy="460177"/>
              <a:chOff x="2667000" y="2740223"/>
              <a:chExt cx="591765" cy="460177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819400" y="2740223"/>
                <a:ext cx="76200" cy="762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𝟏𝟎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67000" y="2831068"/>
                    <a:ext cx="591765" cy="369332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 t="-8197" r="-13402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47" name="Straight Connector 46"/>
          <p:cNvCxnSpPr/>
          <p:nvPr/>
        </p:nvCxnSpPr>
        <p:spPr>
          <a:xfrm>
            <a:off x="5491297" y="2968823"/>
            <a:ext cx="1519103" cy="20228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5"/>
            <a:endCxn id="12" idx="2"/>
          </p:cNvCxnSpPr>
          <p:nvPr/>
        </p:nvCxnSpPr>
        <p:spPr>
          <a:xfrm>
            <a:off x="4946738" y="2351041"/>
            <a:ext cx="468359" cy="57968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endCxn id="21" idx="7"/>
          </p:cNvCxnSpPr>
          <p:nvPr/>
        </p:nvCxnSpPr>
        <p:spPr>
          <a:xfrm flipH="1">
            <a:off x="4337138" y="2351041"/>
            <a:ext cx="544559" cy="1924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21" idx="3"/>
            <a:endCxn id="24" idx="7"/>
          </p:cNvCxnSpPr>
          <p:nvPr/>
        </p:nvCxnSpPr>
        <p:spPr>
          <a:xfrm flipH="1" flipV="1">
            <a:off x="2965538" y="2906759"/>
            <a:ext cx="1317718" cy="142250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24" idx="3"/>
            <a:endCxn id="7" idx="7"/>
          </p:cNvCxnSpPr>
          <p:nvPr/>
        </p:nvCxnSpPr>
        <p:spPr>
          <a:xfrm flipH="1">
            <a:off x="2274841" y="2960641"/>
            <a:ext cx="636815" cy="4003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8" idx="2"/>
            <a:endCxn id="7" idx="5"/>
          </p:cNvCxnSpPr>
          <p:nvPr/>
        </p:nvCxnSpPr>
        <p:spPr>
          <a:xfrm flipH="1" flipV="1">
            <a:off x="2274841" y="3414864"/>
            <a:ext cx="1001759" cy="5856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18" idx="7"/>
            <a:endCxn id="15" idx="3"/>
          </p:cNvCxnSpPr>
          <p:nvPr/>
        </p:nvCxnSpPr>
        <p:spPr>
          <a:xfrm flipV="1">
            <a:off x="3341641" y="2884441"/>
            <a:ext cx="636815" cy="10891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33" idx="0"/>
            <a:endCxn id="15" idx="5"/>
          </p:cNvCxnSpPr>
          <p:nvPr/>
        </p:nvCxnSpPr>
        <p:spPr>
          <a:xfrm flipH="1" flipV="1">
            <a:off x="4032338" y="2884441"/>
            <a:ext cx="1725659" cy="13035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endCxn id="30" idx="3"/>
          </p:cNvCxnSpPr>
          <p:nvPr/>
        </p:nvCxnSpPr>
        <p:spPr>
          <a:xfrm flipV="1">
            <a:off x="5796097" y="3643464"/>
            <a:ext cx="468359" cy="5475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0" idx="6"/>
          </p:cNvCxnSpPr>
          <p:nvPr/>
        </p:nvCxnSpPr>
        <p:spPr>
          <a:xfrm>
            <a:off x="6329497" y="3616523"/>
            <a:ext cx="1481003" cy="6477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7584192" y="4191000"/>
            <a:ext cx="721608" cy="381000"/>
            <a:chOff x="7584192" y="4114800"/>
            <a:chExt cx="721608" cy="381000"/>
          </a:xfrm>
        </p:grpSpPr>
        <p:sp>
          <p:nvSpPr>
            <p:cNvPr id="50" name="Oval 49"/>
            <p:cNvSpPr/>
            <p:nvPr/>
          </p:nvSpPr>
          <p:spPr>
            <a:xfrm>
              <a:off x="7772400" y="41148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7584192" y="4126468"/>
                  <a:ext cx="721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4192" y="4126468"/>
                  <a:ext cx="721608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8197" r="-1092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Oval 52"/>
          <p:cNvSpPr/>
          <p:nvPr/>
        </p:nvSpPr>
        <p:spPr>
          <a:xfrm>
            <a:off x="7777297" y="37308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197" r="-1463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/>
          <p:cNvCxnSpPr/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915190" y="5257800"/>
            <a:ext cx="4169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traversing each point </a:t>
            </a:r>
            <a:r>
              <a:rPr lang="en-US" sz="2000" u="sng" dirty="0"/>
              <a:t>exclusively once</a:t>
            </a:r>
            <a:r>
              <a:rPr lang="en-US" sz="2000" dirty="0"/>
              <a:t>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38401" y="5257800"/>
            <a:ext cx="838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3352799" y="5257800"/>
            <a:ext cx="957397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4300403" y="5257800"/>
            <a:ext cx="957397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397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" grpId="0"/>
      <p:bldP spid="58" grpId="0" animBg="1"/>
      <p:bldP spid="59" grpId="0" animBg="1"/>
      <p:bldP spid="6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2000" y="3286125"/>
            <a:ext cx="7772400" cy="1362075"/>
          </a:xfrm>
        </p:spPr>
        <p:txBody>
          <a:bodyPr/>
          <a:lstStyle/>
          <a:p>
            <a:pPr algn="ctr"/>
            <a:r>
              <a:rPr lang="en-US" sz="3200" dirty="0"/>
              <a:t>What should be the </a:t>
            </a:r>
            <a:r>
              <a:rPr lang="en-US" sz="3200" dirty="0">
                <a:solidFill>
                  <a:srgbClr val="0070C0"/>
                </a:solidFill>
              </a:rPr>
              <a:t>Term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r>
              <a:rPr lang="en-US" sz="3200" dirty="0"/>
              <a:t>for </a:t>
            </a:r>
            <a:br>
              <a:rPr lang="en-US" sz="3200" dirty="0"/>
            </a:b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7030A0"/>
                </a:solidFill>
              </a:rPr>
              <a:t>Recursive formulation ?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2" name="Cloud Callout 1"/>
          <p:cNvSpPr/>
          <p:nvPr/>
        </p:nvSpPr>
        <p:spPr>
          <a:xfrm>
            <a:off x="4229100" y="1219200"/>
            <a:ext cx="3619500" cy="1143000"/>
          </a:xfrm>
          <a:prstGeom prst="cloudCallout">
            <a:avLst>
              <a:gd name="adj1" fmla="val -32863"/>
              <a:gd name="adj2" fmla="val 8953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</a:rPr>
              <a:t>One</a:t>
            </a:r>
            <a:r>
              <a:rPr lang="en-US" dirty="0">
                <a:solidFill>
                  <a:schemeClr val="tx1"/>
                </a:solidFill>
              </a:rPr>
              <a:t> parameter </a:t>
            </a:r>
            <a:r>
              <a:rPr lang="en-US" b="1" dirty="0">
                <a:solidFill>
                  <a:srgbClr val="C00000"/>
                </a:solidFill>
              </a:rPr>
              <a:t>or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u="sng" dirty="0">
                <a:solidFill>
                  <a:schemeClr val="tx1"/>
                </a:solidFill>
              </a:rPr>
              <a:t>multiple</a:t>
            </a:r>
            <a:r>
              <a:rPr lang="en-US" dirty="0">
                <a:solidFill>
                  <a:schemeClr val="tx1"/>
                </a:solidFill>
              </a:rPr>
              <a:t> parameters ?</a:t>
            </a:r>
          </a:p>
        </p:txBody>
      </p:sp>
    </p:spTree>
    <p:extLst>
      <p:ext uri="{BB962C8B-B14F-4D97-AF65-F5344CB8AC3E}">
        <p14:creationId xmlns:p14="http://schemas.microsoft.com/office/powerpoint/2010/main" val="4229738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Term</a:t>
            </a:r>
            <a:r>
              <a:rPr lang="en-US" sz="3600" b="1" dirty="0">
                <a:solidFill>
                  <a:srgbClr val="7030A0"/>
                </a:solidFill>
              </a:rPr>
              <a:t> </a:t>
            </a:r>
            <a:r>
              <a:rPr lang="en-US" sz="3600" b="1" dirty="0"/>
              <a:t>for</a:t>
            </a:r>
            <a:r>
              <a:rPr lang="en-US" sz="3600" b="1" dirty="0">
                <a:solidFill>
                  <a:srgbClr val="7030A0"/>
                </a:solidFill>
              </a:rPr>
              <a:t> Recursive formulation </a:t>
            </a:r>
            <a:r>
              <a:rPr lang="en-US" sz="3600" b="1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Yes,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can be covered either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 or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But we need a slightly bigger picture of the two paths </a:t>
                </a:r>
              </a:p>
              <a:p>
                <a:pPr marL="0" indent="0">
                  <a:buNone/>
                </a:pPr>
                <a:r>
                  <a:rPr lang="en-US" sz="2000" dirty="0"/>
                  <a:t>to devise the recursive term.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8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209800" y="33498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15097" y="28926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967297" y="28194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276600" y="39624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4572000" y="31242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2900497" y="28956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881697" y="22860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7315200" y="42672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719897" y="41880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7010400" y="31242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/>
          <p:cNvCxnSpPr>
            <a:stCxn id="30" idx="6"/>
          </p:cNvCxnSpPr>
          <p:nvPr/>
        </p:nvCxnSpPr>
        <p:spPr>
          <a:xfrm flipV="1">
            <a:off x="7391400" y="4237911"/>
            <a:ext cx="723900" cy="673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8077200" y="41910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/>
          <p:cNvSpPr/>
          <p:nvPr/>
        </p:nvSpPr>
        <p:spPr>
          <a:xfrm>
            <a:off x="7777297" y="37308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blipFill rotWithShape="1">
                <a:blip r:embed="rId13"/>
                <a:stretch>
                  <a:fillRect t="-8197" r="-1463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Oval 63"/>
          <p:cNvSpPr/>
          <p:nvPr/>
        </p:nvSpPr>
        <p:spPr>
          <a:xfrm>
            <a:off x="2590800" y="39624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1981200" y="28956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1676400" y="40386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838200" y="35052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1295400" y="29718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609600" y="3516868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516868"/>
                <a:ext cx="490775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197" r="-1481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Oval 70"/>
          <p:cNvSpPr/>
          <p:nvPr/>
        </p:nvSpPr>
        <p:spPr>
          <a:xfrm>
            <a:off x="6781800" y="48768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7010400" y="4343400"/>
                <a:ext cx="721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4343400"/>
                <a:ext cx="721608" cy="369332"/>
              </a:xfrm>
              <a:prstGeom prst="rect">
                <a:avLst/>
              </a:prstGeom>
              <a:blipFill rotWithShape="1">
                <a:blip r:embed="rId15"/>
                <a:stretch>
                  <a:fillRect t="-8333" r="-1101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6" name="Straight Connector 75"/>
          <p:cNvCxnSpPr>
            <a:stCxn id="30" idx="7"/>
            <a:endCxn id="53" idx="4"/>
          </p:cNvCxnSpPr>
          <p:nvPr/>
        </p:nvCxnSpPr>
        <p:spPr>
          <a:xfrm flipV="1">
            <a:off x="7380241" y="3807023"/>
            <a:ext cx="435156" cy="471336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7888992" y="4202668"/>
                <a:ext cx="721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8992" y="4202668"/>
                <a:ext cx="721608" cy="369332"/>
              </a:xfrm>
              <a:prstGeom prst="rect">
                <a:avLst/>
              </a:prstGeom>
              <a:blipFill rotWithShape="1">
                <a:blip r:embed="rId16"/>
                <a:stretch>
                  <a:fillRect t="-8197" r="-1092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72000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  <p:bldP spid="55" grpId="0"/>
      <p:bldP spid="75" grpId="0"/>
      <p:bldP spid="8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Term</a:t>
            </a:r>
            <a:r>
              <a:rPr lang="en-US" sz="3600" b="1" dirty="0">
                <a:solidFill>
                  <a:srgbClr val="7030A0"/>
                </a:solidFill>
              </a:rPr>
              <a:t> </a:t>
            </a:r>
            <a:r>
              <a:rPr lang="en-US" sz="3600" b="1" dirty="0"/>
              <a:t>for</a:t>
            </a:r>
            <a:r>
              <a:rPr lang="en-US" sz="3600" b="1" dirty="0">
                <a:solidFill>
                  <a:srgbClr val="7030A0"/>
                </a:solidFill>
              </a:rPr>
              <a:t> Recursive formulation </a:t>
            </a:r>
            <a:r>
              <a:rPr lang="en-US" sz="3600" b="1" dirty="0"/>
              <a:t>?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209800" y="33498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15097" y="28926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967297" y="28194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276600" y="39624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4572000" y="31242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2900497" y="28956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4881697" y="22860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7315200" y="42672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5719897" y="41880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7010400" y="31242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Connector 46"/>
          <p:cNvCxnSpPr/>
          <p:nvPr/>
        </p:nvCxnSpPr>
        <p:spPr>
          <a:xfrm>
            <a:off x="5491297" y="2968823"/>
            <a:ext cx="1519103" cy="20228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7" idx="5"/>
            <a:endCxn id="12" idx="2"/>
          </p:cNvCxnSpPr>
          <p:nvPr/>
        </p:nvCxnSpPr>
        <p:spPr>
          <a:xfrm>
            <a:off x="4946738" y="2351041"/>
            <a:ext cx="468359" cy="57968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4631413" y="2351041"/>
            <a:ext cx="250285" cy="77315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endCxn id="30" idx="3"/>
          </p:cNvCxnSpPr>
          <p:nvPr/>
        </p:nvCxnSpPr>
        <p:spPr>
          <a:xfrm flipV="1">
            <a:off x="6858000" y="4332241"/>
            <a:ext cx="468359" cy="5475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30" idx="6"/>
          </p:cNvCxnSpPr>
          <p:nvPr/>
        </p:nvCxnSpPr>
        <p:spPr>
          <a:xfrm flipV="1">
            <a:off x="7391400" y="4237911"/>
            <a:ext cx="723900" cy="673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/>
          <p:cNvGrpSpPr/>
          <p:nvPr/>
        </p:nvGrpSpPr>
        <p:grpSpPr>
          <a:xfrm>
            <a:off x="7888992" y="4191000"/>
            <a:ext cx="721608" cy="381000"/>
            <a:chOff x="7584192" y="4114800"/>
            <a:chExt cx="721608" cy="381000"/>
          </a:xfrm>
        </p:grpSpPr>
        <p:sp>
          <p:nvSpPr>
            <p:cNvPr id="50" name="Oval 49"/>
            <p:cNvSpPr/>
            <p:nvPr/>
          </p:nvSpPr>
          <p:spPr>
            <a:xfrm>
              <a:off x="7772400" y="41148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7584192" y="4126468"/>
                  <a:ext cx="7216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𝒑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+</m:t>
                            </m:r>
                            <m:r>
                              <a:rPr lang="en-US" b="1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4192" y="4126468"/>
                  <a:ext cx="721608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197" r="-1092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Oval 52"/>
          <p:cNvSpPr/>
          <p:nvPr/>
        </p:nvSpPr>
        <p:spPr>
          <a:xfrm>
            <a:off x="7777297" y="37308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4897" y="3364468"/>
                <a:ext cx="498791" cy="369332"/>
              </a:xfrm>
              <a:prstGeom prst="rect">
                <a:avLst/>
              </a:prstGeom>
              <a:blipFill rotWithShape="1">
                <a:blip r:embed="rId13"/>
                <a:stretch>
                  <a:fillRect t="-8197" r="-1463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/>
          <p:cNvCxnSpPr/>
          <p:nvPr/>
        </p:nvCxnSpPr>
        <p:spPr>
          <a:xfrm>
            <a:off x="7048500" y="3200400"/>
            <a:ext cx="728797" cy="56852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>
            <a:endCxn id="15" idx="5"/>
          </p:cNvCxnSpPr>
          <p:nvPr/>
        </p:nvCxnSpPr>
        <p:spPr>
          <a:xfrm flipH="1" flipV="1">
            <a:off x="4032338" y="2884441"/>
            <a:ext cx="599075" cy="23975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ight Brace 1"/>
          <p:cNvSpPr/>
          <p:nvPr/>
        </p:nvSpPr>
        <p:spPr>
          <a:xfrm rot="16200000">
            <a:off x="2097537" y="759963"/>
            <a:ext cx="316782" cy="3445056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Brace 48"/>
          <p:cNvSpPr/>
          <p:nvPr/>
        </p:nvSpPr>
        <p:spPr>
          <a:xfrm rot="5400000">
            <a:off x="2991252" y="2148156"/>
            <a:ext cx="270792" cy="5186497"/>
          </a:xfrm>
          <a:prstGeom prst="rightBrac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Left Arrow 56"/>
          <p:cNvSpPr/>
          <p:nvPr/>
        </p:nvSpPr>
        <p:spPr>
          <a:xfrm>
            <a:off x="3782004" y="3477768"/>
            <a:ext cx="561396" cy="484632"/>
          </a:xfrm>
          <a:prstGeom prst="left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/>
          <p:cNvGrpSpPr/>
          <p:nvPr/>
        </p:nvGrpSpPr>
        <p:grpSpPr>
          <a:xfrm>
            <a:off x="0" y="4876800"/>
            <a:ext cx="9144000" cy="978932"/>
            <a:chOff x="609600" y="4876800"/>
            <a:chExt cx="9144000" cy="978932"/>
          </a:xfrm>
        </p:grpSpPr>
        <p:sp>
          <p:nvSpPr>
            <p:cNvPr id="8" name="TextBox 7"/>
            <p:cNvSpPr txBox="1"/>
            <p:nvPr/>
          </p:nvSpPr>
          <p:spPr>
            <a:xfrm>
              <a:off x="609600" y="5486400"/>
              <a:ext cx="9144000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                                                                                                        </a:t>
              </a:r>
            </a:p>
          </p:txBody>
        </p:sp>
        <p:cxnSp>
          <p:nvCxnSpPr>
            <p:cNvPr id="39" name="Straight Connector 38"/>
            <p:cNvCxnSpPr/>
            <p:nvPr/>
          </p:nvCxnSpPr>
          <p:spPr>
            <a:xfrm>
              <a:off x="3733800" y="4876800"/>
              <a:ext cx="1" cy="60960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3124200" y="4053245"/>
                <a:ext cx="6751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4053245"/>
                <a:ext cx="675121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333" r="-1181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3814897" y="2910245"/>
                <a:ext cx="4523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897" y="2910245"/>
                <a:ext cx="452303" cy="369332"/>
              </a:xfrm>
              <a:prstGeom prst="rect">
                <a:avLst/>
              </a:prstGeom>
              <a:blipFill rotWithShape="1">
                <a:blip r:embed="rId15"/>
                <a:stretch>
                  <a:fillRect t="-8197" r="-175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5567497" y="4278868"/>
                <a:ext cx="455509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7497" y="4278868"/>
                <a:ext cx="455509" cy="395621"/>
              </a:xfrm>
              <a:prstGeom prst="rect">
                <a:avLst/>
              </a:prstGeom>
              <a:blipFill rotWithShape="1">
                <a:blip r:embed="rId16"/>
                <a:stretch>
                  <a:fillRect t="-6154" r="-17333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895600" y="5486400"/>
                <a:ext cx="2900538" cy="3956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by two paths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5486400"/>
                <a:ext cx="2900538" cy="395621"/>
              </a:xfrm>
              <a:prstGeom prst="rect">
                <a:avLst/>
              </a:prstGeom>
              <a:blipFill rotWithShape="1">
                <a:blip r:embed="rId17"/>
                <a:stretch>
                  <a:fillRect l="-1681" t="-6154" r="-630" b="-184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Connector 42"/>
          <p:cNvCxnSpPr/>
          <p:nvPr/>
        </p:nvCxnSpPr>
        <p:spPr>
          <a:xfrm flipH="1">
            <a:off x="7848599" y="2057400"/>
            <a:ext cx="1" cy="3124200"/>
          </a:xfrm>
          <a:prstGeom prst="line">
            <a:avLst/>
          </a:prstGeom>
          <a:ln w="1905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-152400" y="5490159"/>
                <a:ext cx="317862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 Least dist. travelled to reach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2400" y="5490159"/>
                <a:ext cx="3178627" cy="369332"/>
              </a:xfrm>
              <a:prstGeom prst="rect">
                <a:avLst/>
              </a:prstGeom>
              <a:blipFill rotWithShape="1">
                <a:blip r:embed="rId18"/>
                <a:stretch>
                  <a:fillRect l="-1536" t="-8333" r="-2303" b="-2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Oval 63"/>
          <p:cNvSpPr/>
          <p:nvPr/>
        </p:nvSpPr>
        <p:spPr>
          <a:xfrm>
            <a:off x="2590800" y="39624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1981200" y="28956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1676400" y="40386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838200" y="35052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1295400" y="29718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609600" y="3516868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516868"/>
                <a:ext cx="490775" cy="369332"/>
              </a:xfrm>
              <a:prstGeom prst="rect">
                <a:avLst/>
              </a:prstGeom>
              <a:blipFill rotWithShape="1">
                <a:blip r:embed="rId19"/>
                <a:stretch>
                  <a:fillRect t="-8197" r="-1481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Oval 70"/>
          <p:cNvSpPr/>
          <p:nvPr/>
        </p:nvSpPr>
        <p:spPr>
          <a:xfrm>
            <a:off x="6781800" y="48768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/>
          <p:cNvCxnSpPr>
            <a:stCxn id="33" idx="3"/>
            <a:endCxn id="71" idx="1"/>
          </p:cNvCxnSpPr>
          <p:nvPr/>
        </p:nvCxnSpPr>
        <p:spPr>
          <a:xfrm>
            <a:off x="5731056" y="4253064"/>
            <a:ext cx="1061903" cy="6348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5562600" y="5486400"/>
                <a:ext cx="376160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covering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,…,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exclusively once.</a:t>
                </a: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5486400"/>
                <a:ext cx="3761607" cy="369332"/>
              </a:xfrm>
              <a:prstGeom prst="rect">
                <a:avLst/>
              </a:prstGeom>
              <a:blipFill rotWithShape="1">
                <a:blip r:embed="rId20"/>
                <a:stretch>
                  <a:fillRect l="-1459" t="-8197" r="-810" b="-245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loud Callout 8"/>
              <p:cNvSpPr/>
              <p:nvPr/>
            </p:nvSpPr>
            <p:spPr>
              <a:xfrm>
                <a:off x="3200400" y="1066800"/>
                <a:ext cx="6019801" cy="1222248"/>
              </a:xfrm>
              <a:prstGeom prst="cloudCallout">
                <a:avLst>
                  <a:gd name="adj1" fmla="val -11604"/>
                  <a:gd name="adj2" fmla="val 76245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If we reveal the two paths covering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onwards, what can we infer about their unrevealed portions? </a:t>
                </a:r>
              </a:p>
            </p:txBody>
          </p:sp>
        </mc:Choice>
        <mc:Fallback xmlns="">
          <p:sp>
            <p:nvSpPr>
              <p:cNvPr id="9" name="Cloud Callou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1066800"/>
                <a:ext cx="6019801" cy="1222248"/>
              </a:xfrm>
              <a:prstGeom prst="cloudCallout">
                <a:avLst>
                  <a:gd name="adj1" fmla="val -11604"/>
                  <a:gd name="adj2" fmla="val 76245"/>
                </a:avLst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Cloud Callout 62">
            <a:extLst>
              <a:ext uri="{FF2B5EF4-FFF2-40B4-BE49-F238E27FC236}">
                <a16:creationId xmlns:a16="http://schemas.microsoft.com/office/drawing/2014/main" id="{486B358B-10BD-6C47-BAF2-9D0B7FDC2DB5}"/>
              </a:ext>
            </a:extLst>
          </p:cNvPr>
          <p:cNvSpPr/>
          <p:nvPr/>
        </p:nvSpPr>
        <p:spPr>
          <a:xfrm>
            <a:off x="4419237" y="1218351"/>
            <a:ext cx="4302724" cy="853788"/>
          </a:xfrm>
          <a:prstGeom prst="cloudCallout">
            <a:avLst>
              <a:gd name="adj1" fmla="val -11604"/>
              <a:gd name="adj2" fmla="val 7624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you see the recursive term that we need ?</a:t>
            </a:r>
          </a:p>
        </p:txBody>
      </p:sp>
    </p:spTree>
    <p:extLst>
      <p:ext uri="{BB962C8B-B14F-4D97-AF65-F5344CB8AC3E}">
        <p14:creationId xmlns:p14="http://schemas.microsoft.com/office/powerpoint/2010/main" val="1576671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22222E-6 L -0.44166 -0.00556 " pathEditMode="relative" rAng="0" ptsTypes="AA">
                                      <p:cBhvr>
                                        <p:cTn id="13" dur="5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083" y="-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9" grpId="0" animBg="1"/>
      <p:bldP spid="57" grpId="0" animBg="1"/>
      <p:bldP spid="59" grpId="0"/>
      <p:bldP spid="60" grpId="0"/>
      <p:bldP spid="61" grpId="0"/>
      <p:bldP spid="38" grpId="0"/>
      <p:bldP spid="48" grpId="0"/>
      <p:bldP spid="62" grpId="0"/>
      <p:bldP spid="9" grpId="0" animBg="1"/>
      <p:bldP spid="9" grpId="1" animBg="1"/>
      <p:bldP spid="6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</a:rPr>
              <a:t>Term</a:t>
            </a:r>
            <a:r>
              <a:rPr lang="en-US" sz="3600" b="1" dirty="0">
                <a:solidFill>
                  <a:srgbClr val="7030A0"/>
                </a:solidFill>
              </a:rPr>
              <a:t> </a:t>
            </a:r>
            <a:r>
              <a:rPr lang="en-US" sz="3600" b="1" dirty="0"/>
              <a:t>for</a:t>
            </a:r>
            <a:r>
              <a:rPr lang="en-US" sz="3600" b="1" dirty="0">
                <a:solidFill>
                  <a:srgbClr val="7030A0"/>
                </a:solidFill>
              </a:rPr>
              <a:t> Recursive formulation </a:t>
            </a:r>
            <a:r>
              <a:rPr lang="en-US" sz="3600" b="1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686800" cy="4525963"/>
              </a:xfrm>
              <a:ln>
                <a:noFill/>
              </a:ln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For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0" dirty="0" smtClean="0">
                        <a:latin typeface="Cambria Math"/>
                      </a:rPr>
                      <m:t>&lt;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, define</a:t>
                </a: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dirty="0">
                        <a:latin typeface="Cambria Math"/>
                      </a:rPr>
                      <m:t>,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 :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Least distance travelled to reach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by two paths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      </a:t>
                </a:r>
                <a:r>
                  <a:rPr lang="en-US" sz="2000" dirty="0"/>
                  <a:t>covering each point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,…,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exclusively once.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Aim: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         </a:t>
                </a:r>
                <a:r>
                  <a:rPr lang="en-US" sz="2000" dirty="0"/>
                  <a:t>To compute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2000" dirty="0"/>
                  <a:t>] 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Base case</a:t>
                </a:r>
                <a:r>
                  <a:rPr lang="en-US" sz="2000" dirty="0"/>
                  <a:t>: </a:t>
                </a: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0" i="0" dirty="0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 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 for all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What is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 for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686800" cy="4525963"/>
              </a:xfrm>
              <a:blipFill>
                <a:blip r:embed="rId2"/>
                <a:stretch>
                  <a:fillRect l="-731" t="-8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295400" y="4572000"/>
            <a:ext cx="2438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419600" y="2286000"/>
            <a:ext cx="3048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93BB29-F3D3-C8D6-81B8-DA352C73A90D}"/>
              </a:ext>
            </a:extLst>
          </p:cNvPr>
          <p:cNvSpPr/>
          <p:nvPr/>
        </p:nvSpPr>
        <p:spPr>
          <a:xfrm>
            <a:off x="3352800" y="2743200"/>
            <a:ext cx="3048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09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>
              <a:xfrm>
                <a:off x="722313" y="1828800"/>
                <a:ext cx="7772400" cy="1362075"/>
              </a:xfrm>
            </p:spPr>
            <p:txBody>
              <a:bodyPr/>
              <a:lstStyle/>
              <a:p>
                <a:pPr algn="ctr"/>
                <a:r>
                  <a:rPr lang="en-US" sz="3200" dirty="0">
                    <a:solidFill>
                      <a:srgbClr val="7030A0"/>
                    </a:solidFill>
                  </a:rPr>
                  <a:t>Recursive formulation for</a:t>
                </a:r>
                <a:br>
                  <a:rPr lang="en-US" sz="3200" dirty="0">
                    <a:solidFill>
                      <a:srgbClr val="7030A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dirty="0">
                          <a:solidFill>
                            <a:srgbClr val="006C31"/>
                          </a:solidFill>
                          <a:latin typeface="Cambria Math"/>
                        </a:rPr>
                        <m:t>𝑻</m:t>
                      </m:r>
                      <m:r>
                        <a:rPr lang="en-US" sz="3200" dirty="0">
                          <a:latin typeface="Cambria Math"/>
                        </a:rPr>
                        <m:t>[</m:t>
                      </m:r>
                      <m:r>
                        <a:rPr lang="en-US" sz="3200" b="0" i="1" dirty="0">
                          <a:solidFill>
                            <a:srgbClr val="0070C0"/>
                          </a:solidFill>
                          <a:latin typeface="Cambria Math"/>
                        </a:rPr>
                        <m:t>𝑖</m:t>
                      </m:r>
                      <m:r>
                        <a:rPr lang="en-US" sz="3200" b="0" dirty="0">
                          <a:latin typeface="Cambria Math"/>
                        </a:rPr>
                        <m:t>,</m:t>
                      </m:r>
                      <m:r>
                        <a:rPr lang="en-US" sz="3200" b="0" i="1" dirty="0">
                          <a:solidFill>
                            <a:srgbClr val="0070C0"/>
                          </a:solidFill>
                          <a:latin typeface="Cambria Math"/>
                        </a:rPr>
                        <m:t>𝑗</m:t>
                      </m:r>
                      <m:r>
                        <a:rPr lang="en-US" sz="3200" i="1" dirty="0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2313" y="1828800"/>
                <a:ext cx="7772400" cy="1362075"/>
              </a:xfrm>
              <a:blipFill rotWithShape="1">
                <a:blip r:embed="rId2"/>
                <a:stretch>
                  <a:fillRect t="-5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5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>
                    <a:solidFill>
                      <a:srgbClr val="7030A0"/>
                    </a:solidFill>
                  </a:rPr>
                  <a:t>Recursive formulation </a:t>
                </a:r>
                <a:r>
                  <a:rPr lang="en-US" sz="3600" b="1" dirty="0"/>
                  <a:t>of </a:t>
                </a:r>
                <a14:m>
                  <m:oMath xmlns:m="http://schemas.openxmlformats.org/officeDocument/2006/math">
                    <m:r>
                      <a:rPr lang="en-US" sz="36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3600" b="1" dirty="0">
                        <a:latin typeface="Cambria Math"/>
                      </a:rPr>
                      <m:t>[</m:t>
                    </m:r>
                    <m:r>
                      <a:rPr lang="en-US" sz="36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3600" dirty="0">
                        <a:latin typeface="Cambria Math"/>
                      </a:rPr>
                      <m:t>,</m:t>
                    </m:r>
                    <m:r>
                      <a:rPr lang="en-US" sz="36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36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/>
                  <a:t>Two cases</a:t>
                </a:r>
                <a:r>
                  <a:rPr lang="en-US" sz="2000" dirty="0"/>
                  <a:t>:</a:t>
                </a:r>
              </a:p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visited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</m:oMath>
                </a14:m>
                <a:endParaRPr lang="en-US" sz="2000" b="1" i="1" dirty="0">
                  <a:solidFill>
                    <a:srgbClr val="0070C0"/>
                  </a:solidFill>
                  <a:latin typeface="Cambria Math"/>
                </a:endParaRPr>
              </a:p>
              <a:p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visited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𝑚𝑖𝑛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+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    ,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+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  <a:blipFill rotWithShape="1">
                <a:blip r:embed="rId3"/>
                <a:stretch>
                  <a:fillRect l="-741" t="-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2209800" y="2667000"/>
            <a:ext cx="4876800" cy="1673423"/>
            <a:chOff x="2209800" y="2667000"/>
            <a:chExt cx="4876800" cy="1673423"/>
          </a:xfrm>
        </p:grpSpPr>
        <p:sp>
          <p:nvSpPr>
            <p:cNvPr id="7" name="Oval 6"/>
            <p:cNvSpPr/>
            <p:nvPr/>
          </p:nvSpPr>
          <p:spPr>
            <a:xfrm>
              <a:off x="2209800" y="3349823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5257800" y="26670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3733800" y="28194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3276600" y="39624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4272097" y="4264223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2900497" y="28956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4572000" y="31242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6253297" y="28956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5791200" y="32004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7010400" y="3124200"/>
              <a:ext cx="76200" cy="762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Oval 49"/>
          <p:cNvSpPr/>
          <p:nvPr/>
        </p:nvSpPr>
        <p:spPr>
          <a:xfrm>
            <a:off x="6819299" y="4038600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6631091" y="4050268"/>
                <a:ext cx="455509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𝒋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091" y="4050268"/>
                <a:ext cx="455509" cy="395621"/>
              </a:xfrm>
              <a:prstGeom prst="rect">
                <a:avLst/>
              </a:prstGeom>
              <a:blipFill rotWithShape="1">
                <a:blip r:embed="rId4"/>
                <a:stretch>
                  <a:fillRect t="-6154" r="-16000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Oval 52"/>
          <p:cNvSpPr/>
          <p:nvPr/>
        </p:nvSpPr>
        <p:spPr>
          <a:xfrm>
            <a:off x="7777297" y="3730823"/>
            <a:ext cx="76200" cy="76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5105400" y="2667000"/>
                <a:ext cx="4523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2667000"/>
                <a:ext cx="452303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r="-1756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386025" y="3124200"/>
                <a:ext cx="6751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025" y="3124200"/>
                <a:ext cx="675121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1171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2057400" y="3440668"/>
                <a:ext cx="4907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𝒑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3440668"/>
                <a:ext cx="490775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1625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 flipH="1">
            <a:off x="4631414" y="2743200"/>
            <a:ext cx="626386" cy="3810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52" idx="0"/>
          </p:cNvCxnSpPr>
          <p:nvPr/>
        </p:nvCxnSpPr>
        <p:spPr>
          <a:xfrm flipH="1" flipV="1">
            <a:off x="4631414" y="3200400"/>
            <a:ext cx="2227432" cy="8498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114800" y="1676400"/>
                <a:ext cx="36439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</a:t>
                </a:r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b="1" i="0" dirty="0" smtClean="0">
                        <a:latin typeface="Cambria Math"/>
                      </a:rPr>
                      <m:t>(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=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b="0" i="1" dirty="0" smtClean="0">
                        <a:latin typeface="Cambria Math"/>
                      </a:rPr>
                      <m:t>(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1676400"/>
                <a:ext cx="3643946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1338" t="-9836" r="-16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4114800" y="2069068"/>
                <a:ext cx="3472554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</a:t>
                </a:r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dirty="0"/>
                  <a:t>)=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+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2069068"/>
                <a:ext cx="3472554" cy="395621"/>
              </a:xfrm>
              <a:prstGeom prst="rect">
                <a:avLst/>
              </a:prstGeom>
              <a:blipFill rotWithShape="1">
                <a:blip r:embed="rId9"/>
                <a:stretch>
                  <a:fillRect l="-1404" t="-7692" r="-1930" b="-1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323170EA-8178-AB48-8987-0F40B7052219}"/>
              </a:ext>
            </a:extLst>
          </p:cNvPr>
          <p:cNvSpPr/>
          <p:nvPr/>
        </p:nvSpPr>
        <p:spPr>
          <a:xfrm>
            <a:off x="5271848" y="1676401"/>
            <a:ext cx="2576752" cy="45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918D01-7227-D540-9260-CA1B23C325C9}"/>
              </a:ext>
            </a:extLst>
          </p:cNvPr>
          <p:cNvSpPr/>
          <p:nvPr/>
        </p:nvSpPr>
        <p:spPr>
          <a:xfrm>
            <a:off x="5181600" y="2133601"/>
            <a:ext cx="2576752" cy="45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08AD51-C1AF-AB55-58C7-EA176773DAE0}"/>
              </a:ext>
            </a:extLst>
          </p:cNvPr>
          <p:cNvSpPr/>
          <p:nvPr/>
        </p:nvSpPr>
        <p:spPr>
          <a:xfrm>
            <a:off x="1447800" y="4953000"/>
            <a:ext cx="457200" cy="45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FBAEE9-330E-6CD2-1E19-9B5C1E980CF1}"/>
              </a:ext>
            </a:extLst>
          </p:cNvPr>
          <p:cNvSpPr/>
          <p:nvPr/>
        </p:nvSpPr>
        <p:spPr>
          <a:xfrm>
            <a:off x="6329497" y="1661319"/>
            <a:ext cx="2576752" cy="4571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7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3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3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3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8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52" grpId="0"/>
      <p:bldP spid="55" grpId="0"/>
      <p:bldP spid="46" grpId="0"/>
      <p:bldP spid="13" grpId="0"/>
      <p:bldP spid="58" grpId="0"/>
      <p:bldP spid="26" grpId="0" animBg="1"/>
      <p:bldP spid="28" grpId="0" animBg="1"/>
      <p:bldP spid="3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Recursive algorithm </a:t>
                </a:r>
                <a:r>
                  <a:rPr lang="en-US" sz="3200" b="1" dirty="0"/>
                  <a:t>for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3200" b="1" i="0" dirty="0" smtClean="0">
                        <a:latin typeface="Cambria Math"/>
                      </a:rPr>
                      <m:t>(</m:t>
                    </m:r>
                    <m:r>
                      <a:rPr lang="en-US" sz="32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3200" dirty="0">
                        <a:latin typeface="Cambria Math"/>
                      </a:rPr>
                      <m:t>,</m:t>
                    </m:r>
                    <m:r>
                      <a:rPr lang="en-US" sz="32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32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3200" dirty="0"/>
                  <a:t> </a:t>
                </a:r>
                <a:br>
                  <a:rPr lang="en-US" sz="3200" dirty="0"/>
                </a:br>
                <a:endParaRPr lang="en-US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8768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6C31"/>
                    </a:solidFill>
                  </a:rPr>
                  <a:t>Recur-</a:t>
                </a:r>
                <a:r>
                  <a:rPr lang="en-US" sz="1800" b="1" dirty="0" err="1">
                    <a:solidFill>
                      <a:srgbClr val="006C31"/>
                    </a:solidFill>
                  </a:rPr>
                  <a:t>bitonic</a:t>
                </a:r>
                <a:r>
                  <a:rPr lang="en-US" sz="1800" b="1" dirty="0">
                    <a:solidFill>
                      <a:srgbClr val="006C31"/>
                    </a:solidFill>
                  </a:rPr>
                  <a:t>-tour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dirty="0">
                        <a:latin typeface="Cambria Math"/>
                      </a:rPr>
                      <m:t>,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{</a:t>
                </a:r>
                <a:r>
                  <a:rPr lang="en-US" sz="2000" b="1" dirty="0"/>
                  <a:t>If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/>
                  <a:t>)  return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;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Else</a:t>
                </a:r>
              </a:p>
              <a:p>
                <a:pPr marL="0" indent="0">
                  <a:buNone/>
                </a:pPr>
                <a:r>
                  <a:rPr lang="en-US" sz="2000" dirty="0"/>
                  <a:t> {</a:t>
                </a:r>
              </a:p>
              <a:p>
                <a:pPr marL="0" indent="0">
                  <a:buNone/>
                </a:pPr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1800" b="1" dirty="0">
                    <a:solidFill>
                      <a:srgbClr val="006C31"/>
                    </a:solidFill>
                  </a:rPr>
                  <a:t>Recur-bitonic-tour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000" b="0" i="0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  <m:r>
                          <a:rPr lang="en-US" sz="2000" dirty="0">
                            <a:latin typeface="Cambria Math"/>
                          </a:rPr>
                          <m:t>,</m:t>
                        </m:r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/>
                  <a:t>+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1800" b="1" dirty="0">
                    <a:solidFill>
                      <a:srgbClr val="006C31"/>
                    </a:solidFill>
                  </a:rPr>
                  <a:t>Recur-bitonic-tour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  <m:r>
                          <a:rPr lang="en-US" sz="2000" dirty="0">
                            <a:latin typeface="Cambria Math"/>
                          </a:rPr>
                          <m:t>,</m:t>
                        </m:r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000" dirty="0"/>
                  <a:t>+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;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  <a:endParaRPr lang="en-US" sz="2000" b="1" i="1" dirty="0">
                  <a:solidFill>
                    <a:srgbClr val="C0000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dirty="0"/>
                  <a:t>   return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𝑚𝑖𝑛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dirty="0"/>
                  <a:t> 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876800" cy="4525963"/>
              </a:xfrm>
              <a:blipFill rotWithShape="1">
                <a:blip r:embed="rId3"/>
                <a:stretch>
                  <a:fillRect l="-1250" t="-674" r="-2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5181600" y="1600200"/>
                <a:ext cx="38862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 </a:t>
                </a:r>
              </a:p>
              <a:p>
                <a:pPr marL="0" indent="0">
                  <a:buNone/>
                </a:pPr>
                <a:r>
                  <a:rPr lang="en-US" sz="1800" dirty="0">
                    <a:sym typeface="Wingdings" pitchFamily="2" charset="2"/>
                  </a:rPr>
                  <a:t>Time taken by </a:t>
                </a:r>
                <a:r>
                  <a:rPr lang="en-US" sz="1800" b="1" dirty="0">
                    <a:solidFill>
                      <a:srgbClr val="006C31"/>
                    </a:solidFill>
                  </a:rPr>
                  <a:t>Recur-</a:t>
                </a:r>
                <a:r>
                  <a:rPr lang="en-US" sz="1800" b="1" dirty="0" err="1">
                    <a:solidFill>
                      <a:srgbClr val="006C31"/>
                    </a:solidFill>
                  </a:rPr>
                  <a:t>bitonic</a:t>
                </a:r>
                <a:r>
                  <a:rPr lang="en-US" sz="1800" b="1" dirty="0">
                    <a:solidFill>
                      <a:srgbClr val="006C31"/>
                    </a:solidFill>
                  </a:rPr>
                  <a:t>-tour</a:t>
                </a:r>
                <a14:m>
                  <m:oMath xmlns:m="http://schemas.openxmlformats.org/officeDocument/2006/math">
                    <m:r>
                      <a:rPr lang="en-US" sz="2000" b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=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000" dirty="0"/>
                  <a:t>).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But total no. of </a:t>
                </a:r>
                <a:r>
                  <a:rPr lang="en-US" sz="2000" dirty="0" err="1"/>
                  <a:t>subproblems</a:t>
                </a:r>
                <a:r>
                  <a:rPr lang="en-US" sz="2000" dirty="0"/>
                  <a:t> to be solved: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0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𝒏</m:t>
                            </m:r>
                          </m:num>
                          <m:den>
                            <m:r>
                              <a:rPr lang="en-US" sz="2000" b="1" i="1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>
                  <a:buFont typeface="Wingdings"/>
                  <a:buChar char="è"/>
                </a:pPr>
                <a:r>
                  <a:rPr lang="en-US" sz="2000" dirty="0">
                    <a:sym typeface="Wingdings" pitchFamily="2" charset="2"/>
                  </a:rPr>
                  <a:t>Iterative implementation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of the recursive formulation.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181600" y="1600200"/>
                <a:ext cx="3886200" cy="4525963"/>
              </a:xfrm>
              <a:blipFill rotWithShape="1">
                <a:blip r:embed="rId4"/>
                <a:stretch>
                  <a:fillRect l="-1567" t="-809" r="-10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909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Recursive algorithm </a:t>
                </a:r>
                <a:r>
                  <a:rPr lang="en-US" sz="3200" b="1" dirty="0"/>
                  <a:t>for</a:t>
                </a:r>
                <a:r>
                  <a:rPr lang="en-US" sz="32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3200" b="1" i="0" dirty="0" smtClean="0">
                        <a:latin typeface="Cambria Math"/>
                      </a:rPr>
                      <m:t>(</m:t>
                    </m:r>
                    <m:r>
                      <a:rPr lang="en-US" sz="32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3200" dirty="0">
                        <a:latin typeface="Cambria Math"/>
                      </a:rPr>
                      <m:t>,</m:t>
                    </m:r>
                    <m:r>
                      <a:rPr lang="en-US" sz="32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32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3200" dirty="0"/>
                  <a:t> </a:t>
                </a:r>
                <a:br>
                  <a:rPr lang="en-US" sz="3200" dirty="0"/>
                </a:br>
                <a:endParaRPr lang="en-US" sz="32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191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8768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6C31"/>
                    </a:solidFill>
                  </a:rPr>
                  <a:t>Recur-</a:t>
                </a:r>
                <a:r>
                  <a:rPr lang="en-US" sz="1800" b="1" dirty="0" err="1">
                    <a:solidFill>
                      <a:srgbClr val="006C31"/>
                    </a:solidFill>
                  </a:rPr>
                  <a:t>bitonic</a:t>
                </a:r>
                <a:r>
                  <a:rPr lang="en-US" sz="1800" b="1" dirty="0">
                    <a:solidFill>
                      <a:srgbClr val="006C31"/>
                    </a:solidFill>
                  </a:rPr>
                  <a:t>-tour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dirty="0">
                        <a:latin typeface="Cambria Math"/>
                      </a:rPr>
                      <m:t>,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{</a:t>
                </a:r>
                <a:r>
                  <a:rPr lang="en-US" sz="2000" b="1" dirty="0"/>
                  <a:t>If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/>
                  <a:t>)  return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;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Else</a:t>
                </a:r>
              </a:p>
              <a:p>
                <a:pPr marL="0" indent="0">
                  <a:buNone/>
                </a:pPr>
                <a:r>
                  <a:rPr lang="en-US" sz="2000" dirty="0"/>
                  <a:t> {</a:t>
                </a:r>
              </a:p>
              <a:p>
                <a:pPr marL="0" indent="0">
                  <a:buNone/>
                </a:pPr>
                <a:r>
                  <a:rPr lang="en-US" sz="20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1800" b="1" dirty="0">
                    <a:solidFill>
                      <a:srgbClr val="006C31"/>
                    </a:solidFill>
                  </a:rPr>
                  <a:t>Recur-bitonic-tour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000" b="0" i="0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  <m:r>
                          <a:rPr lang="en-US" sz="2000" dirty="0">
                            <a:latin typeface="Cambria Math"/>
                          </a:rPr>
                          <m:t>,</m:t>
                        </m:r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sz="2000" dirty="0"/>
                  <a:t>+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1800" b="1" dirty="0">
                    <a:solidFill>
                      <a:srgbClr val="006C31"/>
                    </a:solidFill>
                  </a:rPr>
                  <a:t>Recur-bitonic-tour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  <m:r>
                          <a:rPr lang="en-US" sz="2000" dirty="0">
                            <a:latin typeface="Cambria Math"/>
                          </a:rPr>
                          <m:t>,</m:t>
                        </m:r>
                        <m:r>
                          <a:rPr lang="en-US" sz="2000" b="0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sz="2000" dirty="0"/>
                  <a:t>+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;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  <a:endParaRPr lang="en-US" sz="2000" b="1" i="1" dirty="0">
                  <a:solidFill>
                    <a:srgbClr val="C0000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dirty="0"/>
                  <a:t>   return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𝑚𝑖𝑛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dirty="0"/>
                  <a:t> 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876800" cy="4525963"/>
              </a:xfrm>
              <a:blipFill rotWithShape="1">
                <a:blip r:embed="rId3"/>
                <a:stretch>
                  <a:fillRect l="-1250" t="-674" r="-2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1600200"/>
            <a:ext cx="38862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grpSp>
        <p:nvGrpSpPr>
          <p:cNvPr id="5" name="Group 4"/>
          <p:cNvGrpSpPr/>
          <p:nvPr/>
        </p:nvGrpSpPr>
        <p:grpSpPr>
          <a:xfrm>
            <a:off x="5562600" y="2057400"/>
            <a:ext cx="3276600" cy="3217127"/>
            <a:chOff x="5257800" y="2057400"/>
            <a:chExt cx="3276600" cy="3217127"/>
          </a:xfrm>
        </p:grpSpPr>
        <p:sp>
          <p:nvSpPr>
            <p:cNvPr id="6" name="Rectangle 5"/>
            <p:cNvSpPr/>
            <p:nvPr/>
          </p:nvSpPr>
          <p:spPr>
            <a:xfrm>
              <a:off x="5257800" y="2057400"/>
              <a:ext cx="3276600" cy="3200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57150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61722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66294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081024" y="2057400"/>
              <a:ext cx="5576" cy="32171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7543800" y="2057400"/>
              <a:ext cx="0" cy="32171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0010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5257800" y="25146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257800" y="29718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5257800" y="34290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257800" y="38862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257800" y="43434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257800" y="48006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34200" y="56388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US" b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5638800"/>
                <a:ext cx="380489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>
          <a:xfrm>
            <a:off x="7848600" y="3429000"/>
            <a:ext cx="457200" cy="4572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7904703" y="3886200"/>
            <a:ext cx="324897" cy="1752600"/>
            <a:chOff x="7599903" y="3886200"/>
            <a:chExt cx="324897" cy="1752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7599903" y="5269468"/>
                  <a:ext cx="3248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9903" y="5269468"/>
                  <a:ext cx="324897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264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/>
            <p:cNvCxnSpPr>
              <a:stCxn id="25" idx="2"/>
            </p:cNvCxnSpPr>
            <p:nvPr/>
          </p:nvCxnSpPr>
          <p:spPr>
            <a:xfrm>
              <a:off x="7772400" y="3886200"/>
              <a:ext cx="33076" cy="1383268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5243988" y="3440668"/>
            <a:ext cx="2680812" cy="369332"/>
            <a:chOff x="4939188" y="3440668"/>
            <a:chExt cx="2680812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4939188" y="3440668"/>
                  <a:ext cx="3186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9188" y="3440668"/>
                  <a:ext cx="318612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264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Straight Connector 30"/>
            <p:cNvCxnSpPr>
              <a:stCxn id="6" idx="1"/>
              <a:endCxn id="25" idx="1"/>
            </p:cNvCxnSpPr>
            <p:nvPr/>
          </p:nvCxnSpPr>
          <p:spPr>
            <a:xfrm>
              <a:off x="5334000" y="3657600"/>
              <a:ext cx="2286000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Rectangle 31"/>
          <p:cNvSpPr/>
          <p:nvPr/>
        </p:nvSpPr>
        <p:spPr>
          <a:xfrm>
            <a:off x="7848600" y="3886200"/>
            <a:ext cx="457200" cy="4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8077200" y="3581400"/>
            <a:ext cx="0" cy="493984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934200" y="3886200"/>
            <a:ext cx="457200" cy="4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7162800" y="3657601"/>
            <a:ext cx="904351" cy="457199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5182380" y="2133600"/>
            <a:ext cx="456420" cy="3124200"/>
            <a:chOff x="4876800" y="2057400"/>
            <a:chExt cx="456420" cy="3124200"/>
          </a:xfrm>
        </p:grpSpPr>
        <p:sp>
          <p:nvSpPr>
            <p:cNvPr id="37" name="TextBox 36"/>
            <p:cNvSpPr txBox="1"/>
            <p:nvPr/>
          </p:nvSpPr>
          <p:spPr>
            <a:xfrm>
              <a:off x="4953000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956114" y="4355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/>
                <p:cNvSpPr txBox="1"/>
                <p:nvPr/>
              </p:nvSpPr>
              <p:spPr>
                <a:xfrm>
                  <a:off x="4876800" y="2057400"/>
                  <a:ext cx="3745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800" y="2057400"/>
                  <a:ext cx="374590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9672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/>
            <p:cNvSpPr txBox="1"/>
            <p:nvPr/>
          </p:nvSpPr>
          <p:spPr>
            <a:xfrm rot="5173825">
              <a:off x="4976872" y="3822882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5666111" y="5269469"/>
                <a:ext cx="36302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1     2          ...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b="0" i="0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111" y="5269469"/>
                <a:ext cx="3630289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1342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/>
          <p:cNvGrpSpPr/>
          <p:nvPr/>
        </p:nvGrpSpPr>
        <p:grpSpPr>
          <a:xfrm>
            <a:off x="7010400" y="4343400"/>
            <a:ext cx="318612" cy="1283732"/>
            <a:chOff x="7543800" y="4343400"/>
            <a:chExt cx="318612" cy="12837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7543800" y="5257800"/>
                  <a:ext cx="3186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3800" y="5257800"/>
                  <a:ext cx="318612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8333" r="-23077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Straight Connector 43"/>
            <p:cNvCxnSpPr>
              <a:stCxn id="34" idx="2"/>
            </p:cNvCxnSpPr>
            <p:nvPr/>
          </p:nvCxnSpPr>
          <p:spPr>
            <a:xfrm>
              <a:off x="7696200" y="4343400"/>
              <a:ext cx="0" cy="926068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152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 animBg="1"/>
      <p:bldP spid="32" grpId="0" animBg="1"/>
      <p:bldP spid="34" grpId="0" animBg="1"/>
      <p:bldP spid="4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Iterative algorithm </a:t>
            </a:r>
            <a:r>
              <a:rPr lang="en-US" sz="3200" b="1" dirty="0"/>
              <a:t>for Optimal </a:t>
            </a:r>
            <a:r>
              <a:rPr lang="en-US" sz="3200" b="1" dirty="0" err="1"/>
              <a:t>Bitonic</a:t>
            </a:r>
            <a:r>
              <a:rPr lang="en-US" sz="3200" b="1" dirty="0"/>
              <a:t> tour</a:t>
            </a:r>
            <a:br>
              <a:rPr lang="en-US" sz="3200" dirty="0"/>
            </a:br>
            <a:endParaRPr lang="en-US" sz="32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200" y="1600200"/>
                <a:ext cx="4419600" cy="495604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Iterative-</a:t>
                </a:r>
                <a:r>
                  <a:rPr lang="en-US" sz="2000" b="1" dirty="0" err="1">
                    <a:solidFill>
                      <a:srgbClr val="006C31"/>
                    </a:solidFill>
                  </a:rPr>
                  <a:t>bitonic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-tour</a:t>
                </a:r>
                <a:r>
                  <a:rPr lang="en-US" sz="2000" dirty="0"/>
                  <a:t>{   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Add </a:t>
                </a:r>
                <a:r>
                  <a:rPr lang="en-US" sz="2000" dirty="0"/>
                  <a:t>one more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for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=1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2000" dirty="0"/>
                  <a:t>)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] 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for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  </a:t>
                </a:r>
                <a:r>
                  <a:rPr lang="en-US" sz="2000" b="1" dirty="0"/>
                  <a:t>for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0" i="1">
                        <a:solidFill>
                          <a:srgbClr val="0070C0"/>
                        </a:solidFill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{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 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  <m:r>
                      <a:rPr lang="en-US" sz="2000" b="0" dirty="0">
                        <a:latin typeface="Cambria Math"/>
                      </a:rPr>
                      <m:t>,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 +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0070C0"/>
                    </a:solidFill>
                  </a:rPr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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  <m:r>
                      <a:rPr lang="en-US" sz="2000" b="0" dirty="0">
                        <a:latin typeface="Cambria Math"/>
                      </a:rPr>
                      <m:t>,</m:t>
                    </m:r>
                    <m:r>
                      <a:rPr lang="en-US" sz="2000" b="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 +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𝒑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;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  <a:endParaRPr lang="en-US" sz="2000" b="1" i="1" dirty="0">
                  <a:solidFill>
                    <a:srgbClr val="C0000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          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</m:oMath>
                </a14:m>
                <a:r>
                  <a:rPr lang="en-US" sz="2000" dirty="0"/>
                  <a:t>] 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𝑚𝑖𝑛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  <a:p>
                <a:pPr marL="0" indent="0">
                  <a:buNone/>
                </a:pPr>
                <a:r>
                  <a:rPr lang="en-US" sz="2000" dirty="0"/>
                  <a:t>Return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6C31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[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r>
                  <a:rPr lang="en-US" sz="2000" dirty="0"/>
                  <a:t>] 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200" y="1600200"/>
                <a:ext cx="4419600" cy="4956048"/>
              </a:xfrm>
              <a:blipFill rotWithShape="1">
                <a:blip r:embed="rId2"/>
                <a:stretch>
                  <a:fillRect l="-1379" t="-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495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71" name="Rectangle 70"/>
          <p:cNvSpPr/>
          <p:nvPr/>
        </p:nvSpPr>
        <p:spPr>
          <a:xfrm>
            <a:off x="7543800" y="3429000"/>
            <a:ext cx="457200" cy="4572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Down Ribbon 4"/>
              <p:cNvSpPr/>
              <p:nvPr/>
            </p:nvSpPr>
            <p:spPr>
              <a:xfrm>
                <a:off x="3810000" y="5715000"/>
                <a:ext cx="2819400" cy="84124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Time complexity: 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5" name="Down Ribbon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5715000"/>
                <a:ext cx="2819400" cy="84124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/>
          <p:cNvSpPr/>
          <p:nvPr/>
        </p:nvSpPr>
        <p:spPr>
          <a:xfrm>
            <a:off x="7543800" y="3886200"/>
            <a:ext cx="457200" cy="4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0" name="Straight Arrow Connector 89"/>
          <p:cNvCxnSpPr/>
          <p:nvPr/>
        </p:nvCxnSpPr>
        <p:spPr>
          <a:xfrm flipV="1">
            <a:off x="7772400" y="3581400"/>
            <a:ext cx="0" cy="493984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6172200" y="3886200"/>
            <a:ext cx="457200" cy="4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7" name="Straight Arrow Connector 86"/>
          <p:cNvCxnSpPr/>
          <p:nvPr/>
        </p:nvCxnSpPr>
        <p:spPr>
          <a:xfrm flipV="1">
            <a:off x="6400800" y="3657600"/>
            <a:ext cx="1361551" cy="502349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/>
          <p:cNvGrpSpPr/>
          <p:nvPr/>
        </p:nvGrpSpPr>
        <p:grpSpPr>
          <a:xfrm>
            <a:off x="5562600" y="2057400"/>
            <a:ext cx="3276600" cy="3217127"/>
            <a:chOff x="5257800" y="2057400"/>
            <a:chExt cx="3276600" cy="3217127"/>
          </a:xfrm>
        </p:grpSpPr>
        <p:sp>
          <p:nvSpPr>
            <p:cNvPr id="53" name="Rectangle 52"/>
            <p:cNvSpPr/>
            <p:nvPr/>
          </p:nvSpPr>
          <p:spPr>
            <a:xfrm>
              <a:off x="5257800" y="2057400"/>
              <a:ext cx="3276600" cy="32004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54"/>
            <p:cNvCxnSpPr/>
            <p:nvPr/>
          </p:nvCxnSpPr>
          <p:spPr>
            <a:xfrm>
              <a:off x="61722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66294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flipH="1">
              <a:off x="7081024" y="2057400"/>
              <a:ext cx="5576" cy="32171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7543800" y="2057400"/>
              <a:ext cx="0" cy="32171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80010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5257800" y="25146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5257800" y="29718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5257800" y="34290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>
              <a:off x="5257800" y="38862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>
              <a:off x="5257800" y="43434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/>
          </p:nvCxnSpPr>
          <p:spPr>
            <a:xfrm>
              <a:off x="5257800" y="4800600"/>
              <a:ext cx="3276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5715000" y="2057400"/>
              <a:ext cx="0" cy="3200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6934200" y="5638800"/>
                <a:ext cx="380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6C31"/>
                          </a:solidFill>
                          <a:latin typeface="Cambria Math"/>
                        </a:rPr>
                        <m:t>𝑻</m:t>
                      </m:r>
                    </m:oMath>
                  </m:oMathPara>
                </a14:m>
                <a:endParaRPr lang="en-US" b="1" dirty="0">
                  <a:solidFill>
                    <a:srgbClr val="006C31"/>
                  </a:solidFill>
                </a:endParaRPr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5638800"/>
                <a:ext cx="380489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935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ectangle 87"/>
          <p:cNvSpPr/>
          <p:nvPr/>
        </p:nvSpPr>
        <p:spPr>
          <a:xfrm>
            <a:off x="7848600" y="3429000"/>
            <a:ext cx="457200" cy="4572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3" name="Group 92"/>
          <p:cNvGrpSpPr/>
          <p:nvPr/>
        </p:nvGrpSpPr>
        <p:grpSpPr>
          <a:xfrm>
            <a:off x="5243988" y="3440668"/>
            <a:ext cx="2680812" cy="369332"/>
            <a:chOff x="4939188" y="3440668"/>
            <a:chExt cx="2680812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/>
                <p:cNvSpPr txBox="1"/>
                <p:nvPr/>
              </p:nvSpPr>
              <p:spPr>
                <a:xfrm>
                  <a:off x="4939188" y="3440668"/>
                  <a:ext cx="3186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3" name="TextBox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9188" y="3440668"/>
                  <a:ext cx="318612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8197" r="-2264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5" name="Straight Connector 94"/>
            <p:cNvCxnSpPr>
              <a:stCxn id="53" idx="1"/>
              <a:endCxn id="88" idx="1"/>
            </p:cNvCxnSpPr>
            <p:nvPr/>
          </p:nvCxnSpPr>
          <p:spPr>
            <a:xfrm>
              <a:off x="5334000" y="3657600"/>
              <a:ext cx="2286000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Rectangle 95"/>
          <p:cNvSpPr/>
          <p:nvPr/>
        </p:nvSpPr>
        <p:spPr>
          <a:xfrm>
            <a:off x="7848600" y="3886200"/>
            <a:ext cx="457200" cy="4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Arrow Connector 96"/>
          <p:cNvCxnSpPr/>
          <p:nvPr/>
        </p:nvCxnSpPr>
        <p:spPr>
          <a:xfrm flipV="1">
            <a:off x="8077200" y="3581400"/>
            <a:ext cx="0" cy="493984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6934200" y="3886200"/>
            <a:ext cx="457200" cy="4572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5666111" y="5257800"/>
                <a:ext cx="36302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1     2          ...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b="0" i="0" smtClean="0">
                        <a:solidFill>
                          <a:srgbClr val="0070C0"/>
                        </a:solidFill>
                        <a:latin typeface="Cambria Math"/>
                      </a:rPr>
                      <m:t>+1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111" y="5257800"/>
                <a:ext cx="3630289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1342"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6" name="Group 105"/>
          <p:cNvGrpSpPr/>
          <p:nvPr/>
        </p:nvGrpSpPr>
        <p:grpSpPr>
          <a:xfrm>
            <a:off x="5182380" y="2133600"/>
            <a:ext cx="456420" cy="3124200"/>
            <a:chOff x="4876800" y="2057400"/>
            <a:chExt cx="456420" cy="3124200"/>
          </a:xfrm>
        </p:grpSpPr>
        <p:sp>
          <p:nvSpPr>
            <p:cNvPr id="107" name="TextBox 106"/>
            <p:cNvSpPr txBox="1"/>
            <p:nvPr/>
          </p:nvSpPr>
          <p:spPr>
            <a:xfrm>
              <a:off x="4953000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4956114" y="4355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TextBox 108"/>
                <p:cNvSpPr txBox="1"/>
                <p:nvPr/>
              </p:nvSpPr>
              <p:spPr>
                <a:xfrm>
                  <a:off x="4876800" y="2057400"/>
                  <a:ext cx="3745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800" y="2057400"/>
                  <a:ext cx="374590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333" r="-19672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0" name="TextBox 109"/>
            <p:cNvSpPr txBox="1"/>
            <p:nvPr/>
          </p:nvSpPr>
          <p:spPr>
            <a:xfrm rot="5173825">
              <a:off x="4976872" y="3822882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</a:t>
              </a:r>
            </a:p>
          </p:txBody>
        </p:sp>
      </p:grpSp>
      <p:cxnSp>
        <p:nvCxnSpPr>
          <p:cNvPr id="43" name="Straight Arrow Connector 42"/>
          <p:cNvCxnSpPr/>
          <p:nvPr/>
        </p:nvCxnSpPr>
        <p:spPr>
          <a:xfrm flipV="1">
            <a:off x="7162800" y="3657601"/>
            <a:ext cx="904351" cy="457199"/>
          </a:xfrm>
          <a:prstGeom prst="straightConnector1">
            <a:avLst/>
          </a:prstGeom>
          <a:ln w="38100">
            <a:solidFill>
              <a:srgbClr val="006C3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5562600" y="4800600"/>
            <a:ext cx="3276600" cy="457200"/>
            <a:chOff x="5562600" y="4800600"/>
            <a:chExt cx="3276600" cy="457200"/>
          </a:xfrm>
        </p:grpSpPr>
        <p:sp>
          <p:nvSpPr>
            <p:cNvPr id="44" name="Rectangle 43"/>
            <p:cNvSpPr/>
            <p:nvPr/>
          </p:nvSpPr>
          <p:spPr>
            <a:xfrm>
              <a:off x="5562600" y="4800600"/>
              <a:ext cx="457200" cy="457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019800" y="4800600"/>
              <a:ext cx="457200" cy="457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477000" y="4800600"/>
              <a:ext cx="457200" cy="457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934200" y="4800600"/>
              <a:ext cx="457200" cy="457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391400" y="4800600"/>
              <a:ext cx="457200" cy="457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7848600" y="4800600"/>
              <a:ext cx="457200" cy="457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8305800" y="4800600"/>
              <a:ext cx="533400" cy="45720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7904703" y="3886200"/>
            <a:ext cx="324897" cy="1752600"/>
            <a:chOff x="7599903" y="3886200"/>
            <a:chExt cx="324897" cy="1752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/>
                <p:cNvSpPr txBox="1"/>
                <p:nvPr/>
              </p:nvSpPr>
              <p:spPr>
                <a:xfrm>
                  <a:off x="7599903" y="5269468"/>
                  <a:ext cx="3248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2" name="TextBox 7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9903" y="5269468"/>
                  <a:ext cx="324897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264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2" name="Straight Connector 91"/>
            <p:cNvCxnSpPr>
              <a:stCxn id="88" idx="2"/>
            </p:cNvCxnSpPr>
            <p:nvPr/>
          </p:nvCxnSpPr>
          <p:spPr>
            <a:xfrm>
              <a:off x="7772400" y="3886200"/>
              <a:ext cx="33076" cy="1383268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826028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6C31"/>
                </a:solidFill>
              </a:rPr>
              <a:t>Lessons</a:t>
            </a:r>
            <a:r>
              <a:rPr lang="en-US" b="1" dirty="0"/>
              <a:t> learnt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4525963"/>
          </a:xfrm>
        </p:spPr>
        <p:txBody>
          <a:bodyPr/>
          <a:lstStyle/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There may be </a:t>
            </a:r>
            <a:r>
              <a:rPr lang="en-US" sz="2400" b="1" dirty="0">
                <a:solidFill>
                  <a:srgbClr val="7030A0"/>
                </a:solidFill>
              </a:rPr>
              <a:t>multiple parameter</a:t>
            </a:r>
            <a:r>
              <a:rPr lang="en-US" sz="2400" dirty="0"/>
              <a:t> term </a:t>
            </a:r>
          </a:p>
          <a:p>
            <a:pPr marL="0" indent="0">
              <a:buNone/>
            </a:pPr>
            <a:r>
              <a:rPr lang="en-US" sz="2400" dirty="0"/>
              <a:t>      </a:t>
            </a:r>
            <a:r>
              <a:rPr lang="en-US" sz="2400" u="sng" dirty="0"/>
              <a:t>hidden</a:t>
            </a:r>
            <a:r>
              <a:rPr lang="en-US" sz="2400" dirty="0"/>
              <a:t> in the recursive formulation.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Sometimes </a:t>
            </a:r>
            <a:r>
              <a:rPr lang="en-US" sz="2400" b="1" dirty="0" err="1">
                <a:solidFill>
                  <a:srgbClr val="7030A0"/>
                </a:solidFill>
              </a:rPr>
              <a:t>generalizaton</a:t>
            </a:r>
            <a:r>
              <a:rPr lang="en-US" sz="2400" dirty="0"/>
              <a:t> helps !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50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25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828800"/>
            <a:ext cx="7772400" cy="1362075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Shortest </a:t>
            </a:r>
            <a:r>
              <a:rPr lang="en-US" sz="3200" dirty="0" err="1">
                <a:solidFill>
                  <a:srgbClr val="7030A0"/>
                </a:solidFill>
              </a:rPr>
              <a:t>pathS</a:t>
            </a:r>
            <a:r>
              <a:rPr lang="en-US" sz="3200" dirty="0">
                <a:solidFill>
                  <a:srgbClr val="7030A0"/>
                </a:solidFill>
              </a:rPr>
              <a:t> in a graph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 presence of </a:t>
            </a:r>
            <a:r>
              <a:rPr lang="en-US" sz="2800" b="1" dirty="0">
                <a:solidFill>
                  <a:srgbClr val="C00000"/>
                </a:solidFill>
              </a:rPr>
              <a:t>negative </a:t>
            </a:r>
            <a:r>
              <a:rPr lang="en-US" sz="2800" b="1" dirty="0">
                <a:solidFill>
                  <a:schemeClr val="tx1"/>
                </a:solidFill>
              </a:rPr>
              <a:t>edge weights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81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</a:rPr>
              <a:t>Violating</a:t>
            </a:r>
            <a:r>
              <a:rPr lang="en-US" sz="3200" b="1" dirty="0"/>
              <a:t> the</a:t>
            </a:r>
            <a:r>
              <a:rPr lang="en-US" sz="3200" b="1" dirty="0">
                <a:solidFill>
                  <a:srgbClr val="006C31"/>
                </a:solidFill>
              </a:rPr>
              <a:t> Optimal </a:t>
            </a:r>
            <a:r>
              <a:rPr lang="en-US" sz="3200" b="1" dirty="0" err="1">
                <a:solidFill>
                  <a:srgbClr val="006C31"/>
                </a:solidFill>
              </a:rPr>
              <a:t>subpath</a:t>
            </a:r>
            <a:r>
              <a:rPr lang="en-US" sz="3200" b="1" dirty="0"/>
              <a:t> property</a:t>
            </a:r>
            <a:br>
              <a:rPr lang="en-US" sz="3200" b="1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Property 1</a:t>
                </a:r>
                <a:r>
                  <a:rPr lang="en-US" sz="2000" dirty="0"/>
                  <a:t>: Any </a:t>
                </a:r>
                <a:r>
                  <a:rPr lang="en-US" sz="2000" dirty="0" err="1"/>
                  <a:t>subpath</a:t>
                </a:r>
                <a:r>
                  <a:rPr lang="en-US" sz="2000" dirty="0"/>
                  <a:t> of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is also a shortest path.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=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=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To show the violation, we need to come up with </a:t>
                </a:r>
              </a:p>
              <a:p>
                <a:pPr marL="0" indent="0">
                  <a:buNone/>
                </a:pPr>
                <a:r>
                  <a:rPr lang="en-US" sz="1800" dirty="0"/>
                  <a:t>a path to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1800" dirty="0"/>
                  <a:t> of length &lt;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60</a:t>
                </a:r>
                <a:r>
                  <a:rPr lang="en-US" sz="1800" dirty="0"/>
                  <a:t> that passes through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r>
                  <a:rPr lang="en-US" sz="1800" dirty="0"/>
                  <a:t>and still keeping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1800" b="1" i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1800" b="1" i="1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=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5</a:t>
                </a:r>
                <a:r>
                  <a:rPr lang="en-US" sz="1800" dirty="0"/>
                  <a:t>.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>
                <a:blip r:embed="rId2"/>
                <a:stretch>
                  <a:fillRect l="-772" t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grpSp>
        <p:nvGrpSpPr>
          <p:cNvPr id="103" name="Group 102"/>
          <p:cNvGrpSpPr/>
          <p:nvPr/>
        </p:nvGrpSpPr>
        <p:grpSpPr>
          <a:xfrm>
            <a:off x="3048000" y="2971800"/>
            <a:ext cx="3165110" cy="310754"/>
            <a:chOff x="3048000" y="2968823"/>
            <a:chExt cx="3165110" cy="310754"/>
          </a:xfrm>
        </p:grpSpPr>
        <p:sp>
          <p:nvSpPr>
            <p:cNvPr id="29" name="TextBox 28"/>
            <p:cNvSpPr txBox="1"/>
            <p:nvPr/>
          </p:nvSpPr>
          <p:spPr>
            <a:xfrm>
              <a:off x="4038600" y="2971800"/>
              <a:ext cx="421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-20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912090" y="29718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10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791200" y="2971800"/>
              <a:ext cx="421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-55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048000" y="29688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70</a:t>
              </a:r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5423792" y="3730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10</a:t>
            </a:r>
          </a:p>
        </p:txBody>
      </p:sp>
      <p:grpSp>
        <p:nvGrpSpPr>
          <p:cNvPr id="107" name="Group 106"/>
          <p:cNvGrpSpPr/>
          <p:nvPr/>
        </p:nvGrpSpPr>
        <p:grpSpPr>
          <a:xfrm>
            <a:off x="2924362" y="1752600"/>
            <a:ext cx="3676276" cy="841177"/>
            <a:chOff x="2924362" y="1752600"/>
            <a:chExt cx="3676276" cy="841177"/>
          </a:xfrm>
        </p:grpSpPr>
        <p:sp>
          <p:nvSpPr>
            <p:cNvPr id="59" name="TextBox 58"/>
            <p:cNvSpPr txBox="1"/>
            <p:nvPr/>
          </p:nvSpPr>
          <p:spPr>
            <a:xfrm>
              <a:off x="3747392" y="1752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2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676962" y="1752600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-3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460660" y="17526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10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324600" y="22830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2924362" y="2286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5</a:t>
              </a:r>
            </a:p>
          </p:txBody>
        </p:sp>
      </p:grpSp>
      <p:grpSp>
        <p:nvGrpSpPr>
          <p:cNvPr id="200" name="Group 199"/>
          <p:cNvGrpSpPr/>
          <p:nvPr/>
        </p:nvGrpSpPr>
        <p:grpSpPr>
          <a:xfrm>
            <a:off x="2819400" y="2057398"/>
            <a:ext cx="3668820" cy="838202"/>
            <a:chOff x="2819400" y="2057398"/>
            <a:chExt cx="3668820" cy="838202"/>
          </a:xfrm>
        </p:grpSpPr>
        <p:cxnSp>
          <p:nvCxnSpPr>
            <p:cNvPr id="158" name="Straight Connector 157"/>
            <p:cNvCxnSpPr/>
            <p:nvPr/>
          </p:nvCxnSpPr>
          <p:spPr>
            <a:xfrm flipH="1">
              <a:off x="2819400" y="2111281"/>
              <a:ext cx="637562" cy="784319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/>
          </p:nvCxnSpPr>
          <p:spPr>
            <a:xfrm>
              <a:off x="3587044" y="2057398"/>
              <a:ext cx="762000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>
            <a:xfrm>
              <a:off x="4495800" y="2057398"/>
              <a:ext cx="6914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>
              <a:off x="5334000" y="2057399"/>
              <a:ext cx="6914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>
            <a:xfrm flipH="1" flipV="1">
              <a:off x="6155526" y="2111280"/>
              <a:ext cx="332694" cy="784318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2" name="Group 171"/>
          <p:cNvGrpSpPr/>
          <p:nvPr/>
        </p:nvGrpSpPr>
        <p:grpSpPr>
          <a:xfrm>
            <a:off x="4676962" y="2590799"/>
            <a:ext cx="1800038" cy="1143001"/>
            <a:chOff x="4829362" y="2743199"/>
            <a:chExt cx="1800038" cy="1143001"/>
          </a:xfrm>
        </p:grpSpPr>
        <p:sp>
          <p:nvSpPr>
            <p:cNvPr id="170" name="Arc 169"/>
            <p:cNvSpPr/>
            <p:nvPr/>
          </p:nvSpPr>
          <p:spPr>
            <a:xfrm rot="10800000">
              <a:off x="4829362" y="2743199"/>
              <a:ext cx="1800038" cy="1143001"/>
            </a:xfrm>
            <a:prstGeom prst="arc">
              <a:avLst>
                <a:gd name="adj1" fmla="val 10248252"/>
                <a:gd name="adj2" fmla="val 0"/>
              </a:avLst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1" name="Straight Arrow Connector 170"/>
            <p:cNvCxnSpPr/>
            <p:nvPr/>
          </p:nvCxnSpPr>
          <p:spPr>
            <a:xfrm flipV="1">
              <a:off x="4829362" y="3162299"/>
              <a:ext cx="0" cy="1905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4676962" y="2590800"/>
            <a:ext cx="1800038" cy="1143001"/>
            <a:chOff x="6234808" y="3429000"/>
            <a:chExt cx="1613792" cy="1143000"/>
          </a:xfrm>
        </p:grpSpPr>
        <p:sp>
          <p:nvSpPr>
            <p:cNvPr id="71" name="Arc 70"/>
            <p:cNvSpPr/>
            <p:nvPr/>
          </p:nvSpPr>
          <p:spPr>
            <a:xfrm rot="10800000">
              <a:off x="6234808" y="3429000"/>
              <a:ext cx="1613792" cy="1143000"/>
            </a:xfrm>
            <a:prstGeom prst="arc">
              <a:avLst>
                <a:gd name="adj1" fmla="val 10248252"/>
                <a:gd name="adj2" fmla="val 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Arrow Connector 73"/>
            <p:cNvCxnSpPr/>
            <p:nvPr/>
          </p:nvCxnSpPr>
          <p:spPr>
            <a:xfrm flipV="1">
              <a:off x="6234808" y="3848100"/>
              <a:ext cx="0" cy="1905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/>
        </p:nvGrpSpPr>
        <p:grpSpPr>
          <a:xfrm>
            <a:off x="2819400" y="1981199"/>
            <a:ext cx="3668820" cy="914401"/>
            <a:chOff x="2819400" y="1981200"/>
            <a:chExt cx="3668820" cy="914401"/>
          </a:xfrm>
        </p:grpSpPr>
        <p:grpSp>
          <p:nvGrpSpPr>
            <p:cNvPr id="180" name="Group 179"/>
            <p:cNvGrpSpPr/>
            <p:nvPr/>
          </p:nvGrpSpPr>
          <p:grpSpPr>
            <a:xfrm>
              <a:off x="3352800" y="1981200"/>
              <a:ext cx="380232" cy="457200"/>
              <a:chOff x="4566356" y="2819400"/>
              <a:chExt cx="380232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5" name="TextBox 194"/>
                  <p:cNvSpPr txBox="1"/>
                  <p:nvPr/>
                </p:nvSpPr>
                <p:spPr>
                  <a:xfrm>
                    <a:off x="4566356" y="2907268"/>
                    <a:ext cx="38023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𝒂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5" name="TextBox 19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80232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6" name="Oval 195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1" name="Group 180"/>
            <p:cNvGrpSpPr/>
            <p:nvPr/>
          </p:nvGrpSpPr>
          <p:grpSpPr>
            <a:xfrm>
              <a:off x="4267200" y="1981200"/>
              <a:ext cx="377026" cy="457200"/>
              <a:chOff x="4566356" y="2819400"/>
              <a:chExt cx="377026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3" name="TextBox 192"/>
                  <p:cNvSpPr txBox="1"/>
                  <p:nvPr/>
                </p:nvSpPr>
                <p:spPr>
                  <a:xfrm>
                    <a:off x="4566356" y="2907268"/>
                    <a:ext cx="37702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𝒃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3" name="TextBox 1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7026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4" name="Oval 193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2" name="Group 181"/>
            <p:cNvGrpSpPr/>
            <p:nvPr/>
          </p:nvGrpSpPr>
          <p:grpSpPr>
            <a:xfrm>
              <a:off x="5105400" y="1981200"/>
              <a:ext cx="354584" cy="457200"/>
              <a:chOff x="4566356" y="2819400"/>
              <a:chExt cx="35458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1" name="TextBox 190"/>
                  <p:cNvSpPr txBox="1"/>
                  <p:nvPr/>
                </p:nvSpPr>
                <p:spPr>
                  <a:xfrm>
                    <a:off x="4566356" y="2907268"/>
                    <a:ext cx="35458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𝒄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1" name="TextBox 19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54584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2241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2" name="Oval 191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3" name="Group 182"/>
            <p:cNvGrpSpPr/>
            <p:nvPr/>
          </p:nvGrpSpPr>
          <p:grpSpPr>
            <a:xfrm>
              <a:off x="5867400" y="1981200"/>
              <a:ext cx="367408" cy="457200"/>
              <a:chOff x="4490156" y="2819400"/>
              <a:chExt cx="367408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9" name="TextBox 188"/>
                  <p:cNvSpPr txBox="1"/>
                  <p:nvPr/>
                </p:nvSpPr>
                <p:spPr>
                  <a:xfrm>
                    <a:off x="4490156" y="2907268"/>
                    <a:ext cx="36740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𝒇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9" name="TextBox 18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90156" y="2907268"/>
                    <a:ext cx="367408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0" name="Oval 18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84" name="Straight Arrow Connector 183"/>
            <p:cNvCxnSpPr>
              <a:endCxn id="196" idx="3"/>
            </p:cNvCxnSpPr>
            <p:nvPr/>
          </p:nvCxnSpPr>
          <p:spPr>
            <a:xfrm flipV="1">
              <a:off x="2819400" y="2111282"/>
              <a:ext cx="637562" cy="7843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Arrow Connector 184"/>
            <p:cNvCxnSpPr>
              <a:stCxn id="196" idx="6"/>
              <a:endCxn id="194" idx="2"/>
            </p:cNvCxnSpPr>
            <p:nvPr/>
          </p:nvCxnSpPr>
          <p:spPr>
            <a:xfrm>
              <a:off x="3587044" y="205740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/>
            <p:cNvCxnSpPr>
              <a:endCxn id="192" idx="2"/>
            </p:cNvCxnSpPr>
            <p:nvPr/>
          </p:nvCxnSpPr>
          <p:spPr>
            <a:xfrm>
              <a:off x="4495800" y="2057400"/>
              <a:ext cx="6914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/>
            <p:cNvCxnSpPr>
              <a:endCxn id="190" idx="2"/>
            </p:cNvCxnSpPr>
            <p:nvPr/>
          </p:nvCxnSpPr>
          <p:spPr>
            <a:xfrm>
              <a:off x="5334000" y="2057400"/>
              <a:ext cx="6914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/>
            <p:cNvCxnSpPr>
              <a:stCxn id="190" idx="5"/>
            </p:cNvCxnSpPr>
            <p:nvPr/>
          </p:nvCxnSpPr>
          <p:spPr>
            <a:xfrm>
              <a:off x="6155526" y="2111282"/>
              <a:ext cx="332694" cy="7843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9" name="Group 198"/>
          <p:cNvGrpSpPr/>
          <p:nvPr/>
        </p:nvGrpSpPr>
        <p:grpSpPr>
          <a:xfrm>
            <a:off x="4724400" y="2971799"/>
            <a:ext cx="838200" cy="1"/>
            <a:chOff x="4724400" y="2971799"/>
            <a:chExt cx="838200" cy="1"/>
          </a:xfrm>
        </p:grpSpPr>
        <p:cxnSp>
          <p:nvCxnSpPr>
            <p:cNvPr id="177" name="Straight Connector 176"/>
            <p:cNvCxnSpPr>
              <a:endCxn id="17" idx="2"/>
            </p:cNvCxnSpPr>
            <p:nvPr/>
          </p:nvCxnSpPr>
          <p:spPr>
            <a:xfrm>
              <a:off x="4724400" y="2971800"/>
              <a:ext cx="7676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Arrow Connector 196"/>
            <p:cNvCxnSpPr/>
            <p:nvPr/>
          </p:nvCxnSpPr>
          <p:spPr>
            <a:xfrm>
              <a:off x="5283740" y="2971799"/>
              <a:ext cx="278860" cy="1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2466419" y="2895600"/>
            <a:ext cx="4391581" cy="457200"/>
            <a:chOff x="2466419" y="2895600"/>
            <a:chExt cx="4391581" cy="457200"/>
          </a:xfrm>
        </p:grpSpPr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4343400" y="2895600"/>
              <a:ext cx="386644" cy="445532"/>
              <a:chOff x="4413956" y="2819400"/>
              <a:chExt cx="386644" cy="4455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21311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3575756" y="2895600"/>
              <a:ext cx="386644" cy="457200"/>
              <a:chOff x="4566356" y="2819400"/>
              <a:chExt cx="38664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63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13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410200" y="2895600"/>
              <a:ext cx="370614" cy="457200"/>
              <a:chOff x="4566356" y="2819400"/>
              <a:chExt cx="37061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6412020" y="2895600"/>
              <a:ext cx="445980" cy="369332"/>
              <a:chOff x="4648200" y="2819400"/>
              <a:chExt cx="445980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Oval 1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1" name="Straight Arrow Connector 20"/>
            <p:cNvCxnSpPr>
              <a:stCxn id="7" idx="6"/>
              <a:endCxn id="14" idx="2"/>
            </p:cNvCxnSpPr>
            <p:nvPr/>
          </p:nvCxnSpPr>
          <p:spPr>
            <a:xfrm>
              <a:off x="2895600" y="297180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endCxn id="10" idx="2"/>
            </p:cNvCxnSpPr>
            <p:nvPr/>
          </p:nvCxnSpPr>
          <p:spPr>
            <a:xfrm>
              <a:off x="38100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47244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56388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  <m:r>
                        <a:rPr lang="en-US" b="1" i="1" dirty="0"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333" r="-789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/>
          <p:cNvGrpSpPr/>
          <p:nvPr/>
        </p:nvGrpSpPr>
        <p:grpSpPr>
          <a:xfrm rot="10800000">
            <a:off x="2819400" y="3276599"/>
            <a:ext cx="2743200" cy="669667"/>
            <a:chOff x="3505200" y="2759333"/>
            <a:chExt cx="2743200" cy="669667"/>
          </a:xfrm>
        </p:grpSpPr>
        <p:sp>
          <p:nvSpPr>
            <p:cNvPr id="73" name="Right Brace 72"/>
            <p:cNvSpPr/>
            <p:nvPr/>
          </p:nvSpPr>
          <p:spPr>
            <a:xfrm rot="16200000">
              <a:off x="4680467" y="1861067"/>
              <a:ext cx="392666" cy="2743200"/>
            </a:xfrm>
            <a:prstGeom prst="rightBrac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/>
            <p:cNvSpPr txBox="1"/>
            <p:nvPr/>
          </p:nvSpPr>
          <p:spPr>
            <a:xfrm rot="10800000">
              <a:off x="4610496" y="2759333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60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5257800" y="3657600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&lt; </a:t>
            </a:r>
            <a:r>
              <a:rPr lang="en-US" sz="1400" b="1" dirty="0">
                <a:solidFill>
                  <a:srgbClr val="7030A0"/>
                </a:solidFill>
              </a:rP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" y="1535668"/>
            <a:ext cx="301686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5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524000" y="1905000"/>
            <a:ext cx="418704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40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1752600" y="1143000"/>
                <a:ext cx="639841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If 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b="1" i="1" dirty="0"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b="1" i="1" dirty="0" smtClean="0">
                        <a:latin typeface="Cambria Math"/>
                      </a:rPr>
                      <m:t>=</m:t>
                    </m:r>
                    <m:r>
                      <a:rPr lang="en-US" b="1" i="1" dirty="0" smtClean="0">
                        <a:latin typeface="Cambria Math"/>
                      </a:rPr>
                      <m:t>𝑸</m:t>
                    </m:r>
                    <m:r>
                      <a:rPr lang="en-US" b="1" i="1" dirty="0" smtClean="0">
                        <a:latin typeface="Cambria Math"/>
                      </a:rPr>
                      <m:t>∷(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b="1" i="1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𝑸</m:t>
                    </m:r>
                  </m:oMath>
                </a14:m>
                <a:r>
                  <a:rPr lang="en-US" dirty="0"/>
                  <a:t> is the shortest path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143000"/>
                <a:ext cx="6398418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858"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/>
          <p:cNvSpPr/>
          <p:nvPr/>
        </p:nvSpPr>
        <p:spPr>
          <a:xfrm>
            <a:off x="2924174" y="4343401"/>
            <a:ext cx="2184047" cy="5333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BFE47A-9F5A-EAA2-2583-05E0FF811A4D}"/>
              </a:ext>
            </a:extLst>
          </p:cNvPr>
          <p:cNvSpPr/>
          <p:nvPr/>
        </p:nvSpPr>
        <p:spPr>
          <a:xfrm>
            <a:off x="2274374" y="2568610"/>
            <a:ext cx="5117026" cy="7241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A8B011-55C2-4D1F-F49F-2FE64EED671D}"/>
              </a:ext>
            </a:extLst>
          </p:cNvPr>
          <p:cNvSpPr/>
          <p:nvPr/>
        </p:nvSpPr>
        <p:spPr>
          <a:xfrm>
            <a:off x="365660" y="1066671"/>
            <a:ext cx="7711539" cy="5333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899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7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7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75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1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1" dur="2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78" grpId="0"/>
      <p:bldP spid="76" grpId="0"/>
      <p:bldP spid="76" grpId="1"/>
      <p:bldP spid="22" grpId="0" uiExpand="1" animBg="1"/>
      <p:bldP spid="23" grpId="0" animBg="1"/>
      <p:bldP spid="35" grpId="0" animBg="1"/>
      <p:bldP spid="25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</a:rPr>
              <a:t>Violating</a:t>
            </a:r>
            <a:r>
              <a:rPr lang="en-US" sz="3200" b="1" dirty="0"/>
              <a:t> the</a:t>
            </a:r>
            <a:r>
              <a:rPr lang="en-US" sz="3200" b="1" dirty="0">
                <a:solidFill>
                  <a:srgbClr val="006C31"/>
                </a:solidFill>
              </a:rPr>
              <a:t> Optimal </a:t>
            </a:r>
            <a:r>
              <a:rPr lang="en-US" sz="3200" b="1" dirty="0" err="1">
                <a:solidFill>
                  <a:srgbClr val="006C31"/>
                </a:solidFill>
              </a:rPr>
              <a:t>subpath</a:t>
            </a:r>
            <a:r>
              <a:rPr lang="en-US" sz="3200" b="1" dirty="0"/>
              <a:t> property</a:t>
            </a:r>
            <a:br>
              <a:rPr lang="en-US" sz="3200" b="1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Property 1</a:t>
                </a:r>
                <a:r>
                  <a:rPr lang="en-US" sz="2000" dirty="0"/>
                  <a:t>: Any </a:t>
                </a:r>
                <a:r>
                  <a:rPr lang="en-US" sz="2000" dirty="0" err="1"/>
                  <a:t>subpath</a:t>
                </a:r>
                <a:r>
                  <a:rPr lang="en-US" sz="2000" dirty="0"/>
                  <a:t> of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is also a shortest path.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=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=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>
                <a:blip r:embed="rId2"/>
                <a:stretch>
                  <a:fillRect l="-772" t="-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grpSp>
        <p:nvGrpSpPr>
          <p:cNvPr id="103" name="Group 102"/>
          <p:cNvGrpSpPr/>
          <p:nvPr/>
        </p:nvGrpSpPr>
        <p:grpSpPr>
          <a:xfrm>
            <a:off x="3048000" y="2971800"/>
            <a:ext cx="3165110" cy="310754"/>
            <a:chOff x="3048000" y="2968823"/>
            <a:chExt cx="3165110" cy="310754"/>
          </a:xfrm>
        </p:grpSpPr>
        <p:sp>
          <p:nvSpPr>
            <p:cNvPr id="29" name="TextBox 28"/>
            <p:cNvSpPr txBox="1"/>
            <p:nvPr/>
          </p:nvSpPr>
          <p:spPr>
            <a:xfrm>
              <a:off x="4038600" y="2971800"/>
              <a:ext cx="421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-20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912090" y="29718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10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791200" y="2971800"/>
              <a:ext cx="4219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-55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048000" y="296882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70</a:t>
              </a:r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5423792" y="373082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10</a:t>
            </a:r>
          </a:p>
        </p:txBody>
      </p:sp>
      <p:grpSp>
        <p:nvGrpSpPr>
          <p:cNvPr id="107" name="Group 106"/>
          <p:cNvGrpSpPr/>
          <p:nvPr/>
        </p:nvGrpSpPr>
        <p:grpSpPr>
          <a:xfrm>
            <a:off x="2924362" y="1752600"/>
            <a:ext cx="3676276" cy="841177"/>
            <a:chOff x="2924362" y="1752600"/>
            <a:chExt cx="3676276" cy="841177"/>
          </a:xfrm>
        </p:grpSpPr>
        <p:sp>
          <p:nvSpPr>
            <p:cNvPr id="59" name="TextBox 58"/>
            <p:cNvSpPr txBox="1"/>
            <p:nvPr/>
          </p:nvSpPr>
          <p:spPr>
            <a:xfrm>
              <a:off x="3747392" y="17526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2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676962" y="1752600"/>
              <a:ext cx="330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-3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460660" y="1752600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10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6324600" y="22830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6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2924362" y="2286000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7030A0"/>
                  </a:solidFill>
                </a:rPr>
                <a:t>5</a:t>
              </a:r>
            </a:p>
          </p:txBody>
        </p:sp>
      </p:grpSp>
      <p:grpSp>
        <p:nvGrpSpPr>
          <p:cNvPr id="200" name="Group 199"/>
          <p:cNvGrpSpPr/>
          <p:nvPr/>
        </p:nvGrpSpPr>
        <p:grpSpPr>
          <a:xfrm>
            <a:off x="2819400" y="2057398"/>
            <a:ext cx="3668820" cy="838202"/>
            <a:chOff x="2819400" y="2057398"/>
            <a:chExt cx="3668820" cy="838202"/>
          </a:xfrm>
        </p:grpSpPr>
        <p:cxnSp>
          <p:nvCxnSpPr>
            <p:cNvPr id="158" name="Straight Connector 157"/>
            <p:cNvCxnSpPr/>
            <p:nvPr/>
          </p:nvCxnSpPr>
          <p:spPr>
            <a:xfrm flipH="1">
              <a:off x="2819400" y="2111281"/>
              <a:ext cx="637562" cy="784319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/>
          </p:nvCxnSpPr>
          <p:spPr>
            <a:xfrm>
              <a:off x="3587044" y="2057398"/>
              <a:ext cx="762000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>
            <a:xfrm>
              <a:off x="4495800" y="2057398"/>
              <a:ext cx="6914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>
            <a:xfrm>
              <a:off x="5334000" y="2057399"/>
              <a:ext cx="6914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>
            <a:xfrm flipH="1" flipV="1">
              <a:off x="6155526" y="2111280"/>
              <a:ext cx="332694" cy="784318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2" name="Group 171"/>
          <p:cNvGrpSpPr/>
          <p:nvPr/>
        </p:nvGrpSpPr>
        <p:grpSpPr>
          <a:xfrm>
            <a:off x="4676962" y="2590799"/>
            <a:ext cx="1800038" cy="1143001"/>
            <a:chOff x="4829362" y="2743199"/>
            <a:chExt cx="1800038" cy="1143001"/>
          </a:xfrm>
        </p:grpSpPr>
        <p:sp>
          <p:nvSpPr>
            <p:cNvPr id="170" name="Arc 169"/>
            <p:cNvSpPr/>
            <p:nvPr/>
          </p:nvSpPr>
          <p:spPr>
            <a:xfrm rot="10800000">
              <a:off x="4829362" y="2743199"/>
              <a:ext cx="1800038" cy="1143001"/>
            </a:xfrm>
            <a:prstGeom prst="arc">
              <a:avLst>
                <a:gd name="adj1" fmla="val 10248252"/>
                <a:gd name="adj2" fmla="val 0"/>
              </a:avLst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1" name="Straight Arrow Connector 170"/>
            <p:cNvCxnSpPr/>
            <p:nvPr/>
          </p:nvCxnSpPr>
          <p:spPr>
            <a:xfrm flipV="1">
              <a:off x="4829362" y="3162299"/>
              <a:ext cx="0" cy="19050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/>
          <p:cNvGrpSpPr/>
          <p:nvPr/>
        </p:nvGrpSpPr>
        <p:grpSpPr>
          <a:xfrm>
            <a:off x="4676962" y="2590800"/>
            <a:ext cx="1800038" cy="1143001"/>
            <a:chOff x="6234808" y="3429000"/>
            <a:chExt cx="1613792" cy="1143000"/>
          </a:xfrm>
        </p:grpSpPr>
        <p:sp>
          <p:nvSpPr>
            <p:cNvPr id="71" name="Arc 70"/>
            <p:cNvSpPr/>
            <p:nvPr/>
          </p:nvSpPr>
          <p:spPr>
            <a:xfrm rot="10800000">
              <a:off x="6234808" y="3429000"/>
              <a:ext cx="1613792" cy="1143000"/>
            </a:xfrm>
            <a:prstGeom prst="arc">
              <a:avLst>
                <a:gd name="adj1" fmla="val 10248252"/>
                <a:gd name="adj2" fmla="val 0"/>
              </a:avLst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Straight Arrow Connector 73"/>
            <p:cNvCxnSpPr/>
            <p:nvPr/>
          </p:nvCxnSpPr>
          <p:spPr>
            <a:xfrm flipV="1">
              <a:off x="6234808" y="3848100"/>
              <a:ext cx="0" cy="1905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/>
          <p:cNvGrpSpPr/>
          <p:nvPr/>
        </p:nvGrpSpPr>
        <p:grpSpPr>
          <a:xfrm>
            <a:off x="2819400" y="1981199"/>
            <a:ext cx="3668820" cy="914401"/>
            <a:chOff x="2819400" y="1981200"/>
            <a:chExt cx="3668820" cy="914401"/>
          </a:xfrm>
        </p:grpSpPr>
        <p:grpSp>
          <p:nvGrpSpPr>
            <p:cNvPr id="180" name="Group 179"/>
            <p:cNvGrpSpPr/>
            <p:nvPr/>
          </p:nvGrpSpPr>
          <p:grpSpPr>
            <a:xfrm>
              <a:off x="3352800" y="1981200"/>
              <a:ext cx="380232" cy="457200"/>
              <a:chOff x="4566356" y="2819400"/>
              <a:chExt cx="380232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5" name="TextBox 194"/>
                  <p:cNvSpPr txBox="1"/>
                  <p:nvPr/>
                </p:nvSpPr>
                <p:spPr>
                  <a:xfrm>
                    <a:off x="4566356" y="2907268"/>
                    <a:ext cx="38023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𝒂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5" name="TextBox 19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80232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6" name="Oval 195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1" name="Group 180"/>
            <p:cNvGrpSpPr/>
            <p:nvPr/>
          </p:nvGrpSpPr>
          <p:grpSpPr>
            <a:xfrm>
              <a:off x="4267200" y="1981200"/>
              <a:ext cx="377026" cy="457200"/>
              <a:chOff x="4566356" y="2819400"/>
              <a:chExt cx="377026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3" name="TextBox 192"/>
                  <p:cNvSpPr txBox="1"/>
                  <p:nvPr/>
                </p:nvSpPr>
                <p:spPr>
                  <a:xfrm>
                    <a:off x="4566356" y="2907268"/>
                    <a:ext cx="37702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𝒃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3" name="TextBox 1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7026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4" name="Oval 193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2" name="Group 181"/>
            <p:cNvGrpSpPr/>
            <p:nvPr/>
          </p:nvGrpSpPr>
          <p:grpSpPr>
            <a:xfrm>
              <a:off x="5105400" y="1981200"/>
              <a:ext cx="354584" cy="457200"/>
              <a:chOff x="4566356" y="2819400"/>
              <a:chExt cx="35458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1" name="TextBox 190"/>
                  <p:cNvSpPr txBox="1"/>
                  <p:nvPr/>
                </p:nvSpPr>
                <p:spPr>
                  <a:xfrm>
                    <a:off x="4566356" y="2907268"/>
                    <a:ext cx="35458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𝒄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1" name="TextBox 19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54584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8197" r="-2241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2" name="Oval 191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3" name="Group 182"/>
            <p:cNvGrpSpPr/>
            <p:nvPr/>
          </p:nvGrpSpPr>
          <p:grpSpPr>
            <a:xfrm>
              <a:off x="5867400" y="1981200"/>
              <a:ext cx="367408" cy="457200"/>
              <a:chOff x="4490156" y="2819400"/>
              <a:chExt cx="367408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9" name="TextBox 188"/>
                  <p:cNvSpPr txBox="1"/>
                  <p:nvPr/>
                </p:nvSpPr>
                <p:spPr>
                  <a:xfrm>
                    <a:off x="4490156" y="2907268"/>
                    <a:ext cx="36740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𝒇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89" name="TextBox 18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90156" y="2907268"/>
                    <a:ext cx="367408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21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0" name="Oval 18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84" name="Straight Arrow Connector 183"/>
            <p:cNvCxnSpPr>
              <a:endCxn id="196" idx="3"/>
            </p:cNvCxnSpPr>
            <p:nvPr/>
          </p:nvCxnSpPr>
          <p:spPr>
            <a:xfrm flipV="1">
              <a:off x="2819400" y="2111282"/>
              <a:ext cx="637562" cy="7843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Arrow Connector 184"/>
            <p:cNvCxnSpPr>
              <a:stCxn id="196" idx="6"/>
              <a:endCxn id="194" idx="2"/>
            </p:cNvCxnSpPr>
            <p:nvPr/>
          </p:nvCxnSpPr>
          <p:spPr>
            <a:xfrm>
              <a:off x="3587044" y="205740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Arrow Connector 185"/>
            <p:cNvCxnSpPr>
              <a:endCxn id="192" idx="2"/>
            </p:cNvCxnSpPr>
            <p:nvPr/>
          </p:nvCxnSpPr>
          <p:spPr>
            <a:xfrm>
              <a:off x="4495800" y="2057400"/>
              <a:ext cx="6914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Arrow Connector 186"/>
            <p:cNvCxnSpPr>
              <a:endCxn id="190" idx="2"/>
            </p:cNvCxnSpPr>
            <p:nvPr/>
          </p:nvCxnSpPr>
          <p:spPr>
            <a:xfrm>
              <a:off x="5334000" y="2057400"/>
              <a:ext cx="6914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Arrow Connector 187"/>
            <p:cNvCxnSpPr>
              <a:stCxn id="190" idx="5"/>
            </p:cNvCxnSpPr>
            <p:nvPr/>
          </p:nvCxnSpPr>
          <p:spPr>
            <a:xfrm>
              <a:off x="6155526" y="2111282"/>
              <a:ext cx="332694" cy="78431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9" name="Group 198"/>
          <p:cNvGrpSpPr/>
          <p:nvPr/>
        </p:nvGrpSpPr>
        <p:grpSpPr>
          <a:xfrm>
            <a:off x="4724400" y="2971799"/>
            <a:ext cx="838200" cy="1"/>
            <a:chOff x="4724400" y="2971799"/>
            <a:chExt cx="838200" cy="1"/>
          </a:xfrm>
        </p:grpSpPr>
        <p:cxnSp>
          <p:nvCxnSpPr>
            <p:cNvPr id="177" name="Straight Connector 176"/>
            <p:cNvCxnSpPr>
              <a:endCxn id="17" idx="2"/>
            </p:cNvCxnSpPr>
            <p:nvPr/>
          </p:nvCxnSpPr>
          <p:spPr>
            <a:xfrm>
              <a:off x="4724400" y="2971800"/>
              <a:ext cx="767644" cy="0"/>
            </a:xfrm>
            <a:prstGeom prst="line">
              <a:avLst/>
            </a:prstGeom>
            <a:ln w="762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Arrow Connector 196"/>
            <p:cNvCxnSpPr/>
            <p:nvPr/>
          </p:nvCxnSpPr>
          <p:spPr>
            <a:xfrm>
              <a:off x="5283740" y="2971799"/>
              <a:ext cx="278860" cy="1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/>
          <p:cNvGrpSpPr/>
          <p:nvPr/>
        </p:nvGrpSpPr>
        <p:grpSpPr>
          <a:xfrm>
            <a:off x="2466419" y="2895600"/>
            <a:ext cx="4391581" cy="457200"/>
            <a:chOff x="2466419" y="2895600"/>
            <a:chExt cx="4391581" cy="457200"/>
          </a:xfrm>
        </p:grpSpPr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/>
            <p:cNvGrpSpPr/>
            <p:nvPr/>
          </p:nvGrpSpPr>
          <p:grpSpPr>
            <a:xfrm>
              <a:off x="4343400" y="2895600"/>
              <a:ext cx="386644" cy="445532"/>
              <a:chOff x="4413956" y="2819400"/>
              <a:chExt cx="386644" cy="4455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21311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3575756" y="2895600"/>
              <a:ext cx="386644" cy="457200"/>
              <a:chOff x="4566356" y="2819400"/>
              <a:chExt cx="38664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63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Oval 13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5410200" y="2895600"/>
              <a:ext cx="370614" cy="457200"/>
              <a:chOff x="4566356" y="2819400"/>
              <a:chExt cx="37061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6412020" y="2895600"/>
              <a:ext cx="445980" cy="369332"/>
              <a:chOff x="4648200" y="2819400"/>
              <a:chExt cx="445980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Oval 1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1" name="Straight Arrow Connector 20"/>
            <p:cNvCxnSpPr>
              <a:stCxn id="7" idx="6"/>
              <a:endCxn id="14" idx="2"/>
            </p:cNvCxnSpPr>
            <p:nvPr/>
          </p:nvCxnSpPr>
          <p:spPr>
            <a:xfrm>
              <a:off x="2895600" y="297180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endCxn id="10" idx="2"/>
            </p:cNvCxnSpPr>
            <p:nvPr/>
          </p:nvCxnSpPr>
          <p:spPr>
            <a:xfrm>
              <a:off x="38100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47244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56388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  <m:r>
                        <a:rPr lang="en-US" b="1" i="1" dirty="0"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333" r="-789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1524000" y="1535668"/>
            <a:ext cx="301686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5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524000" y="1905000"/>
            <a:ext cx="418704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40</a:t>
            </a:r>
          </a:p>
        </p:txBody>
      </p:sp>
      <p:sp>
        <p:nvSpPr>
          <p:cNvPr id="79" name="&quot;No&quot; Symbol 78"/>
          <p:cNvSpPr/>
          <p:nvPr/>
        </p:nvSpPr>
        <p:spPr>
          <a:xfrm>
            <a:off x="76200" y="1143000"/>
            <a:ext cx="457200" cy="457200"/>
          </a:xfrm>
          <a:prstGeom prst="noSmoking">
            <a:avLst>
              <a:gd name="adj" fmla="val 11607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Down Ribbon 24"/>
          <p:cNvSpPr/>
          <p:nvPr/>
        </p:nvSpPr>
        <p:spPr>
          <a:xfrm>
            <a:off x="6051104" y="4038600"/>
            <a:ext cx="3007078" cy="1113782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This example illustrates that the </a:t>
            </a:r>
            <a:r>
              <a:rPr lang="en-US" sz="1200" b="1" dirty="0">
                <a:solidFill>
                  <a:schemeClr val="tx1"/>
                </a:solidFill>
              </a:rPr>
              <a:t>optimal </a:t>
            </a:r>
            <a:r>
              <a:rPr lang="en-US" sz="1200" b="1" dirty="0" err="1">
                <a:solidFill>
                  <a:schemeClr val="tx1"/>
                </a:solidFill>
              </a:rPr>
              <a:t>subpath</a:t>
            </a:r>
            <a:r>
              <a:rPr lang="en-US" sz="1200" b="1" dirty="0">
                <a:solidFill>
                  <a:schemeClr val="tx1"/>
                </a:solidFill>
              </a:rPr>
              <a:t> property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u="sng" dirty="0">
                <a:solidFill>
                  <a:schemeClr val="tx1"/>
                </a:solidFill>
              </a:rPr>
              <a:t>may</a:t>
            </a:r>
            <a:r>
              <a:rPr lang="en-US" sz="1200" dirty="0">
                <a:solidFill>
                  <a:schemeClr val="tx1"/>
                </a:solidFill>
              </a:rPr>
              <a:t> get violated when the edge weights are negative.</a:t>
            </a:r>
          </a:p>
        </p:txBody>
      </p:sp>
      <p:sp>
        <p:nvSpPr>
          <p:cNvPr id="28" name="Cloud Callout 27"/>
          <p:cNvSpPr/>
          <p:nvPr/>
        </p:nvSpPr>
        <p:spPr>
          <a:xfrm>
            <a:off x="3456962" y="3896945"/>
            <a:ext cx="1933019" cy="773160"/>
          </a:xfrm>
          <a:prstGeom prst="cloudCallout">
            <a:avLst>
              <a:gd name="adj1" fmla="val -28777"/>
              <a:gd name="adj2" fmla="val 8036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What to do ? </a:t>
            </a:r>
            <a:r>
              <a:rPr lang="en-US" sz="1400" dirty="0">
                <a:solidFill>
                  <a:schemeClr val="tx1"/>
                </a:solidFill>
                <a:sym typeface="Wingdings" pitchFamily="2" charset="2"/>
              </a:rPr>
              <a:t></a:t>
            </a:r>
            <a:endParaRPr lang="en-US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1752600" y="1143000"/>
                <a:ext cx="639841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If 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b="1" i="1" dirty="0"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b="1" i="1" dirty="0" smtClean="0">
                        <a:latin typeface="Cambria Math"/>
                      </a:rPr>
                      <m:t>=</m:t>
                    </m:r>
                    <m:r>
                      <a:rPr lang="en-US" b="1" i="1" dirty="0" smtClean="0">
                        <a:latin typeface="Cambria Math"/>
                      </a:rPr>
                      <m:t>𝑸</m:t>
                    </m:r>
                    <m:r>
                      <a:rPr lang="en-US" b="1" i="1" dirty="0" smtClean="0">
                        <a:latin typeface="Cambria Math"/>
                      </a:rPr>
                      <m:t>∷(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b="1" i="1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/>
                      </a:rPr>
                      <m:t>𝑸</m:t>
                    </m:r>
                  </m:oMath>
                </a14:m>
                <a:r>
                  <a:rPr lang="en-US" dirty="0"/>
                  <a:t> is the shortest path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143000"/>
                <a:ext cx="6398418" cy="369332"/>
              </a:xfrm>
              <a:prstGeom prst="rect">
                <a:avLst/>
              </a:prstGeom>
              <a:blipFill rotWithShape="1">
                <a:blip r:embed="rId13"/>
                <a:stretch>
                  <a:fillRect l="-858"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Down Arrow 31"/>
          <p:cNvSpPr/>
          <p:nvPr/>
        </p:nvSpPr>
        <p:spPr>
          <a:xfrm rot="1878908">
            <a:off x="3369558" y="4725437"/>
            <a:ext cx="265847" cy="604982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/>
          <p:cNvSpPr/>
          <p:nvPr/>
        </p:nvSpPr>
        <p:spPr>
          <a:xfrm>
            <a:off x="1218272" y="5486400"/>
            <a:ext cx="2292572" cy="838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>
                <a:solidFill>
                  <a:schemeClr val="tx1"/>
                </a:solidFill>
              </a:rPr>
              <a:t>Start all over from scratch to solve the shortest paths  problem in graph with –</a:t>
            </a:r>
            <a:r>
              <a:rPr lang="en-US" sz="1400" dirty="0" err="1">
                <a:solidFill>
                  <a:schemeClr val="tx1"/>
                </a:solidFill>
              </a:rPr>
              <a:t>ve</a:t>
            </a:r>
            <a:r>
              <a:rPr lang="en-US" sz="1400" dirty="0">
                <a:solidFill>
                  <a:schemeClr val="tx1"/>
                </a:solidFill>
              </a:rPr>
              <a:t> edge weights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988669" y="5486400"/>
            <a:ext cx="2438400" cy="838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dirty="0">
                <a:solidFill>
                  <a:schemeClr val="tx1"/>
                </a:solidFill>
              </a:rPr>
              <a:t>Let us investigate like a true researcher for the exact cause of the violation of the optimal </a:t>
            </a:r>
            <a:r>
              <a:rPr lang="en-US" sz="1400" dirty="0" err="1">
                <a:solidFill>
                  <a:schemeClr val="tx1"/>
                </a:solidFill>
              </a:rPr>
              <a:t>subpath</a:t>
            </a:r>
            <a:r>
              <a:rPr lang="en-US" sz="1400" dirty="0">
                <a:solidFill>
                  <a:schemeClr val="tx1"/>
                </a:solidFill>
              </a:rPr>
              <a:t> property.</a:t>
            </a:r>
          </a:p>
        </p:txBody>
      </p:sp>
      <p:sp>
        <p:nvSpPr>
          <p:cNvPr id="84" name="Down Arrow 83"/>
          <p:cNvSpPr/>
          <p:nvPr/>
        </p:nvSpPr>
        <p:spPr>
          <a:xfrm rot="19390715">
            <a:off x="5141980" y="4743720"/>
            <a:ext cx="265847" cy="604982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L-Shape 33"/>
          <p:cNvSpPr/>
          <p:nvPr/>
        </p:nvSpPr>
        <p:spPr>
          <a:xfrm rot="19493833">
            <a:off x="7490443" y="5542287"/>
            <a:ext cx="552424" cy="294130"/>
          </a:xfrm>
          <a:prstGeom prst="corner">
            <a:avLst>
              <a:gd name="adj1" fmla="val 33177"/>
              <a:gd name="adj2" fmla="val 28083"/>
            </a:avLst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ounded Rectangle 35"/>
          <p:cNvSpPr/>
          <p:nvPr/>
        </p:nvSpPr>
        <p:spPr>
          <a:xfrm>
            <a:off x="3703277" y="5556725"/>
            <a:ext cx="1219200" cy="41177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Give up !</a:t>
            </a:r>
          </a:p>
        </p:txBody>
      </p:sp>
      <p:sp>
        <p:nvSpPr>
          <p:cNvPr id="88" name="Down Arrow 87"/>
          <p:cNvSpPr/>
          <p:nvPr/>
        </p:nvSpPr>
        <p:spPr>
          <a:xfrm>
            <a:off x="4229953" y="4877837"/>
            <a:ext cx="265847" cy="604982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Cloud Callout 88"/>
          <p:cNvSpPr/>
          <p:nvPr/>
        </p:nvSpPr>
        <p:spPr>
          <a:xfrm>
            <a:off x="3062381" y="5556725"/>
            <a:ext cx="1704419" cy="604392"/>
          </a:xfrm>
          <a:prstGeom prst="cloudCallout">
            <a:avLst>
              <a:gd name="adj1" fmla="val -28777"/>
              <a:gd name="adj2" fmla="val 8036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But how ?</a:t>
            </a:r>
          </a:p>
        </p:txBody>
      </p:sp>
      <p:sp>
        <p:nvSpPr>
          <p:cNvPr id="90" name="Down Ribbon 89"/>
          <p:cNvSpPr/>
          <p:nvPr/>
        </p:nvSpPr>
        <p:spPr>
          <a:xfrm>
            <a:off x="0" y="5364490"/>
            <a:ext cx="3352800" cy="807710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Instead of working with these numbers (2,-3,10,…), consider a </a:t>
            </a:r>
            <a:r>
              <a:rPr lang="en-US" sz="1200" b="1" dirty="0">
                <a:solidFill>
                  <a:schemeClr val="tx1"/>
                </a:solidFill>
              </a:rPr>
              <a:t>generic example </a:t>
            </a:r>
            <a:r>
              <a:rPr lang="en-US" sz="1200" dirty="0">
                <a:solidFill>
                  <a:schemeClr val="tx1"/>
                </a:solidFill>
              </a:rPr>
              <a:t>where the property fails.</a:t>
            </a:r>
          </a:p>
        </p:txBody>
      </p:sp>
    </p:spTree>
    <p:extLst>
      <p:ext uri="{BB962C8B-B14F-4D97-AF65-F5344CB8AC3E}">
        <p14:creationId xmlns:p14="http://schemas.microsoft.com/office/powerpoint/2010/main" val="2215208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25" grpId="0" animBg="1"/>
      <p:bldP spid="25" grpId="1" animBg="1"/>
      <p:bldP spid="28" grpId="0" animBg="1"/>
      <p:bldP spid="28" grpId="1" animBg="1"/>
      <p:bldP spid="32" grpId="0" animBg="1"/>
      <p:bldP spid="32" grpId="1" animBg="1"/>
      <p:bldP spid="33" grpId="0" animBg="1"/>
      <p:bldP spid="33" grpId="1" animBg="1"/>
      <p:bldP spid="83" grpId="0" animBg="1"/>
      <p:bldP spid="84" grpId="0" animBg="1"/>
      <p:bldP spid="84" grpId="1" animBg="1"/>
      <p:bldP spid="34" grpId="0" animBg="1"/>
      <p:bldP spid="36" grpId="0" animBg="1"/>
      <p:bldP spid="36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</a:rPr>
              <a:t>Violating</a:t>
            </a:r>
            <a:r>
              <a:rPr lang="en-US" sz="3200" b="1" dirty="0"/>
              <a:t> the</a:t>
            </a:r>
            <a:r>
              <a:rPr lang="en-US" sz="3200" b="1" dirty="0">
                <a:solidFill>
                  <a:srgbClr val="006C31"/>
                </a:solidFill>
              </a:rPr>
              <a:t> Optimal </a:t>
            </a:r>
            <a:r>
              <a:rPr lang="en-US" sz="3200" b="1" dirty="0" err="1">
                <a:solidFill>
                  <a:srgbClr val="006C31"/>
                </a:solidFill>
              </a:rPr>
              <a:t>subpath</a:t>
            </a:r>
            <a:r>
              <a:rPr lang="en-US" sz="3200" b="1" dirty="0"/>
              <a:t> property</a:t>
            </a:r>
            <a:br>
              <a:rPr lang="en-US" sz="3200" b="1" dirty="0"/>
            </a:b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When can there be a shorter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⇝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 path that passes through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1800" dirty="0"/>
                  <a:t>       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</a:rPr>
                      <m:t>𝑪</m:t>
                    </m:r>
                    <m:r>
                      <a:rPr lang="en-US" sz="1800" b="1" i="1" dirty="0" smtClean="0">
                        <a:latin typeface="Cambria Math"/>
                      </a:rPr>
                      <m:t>+</m:t>
                    </m:r>
                    <m:r>
                      <a:rPr lang="en-US" sz="1800" b="1" i="1" dirty="0" smtClean="0">
                        <a:latin typeface="Cambria Math"/>
                      </a:rPr>
                      <m:t>𝝉</m:t>
                    </m:r>
                    <m:r>
                      <a:rPr lang="en-US" sz="1800" b="1" i="1" dirty="0" smtClean="0">
                        <a:latin typeface="Cambria Math"/>
                      </a:rPr>
                      <m:t>+</m:t>
                    </m:r>
                    <m:r>
                      <a:rPr lang="en-US" sz="1800" b="1" i="1" dirty="0" smtClean="0">
                        <a:latin typeface="Cambria Math"/>
                      </a:rPr>
                      <m:t>𝜷</m:t>
                    </m:r>
                    <m:r>
                      <a:rPr lang="en-US" sz="1800" b="1" i="1" dirty="0" smtClean="0">
                        <a:latin typeface="Cambria Math"/>
                      </a:rPr>
                      <m:t>&lt;</m:t>
                    </m:r>
                    <m:r>
                      <a:rPr lang="en-US" sz="1800" b="1" i="1" dirty="0" smtClean="0">
                        <a:latin typeface="Cambria Math"/>
                      </a:rPr>
                      <m:t>𝜶</m:t>
                    </m:r>
                    <m:r>
                      <a:rPr lang="en-US" sz="1800" b="1" i="1" dirty="0" smtClean="0">
                        <a:latin typeface="Cambria Math"/>
                      </a:rPr>
                      <m:t>+</m:t>
                    </m:r>
                    <m:r>
                      <a:rPr lang="en-US" sz="1800" b="1" i="1" dirty="0" smtClean="0">
                        <a:latin typeface="Cambria Math"/>
                      </a:rPr>
                      <m:t>𝜷</m:t>
                    </m:r>
                  </m:oMath>
                </a14:m>
                <a:endParaRPr lang="en-US" sz="1800" b="1" dirty="0"/>
              </a:p>
              <a:p>
                <a:pPr>
                  <a:buFont typeface="Wingdings"/>
                  <a:buChar char="è"/>
                </a:pPr>
                <a14:m>
                  <m:oMath xmlns:m="http://schemas.openxmlformats.org/officeDocument/2006/math">
                    <m:r>
                      <a:rPr lang="en-US" sz="1800" b="1" i="1" dirty="0" smtClean="0">
                        <a:latin typeface="Cambria Math"/>
                      </a:rPr>
                      <m:t>𝜶</m:t>
                    </m:r>
                    <m:r>
                      <a:rPr lang="en-US" sz="1800" b="1" i="1" dirty="0" smtClean="0">
                        <a:latin typeface="Cambria Math"/>
                      </a:rPr>
                      <m:t>+</m:t>
                    </m:r>
                    <m:r>
                      <a:rPr lang="en-US" sz="1800" b="1" i="1" dirty="0" smtClean="0">
                        <a:latin typeface="Cambria Math"/>
                      </a:rPr>
                      <m:t>𝜷</m:t>
                    </m:r>
                    <m:r>
                      <a:rPr lang="en-US" sz="1800" b="1" i="1" dirty="0" smtClean="0">
                        <a:latin typeface="Cambria Math"/>
                      </a:rPr>
                      <m:t>+</m:t>
                    </m:r>
                    <m:r>
                      <a:rPr lang="en-US" sz="1800" b="1" i="1" dirty="0" smtClean="0">
                        <a:latin typeface="Cambria Math"/>
                      </a:rPr>
                      <m:t>𝜸</m:t>
                    </m:r>
                    <m:r>
                      <a:rPr lang="en-US" sz="1800" b="1" i="1" dirty="0">
                        <a:latin typeface="Cambria Math"/>
                      </a:rPr>
                      <m:t>+</m:t>
                    </m:r>
                    <m:r>
                      <a:rPr lang="en-US" sz="1800" b="1" i="1" dirty="0">
                        <a:latin typeface="Cambria Math"/>
                      </a:rPr>
                      <m:t>𝝉</m:t>
                    </m:r>
                    <m:r>
                      <a:rPr lang="en-US" sz="1800" b="1" i="1" dirty="0">
                        <a:latin typeface="Cambria Math"/>
                      </a:rPr>
                      <m:t>+</m:t>
                    </m:r>
                    <m:r>
                      <a:rPr lang="en-US" sz="1800" b="1" i="1" dirty="0">
                        <a:latin typeface="Cambria Math"/>
                      </a:rPr>
                      <m:t>𝜷</m:t>
                    </m:r>
                    <m:r>
                      <a:rPr lang="en-US" sz="1800" b="1" i="1" dirty="0">
                        <a:latin typeface="Cambria Math"/>
                      </a:rPr>
                      <m:t>&lt;</m:t>
                    </m:r>
                    <m:r>
                      <a:rPr lang="en-US" sz="1800" b="1" i="1" dirty="0">
                        <a:latin typeface="Cambria Math"/>
                      </a:rPr>
                      <m:t>𝜶</m:t>
                    </m:r>
                    <m:r>
                      <a:rPr lang="en-US" sz="1800" b="1" i="1" dirty="0">
                        <a:latin typeface="Cambria Math"/>
                      </a:rPr>
                      <m:t>+</m:t>
                    </m:r>
                    <m:r>
                      <a:rPr lang="en-US" sz="1800" b="1" i="1" dirty="0">
                        <a:latin typeface="Cambria Math"/>
                      </a:rPr>
                      <m:t>𝜷</m:t>
                    </m:r>
                  </m:oMath>
                </a14:m>
                <a:endParaRPr lang="en-US" sz="18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  <a:blipFill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grpSp>
        <p:nvGrpSpPr>
          <p:cNvPr id="104" name="Group 103"/>
          <p:cNvGrpSpPr/>
          <p:nvPr/>
        </p:nvGrpSpPr>
        <p:grpSpPr>
          <a:xfrm>
            <a:off x="2466419" y="2895600"/>
            <a:ext cx="4391581" cy="457200"/>
            <a:chOff x="2466419" y="2895600"/>
            <a:chExt cx="4391581" cy="457200"/>
          </a:xfrm>
        </p:grpSpPr>
        <p:cxnSp>
          <p:nvCxnSpPr>
            <p:cNvPr id="24" name="Straight Arrow Connector 23"/>
            <p:cNvCxnSpPr>
              <a:stCxn id="7" idx="6"/>
              <a:endCxn id="17" idx="2"/>
            </p:cNvCxnSpPr>
            <p:nvPr/>
          </p:nvCxnSpPr>
          <p:spPr>
            <a:xfrm>
              <a:off x="2895600" y="2971800"/>
              <a:ext cx="25964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" name="Group 14"/>
            <p:cNvGrpSpPr/>
            <p:nvPr/>
          </p:nvGrpSpPr>
          <p:grpSpPr>
            <a:xfrm>
              <a:off x="5410200" y="2895600"/>
              <a:ext cx="370614" cy="457200"/>
              <a:chOff x="4566356" y="2819400"/>
              <a:chExt cx="37061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6412020" y="2895600"/>
              <a:ext cx="445980" cy="369332"/>
              <a:chOff x="4648200" y="2819400"/>
              <a:chExt cx="445980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Oval 1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7" name="Straight Arrow Connector 26"/>
            <p:cNvCxnSpPr/>
            <p:nvPr/>
          </p:nvCxnSpPr>
          <p:spPr>
            <a:xfrm>
              <a:off x="56388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  <m:r>
                        <a:rPr lang="en-US" b="1" i="1" dirty="0"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333" r="-789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Freeform 24"/>
          <p:cNvSpPr/>
          <p:nvPr/>
        </p:nvSpPr>
        <p:spPr>
          <a:xfrm>
            <a:off x="2917371" y="1811817"/>
            <a:ext cx="3623923" cy="1164751"/>
          </a:xfrm>
          <a:custGeom>
            <a:avLst/>
            <a:gdLst>
              <a:gd name="connsiteX0" fmla="*/ 0 w 3623923"/>
              <a:gd name="connsiteY0" fmla="*/ 1149097 h 1176143"/>
              <a:gd name="connsiteX1" fmla="*/ 468086 w 3623923"/>
              <a:gd name="connsiteY1" fmla="*/ 1170869 h 1176143"/>
              <a:gd name="connsiteX2" fmla="*/ 696686 w 3623923"/>
              <a:gd name="connsiteY2" fmla="*/ 1062012 h 1176143"/>
              <a:gd name="connsiteX3" fmla="*/ 870858 w 3623923"/>
              <a:gd name="connsiteY3" fmla="*/ 746326 h 1176143"/>
              <a:gd name="connsiteX4" fmla="*/ 1349829 w 3623923"/>
              <a:gd name="connsiteY4" fmla="*/ 60526 h 1176143"/>
              <a:gd name="connsiteX5" fmla="*/ 2090058 w 3623923"/>
              <a:gd name="connsiteY5" fmla="*/ 289126 h 1176143"/>
              <a:gd name="connsiteX6" fmla="*/ 3015343 w 3623923"/>
              <a:gd name="connsiteY6" fmla="*/ 6097 h 1176143"/>
              <a:gd name="connsiteX7" fmla="*/ 3559629 w 3623923"/>
              <a:gd name="connsiteY7" fmla="*/ 180269 h 1176143"/>
              <a:gd name="connsiteX8" fmla="*/ 3592286 w 3623923"/>
              <a:gd name="connsiteY8" fmla="*/ 1083783 h 1176143"/>
              <a:gd name="connsiteX0" fmla="*/ 0 w 3623923"/>
              <a:gd name="connsiteY0" fmla="*/ 1149097 h 1186401"/>
              <a:gd name="connsiteX1" fmla="*/ 468086 w 3623923"/>
              <a:gd name="connsiteY1" fmla="*/ 1170869 h 1186401"/>
              <a:gd name="connsiteX2" fmla="*/ 762000 w 3623923"/>
              <a:gd name="connsiteY2" fmla="*/ 920498 h 1186401"/>
              <a:gd name="connsiteX3" fmla="*/ 870858 w 3623923"/>
              <a:gd name="connsiteY3" fmla="*/ 746326 h 1186401"/>
              <a:gd name="connsiteX4" fmla="*/ 1349829 w 3623923"/>
              <a:gd name="connsiteY4" fmla="*/ 60526 h 1186401"/>
              <a:gd name="connsiteX5" fmla="*/ 2090058 w 3623923"/>
              <a:gd name="connsiteY5" fmla="*/ 289126 h 1186401"/>
              <a:gd name="connsiteX6" fmla="*/ 3015343 w 3623923"/>
              <a:gd name="connsiteY6" fmla="*/ 6097 h 1186401"/>
              <a:gd name="connsiteX7" fmla="*/ 3559629 w 3623923"/>
              <a:gd name="connsiteY7" fmla="*/ 180269 h 1186401"/>
              <a:gd name="connsiteX8" fmla="*/ 3592286 w 3623923"/>
              <a:gd name="connsiteY8" fmla="*/ 1083783 h 1186401"/>
              <a:gd name="connsiteX0" fmla="*/ 0 w 3623923"/>
              <a:gd name="connsiteY0" fmla="*/ 1149097 h 1164751"/>
              <a:gd name="connsiteX1" fmla="*/ 478972 w 3623923"/>
              <a:gd name="connsiteY1" fmla="*/ 1138212 h 1164751"/>
              <a:gd name="connsiteX2" fmla="*/ 762000 w 3623923"/>
              <a:gd name="connsiteY2" fmla="*/ 920498 h 1164751"/>
              <a:gd name="connsiteX3" fmla="*/ 870858 w 3623923"/>
              <a:gd name="connsiteY3" fmla="*/ 746326 h 1164751"/>
              <a:gd name="connsiteX4" fmla="*/ 1349829 w 3623923"/>
              <a:gd name="connsiteY4" fmla="*/ 60526 h 1164751"/>
              <a:gd name="connsiteX5" fmla="*/ 2090058 w 3623923"/>
              <a:gd name="connsiteY5" fmla="*/ 289126 h 1164751"/>
              <a:gd name="connsiteX6" fmla="*/ 3015343 w 3623923"/>
              <a:gd name="connsiteY6" fmla="*/ 6097 h 1164751"/>
              <a:gd name="connsiteX7" fmla="*/ 3559629 w 3623923"/>
              <a:gd name="connsiteY7" fmla="*/ 180269 h 1164751"/>
              <a:gd name="connsiteX8" fmla="*/ 3592286 w 3623923"/>
              <a:gd name="connsiteY8" fmla="*/ 1083783 h 116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23923" h="1164751">
                <a:moveTo>
                  <a:pt x="0" y="1149097"/>
                </a:moveTo>
                <a:cubicBezTo>
                  <a:pt x="175986" y="1167240"/>
                  <a:pt x="351972" y="1176312"/>
                  <a:pt x="478972" y="1138212"/>
                </a:cubicBezTo>
                <a:cubicBezTo>
                  <a:pt x="605972" y="1100112"/>
                  <a:pt x="696686" y="985812"/>
                  <a:pt x="762000" y="920498"/>
                </a:cubicBezTo>
                <a:cubicBezTo>
                  <a:pt x="827314" y="855184"/>
                  <a:pt x="772887" y="889655"/>
                  <a:pt x="870858" y="746326"/>
                </a:cubicBezTo>
                <a:cubicBezTo>
                  <a:pt x="968829" y="602997"/>
                  <a:pt x="1146629" y="136726"/>
                  <a:pt x="1349829" y="60526"/>
                </a:cubicBezTo>
                <a:cubicBezTo>
                  <a:pt x="1553029" y="-15674"/>
                  <a:pt x="1812472" y="298197"/>
                  <a:pt x="2090058" y="289126"/>
                </a:cubicBezTo>
                <a:cubicBezTo>
                  <a:pt x="2367644" y="280055"/>
                  <a:pt x="2770415" y="24240"/>
                  <a:pt x="3015343" y="6097"/>
                </a:cubicBezTo>
                <a:cubicBezTo>
                  <a:pt x="3260271" y="-12046"/>
                  <a:pt x="3463472" y="655"/>
                  <a:pt x="3559629" y="180269"/>
                </a:cubicBezTo>
                <a:cubicBezTo>
                  <a:pt x="3655786" y="359883"/>
                  <a:pt x="3624036" y="721833"/>
                  <a:pt x="3592286" y="1083783"/>
                </a:cubicBezTo>
              </a:path>
            </a:pathLst>
          </a:cu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 31"/>
          <p:cNvSpPr/>
          <p:nvPr/>
        </p:nvSpPr>
        <p:spPr>
          <a:xfrm>
            <a:off x="3832534" y="2971800"/>
            <a:ext cx="2980310" cy="1291517"/>
          </a:xfrm>
          <a:custGeom>
            <a:avLst/>
            <a:gdLst>
              <a:gd name="connsiteX0" fmla="*/ 2709780 w 2958540"/>
              <a:gd name="connsiteY0" fmla="*/ 65314 h 1291517"/>
              <a:gd name="connsiteX1" fmla="*/ 2720666 w 2958540"/>
              <a:gd name="connsiteY1" fmla="*/ 478971 h 1291517"/>
              <a:gd name="connsiteX2" fmla="*/ 2883952 w 2958540"/>
              <a:gd name="connsiteY2" fmla="*/ 762000 h 1291517"/>
              <a:gd name="connsiteX3" fmla="*/ 2796866 w 2958540"/>
              <a:gd name="connsiteY3" fmla="*/ 1284514 h 1291517"/>
              <a:gd name="connsiteX4" fmla="*/ 1120466 w 2958540"/>
              <a:gd name="connsiteY4" fmla="*/ 1066800 h 1291517"/>
              <a:gd name="connsiteX5" fmla="*/ 108095 w 2958540"/>
              <a:gd name="connsiteY5" fmla="*/ 1121229 h 1291517"/>
              <a:gd name="connsiteX6" fmla="*/ 75437 w 2958540"/>
              <a:gd name="connsiteY6" fmla="*/ 631371 h 1291517"/>
              <a:gd name="connsiteX7" fmla="*/ 521752 w 2958540"/>
              <a:gd name="connsiteY7" fmla="*/ 326571 h 1291517"/>
              <a:gd name="connsiteX8" fmla="*/ 587066 w 2958540"/>
              <a:gd name="connsiteY8" fmla="*/ 0 h 1291517"/>
              <a:gd name="connsiteX0" fmla="*/ 2709780 w 2980310"/>
              <a:gd name="connsiteY0" fmla="*/ 65314 h 1291517"/>
              <a:gd name="connsiteX1" fmla="*/ 2720666 w 2980310"/>
              <a:gd name="connsiteY1" fmla="*/ 478971 h 1291517"/>
              <a:gd name="connsiteX2" fmla="*/ 2883952 w 2980310"/>
              <a:gd name="connsiteY2" fmla="*/ 762000 h 1291517"/>
              <a:gd name="connsiteX3" fmla="*/ 2796866 w 2980310"/>
              <a:gd name="connsiteY3" fmla="*/ 1284514 h 1291517"/>
              <a:gd name="connsiteX4" fmla="*/ 1120466 w 2980310"/>
              <a:gd name="connsiteY4" fmla="*/ 1066800 h 1291517"/>
              <a:gd name="connsiteX5" fmla="*/ 108095 w 2980310"/>
              <a:gd name="connsiteY5" fmla="*/ 1121229 h 1291517"/>
              <a:gd name="connsiteX6" fmla="*/ 75437 w 2980310"/>
              <a:gd name="connsiteY6" fmla="*/ 631371 h 1291517"/>
              <a:gd name="connsiteX7" fmla="*/ 521752 w 2980310"/>
              <a:gd name="connsiteY7" fmla="*/ 326571 h 1291517"/>
              <a:gd name="connsiteX8" fmla="*/ 587066 w 2980310"/>
              <a:gd name="connsiteY8" fmla="*/ 0 h 1291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80310" h="1291517">
                <a:moveTo>
                  <a:pt x="2709780" y="65314"/>
                </a:moveTo>
                <a:cubicBezTo>
                  <a:pt x="2700708" y="214085"/>
                  <a:pt x="2691637" y="362857"/>
                  <a:pt x="2720666" y="478971"/>
                </a:cubicBezTo>
                <a:cubicBezTo>
                  <a:pt x="2749695" y="595085"/>
                  <a:pt x="2805938" y="627743"/>
                  <a:pt x="2883952" y="762000"/>
                </a:cubicBezTo>
                <a:cubicBezTo>
                  <a:pt x="2961966" y="896257"/>
                  <a:pt x="3090780" y="1233714"/>
                  <a:pt x="2796866" y="1284514"/>
                </a:cubicBezTo>
                <a:cubicBezTo>
                  <a:pt x="2502952" y="1335314"/>
                  <a:pt x="1568594" y="1094014"/>
                  <a:pt x="1120466" y="1066800"/>
                </a:cubicBezTo>
                <a:cubicBezTo>
                  <a:pt x="672338" y="1039586"/>
                  <a:pt x="282266" y="1193801"/>
                  <a:pt x="108095" y="1121229"/>
                </a:cubicBezTo>
                <a:cubicBezTo>
                  <a:pt x="-66077" y="1048658"/>
                  <a:pt x="6494" y="763814"/>
                  <a:pt x="75437" y="631371"/>
                </a:cubicBezTo>
                <a:cubicBezTo>
                  <a:pt x="144380" y="498928"/>
                  <a:pt x="436481" y="431799"/>
                  <a:pt x="521752" y="326571"/>
                </a:cubicBezTo>
                <a:cubicBezTo>
                  <a:pt x="607023" y="221343"/>
                  <a:pt x="597044" y="110671"/>
                  <a:pt x="587066" y="0"/>
                </a:cubicBezTo>
              </a:path>
            </a:pathLst>
          </a:cu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/>
          <p:cNvCxnSpPr>
            <a:stCxn id="32" idx="8"/>
          </p:cNvCxnSpPr>
          <p:nvPr/>
        </p:nvCxnSpPr>
        <p:spPr>
          <a:xfrm>
            <a:off x="4419600" y="2971800"/>
            <a:ext cx="1072444" cy="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5638800" y="2971800"/>
            <a:ext cx="767644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334000" y="1459468"/>
                <a:ext cx="3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1459468"/>
                <a:ext cx="385554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197" r="-1904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653046" y="2971800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𝜶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046" y="2971800"/>
                <a:ext cx="393056" cy="369332"/>
              </a:xfrm>
              <a:prstGeom prst="rect">
                <a:avLst/>
              </a:prstGeom>
              <a:blipFill rotWithShape="1">
                <a:blip r:embed="rId13"/>
                <a:stretch>
                  <a:fillRect t="-8333" r="-200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712344" y="2971800"/>
                <a:ext cx="3946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𝜷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344" y="2971800"/>
                <a:ext cx="394660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333" r="-2153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791200" y="2983468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𝜸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2983468"/>
                <a:ext cx="377026" cy="369332"/>
              </a:xfrm>
              <a:prstGeom prst="rect">
                <a:avLst/>
              </a:prstGeom>
              <a:blipFill rotWithShape="1">
                <a:blip r:embed="rId15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5033174" y="4050268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𝝉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174" y="4050268"/>
                <a:ext cx="354584" cy="369332"/>
              </a:xfrm>
              <a:prstGeom prst="rect">
                <a:avLst/>
              </a:prstGeom>
              <a:blipFill rotWithShape="1">
                <a:blip r:embed="rId16"/>
                <a:stretch>
                  <a:fillRect t="-8197" r="-2241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09600" y="4953001"/>
                <a:ext cx="21951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latin typeface="Cambria Math"/>
                        </a:rPr>
                        <m:t>𝜶</m:t>
                      </m:r>
                      <m:r>
                        <a:rPr lang="en-US" b="1" i="1" dirty="0">
                          <a:latin typeface="Cambria Math"/>
                        </a:rPr>
                        <m:t>+</m:t>
                      </m:r>
                      <m:r>
                        <a:rPr lang="en-US" b="1" i="1" dirty="0">
                          <a:latin typeface="Cambria Math"/>
                        </a:rPr>
                        <m:t>𝜷</m:t>
                      </m:r>
                      <m:r>
                        <a:rPr lang="en-US" b="1" i="1" dirty="0">
                          <a:latin typeface="Cambria Math"/>
                        </a:rPr>
                        <m:t>+</m:t>
                      </m:r>
                      <m:r>
                        <a:rPr lang="en-US" b="1" i="1" dirty="0">
                          <a:latin typeface="Cambria Math"/>
                        </a:rPr>
                        <m:t>𝜸</m:t>
                      </m:r>
                      <m:r>
                        <a:rPr lang="en-US" b="1" i="1" dirty="0">
                          <a:latin typeface="Cambria Math"/>
                        </a:rPr>
                        <m:t>≤</m:t>
                      </m:r>
                      <m:r>
                        <a:rPr lang="en-US" b="1" i="1" dirty="0"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953001"/>
                <a:ext cx="2195177" cy="369332"/>
              </a:xfrm>
              <a:prstGeom prst="rect">
                <a:avLst/>
              </a:prstGeom>
              <a:blipFill rotWithShape="1">
                <a:blip r:embed="rId17"/>
                <a:stretch>
                  <a:fillRect t="-8333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57200" y="5943600"/>
                <a:ext cx="19399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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𝜸</m:t>
                    </m:r>
                    <m:r>
                      <a:rPr lang="en-US" b="1" i="1" dirty="0">
                        <a:latin typeface="Cambria Math"/>
                      </a:rPr>
                      <m:t>+ </m:t>
                    </m:r>
                    <m:r>
                      <a:rPr lang="en-US" b="1" i="1" dirty="0">
                        <a:latin typeface="Cambria Math"/>
                      </a:rPr>
                      <m:t>𝝉</m:t>
                    </m:r>
                    <m:r>
                      <a:rPr lang="en-US" b="1" i="1" dirty="0" smtClean="0">
                        <a:latin typeface="Cambria Math"/>
                      </a:rPr>
                      <m:t>+</m:t>
                    </m:r>
                    <m:r>
                      <a:rPr lang="en-US" b="1" i="1" dirty="0" smtClean="0">
                        <a:latin typeface="Cambria Math"/>
                      </a:rPr>
                      <m:t>𝜷</m:t>
                    </m:r>
                    <m:r>
                      <a:rPr lang="en-US" b="1" i="1" dirty="0">
                        <a:latin typeface="Cambria Math"/>
                      </a:rPr>
                      <m:t>&lt;</m:t>
                    </m:r>
                    <m:r>
                      <a:rPr lang="en-US" b="1" i="1" dirty="0">
                        <a:latin typeface="Cambria Math"/>
                      </a:rPr>
                      <m:t>𝟎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943600"/>
                <a:ext cx="1939955" cy="369332"/>
              </a:xfrm>
              <a:prstGeom prst="rect">
                <a:avLst/>
              </a:prstGeom>
              <a:blipFill rotWithShape="1">
                <a:blip r:embed="rId18"/>
                <a:stretch>
                  <a:fillRect l="-2516" t="-9836" r="-440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loud Callout 29"/>
              <p:cNvSpPr/>
              <p:nvPr/>
            </p:nvSpPr>
            <p:spPr>
              <a:xfrm>
                <a:off x="5719554" y="818736"/>
                <a:ext cx="3439615" cy="947636"/>
              </a:xfrm>
              <a:prstGeom prst="cloudCallout">
                <a:avLst>
                  <a:gd name="adj1" fmla="val -25991"/>
                  <a:gd name="adj2" fmla="val 7885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What does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𝜸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+ 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𝝉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𝜷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correspond to ?</a:t>
                </a:r>
              </a:p>
            </p:txBody>
          </p:sp>
        </mc:Choice>
        <mc:Fallback>
          <p:sp>
            <p:nvSpPr>
              <p:cNvPr id="30" name="Cloud Callout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554" y="818736"/>
                <a:ext cx="3439615" cy="947636"/>
              </a:xfrm>
              <a:prstGeom prst="cloudCallout">
                <a:avLst>
                  <a:gd name="adj1" fmla="val -25991"/>
                  <a:gd name="adj2" fmla="val 78852"/>
                </a:avLst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/>
              <p:cNvSpPr/>
              <p:nvPr/>
            </p:nvSpPr>
            <p:spPr>
              <a:xfrm>
                <a:off x="2939783" y="4909067"/>
                <a:ext cx="3613417" cy="348733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Because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is the shortest path</a:t>
                </a:r>
                <a:endParaRPr lang="en-US" dirty="0"/>
              </a:p>
            </p:txBody>
          </p:sp>
        </mc:Choice>
        <mc:Fallback xmlns="">
          <p:sp>
            <p:nvSpPr>
              <p:cNvPr id="9" name="Rounded 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783" y="4909067"/>
                <a:ext cx="3613417" cy="348733"/>
              </a:xfrm>
              <a:prstGeom prst="roundRect">
                <a:avLst/>
              </a:prstGeom>
              <a:blipFill rotWithShape="1">
                <a:blip r:embed="rId20"/>
                <a:stretch>
                  <a:fillRect t="-6452" r="-1675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ounded Rectangle 30"/>
              <p:cNvSpPr/>
              <p:nvPr/>
            </p:nvSpPr>
            <p:spPr>
              <a:xfrm>
                <a:off x="2917371" y="5257800"/>
                <a:ext cx="6226629" cy="348733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Since the green path to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</a:t>
                </a:r>
                <a:r>
                  <a:rPr lang="en-US" b="1" dirty="0">
                    <a:solidFill>
                      <a:schemeClr val="tx1"/>
                    </a:solidFill>
                  </a:rPr>
                  <a:t>shorter</a:t>
                </a:r>
                <a:r>
                  <a:rPr lang="en-US" dirty="0">
                    <a:solidFill>
                      <a:schemeClr val="tx1"/>
                    </a:solidFill>
                  </a:rPr>
                  <a:t> than the </a:t>
                </a:r>
                <a:r>
                  <a:rPr lang="en-US" dirty="0" err="1">
                    <a:solidFill>
                      <a:schemeClr val="tx1"/>
                    </a:solidFill>
                  </a:rPr>
                  <a:t>subpath</a:t>
                </a:r>
                <a:r>
                  <a:rPr lang="en-US" dirty="0">
                    <a:solidFill>
                      <a:schemeClr val="tx1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1" name="Rounded 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371" y="5257800"/>
                <a:ext cx="6226629" cy="348733"/>
              </a:xfrm>
              <a:prstGeom prst="roundRect">
                <a:avLst/>
              </a:prstGeom>
              <a:blipFill rotWithShape="1">
                <a:blip r:embed="rId21"/>
                <a:stretch>
                  <a:fillRect t="-8197" r="-136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22F1A094-2F8F-D043-ADF6-2E6B151B6497}"/>
              </a:ext>
            </a:extLst>
          </p:cNvPr>
          <p:cNvSpPr/>
          <p:nvPr/>
        </p:nvSpPr>
        <p:spPr>
          <a:xfrm>
            <a:off x="5893153" y="4345350"/>
            <a:ext cx="2717447" cy="5333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C12388-A5E6-AAE8-500C-9C0E54EC1786}"/>
              </a:ext>
            </a:extLst>
          </p:cNvPr>
          <p:cNvSpPr/>
          <p:nvPr/>
        </p:nvSpPr>
        <p:spPr>
          <a:xfrm>
            <a:off x="1598453" y="4426437"/>
            <a:ext cx="4294700" cy="5333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38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  <p:bldP spid="5" grpId="0"/>
      <p:bldP spid="25" grpId="0" uiExpand="1" animBg="1"/>
      <p:bldP spid="32" grpId="0" uiExpand="1" animBg="1"/>
      <p:bldP spid="22" grpId="0" uiExpand="1"/>
      <p:bldP spid="23" grpId="0" uiExpand="1"/>
      <p:bldP spid="26" grpId="0" uiExpand="1"/>
      <p:bldP spid="28" grpId="0" uiExpand="1"/>
      <p:bldP spid="29" grpId="0" uiExpand="1"/>
      <p:bldP spid="10" grpId="0" uiExpand="1"/>
      <p:bldP spid="10" grpId="1"/>
      <p:bldP spid="11" grpId="0"/>
      <p:bldP spid="30" grpId="0" animBg="1"/>
      <p:bldP spid="9" grpId="0" animBg="1"/>
      <p:bldP spid="9" grpId="1" animBg="1"/>
      <p:bldP spid="31" grpId="0" animBg="1"/>
      <p:bldP spid="31" grpId="1" animBg="1"/>
      <p:bldP spid="12" grpId="0" animBg="1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/>
          <p:cNvCxnSpPr>
            <a:stCxn id="22" idx="8"/>
          </p:cNvCxnSpPr>
          <p:nvPr/>
        </p:nvCxnSpPr>
        <p:spPr>
          <a:xfrm>
            <a:off x="4419934" y="2971800"/>
            <a:ext cx="1072444" cy="0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3832868" y="2971800"/>
            <a:ext cx="2980310" cy="1291517"/>
          </a:xfrm>
          <a:custGeom>
            <a:avLst/>
            <a:gdLst>
              <a:gd name="connsiteX0" fmla="*/ 2709780 w 2958540"/>
              <a:gd name="connsiteY0" fmla="*/ 65314 h 1291517"/>
              <a:gd name="connsiteX1" fmla="*/ 2720666 w 2958540"/>
              <a:gd name="connsiteY1" fmla="*/ 478971 h 1291517"/>
              <a:gd name="connsiteX2" fmla="*/ 2883952 w 2958540"/>
              <a:gd name="connsiteY2" fmla="*/ 762000 h 1291517"/>
              <a:gd name="connsiteX3" fmla="*/ 2796866 w 2958540"/>
              <a:gd name="connsiteY3" fmla="*/ 1284514 h 1291517"/>
              <a:gd name="connsiteX4" fmla="*/ 1120466 w 2958540"/>
              <a:gd name="connsiteY4" fmla="*/ 1066800 h 1291517"/>
              <a:gd name="connsiteX5" fmla="*/ 108095 w 2958540"/>
              <a:gd name="connsiteY5" fmla="*/ 1121229 h 1291517"/>
              <a:gd name="connsiteX6" fmla="*/ 75437 w 2958540"/>
              <a:gd name="connsiteY6" fmla="*/ 631371 h 1291517"/>
              <a:gd name="connsiteX7" fmla="*/ 521752 w 2958540"/>
              <a:gd name="connsiteY7" fmla="*/ 326571 h 1291517"/>
              <a:gd name="connsiteX8" fmla="*/ 587066 w 2958540"/>
              <a:gd name="connsiteY8" fmla="*/ 0 h 1291517"/>
              <a:gd name="connsiteX0" fmla="*/ 2709780 w 2980310"/>
              <a:gd name="connsiteY0" fmla="*/ 65314 h 1291517"/>
              <a:gd name="connsiteX1" fmla="*/ 2720666 w 2980310"/>
              <a:gd name="connsiteY1" fmla="*/ 478971 h 1291517"/>
              <a:gd name="connsiteX2" fmla="*/ 2883952 w 2980310"/>
              <a:gd name="connsiteY2" fmla="*/ 762000 h 1291517"/>
              <a:gd name="connsiteX3" fmla="*/ 2796866 w 2980310"/>
              <a:gd name="connsiteY3" fmla="*/ 1284514 h 1291517"/>
              <a:gd name="connsiteX4" fmla="*/ 1120466 w 2980310"/>
              <a:gd name="connsiteY4" fmla="*/ 1066800 h 1291517"/>
              <a:gd name="connsiteX5" fmla="*/ 108095 w 2980310"/>
              <a:gd name="connsiteY5" fmla="*/ 1121229 h 1291517"/>
              <a:gd name="connsiteX6" fmla="*/ 75437 w 2980310"/>
              <a:gd name="connsiteY6" fmla="*/ 631371 h 1291517"/>
              <a:gd name="connsiteX7" fmla="*/ 521752 w 2980310"/>
              <a:gd name="connsiteY7" fmla="*/ 326571 h 1291517"/>
              <a:gd name="connsiteX8" fmla="*/ 587066 w 2980310"/>
              <a:gd name="connsiteY8" fmla="*/ 0 h 1291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80310" h="1291517">
                <a:moveTo>
                  <a:pt x="2709780" y="65314"/>
                </a:moveTo>
                <a:cubicBezTo>
                  <a:pt x="2700708" y="214085"/>
                  <a:pt x="2691637" y="362857"/>
                  <a:pt x="2720666" y="478971"/>
                </a:cubicBezTo>
                <a:cubicBezTo>
                  <a:pt x="2749695" y="595085"/>
                  <a:pt x="2805938" y="627743"/>
                  <a:pt x="2883952" y="762000"/>
                </a:cubicBezTo>
                <a:cubicBezTo>
                  <a:pt x="2961966" y="896257"/>
                  <a:pt x="3090780" y="1233714"/>
                  <a:pt x="2796866" y="1284514"/>
                </a:cubicBezTo>
                <a:cubicBezTo>
                  <a:pt x="2502952" y="1335314"/>
                  <a:pt x="1568594" y="1094014"/>
                  <a:pt x="1120466" y="1066800"/>
                </a:cubicBezTo>
                <a:cubicBezTo>
                  <a:pt x="672338" y="1039586"/>
                  <a:pt x="282266" y="1193801"/>
                  <a:pt x="108095" y="1121229"/>
                </a:cubicBezTo>
                <a:cubicBezTo>
                  <a:pt x="-66077" y="1048658"/>
                  <a:pt x="6494" y="763814"/>
                  <a:pt x="75437" y="631371"/>
                </a:cubicBezTo>
                <a:cubicBezTo>
                  <a:pt x="144380" y="498928"/>
                  <a:pt x="436481" y="431799"/>
                  <a:pt x="521752" y="326571"/>
                </a:cubicBezTo>
                <a:cubicBezTo>
                  <a:pt x="607023" y="221343"/>
                  <a:pt x="597044" y="110671"/>
                  <a:pt x="587066" y="0"/>
                </a:cubicBezTo>
              </a:path>
            </a:pathLst>
          </a:cu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</a:rPr>
              <a:t>Violating</a:t>
            </a:r>
            <a:r>
              <a:rPr lang="en-US" sz="3200" b="1" dirty="0"/>
              <a:t> the</a:t>
            </a:r>
            <a:r>
              <a:rPr lang="en-US" sz="3200" b="1" dirty="0">
                <a:solidFill>
                  <a:srgbClr val="006C31"/>
                </a:solidFill>
              </a:rPr>
              <a:t> Optimal </a:t>
            </a:r>
            <a:r>
              <a:rPr lang="en-US" sz="3200" b="1" dirty="0" err="1">
                <a:solidFill>
                  <a:srgbClr val="006C31"/>
                </a:solidFill>
              </a:rPr>
              <a:t>subpath</a:t>
            </a:r>
            <a:r>
              <a:rPr lang="en-US" sz="3200" b="1" dirty="0"/>
              <a:t> property</a:t>
            </a:r>
            <a:br>
              <a:rPr lang="en-US" sz="3200" b="1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When can there be a shorter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⇝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</m:oMath>
                </a14:m>
                <a:r>
                  <a:rPr lang="en-US" sz="2000" dirty="0"/>
                  <a:t> path pass through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</m:oMath>
                </a14:m>
                <a:r>
                  <a:rPr lang="en-US" sz="2000" dirty="0"/>
                  <a:t> ? 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Answer</a:t>
                </a:r>
                <a:r>
                  <a:rPr lang="en-US" sz="1800" dirty="0"/>
                  <a:t>: Weight of the cycle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7030A0"/>
                        </a:solidFill>
                        <a:latin typeface="Cambria Math"/>
                      </a:rPr>
                      <m:t>𝑪</m:t>
                    </m:r>
                  </m:oMath>
                </a14:m>
                <a:r>
                  <a:rPr lang="en-US" sz="1800" dirty="0">
                    <a:solidFill>
                      <a:srgbClr val="7030A0"/>
                    </a:solidFill>
                  </a:rPr>
                  <a:t> </a:t>
                </a:r>
                <a:r>
                  <a:rPr lang="en-US" sz="1800" dirty="0"/>
                  <a:t>must be </a:t>
                </a:r>
                <a:r>
                  <a:rPr lang="en-US" sz="1800" b="1" dirty="0"/>
                  <a:t>NEGATIVE</a:t>
                </a:r>
                <a:r>
                  <a:rPr lang="en-US" sz="1800" dirty="0"/>
                  <a:t>.</a:t>
                </a:r>
                <a:endParaRPr lang="en-US" sz="1800" b="1" dirty="0"/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r>
                  <a:rPr lang="en-US" sz="1800" b="1" dirty="0"/>
                  <a:t> </a:t>
                </a:r>
              </a:p>
              <a:p>
                <a:pPr marL="0" indent="0">
                  <a:buNone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  <a:blipFill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grpSp>
        <p:nvGrpSpPr>
          <p:cNvPr id="104" name="Group 103"/>
          <p:cNvGrpSpPr/>
          <p:nvPr/>
        </p:nvGrpSpPr>
        <p:grpSpPr>
          <a:xfrm>
            <a:off x="2466419" y="2895600"/>
            <a:ext cx="4391581" cy="457200"/>
            <a:chOff x="2466419" y="2895600"/>
            <a:chExt cx="4391581" cy="457200"/>
          </a:xfrm>
        </p:grpSpPr>
        <p:cxnSp>
          <p:nvCxnSpPr>
            <p:cNvPr id="24" name="Straight Arrow Connector 23"/>
            <p:cNvCxnSpPr>
              <a:stCxn id="7" idx="6"/>
              <a:endCxn id="17" idx="2"/>
            </p:cNvCxnSpPr>
            <p:nvPr/>
          </p:nvCxnSpPr>
          <p:spPr>
            <a:xfrm>
              <a:off x="2895600" y="2971800"/>
              <a:ext cx="25964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/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" name="Group 14"/>
            <p:cNvGrpSpPr/>
            <p:nvPr/>
          </p:nvGrpSpPr>
          <p:grpSpPr>
            <a:xfrm>
              <a:off x="5410200" y="2895600"/>
              <a:ext cx="370614" cy="457200"/>
              <a:chOff x="4566356" y="2819400"/>
              <a:chExt cx="37061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6412020" y="2895600"/>
              <a:ext cx="445980" cy="369332"/>
              <a:chOff x="4648200" y="2819400"/>
              <a:chExt cx="445980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Oval 19"/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7" name="Straight Arrow Connector 26"/>
            <p:cNvCxnSpPr/>
            <p:nvPr/>
          </p:nvCxnSpPr>
          <p:spPr>
            <a:xfrm>
              <a:off x="5638800" y="2971800"/>
              <a:ext cx="767644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  <m:r>
                        <a:rPr lang="en-US" b="1" i="1" dirty="0"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𝒚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141" y="2514600"/>
                <a:ext cx="928459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333" r="-789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Freeform 24"/>
          <p:cNvSpPr/>
          <p:nvPr/>
        </p:nvSpPr>
        <p:spPr>
          <a:xfrm>
            <a:off x="2917371" y="1811817"/>
            <a:ext cx="3623923" cy="1164751"/>
          </a:xfrm>
          <a:custGeom>
            <a:avLst/>
            <a:gdLst>
              <a:gd name="connsiteX0" fmla="*/ 0 w 3623923"/>
              <a:gd name="connsiteY0" fmla="*/ 1149097 h 1176143"/>
              <a:gd name="connsiteX1" fmla="*/ 468086 w 3623923"/>
              <a:gd name="connsiteY1" fmla="*/ 1170869 h 1176143"/>
              <a:gd name="connsiteX2" fmla="*/ 696686 w 3623923"/>
              <a:gd name="connsiteY2" fmla="*/ 1062012 h 1176143"/>
              <a:gd name="connsiteX3" fmla="*/ 870858 w 3623923"/>
              <a:gd name="connsiteY3" fmla="*/ 746326 h 1176143"/>
              <a:gd name="connsiteX4" fmla="*/ 1349829 w 3623923"/>
              <a:gd name="connsiteY4" fmla="*/ 60526 h 1176143"/>
              <a:gd name="connsiteX5" fmla="*/ 2090058 w 3623923"/>
              <a:gd name="connsiteY5" fmla="*/ 289126 h 1176143"/>
              <a:gd name="connsiteX6" fmla="*/ 3015343 w 3623923"/>
              <a:gd name="connsiteY6" fmla="*/ 6097 h 1176143"/>
              <a:gd name="connsiteX7" fmla="*/ 3559629 w 3623923"/>
              <a:gd name="connsiteY7" fmla="*/ 180269 h 1176143"/>
              <a:gd name="connsiteX8" fmla="*/ 3592286 w 3623923"/>
              <a:gd name="connsiteY8" fmla="*/ 1083783 h 1176143"/>
              <a:gd name="connsiteX0" fmla="*/ 0 w 3623923"/>
              <a:gd name="connsiteY0" fmla="*/ 1149097 h 1186401"/>
              <a:gd name="connsiteX1" fmla="*/ 468086 w 3623923"/>
              <a:gd name="connsiteY1" fmla="*/ 1170869 h 1186401"/>
              <a:gd name="connsiteX2" fmla="*/ 762000 w 3623923"/>
              <a:gd name="connsiteY2" fmla="*/ 920498 h 1186401"/>
              <a:gd name="connsiteX3" fmla="*/ 870858 w 3623923"/>
              <a:gd name="connsiteY3" fmla="*/ 746326 h 1186401"/>
              <a:gd name="connsiteX4" fmla="*/ 1349829 w 3623923"/>
              <a:gd name="connsiteY4" fmla="*/ 60526 h 1186401"/>
              <a:gd name="connsiteX5" fmla="*/ 2090058 w 3623923"/>
              <a:gd name="connsiteY5" fmla="*/ 289126 h 1186401"/>
              <a:gd name="connsiteX6" fmla="*/ 3015343 w 3623923"/>
              <a:gd name="connsiteY6" fmla="*/ 6097 h 1186401"/>
              <a:gd name="connsiteX7" fmla="*/ 3559629 w 3623923"/>
              <a:gd name="connsiteY7" fmla="*/ 180269 h 1186401"/>
              <a:gd name="connsiteX8" fmla="*/ 3592286 w 3623923"/>
              <a:gd name="connsiteY8" fmla="*/ 1083783 h 1186401"/>
              <a:gd name="connsiteX0" fmla="*/ 0 w 3623923"/>
              <a:gd name="connsiteY0" fmla="*/ 1149097 h 1164751"/>
              <a:gd name="connsiteX1" fmla="*/ 478972 w 3623923"/>
              <a:gd name="connsiteY1" fmla="*/ 1138212 h 1164751"/>
              <a:gd name="connsiteX2" fmla="*/ 762000 w 3623923"/>
              <a:gd name="connsiteY2" fmla="*/ 920498 h 1164751"/>
              <a:gd name="connsiteX3" fmla="*/ 870858 w 3623923"/>
              <a:gd name="connsiteY3" fmla="*/ 746326 h 1164751"/>
              <a:gd name="connsiteX4" fmla="*/ 1349829 w 3623923"/>
              <a:gd name="connsiteY4" fmla="*/ 60526 h 1164751"/>
              <a:gd name="connsiteX5" fmla="*/ 2090058 w 3623923"/>
              <a:gd name="connsiteY5" fmla="*/ 289126 h 1164751"/>
              <a:gd name="connsiteX6" fmla="*/ 3015343 w 3623923"/>
              <a:gd name="connsiteY6" fmla="*/ 6097 h 1164751"/>
              <a:gd name="connsiteX7" fmla="*/ 3559629 w 3623923"/>
              <a:gd name="connsiteY7" fmla="*/ 180269 h 1164751"/>
              <a:gd name="connsiteX8" fmla="*/ 3592286 w 3623923"/>
              <a:gd name="connsiteY8" fmla="*/ 1083783 h 1164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23923" h="1164751">
                <a:moveTo>
                  <a:pt x="0" y="1149097"/>
                </a:moveTo>
                <a:cubicBezTo>
                  <a:pt x="175986" y="1167240"/>
                  <a:pt x="351972" y="1176312"/>
                  <a:pt x="478972" y="1138212"/>
                </a:cubicBezTo>
                <a:cubicBezTo>
                  <a:pt x="605972" y="1100112"/>
                  <a:pt x="696686" y="985812"/>
                  <a:pt x="762000" y="920498"/>
                </a:cubicBezTo>
                <a:cubicBezTo>
                  <a:pt x="827314" y="855184"/>
                  <a:pt x="772887" y="889655"/>
                  <a:pt x="870858" y="746326"/>
                </a:cubicBezTo>
                <a:cubicBezTo>
                  <a:pt x="968829" y="602997"/>
                  <a:pt x="1146629" y="136726"/>
                  <a:pt x="1349829" y="60526"/>
                </a:cubicBezTo>
                <a:cubicBezTo>
                  <a:pt x="1553029" y="-15674"/>
                  <a:pt x="1812472" y="298197"/>
                  <a:pt x="2090058" y="289126"/>
                </a:cubicBezTo>
                <a:cubicBezTo>
                  <a:pt x="2367644" y="280055"/>
                  <a:pt x="2770415" y="24240"/>
                  <a:pt x="3015343" y="6097"/>
                </a:cubicBezTo>
                <a:cubicBezTo>
                  <a:pt x="3260271" y="-12046"/>
                  <a:pt x="3463472" y="655"/>
                  <a:pt x="3559629" y="180269"/>
                </a:cubicBezTo>
                <a:cubicBezTo>
                  <a:pt x="3655786" y="359883"/>
                  <a:pt x="3624036" y="721833"/>
                  <a:pt x="3592286" y="1083783"/>
                </a:cubicBezTo>
              </a:path>
            </a:pathLst>
          </a:cu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 31"/>
          <p:cNvSpPr/>
          <p:nvPr/>
        </p:nvSpPr>
        <p:spPr>
          <a:xfrm>
            <a:off x="3832534" y="2971800"/>
            <a:ext cx="2980310" cy="1291517"/>
          </a:xfrm>
          <a:custGeom>
            <a:avLst/>
            <a:gdLst>
              <a:gd name="connsiteX0" fmla="*/ 2709780 w 2958540"/>
              <a:gd name="connsiteY0" fmla="*/ 65314 h 1291517"/>
              <a:gd name="connsiteX1" fmla="*/ 2720666 w 2958540"/>
              <a:gd name="connsiteY1" fmla="*/ 478971 h 1291517"/>
              <a:gd name="connsiteX2" fmla="*/ 2883952 w 2958540"/>
              <a:gd name="connsiteY2" fmla="*/ 762000 h 1291517"/>
              <a:gd name="connsiteX3" fmla="*/ 2796866 w 2958540"/>
              <a:gd name="connsiteY3" fmla="*/ 1284514 h 1291517"/>
              <a:gd name="connsiteX4" fmla="*/ 1120466 w 2958540"/>
              <a:gd name="connsiteY4" fmla="*/ 1066800 h 1291517"/>
              <a:gd name="connsiteX5" fmla="*/ 108095 w 2958540"/>
              <a:gd name="connsiteY5" fmla="*/ 1121229 h 1291517"/>
              <a:gd name="connsiteX6" fmla="*/ 75437 w 2958540"/>
              <a:gd name="connsiteY6" fmla="*/ 631371 h 1291517"/>
              <a:gd name="connsiteX7" fmla="*/ 521752 w 2958540"/>
              <a:gd name="connsiteY7" fmla="*/ 326571 h 1291517"/>
              <a:gd name="connsiteX8" fmla="*/ 587066 w 2958540"/>
              <a:gd name="connsiteY8" fmla="*/ 0 h 1291517"/>
              <a:gd name="connsiteX0" fmla="*/ 2709780 w 2980310"/>
              <a:gd name="connsiteY0" fmla="*/ 65314 h 1291517"/>
              <a:gd name="connsiteX1" fmla="*/ 2720666 w 2980310"/>
              <a:gd name="connsiteY1" fmla="*/ 478971 h 1291517"/>
              <a:gd name="connsiteX2" fmla="*/ 2883952 w 2980310"/>
              <a:gd name="connsiteY2" fmla="*/ 762000 h 1291517"/>
              <a:gd name="connsiteX3" fmla="*/ 2796866 w 2980310"/>
              <a:gd name="connsiteY3" fmla="*/ 1284514 h 1291517"/>
              <a:gd name="connsiteX4" fmla="*/ 1120466 w 2980310"/>
              <a:gd name="connsiteY4" fmla="*/ 1066800 h 1291517"/>
              <a:gd name="connsiteX5" fmla="*/ 108095 w 2980310"/>
              <a:gd name="connsiteY5" fmla="*/ 1121229 h 1291517"/>
              <a:gd name="connsiteX6" fmla="*/ 75437 w 2980310"/>
              <a:gd name="connsiteY6" fmla="*/ 631371 h 1291517"/>
              <a:gd name="connsiteX7" fmla="*/ 521752 w 2980310"/>
              <a:gd name="connsiteY7" fmla="*/ 326571 h 1291517"/>
              <a:gd name="connsiteX8" fmla="*/ 587066 w 2980310"/>
              <a:gd name="connsiteY8" fmla="*/ 0 h 1291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80310" h="1291517">
                <a:moveTo>
                  <a:pt x="2709780" y="65314"/>
                </a:moveTo>
                <a:cubicBezTo>
                  <a:pt x="2700708" y="214085"/>
                  <a:pt x="2691637" y="362857"/>
                  <a:pt x="2720666" y="478971"/>
                </a:cubicBezTo>
                <a:cubicBezTo>
                  <a:pt x="2749695" y="595085"/>
                  <a:pt x="2805938" y="627743"/>
                  <a:pt x="2883952" y="762000"/>
                </a:cubicBezTo>
                <a:cubicBezTo>
                  <a:pt x="2961966" y="896257"/>
                  <a:pt x="3090780" y="1233714"/>
                  <a:pt x="2796866" y="1284514"/>
                </a:cubicBezTo>
                <a:cubicBezTo>
                  <a:pt x="2502952" y="1335314"/>
                  <a:pt x="1568594" y="1094014"/>
                  <a:pt x="1120466" y="1066800"/>
                </a:cubicBezTo>
                <a:cubicBezTo>
                  <a:pt x="672338" y="1039586"/>
                  <a:pt x="282266" y="1193801"/>
                  <a:pt x="108095" y="1121229"/>
                </a:cubicBezTo>
                <a:cubicBezTo>
                  <a:pt x="-66077" y="1048658"/>
                  <a:pt x="6494" y="763814"/>
                  <a:pt x="75437" y="631371"/>
                </a:cubicBezTo>
                <a:cubicBezTo>
                  <a:pt x="144380" y="498928"/>
                  <a:pt x="436481" y="431799"/>
                  <a:pt x="521752" y="326571"/>
                </a:cubicBezTo>
                <a:cubicBezTo>
                  <a:pt x="607023" y="221343"/>
                  <a:pt x="597044" y="110671"/>
                  <a:pt x="587066" y="0"/>
                </a:cubicBezTo>
              </a:path>
            </a:pathLst>
          </a:cu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/>
          <p:cNvCxnSpPr>
            <a:stCxn id="32" idx="8"/>
          </p:cNvCxnSpPr>
          <p:nvPr/>
        </p:nvCxnSpPr>
        <p:spPr>
          <a:xfrm>
            <a:off x="4419600" y="2971800"/>
            <a:ext cx="1072444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953000" y="3593068"/>
                <a:ext cx="8774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Cycle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𝑪</m:t>
                    </m:r>
                  </m:oMath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593068"/>
                <a:ext cx="877420" cy="369332"/>
              </a:xfrm>
              <a:prstGeom prst="rect">
                <a:avLst/>
              </a:prstGeom>
              <a:blipFill rotWithShape="1">
                <a:blip r:embed="rId12"/>
                <a:stretch>
                  <a:fillRect l="-6294" t="-8197" r="-1049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334000" y="1459468"/>
                <a:ext cx="385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1459468"/>
                <a:ext cx="385554" cy="369332"/>
              </a:xfrm>
              <a:prstGeom prst="rect">
                <a:avLst/>
              </a:prstGeom>
              <a:blipFill rotWithShape="1">
                <a:blip r:embed="rId13"/>
                <a:stretch>
                  <a:fillRect t="-8197" r="-1904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653046" y="2971800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𝜶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046" y="2971800"/>
                <a:ext cx="393056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333" r="-200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4712344" y="2971800"/>
                <a:ext cx="3946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𝜷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2344" y="2971800"/>
                <a:ext cx="394660" cy="369332"/>
              </a:xfrm>
              <a:prstGeom prst="rect">
                <a:avLst/>
              </a:prstGeom>
              <a:blipFill rotWithShape="1">
                <a:blip r:embed="rId15"/>
                <a:stretch>
                  <a:fillRect t="-8333" r="-2153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5791200" y="2983468"/>
                <a:ext cx="377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𝜸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2983468"/>
                <a:ext cx="377026" cy="369332"/>
              </a:xfrm>
              <a:prstGeom prst="rect">
                <a:avLst/>
              </a:prstGeom>
              <a:blipFill rotWithShape="1">
                <a:blip r:embed="rId16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5033174" y="4050268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𝝉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174" y="4050268"/>
                <a:ext cx="354584" cy="369332"/>
              </a:xfrm>
              <a:prstGeom prst="rect">
                <a:avLst/>
              </a:prstGeom>
              <a:blipFill rotWithShape="1">
                <a:blip r:embed="rId17"/>
                <a:stretch>
                  <a:fillRect t="-8197" r="-2241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57200" y="5943600"/>
                <a:ext cx="19399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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𝜸</m:t>
                    </m:r>
                    <m:r>
                      <a:rPr lang="en-US" b="1" i="1" dirty="0">
                        <a:latin typeface="Cambria Math"/>
                      </a:rPr>
                      <m:t>+ </m:t>
                    </m:r>
                    <m:r>
                      <a:rPr lang="en-US" b="1" i="1" dirty="0">
                        <a:latin typeface="Cambria Math"/>
                      </a:rPr>
                      <m:t>𝝉</m:t>
                    </m:r>
                    <m:r>
                      <a:rPr lang="en-US" b="1" i="1" dirty="0" smtClean="0">
                        <a:latin typeface="Cambria Math"/>
                      </a:rPr>
                      <m:t>+</m:t>
                    </m:r>
                    <m:r>
                      <a:rPr lang="en-US" b="1" i="1" dirty="0" smtClean="0">
                        <a:latin typeface="Cambria Math"/>
                      </a:rPr>
                      <m:t>𝜷</m:t>
                    </m:r>
                    <m:r>
                      <a:rPr lang="en-US" b="1" i="1" dirty="0">
                        <a:latin typeface="Cambria Math"/>
                      </a:rPr>
                      <m:t>&lt;</m:t>
                    </m:r>
                    <m:r>
                      <a:rPr lang="en-US" b="1" i="1" dirty="0">
                        <a:latin typeface="Cambria Math"/>
                      </a:rPr>
                      <m:t>𝟎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943600"/>
                <a:ext cx="1939955" cy="369332"/>
              </a:xfrm>
              <a:prstGeom prst="rect">
                <a:avLst/>
              </a:prstGeom>
              <a:blipFill rotWithShape="1">
                <a:blip r:embed="rId18"/>
                <a:stretch>
                  <a:fillRect l="-2516" t="-9836" r="-440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loud Callout 29">
                <a:extLst>
                  <a:ext uri="{FF2B5EF4-FFF2-40B4-BE49-F238E27FC236}">
                    <a16:creationId xmlns:a16="http://schemas.microsoft.com/office/drawing/2014/main" id="{7649DEAF-F79E-1915-F026-7A1F12D2EFBD}"/>
                  </a:ext>
                </a:extLst>
              </p:cNvPr>
              <p:cNvSpPr/>
              <p:nvPr/>
            </p:nvSpPr>
            <p:spPr>
              <a:xfrm>
                <a:off x="5719554" y="818736"/>
                <a:ext cx="3439615" cy="947636"/>
              </a:xfrm>
              <a:prstGeom prst="cloudCallout">
                <a:avLst>
                  <a:gd name="adj1" fmla="val -25991"/>
                  <a:gd name="adj2" fmla="val 7885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What does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𝜸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+ 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𝝉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𝜷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correspond to ?</a:t>
                </a:r>
              </a:p>
            </p:txBody>
          </p:sp>
        </mc:Choice>
        <mc:Fallback>
          <p:sp>
            <p:nvSpPr>
              <p:cNvPr id="9" name="Cloud Callout 29">
                <a:extLst>
                  <a:ext uri="{FF2B5EF4-FFF2-40B4-BE49-F238E27FC236}">
                    <a16:creationId xmlns:a16="http://schemas.microsoft.com/office/drawing/2014/main" id="{7649DEAF-F79E-1915-F026-7A1F12D2EF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554" y="818736"/>
                <a:ext cx="3439615" cy="947636"/>
              </a:xfrm>
              <a:prstGeom prst="cloudCallout">
                <a:avLst>
                  <a:gd name="adj1" fmla="val -25991"/>
                  <a:gd name="adj2" fmla="val 78852"/>
                </a:avLst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01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2" grpId="0" animBg="1"/>
      <p:bldP spid="21" grpId="0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ABF78-C37D-2F6E-E246-02DD4C9BD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Inference</a:t>
            </a:r>
            <a:endParaRPr lang="en-US" sz="36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19256-177F-3F4F-B227-C438E3E4C1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600200"/>
                <a:ext cx="91440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Lemma</a:t>
                </a:r>
                <a:r>
                  <a:rPr lang="en-US" sz="2000" dirty="0"/>
                  <a:t>: Let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be a graph with no </a:t>
                </a:r>
                <a:r>
                  <a:rPr lang="en-US" sz="2000" b="1" dirty="0"/>
                  <a:t>negative weight </a:t>
                </a:r>
                <a:r>
                  <a:rPr lang="en-US" sz="2000" dirty="0"/>
                  <a:t>cycle and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2000" b="1" i="1" dirty="0">
                            <a:latin typeface="Cambria Math"/>
                          </a:rPr>
                          <m:t>,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sz="2000" b="1" i="1" dirty="0">
                        <a:latin typeface="Cambria Math"/>
                      </a:rPr>
                      <m:t>=</m:t>
                    </m:r>
                    <m:r>
                      <a:rPr lang="en-US" sz="2000" b="1" i="1" dirty="0">
                        <a:latin typeface="Cambria Math"/>
                      </a:rPr>
                      <m:t>𝑸</m:t>
                    </m:r>
                    <m:r>
                      <a:rPr lang="en-US" sz="2000" b="1" i="1" dirty="0">
                        <a:latin typeface="Cambria Math"/>
                      </a:rPr>
                      <m:t>∷(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514350" indent="-514350">
                  <a:buAutoNum type="romanLcParenBoth"/>
                </a:pPr>
                <a:r>
                  <a:rPr lang="en-US" sz="2000" dirty="0"/>
                  <a:t>Any path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that passes through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u="sng" dirty="0"/>
                  <a:t>cannot</a:t>
                </a:r>
                <a:r>
                  <a:rPr lang="en-US" sz="2000" dirty="0"/>
                  <a:t> be shorter than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514350" indent="-514350">
                  <a:buFont typeface="Arial" charset="0"/>
                  <a:buAutoNum type="romanLcParenBoth"/>
                </a:pPr>
                <a:r>
                  <a:rPr lang="en-US" sz="2000" dirty="0"/>
                  <a:t>Any path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that doesn’t  pass through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u="sng" dirty="0"/>
                  <a:t>cannot</a:t>
                </a:r>
                <a:r>
                  <a:rPr lang="en-US" sz="2000" dirty="0"/>
                  <a:t> be shorter than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514350" indent="-514350">
                  <a:buAutoNum type="romanLcParenBoth"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19256-177F-3F4F-B227-C438E3E4C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0"/>
                <a:ext cx="9144000" cy="5257800"/>
              </a:xfrm>
              <a:blipFill>
                <a:blip r:embed="rId2"/>
                <a:stretch>
                  <a:fillRect l="-694" t="-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D77D7-4CF5-F880-1D93-576F5FDB8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D7003F1-277E-99A3-B073-4EB30E39644B}"/>
              </a:ext>
            </a:extLst>
          </p:cNvPr>
          <p:cNvGrpSpPr/>
          <p:nvPr/>
        </p:nvGrpSpPr>
        <p:grpSpPr>
          <a:xfrm>
            <a:off x="1828800" y="3733800"/>
            <a:ext cx="4391581" cy="457200"/>
            <a:chOff x="2466419" y="2895600"/>
            <a:chExt cx="4391581" cy="45720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6F6F80DC-E478-DDDF-94E4-0F1CBF23EB7C}"/>
                </a:ext>
              </a:extLst>
            </p:cNvPr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9249F3C6-2DEE-9C31-7628-1FBE2CE74561}"/>
                  </a:ext>
                </a:extLst>
              </p:cNvPr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15150A76-85BA-0009-82D0-40A5429C868A}"/>
                      </a:ext>
                    </a:extLst>
                  </p:cNvPr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438A582-D6BA-E3CF-FC6D-5704994F99D5}"/>
                </a:ext>
              </a:extLst>
            </p:cNvPr>
            <p:cNvGrpSpPr/>
            <p:nvPr/>
          </p:nvGrpSpPr>
          <p:grpSpPr>
            <a:xfrm>
              <a:off x="4343400" y="2895600"/>
              <a:ext cx="386644" cy="445532"/>
              <a:chOff x="4413956" y="2819400"/>
              <a:chExt cx="386644" cy="4455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A35F59C8-6C96-176B-89B2-DBB98BD6F905}"/>
                      </a:ext>
                    </a:extLst>
                  </p:cNvPr>
                  <p:cNvSpPr txBox="1"/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21311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E3E6407A-1988-185F-CFCA-C20BE91D1370}"/>
                  </a:ext>
                </a:extLst>
              </p:cNvPr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9F3860C8-CC72-DBC4-0B9C-2EE52990A09A}"/>
                </a:ext>
              </a:extLst>
            </p:cNvPr>
            <p:cNvGrpSpPr/>
            <p:nvPr/>
          </p:nvGrpSpPr>
          <p:grpSpPr>
            <a:xfrm>
              <a:off x="3575756" y="2895600"/>
              <a:ext cx="386644" cy="457200"/>
              <a:chOff x="4566356" y="2819400"/>
              <a:chExt cx="38664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99D346D5-3EEA-6921-D14B-A796252F9EFB}"/>
                      </a:ext>
                    </a:extLst>
                  </p:cNvPr>
                  <p:cNvSpPr txBox="1"/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63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54DF1C6A-35EA-AE26-CCD6-8BE287023336}"/>
                  </a:ext>
                </a:extLst>
              </p:cNvPr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04DFCE0-4450-AE06-BAFC-F518F3CB1A94}"/>
                </a:ext>
              </a:extLst>
            </p:cNvPr>
            <p:cNvGrpSpPr/>
            <p:nvPr/>
          </p:nvGrpSpPr>
          <p:grpSpPr>
            <a:xfrm>
              <a:off x="5410200" y="2895600"/>
              <a:ext cx="370614" cy="457200"/>
              <a:chOff x="4566356" y="2819400"/>
              <a:chExt cx="37061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5A349594-57E6-EDEC-80D3-343CA99DF4BE}"/>
                      </a:ext>
                    </a:extLst>
                  </p:cNvPr>
                  <p:cNvSpPr txBox="1"/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2FA86B2C-AD8D-065D-5BC7-F2A7738684F0}"/>
                  </a:ext>
                </a:extLst>
              </p:cNvPr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23D93213-1EF0-6789-3ECA-C63C932A1BD3}"/>
                </a:ext>
              </a:extLst>
            </p:cNvPr>
            <p:cNvGrpSpPr/>
            <p:nvPr/>
          </p:nvGrpSpPr>
          <p:grpSpPr>
            <a:xfrm>
              <a:off x="6412020" y="2895600"/>
              <a:ext cx="445980" cy="369332"/>
              <a:chOff x="4648200" y="2819400"/>
              <a:chExt cx="445980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71DFCE70-8AA4-A7BB-D789-9FCE43023127}"/>
                      </a:ext>
                    </a:extLst>
                  </p:cNvPr>
                  <p:cNvSpPr txBox="1"/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E3A29741-420A-44C0-4A69-F07B1A4A774F}"/>
                  </a:ext>
                </a:extLst>
              </p:cNvPr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23152FF0-195D-C377-7AB6-8093742F3576}"/>
                </a:ext>
              </a:extLst>
            </p:cNvPr>
            <p:cNvCxnSpPr>
              <a:stCxn id="71" idx="6"/>
              <a:endCxn id="68" idx="2"/>
            </p:cNvCxnSpPr>
            <p:nvPr/>
          </p:nvCxnSpPr>
          <p:spPr>
            <a:xfrm>
              <a:off x="2895600" y="297180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FA3D9C9-97DA-2158-F57E-00730833E776}"/>
                </a:ext>
              </a:extLst>
            </p:cNvPr>
            <p:cNvCxnSpPr>
              <a:endCxn id="70" idx="2"/>
            </p:cNvCxnSpPr>
            <p:nvPr/>
          </p:nvCxnSpPr>
          <p:spPr>
            <a:xfrm>
              <a:off x="38100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4306958D-18BE-6099-8600-BAEC20F73EE7}"/>
                </a:ext>
              </a:extLst>
            </p:cNvPr>
            <p:cNvCxnSpPr/>
            <p:nvPr/>
          </p:nvCxnSpPr>
          <p:spPr>
            <a:xfrm>
              <a:off x="47244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3EE46461-47A0-35C7-2086-27F8379EF928}"/>
                </a:ext>
              </a:extLst>
            </p:cNvPr>
            <p:cNvCxnSpPr/>
            <p:nvPr/>
          </p:nvCxnSpPr>
          <p:spPr>
            <a:xfrm>
              <a:off x="56388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Right Brace 73">
            <a:extLst>
              <a:ext uri="{FF2B5EF4-FFF2-40B4-BE49-F238E27FC236}">
                <a16:creationId xmlns:a16="http://schemas.microsoft.com/office/drawing/2014/main" id="{BBC33379-D8F4-D9AE-CED2-E78940E97D35}"/>
              </a:ext>
            </a:extLst>
          </p:cNvPr>
          <p:cNvSpPr/>
          <p:nvPr/>
        </p:nvSpPr>
        <p:spPr>
          <a:xfrm rot="5400000">
            <a:off x="3357048" y="2863333"/>
            <a:ext cx="392666" cy="2590800"/>
          </a:xfrm>
          <a:prstGeom prst="righ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FAE4C7-317E-FD3B-0455-79E4A8D211F8}"/>
                  </a:ext>
                </a:extLst>
              </p:cNvPr>
              <p:cNvSpPr txBox="1"/>
              <p:nvPr/>
            </p:nvSpPr>
            <p:spPr>
              <a:xfrm>
                <a:off x="3350441" y="4419600"/>
                <a:ext cx="405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FAE4C7-317E-FD3B-0455-79E4A8D21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441" y="4419600"/>
                <a:ext cx="405880" cy="369332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30FBF450-440F-392C-C260-F32863F3DFD5}"/>
              </a:ext>
            </a:extLst>
          </p:cNvPr>
          <p:cNvGrpSpPr/>
          <p:nvPr/>
        </p:nvGrpSpPr>
        <p:grpSpPr>
          <a:xfrm>
            <a:off x="2190460" y="3067445"/>
            <a:ext cx="2762540" cy="742555"/>
            <a:chOff x="3720104" y="1968379"/>
            <a:chExt cx="2528296" cy="666354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3EB245F-BF04-385D-3B8C-CED36020E38A}"/>
                </a:ext>
              </a:extLst>
            </p:cNvPr>
            <p:cNvSpPr/>
            <p:nvPr/>
          </p:nvSpPr>
          <p:spPr>
            <a:xfrm>
              <a:off x="3720104" y="1968379"/>
              <a:ext cx="2506525" cy="633307"/>
            </a:xfrm>
            <a:custGeom>
              <a:avLst/>
              <a:gdLst>
                <a:gd name="connsiteX0" fmla="*/ 2810 w 2506525"/>
                <a:gd name="connsiteY0" fmla="*/ 633307 h 633307"/>
                <a:gd name="connsiteX1" fmla="*/ 68125 w 2506525"/>
                <a:gd name="connsiteY1" fmla="*/ 328507 h 633307"/>
                <a:gd name="connsiteX2" fmla="*/ 460010 w 2506525"/>
                <a:gd name="connsiteY2" fmla="*/ 176107 h 633307"/>
                <a:gd name="connsiteX3" fmla="*/ 1080496 w 2506525"/>
                <a:gd name="connsiteY3" fmla="*/ 1935 h 633307"/>
                <a:gd name="connsiteX4" fmla="*/ 1494153 w 2506525"/>
                <a:gd name="connsiteY4" fmla="*/ 295850 h 633307"/>
                <a:gd name="connsiteX5" fmla="*/ 2212610 w 2506525"/>
                <a:gd name="connsiteY5" fmla="*/ 252307 h 633307"/>
                <a:gd name="connsiteX6" fmla="*/ 2506525 w 2506525"/>
                <a:gd name="connsiteY6" fmla="*/ 611535 h 633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06525" h="633307">
                  <a:moveTo>
                    <a:pt x="2810" y="633307"/>
                  </a:moveTo>
                  <a:cubicBezTo>
                    <a:pt x="-2633" y="519007"/>
                    <a:pt x="-8075" y="404707"/>
                    <a:pt x="68125" y="328507"/>
                  </a:cubicBezTo>
                  <a:cubicBezTo>
                    <a:pt x="144325" y="252307"/>
                    <a:pt x="291282" y="230536"/>
                    <a:pt x="460010" y="176107"/>
                  </a:cubicBezTo>
                  <a:cubicBezTo>
                    <a:pt x="628738" y="121678"/>
                    <a:pt x="908139" y="-18022"/>
                    <a:pt x="1080496" y="1935"/>
                  </a:cubicBezTo>
                  <a:cubicBezTo>
                    <a:pt x="1252853" y="21892"/>
                    <a:pt x="1305467" y="254121"/>
                    <a:pt x="1494153" y="295850"/>
                  </a:cubicBezTo>
                  <a:cubicBezTo>
                    <a:pt x="1682839" y="337579"/>
                    <a:pt x="2043881" y="199693"/>
                    <a:pt x="2212610" y="252307"/>
                  </a:cubicBezTo>
                  <a:cubicBezTo>
                    <a:pt x="2381339" y="304921"/>
                    <a:pt x="2443932" y="458228"/>
                    <a:pt x="2506525" y="611535"/>
                  </a:cubicBezTo>
                </a:path>
              </a:pathLst>
            </a:cu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98F4AB5-8761-BF33-4230-1CCBB7872CB0}"/>
                </a:ext>
              </a:extLst>
            </p:cNvPr>
            <p:cNvCxnSpPr>
              <a:stCxn id="15" idx="6"/>
            </p:cNvCxnSpPr>
            <p:nvPr/>
          </p:nvCxnSpPr>
          <p:spPr>
            <a:xfrm>
              <a:off x="6226629" y="2579914"/>
              <a:ext cx="21771" cy="5481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BBAF5BC-1068-99C5-B31C-EC2828A5395F}"/>
              </a:ext>
            </a:extLst>
          </p:cNvPr>
          <p:cNvGrpSpPr/>
          <p:nvPr/>
        </p:nvGrpSpPr>
        <p:grpSpPr>
          <a:xfrm>
            <a:off x="2127955" y="3010690"/>
            <a:ext cx="3663245" cy="742555"/>
            <a:chOff x="2743199" y="2153045"/>
            <a:chExt cx="3663245" cy="742555"/>
          </a:xfrm>
        </p:grpSpPr>
        <p:sp>
          <p:nvSpPr>
            <p:cNvPr id="18" name="Freeform 68">
              <a:extLst>
                <a:ext uri="{FF2B5EF4-FFF2-40B4-BE49-F238E27FC236}">
                  <a16:creationId xmlns:a16="http://schemas.microsoft.com/office/drawing/2014/main" id="{27C2EC96-5672-44F5-156A-A3C1D8C3B505}"/>
                </a:ext>
              </a:extLst>
            </p:cNvPr>
            <p:cNvSpPr/>
            <p:nvPr/>
          </p:nvSpPr>
          <p:spPr>
            <a:xfrm>
              <a:off x="2743199" y="2153045"/>
              <a:ext cx="2841185" cy="705729"/>
            </a:xfrm>
            <a:custGeom>
              <a:avLst/>
              <a:gdLst>
                <a:gd name="connsiteX0" fmla="*/ 2810 w 2506525"/>
                <a:gd name="connsiteY0" fmla="*/ 633307 h 633307"/>
                <a:gd name="connsiteX1" fmla="*/ 68125 w 2506525"/>
                <a:gd name="connsiteY1" fmla="*/ 328507 h 633307"/>
                <a:gd name="connsiteX2" fmla="*/ 460010 w 2506525"/>
                <a:gd name="connsiteY2" fmla="*/ 176107 h 633307"/>
                <a:gd name="connsiteX3" fmla="*/ 1080496 w 2506525"/>
                <a:gd name="connsiteY3" fmla="*/ 1935 h 633307"/>
                <a:gd name="connsiteX4" fmla="*/ 1494153 w 2506525"/>
                <a:gd name="connsiteY4" fmla="*/ 295850 h 633307"/>
                <a:gd name="connsiteX5" fmla="*/ 2212610 w 2506525"/>
                <a:gd name="connsiteY5" fmla="*/ 252307 h 633307"/>
                <a:gd name="connsiteX6" fmla="*/ 2506525 w 2506525"/>
                <a:gd name="connsiteY6" fmla="*/ 611535 h 633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06525" h="633307">
                  <a:moveTo>
                    <a:pt x="2810" y="633307"/>
                  </a:moveTo>
                  <a:cubicBezTo>
                    <a:pt x="-2633" y="519007"/>
                    <a:pt x="-8075" y="404707"/>
                    <a:pt x="68125" y="328507"/>
                  </a:cubicBezTo>
                  <a:cubicBezTo>
                    <a:pt x="144325" y="252307"/>
                    <a:pt x="291282" y="230536"/>
                    <a:pt x="460010" y="176107"/>
                  </a:cubicBezTo>
                  <a:cubicBezTo>
                    <a:pt x="628738" y="121678"/>
                    <a:pt x="908139" y="-18022"/>
                    <a:pt x="1080496" y="1935"/>
                  </a:cubicBezTo>
                  <a:cubicBezTo>
                    <a:pt x="1252853" y="21892"/>
                    <a:pt x="1305467" y="254121"/>
                    <a:pt x="1494153" y="295850"/>
                  </a:cubicBezTo>
                  <a:cubicBezTo>
                    <a:pt x="1682839" y="337579"/>
                    <a:pt x="2043881" y="199693"/>
                    <a:pt x="2212610" y="252307"/>
                  </a:cubicBezTo>
                  <a:cubicBezTo>
                    <a:pt x="2381339" y="304921"/>
                    <a:pt x="2443932" y="458228"/>
                    <a:pt x="2506525" y="611535"/>
                  </a:cubicBezTo>
                </a:path>
              </a:pathLst>
            </a:custGeom>
            <a:ln w="127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AC0A4228-076C-7681-D34F-4F3A69C7EE5D}"/>
                </a:ext>
              </a:extLst>
            </p:cNvPr>
            <p:cNvCxnSpPr/>
            <p:nvPr/>
          </p:nvCxnSpPr>
          <p:spPr>
            <a:xfrm>
              <a:off x="5638800" y="2895600"/>
              <a:ext cx="76764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lg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loud Callout 19">
                <a:extLst>
                  <a:ext uri="{FF2B5EF4-FFF2-40B4-BE49-F238E27FC236}">
                    <a16:creationId xmlns:a16="http://schemas.microsoft.com/office/drawing/2014/main" id="{5E8EEA50-A772-1352-C8B2-4CD30F051651}"/>
                  </a:ext>
                </a:extLst>
              </p:cNvPr>
              <p:cNvSpPr/>
              <p:nvPr/>
            </p:nvSpPr>
            <p:spPr>
              <a:xfrm>
                <a:off x="0" y="4800600"/>
                <a:ext cx="4712265" cy="945119"/>
              </a:xfrm>
              <a:prstGeom prst="cloudCallout">
                <a:avLst>
                  <a:gd name="adj1" fmla="val -25991"/>
                  <a:gd name="adj2" fmla="val 7885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What about any path to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that does not pass through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20" name="Cloud Callout 19">
                <a:extLst>
                  <a:ext uri="{FF2B5EF4-FFF2-40B4-BE49-F238E27FC236}">
                    <a16:creationId xmlns:a16="http://schemas.microsoft.com/office/drawing/2014/main" id="{5E8EEA50-A772-1352-C8B2-4CD30F051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800600"/>
                <a:ext cx="4712265" cy="945119"/>
              </a:xfrm>
              <a:prstGeom prst="cloudCallout">
                <a:avLst>
                  <a:gd name="adj1" fmla="val -25991"/>
                  <a:gd name="adj2" fmla="val 78852"/>
                </a:avLst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27B801E-DF4C-9FC9-661F-FA9F2765C588}"/>
                  </a:ext>
                </a:extLst>
              </p:cNvPr>
              <p:cNvSpPr txBox="1"/>
              <p:nvPr/>
            </p:nvSpPr>
            <p:spPr>
              <a:xfrm>
                <a:off x="4794308" y="4648200"/>
                <a:ext cx="4425892" cy="120032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::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b="1" i="1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𝒚</m:t>
                    </m:r>
                    <m:r>
                      <a:rPr lang="en-US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is a path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is </a:t>
                </a:r>
                <a:r>
                  <a:rPr lang="en-US" u="sng" dirty="0"/>
                  <a:t>shorter</a:t>
                </a:r>
                <a:r>
                  <a:rPr lang="en-US" dirty="0"/>
                  <a:t> than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en-US" dirty="0"/>
                  <a:t>, </a:t>
                </a:r>
              </a:p>
              <a:p>
                <a:pPr marL="285750" indent="-285750">
                  <a:buFont typeface="Wingdings" pitchFamily="2" charset="2"/>
                  <a:buChar char="è"/>
                </a:pPr>
                <a:r>
                  <a:rPr lang="en-US" dirty="0">
                    <a:sym typeface="Wingdings" pitchFamily="2" charset="2"/>
                  </a:rPr>
                  <a:t>There is a path to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shorter than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b="1" i="1" dirty="0"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Contradiction !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27B801E-DF4C-9FC9-661F-FA9F2765C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4308" y="4648200"/>
                <a:ext cx="4425892" cy="1200329"/>
              </a:xfrm>
              <a:prstGeom prst="rect">
                <a:avLst/>
              </a:prstGeom>
              <a:blipFill>
                <a:blip r:embed="rId14"/>
                <a:stretch>
                  <a:fillRect l="-1143" t="-3158" b="-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4EAA34-23A8-DC68-211E-6A7AD0908A95}"/>
                  </a:ext>
                </a:extLst>
              </p:cNvPr>
              <p:cNvSpPr txBox="1"/>
              <p:nvPr/>
            </p:nvSpPr>
            <p:spPr>
              <a:xfrm>
                <a:off x="3725808" y="2907268"/>
                <a:ext cx="4651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4EAA34-23A8-DC68-211E-6A7AD0908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808" y="2907268"/>
                <a:ext cx="465192" cy="369332"/>
              </a:xfrm>
              <a:prstGeom prst="rect">
                <a:avLst/>
              </a:prstGeom>
              <a:blipFill>
                <a:blip r:embed="rId15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27908C54-4F4D-A642-2DB8-5899ACFB84EB}"/>
              </a:ext>
            </a:extLst>
          </p:cNvPr>
          <p:cNvSpPr/>
          <p:nvPr/>
        </p:nvSpPr>
        <p:spPr>
          <a:xfrm>
            <a:off x="5867400" y="1611868"/>
            <a:ext cx="3276600" cy="369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C4B0B3-8783-63DF-6F31-D53FDCFA138E}"/>
              </a:ext>
            </a:extLst>
          </p:cNvPr>
          <p:cNvSpPr/>
          <p:nvPr/>
        </p:nvSpPr>
        <p:spPr>
          <a:xfrm>
            <a:off x="914400" y="1600200"/>
            <a:ext cx="49530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0AFEDC-FFB9-3C73-7D79-6A5BD37A0B77}"/>
              </a:ext>
            </a:extLst>
          </p:cNvPr>
          <p:cNvSpPr/>
          <p:nvPr/>
        </p:nvSpPr>
        <p:spPr>
          <a:xfrm>
            <a:off x="4310047" y="2044579"/>
            <a:ext cx="3276600" cy="369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F7AA01-6B65-90B7-763F-A6E8A43BA308}"/>
              </a:ext>
            </a:extLst>
          </p:cNvPr>
          <p:cNvSpPr/>
          <p:nvPr/>
        </p:nvSpPr>
        <p:spPr>
          <a:xfrm>
            <a:off x="4969860" y="2413911"/>
            <a:ext cx="3276600" cy="369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loud Callout 26">
            <a:extLst>
              <a:ext uri="{FF2B5EF4-FFF2-40B4-BE49-F238E27FC236}">
                <a16:creationId xmlns:a16="http://schemas.microsoft.com/office/drawing/2014/main" id="{CAB05A20-321C-C63A-CE4A-A33A11073E57}"/>
              </a:ext>
            </a:extLst>
          </p:cNvPr>
          <p:cNvSpPr/>
          <p:nvPr/>
        </p:nvSpPr>
        <p:spPr>
          <a:xfrm>
            <a:off x="2000129" y="5360610"/>
            <a:ext cx="4712265" cy="945119"/>
          </a:xfrm>
          <a:prstGeom prst="cloudCallout">
            <a:avLst>
              <a:gd name="adj1" fmla="val -25991"/>
              <a:gd name="adj2" fmla="val 7885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Focus on the </a:t>
            </a:r>
            <a:r>
              <a:rPr lang="en-US" b="1" dirty="0">
                <a:solidFill>
                  <a:srgbClr val="7030A0"/>
                </a:solidFill>
              </a:rPr>
              <a:t>Lemma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What does it convey ?</a:t>
            </a:r>
          </a:p>
        </p:txBody>
      </p:sp>
    </p:spTree>
    <p:extLst>
      <p:ext uri="{BB962C8B-B14F-4D97-AF65-F5344CB8AC3E}">
        <p14:creationId xmlns:p14="http://schemas.microsoft.com/office/powerpoint/2010/main" val="1785429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3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0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0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8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1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4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7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3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3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7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4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7" dur="500"/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74" grpId="0" animBg="1"/>
      <p:bldP spid="11" grpId="0"/>
      <p:bldP spid="20" grpId="0" animBg="1"/>
      <p:bldP spid="20" grpId="1" animBg="1"/>
      <p:bldP spid="21" grpId="0" animBg="1"/>
      <p:bldP spid="21" grpId="1" build="allAtOnce" animBg="1"/>
      <p:bldP spid="22" grpId="0"/>
      <p:bldP spid="22" grpId="1"/>
      <p:bldP spid="23" grpId="0" animBg="1"/>
      <p:bldP spid="24" grpId="0" animBg="1"/>
      <p:bldP spid="25" grpId="0" animBg="1"/>
      <p:bldP spid="26" grpId="0" animBg="1"/>
      <p:bldP spid="27" grpId="0" animBg="1"/>
      <p:bldP spid="27" grpId="1" build="allAtOnce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ABF78-C37D-2F6E-E246-02DD4C9BD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Inference</a:t>
            </a:r>
            <a:endParaRPr lang="en-US" sz="3600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19256-177F-3F4F-B227-C438E3E4C1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600200"/>
                <a:ext cx="91440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Lemma</a:t>
                </a:r>
                <a:r>
                  <a:rPr lang="en-US" sz="2000" dirty="0"/>
                  <a:t>: Let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be a graph with no </a:t>
                </a:r>
                <a:r>
                  <a:rPr lang="en-US" sz="2000" b="1" dirty="0"/>
                  <a:t>negative weight </a:t>
                </a:r>
                <a:r>
                  <a:rPr lang="en-US" sz="2000" dirty="0"/>
                  <a:t>cycle and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sz="2000" b="1" i="1" dirty="0">
                            <a:latin typeface="Cambria Math"/>
                          </a:rPr>
                          <m:t>,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sz="2000" b="1" i="1" dirty="0">
                        <a:latin typeface="Cambria Math"/>
                      </a:rPr>
                      <m:t>=</m:t>
                    </m:r>
                    <m:r>
                      <a:rPr lang="en-US" sz="2000" b="1" i="1" dirty="0">
                        <a:latin typeface="Cambria Math"/>
                      </a:rPr>
                      <m:t>𝑸</m:t>
                    </m:r>
                    <m:r>
                      <a:rPr lang="en-US" sz="2000" b="1" i="1" dirty="0">
                        <a:latin typeface="Cambria Math"/>
                      </a:rPr>
                      <m:t>∷</m:t>
                    </m:r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sz="2000" b="1" i="1" dirty="0">
                            <a:latin typeface="Cambria Math"/>
                          </a:rPr>
                          <m:t>,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</m:oMath>
                </a14:m>
                <a:endParaRPr lang="en-US" sz="20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atin typeface="Cambria Math"/>
                        </a:rPr>
                        <m:t>𝑸</m:t>
                      </m:r>
                      <m:r>
                        <a:rPr lang="en-US" sz="20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𝑷</m:t>
                      </m:r>
                      <m:d>
                        <m:dPr>
                          <m:ctrlPr>
                            <a:rPr lang="en-US" sz="2000" b="1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,</m:t>
                          </m:r>
                          <m: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514350" indent="-514350">
                  <a:buAutoNum type="romanLcParenBoth"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70C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19256-177F-3F4F-B227-C438E3E4C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0"/>
                <a:ext cx="9144000" cy="5257800"/>
              </a:xfrm>
              <a:blipFill>
                <a:blip r:embed="rId2"/>
                <a:stretch>
                  <a:fillRect l="-694" t="-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D77D7-4CF5-F880-1D93-576F5FDB8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D7003F1-277E-99A3-B073-4EB30E39644B}"/>
              </a:ext>
            </a:extLst>
          </p:cNvPr>
          <p:cNvGrpSpPr/>
          <p:nvPr/>
        </p:nvGrpSpPr>
        <p:grpSpPr>
          <a:xfrm>
            <a:off x="1828800" y="3733800"/>
            <a:ext cx="4391581" cy="457200"/>
            <a:chOff x="2466419" y="2895600"/>
            <a:chExt cx="4391581" cy="457200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6F6F80DC-E478-DDDF-94E4-0F1CBF23EB7C}"/>
                </a:ext>
              </a:extLst>
            </p:cNvPr>
            <p:cNvGrpSpPr/>
            <p:nvPr/>
          </p:nvGrpSpPr>
          <p:grpSpPr>
            <a:xfrm>
              <a:off x="2466419" y="2895600"/>
              <a:ext cx="429181" cy="369332"/>
              <a:chOff x="4676219" y="3048000"/>
              <a:chExt cx="429181" cy="369332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9249F3C6-2DEE-9C31-7628-1FBE2CE74561}"/>
                  </a:ext>
                </a:extLst>
              </p:cNvPr>
              <p:cNvSpPr/>
              <p:nvPr/>
            </p:nvSpPr>
            <p:spPr>
              <a:xfrm>
                <a:off x="49530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15150A76-85BA-0009-82D0-40A5429C868A}"/>
                      </a:ext>
                    </a:extLst>
                  </p:cNvPr>
                  <p:cNvSpPr txBox="1"/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76219" y="3048000"/>
                    <a:ext cx="352981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8197" r="-2413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438A582-D6BA-E3CF-FC6D-5704994F99D5}"/>
                </a:ext>
              </a:extLst>
            </p:cNvPr>
            <p:cNvGrpSpPr/>
            <p:nvPr/>
          </p:nvGrpSpPr>
          <p:grpSpPr>
            <a:xfrm>
              <a:off x="4343400" y="2895600"/>
              <a:ext cx="386644" cy="445532"/>
              <a:chOff x="4413956" y="2819400"/>
              <a:chExt cx="386644" cy="4455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68">
                    <a:extLst>
                      <a:ext uri="{FF2B5EF4-FFF2-40B4-BE49-F238E27FC236}">
                        <a16:creationId xmlns:a16="http://schemas.microsoft.com/office/drawing/2014/main" id="{A35F59C8-6C96-176B-89B2-DBB98BD6F905}"/>
                      </a:ext>
                    </a:extLst>
                  </p:cNvPr>
                  <p:cNvSpPr txBox="1"/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𝒗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13956" y="28956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333" r="-21311" b="-2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E3E6407A-1988-185F-CFCA-C20BE91D1370}"/>
                  </a:ext>
                </a:extLst>
              </p:cNvPr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9F3860C8-CC72-DBC4-0B9C-2EE52990A09A}"/>
                </a:ext>
              </a:extLst>
            </p:cNvPr>
            <p:cNvGrpSpPr/>
            <p:nvPr/>
          </p:nvGrpSpPr>
          <p:grpSpPr>
            <a:xfrm>
              <a:off x="3575756" y="2895600"/>
              <a:ext cx="386644" cy="457200"/>
              <a:chOff x="4566356" y="2819400"/>
              <a:chExt cx="38664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99D346D5-3EEA-6921-D14B-A796252F9EFB}"/>
                      </a:ext>
                    </a:extLst>
                  </p:cNvPr>
                  <p:cNvSpPr txBox="1"/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𝒖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86644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t="-8197" r="-2063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54DF1C6A-35EA-AE26-CCD6-8BE287023336}"/>
                  </a:ext>
                </a:extLst>
              </p:cNvPr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04DFCE0-4450-AE06-BAFC-F518F3CB1A94}"/>
                </a:ext>
              </a:extLst>
            </p:cNvPr>
            <p:cNvGrpSpPr/>
            <p:nvPr/>
          </p:nvGrpSpPr>
          <p:grpSpPr>
            <a:xfrm>
              <a:off x="5410200" y="2895600"/>
              <a:ext cx="370614" cy="457200"/>
              <a:chOff x="4566356" y="2819400"/>
              <a:chExt cx="370614" cy="45720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5A349594-57E6-EDEC-80D3-343CA99DF4BE}"/>
                      </a:ext>
                    </a:extLst>
                  </p:cNvPr>
                  <p:cNvSpPr txBox="1"/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𝒙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6356" y="2907268"/>
                    <a:ext cx="370614" cy="369332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 t="-8197" r="-23333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2FA86B2C-AD8D-065D-5BC7-F2A7738684F0}"/>
                  </a:ext>
                </a:extLst>
              </p:cNvPr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23D93213-1EF0-6789-3ECA-C63C932A1BD3}"/>
                </a:ext>
              </a:extLst>
            </p:cNvPr>
            <p:cNvGrpSpPr/>
            <p:nvPr/>
          </p:nvGrpSpPr>
          <p:grpSpPr>
            <a:xfrm>
              <a:off x="6412020" y="2895600"/>
              <a:ext cx="445980" cy="369332"/>
              <a:chOff x="4648200" y="2819400"/>
              <a:chExt cx="445980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71DFCE70-8AA4-A7BB-D789-9FCE43023127}"/>
                      </a:ext>
                    </a:extLst>
                  </p:cNvPr>
                  <p:cNvSpPr txBox="1"/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𝒚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18756" y="2819400"/>
                    <a:ext cx="375424" cy="369332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 t="-8197" r="-20968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E3A29741-420A-44C0-4A69-F07B1A4A774F}"/>
                  </a:ext>
                </a:extLst>
              </p:cNvPr>
              <p:cNvSpPr/>
              <p:nvPr/>
            </p:nvSpPr>
            <p:spPr>
              <a:xfrm>
                <a:off x="4648200" y="2819400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23152FF0-195D-C377-7AB6-8093742F3576}"/>
                </a:ext>
              </a:extLst>
            </p:cNvPr>
            <p:cNvCxnSpPr>
              <a:stCxn id="71" idx="6"/>
              <a:endCxn id="68" idx="2"/>
            </p:cNvCxnSpPr>
            <p:nvPr/>
          </p:nvCxnSpPr>
          <p:spPr>
            <a:xfrm>
              <a:off x="2895600" y="2971800"/>
              <a:ext cx="7620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FA3D9C9-97DA-2158-F57E-00730833E776}"/>
                </a:ext>
              </a:extLst>
            </p:cNvPr>
            <p:cNvCxnSpPr>
              <a:endCxn id="70" idx="2"/>
            </p:cNvCxnSpPr>
            <p:nvPr/>
          </p:nvCxnSpPr>
          <p:spPr>
            <a:xfrm>
              <a:off x="38100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4306958D-18BE-6099-8600-BAEC20F73EE7}"/>
                </a:ext>
              </a:extLst>
            </p:cNvPr>
            <p:cNvCxnSpPr/>
            <p:nvPr/>
          </p:nvCxnSpPr>
          <p:spPr>
            <a:xfrm>
              <a:off x="47244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3EE46461-47A0-35C7-2086-27F8379EF928}"/>
                </a:ext>
              </a:extLst>
            </p:cNvPr>
            <p:cNvCxnSpPr/>
            <p:nvPr/>
          </p:nvCxnSpPr>
          <p:spPr>
            <a:xfrm>
              <a:off x="5638800" y="2971800"/>
              <a:ext cx="76764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Right Brace 73">
            <a:extLst>
              <a:ext uri="{FF2B5EF4-FFF2-40B4-BE49-F238E27FC236}">
                <a16:creationId xmlns:a16="http://schemas.microsoft.com/office/drawing/2014/main" id="{BBC33379-D8F4-D9AE-CED2-E78940E97D35}"/>
              </a:ext>
            </a:extLst>
          </p:cNvPr>
          <p:cNvSpPr/>
          <p:nvPr/>
        </p:nvSpPr>
        <p:spPr>
          <a:xfrm rot="5400000">
            <a:off x="3357048" y="2863333"/>
            <a:ext cx="392666" cy="2590800"/>
          </a:xfrm>
          <a:prstGeom prst="righ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FAE4C7-317E-FD3B-0455-79E4A8D211F8}"/>
                  </a:ext>
                </a:extLst>
              </p:cNvPr>
              <p:cNvSpPr txBox="1"/>
              <p:nvPr/>
            </p:nvSpPr>
            <p:spPr>
              <a:xfrm>
                <a:off x="3350441" y="4419600"/>
                <a:ext cx="4058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𝑸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7FAE4C7-317E-FD3B-0455-79E4A8D21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441" y="4419600"/>
                <a:ext cx="405880" cy="369332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8E5A5433-AA5E-4B23-7D9A-1C19D7608DC8}"/>
              </a:ext>
            </a:extLst>
          </p:cNvPr>
          <p:cNvSpPr txBox="1">
            <a:spLocks/>
          </p:cNvSpPr>
          <p:nvPr/>
        </p:nvSpPr>
        <p:spPr bwMode="auto">
          <a:xfrm>
            <a:off x="609600" y="2286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3600" b="1"/>
              <a:t>The</a:t>
            </a:r>
            <a:r>
              <a:rPr lang="en-US" sz="3600" b="1">
                <a:solidFill>
                  <a:srgbClr val="006C31"/>
                </a:solidFill>
              </a:rPr>
              <a:t> Optimal Subpath</a:t>
            </a:r>
            <a:r>
              <a:rPr lang="en-US" sz="3600" b="1"/>
              <a:t> </a:t>
            </a:r>
            <a:r>
              <a:rPr lang="en-US" sz="3600" b="1">
                <a:solidFill>
                  <a:srgbClr val="7030A0"/>
                </a:solidFill>
              </a:rPr>
              <a:t>Property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1018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Exploiting</a:t>
            </a:r>
            <a:r>
              <a:rPr lang="en-US" sz="3200" b="1" dirty="0"/>
              <a:t> the</a:t>
            </a:r>
            <a:r>
              <a:rPr lang="en-US" sz="3200" b="1" dirty="0">
                <a:solidFill>
                  <a:srgbClr val="006C31"/>
                </a:solidFill>
              </a:rPr>
              <a:t> Optimal </a:t>
            </a:r>
            <a:r>
              <a:rPr lang="en-US" sz="3200" b="1" dirty="0" err="1">
                <a:solidFill>
                  <a:srgbClr val="006C31"/>
                </a:solidFill>
              </a:rPr>
              <a:t>subpath</a:t>
            </a:r>
            <a:r>
              <a:rPr lang="en-US" sz="3200" b="1" dirty="0"/>
              <a:t> property</a:t>
            </a:r>
            <a:br>
              <a:rPr lang="en-US" sz="3200" b="1" dirty="0"/>
            </a:br>
            <a:endParaRPr lang="en-US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Observation</a:t>
                </a:r>
                <a:r>
                  <a:rPr lang="en-US" sz="2000" dirty="0"/>
                  <a:t>: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/>
                  <a:t>has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edges,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/>
                  <a:t>has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 edges.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It suggests that if we know the </a:t>
                </a:r>
                <a:r>
                  <a:rPr lang="en-US" sz="2000" u="sng" dirty="0"/>
                  <a:t>number of edges on the shortest paths</a:t>
                </a:r>
                <a:r>
                  <a:rPr lang="en-US" sz="2000" dirty="0"/>
                  <a:t> to </a:t>
                </a:r>
              </a:p>
              <a:p>
                <a:pPr marL="0" indent="0">
                  <a:buNone/>
                </a:pPr>
                <a:r>
                  <a:rPr lang="en-US" sz="2000" dirty="0"/>
                  <a:t>each vertex, then we can compute the shortest path to each vertex.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48" name="Rounded Rectangle 47"/>
          <p:cNvSpPr/>
          <p:nvPr/>
        </p:nvSpPr>
        <p:spPr>
          <a:xfrm>
            <a:off x="5519307" y="3755827"/>
            <a:ext cx="1371600" cy="4572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828800" y="2448044"/>
            <a:ext cx="5380036" cy="445532"/>
            <a:chOff x="1828800" y="2740223"/>
            <a:chExt cx="5380036" cy="445532"/>
          </a:xfrm>
        </p:grpSpPr>
        <p:grpSp>
          <p:nvGrpSpPr>
            <p:cNvPr id="43" name="Group 42"/>
            <p:cNvGrpSpPr/>
            <p:nvPr/>
          </p:nvGrpSpPr>
          <p:grpSpPr>
            <a:xfrm>
              <a:off x="1828800" y="2740223"/>
              <a:ext cx="352981" cy="445532"/>
              <a:chOff x="1828800" y="2831068"/>
              <a:chExt cx="352981" cy="445532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1981200" y="2831068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/>
                  <p:cNvSpPr txBox="1"/>
                  <p:nvPr/>
                </p:nvSpPr>
                <p:spPr>
                  <a:xfrm>
                    <a:off x="1828800" y="2907268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9" name="TextBox 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28800" y="2907268"/>
                    <a:ext cx="352981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197" r="-2241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2" name="Group 41"/>
            <p:cNvGrpSpPr/>
            <p:nvPr/>
          </p:nvGrpSpPr>
          <p:grpSpPr>
            <a:xfrm>
              <a:off x="6833413" y="2740223"/>
              <a:ext cx="375423" cy="445532"/>
              <a:chOff x="6833413" y="2983468"/>
              <a:chExt cx="375423" cy="445532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7010400" y="2983468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6833413" y="3059668"/>
                    <a:ext cx="37542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rgbClr val="0070C0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1" name="TextBox 4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33413" y="3059668"/>
                    <a:ext cx="375423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14516" t="-8197" r="-25806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3" name="Oval 32"/>
          <p:cNvSpPr/>
          <p:nvPr/>
        </p:nvSpPr>
        <p:spPr>
          <a:xfrm>
            <a:off x="2819400" y="2448044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657600" y="2448044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2133600" y="2524244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971800" y="2524244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6324600" y="2524244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495800" y="2448044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3810000" y="2524244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5334000" y="2448044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4648200" y="2524244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6172200" y="2448044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5486400" y="2524244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3938816" y="1676400"/>
                <a:ext cx="928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  <m:r>
                        <a:rPr lang="en-US" b="1" i="1" dirty="0">
                          <a:latin typeface="Cambria Math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8816" y="1676400"/>
                <a:ext cx="928459" cy="369332"/>
              </a:xfrm>
              <a:prstGeom prst="rect">
                <a:avLst/>
              </a:prstGeom>
              <a:blipFill>
                <a:blip r:embed="rId10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6019800" y="2524244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2524244"/>
                <a:ext cx="37061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4267200" y="3810000"/>
            <a:ext cx="27432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2288788" y="2024539"/>
            <a:ext cx="4496139" cy="444698"/>
            <a:chOff x="2288788" y="2316718"/>
            <a:chExt cx="4496139" cy="4446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6462403" y="2316718"/>
                  <a:ext cx="322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2403" y="2316718"/>
                  <a:ext cx="322524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197" r="-2452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2288788" y="2392084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8788" y="2392084"/>
                  <a:ext cx="375424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3129777" y="23738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9777" y="2373868"/>
                  <a:ext cx="375423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3891777" y="2373868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1777" y="2373868"/>
                  <a:ext cx="410689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t="-8197" r="-1911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Rectangle 31"/>
          <p:cNvSpPr/>
          <p:nvPr/>
        </p:nvSpPr>
        <p:spPr>
          <a:xfrm>
            <a:off x="1981200" y="3810000"/>
            <a:ext cx="22098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47">
            <a:extLst>
              <a:ext uri="{FF2B5EF4-FFF2-40B4-BE49-F238E27FC236}">
                <a16:creationId xmlns:a16="http://schemas.microsoft.com/office/drawing/2014/main" id="{75AE6334-6EDE-CC40-49E4-4F41739C8998}"/>
              </a:ext>
            </a:extLst>
          </p:cNvPr>
          <p:cNvSpPr/>
          <p:nvPr/>
        </p:nvSpPr>
        <p:spPr>
          <a:xfrm>
            <a:off x="3714750" y="4495800"/>
            <a:ext cx="4133850" cy="457200"/>
          </a:xfrm>
          <a:prstGeom prst="round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242BD18E-F3B7-49A2-E3DC-023130DABAE7}"/>
              </a:ext>
            </a:extLst>
          </p:cNvPr>
          <p:cNvSpPr/>
          <p:nvPr/>
        </p:nvSpPr>
        <p:spPr>
          <a:xfrm>
            <a:off x="361950" y="5972239"/>
            <a:ext cx="4133850" cy="632436"/>
          </a:xfrm>
          <a:prstGeom prst="borderCallout1">
            <a:avLst>
              <a:gd name="adj1" fmla="val 46735"/>
              <a:gd name="adj2" fmla="val 99167"/>
              <a:gd name="adj3" fmla="val -160348"/>
              <a:gd name="adj4" fmla="val 13284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to get this information ? It is too much to ask for.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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5322BA-0C26-D00D-C7C7-6A099EBA9E65}"/>
              </a:ext>
            </a:extLst>
          </p:cNvPr>
          <p:cNvSpPr/>
          <p:nvPr/>
        </p:nvSpPr>
        <p:spPr>
          <a:xfrm>
            <a:off x="2151199" y="4495800"/>
            <a:ext cx="3368107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C67A83-E3C0-16AC-C4BA-E2CF8665563D}"/>
              </a:ext>
            </a:extLst>
          </p:cNvPr>
          <p:cNvSpPr/>
          <p:nvPr/>
        </p:nvSpPr>
        <p:spPr>
          <a:xfrm>
            <a:off x="5524782" y="4510119"/>
            <a:ext cx="3368107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0D1259-DAF7-3DAD-0DE6-04D2DB685FDD}"/>
              </a:ext>
            </a:extLst>
          </p:cNvPr>
          <p:cNvSpPr/>
          <p:nvPr/>
        </p:nvSpPr>
        <p:spPr>
          <a:xfrm>
            <a:off x="1832610" y="4983837"/>
            <a:ext cx="609219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loud Callout 8">
            <a:extLst>
              <a:ext uri="{FF2B5EF4-FFF2-40B4-BE49-F238E27FC236}">
                <a16:creationId xmlns:a16="http://schemas.microsoft.com/office/drawing/2014/main" id="{146D77F8-1C57-7D37-E085-B15BF928E896}"/>
              </a:ext>
            </a:extLst>
          </p:cNvPr>
          <p:cNvSpPr/>
          <p:nvPr/>
        </p:nvSpPr>
        <p:spPr>
          <a:xfrm>
            <a:off x="3048000" y="4883945"/>
            <a:ext cx="5867400" cy="1219200"/>
          </a:xfrm>
          <a:prstGeom prst="cloudCallout">
            <a:avLst>
              <a:gd name="adj1" fmla="val -23171"/>
              <a:gd name="adj2" fmla="val 7656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Try to realize the difficulty in exploiting this observation to design </a:t>
            </a:r>
            <a:r>
              <a:rPr lang="en-US" b="1" dirty="0">
                <a:solidFill>
                  <a:schemeClr val="tx1"/>
                </a:solidFill>
              </a:rPr>
              <a:t>recursive formulation</a:t>
            </a:r>
            <a:r>
              <a:rPr lang="en-US" dirty="0">
                <a:solidFill>
                  <a:schemeClr val="tx1"/>
                </a:solidFill>
              </a:rPr>
              <a:t> of the solution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CF329C-C5ED-558E-1F18-86C531E6D6B2}"/>
              </a:ext>
            </a:extLst>
          </p:cNvPr>
          <p:cNvSpPr txBox="1"/>
          <p:nvPr/>
        </p:nvSpPr>
        <p:spPr>
          <a:xfrm>
            <a:off x="1850134" y="1084918"/>
            <a:ext cx="5143075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Ponder over it. We shall discuss it in the next lecture.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6334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4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8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48" grpId="0" animBg="1"/>
      <p:bldP spid="33" grpId="0" animBg="1"/>
      <p:bldP spid="34" grpId="0" animBg="1"/>
      <p:bldP spid="44" grpId="0" animBg="1"/>
      <p:bldP spid="46" grpId="0" animBg="1"/>
      <p:bldP spid="49" grpId="0" animBg="1"/>
      <p:bldP spid="51" grpId="0"/>
      <p:bldP spid="52" grpId="0"/>
      <p:bldP spid="11" grpId="0" animBg="1"/>
      <p:bldP spid="32" grpId="0" animBg="1"/>
      <p:bldP spid="7" grpId="0" animBg="1"/>
      <p:bldP spid="9" grpId="0" animBg="1"/>
      <p:bldP spid="9" grpId="1" animBg="1"/>
      <p:bldP spid="10" grpId="0" animBg="1"/>
      <p:bldP spid="14" grpId="0" animBg="1"/>
      <p:bldP spid="15" grpId="0" animBg="1"/>
      <p:bldP spid="2" grpId="0" animBg="1"/>
      <p:bldP spid="2" grpId="1" animBg="1"/>
      <p:bldP spid="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14479</TotalTime>
  <Words>2768</Words>
  <Application>Microsoft Office PowerPoint</Application>
  <PresentationFormat>On-screen Show (4:3)</PresentationFormat>
  <Paragraphs>713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Cambria Math</vt:lpstr>
      <vt:lpstr>Wingdings</vt:lpstr>
      <vt:lpstr>Office Theme</vt:lpstr>
      <vt:lpstr>Design and Analysis of Algorithms </vt:lpstr>
      <vt:lpstr>OPTMAL Triangulation of  a CONVEX POLYGON</vt:lpstr>
      <vt:lpstr>PowerPoint Presentation</vt:lpstr>
      <vt:lpstr>How to compute optimal triangulation ? </vt:lpstr>
      <vt:lpstr>Recursive formulation  of OPTMAL Triangulation</vt:lpstr>
      <vt:lpstr>Recursive formulation for τ(i,j) </vt:lpstr>
      <vt:lpstr>Recursive ALGORITHM  of OPTMAL Triangulation</vt:lpstr>
      <vt:lpstr>Recursive algorithm for τ(i,j) </vt:lpstr>
      <vt:lpstr>Recursive algorithm for τ(i,j) </vt:lpstr>
      <vt:lpstr>Iterative algorithm for τ(i,j) </vt:lpstr>
      <vt:lpstr>Iterative algorithm for τ(i,j) </vt:lpstr>
      <vt:lpstr>Iterative algorithm for τ(i,j) </vt:lpstr>
      <vt:lpstr>Bitonic tour</vt:lpstr>
      <vt:lpstr>Bitonic tour </vt:lpstr>
      <vt:lpstr>New Idea:  Generalize the problem</vt:lpstr>
      <vt:lpstr>New Idea:  Generalize the problem</vt:lpstr>
      <vt:lpstr>New Idea:  Generalize the problem</vt:lpstr>
      <vt:lpstr>What should be the Term for  </vt:lpstr>
      <vt:lpstr>Term for Recursive formulation ?</vt:lpstr>
      <vt:lpstr>Term for Recursive formulation ?</vt:lpstr>
      <vt:lpstr>Term for Recursive formulation ?</vt:lpstr>
      <vt:lpstr>Recursive formulation for T[i,j]</vt:lpstr>
      <vt:lpstr>Recursive formulation of T[i,j] </vt:lpstr>
      <vt:lpstr>Recursive algorithm for T(i,j)  </vt:lpstr>
      <vt:lpstr>Recursive algorithm for T(i,j)  </vt:lpstr>
      <vt:lpstr>Iterative algorithm for Optimal Bitonic tour </vt:lpstr>
      <vt:lpstr>Lessons learnt</vt:lpstr>
      <vt:lpstr>Shortest pathS in a graph</vt:lpstr>
      <vt:lpstr>Violating the Optimal subpath property </vt:lpstr>
      <vt:lpstr>Violating the Optimal subpath property </vt:lpstr>
      <vt:lpstr>Violating the Optimal subpath property </vt:lpstr>
      <vt:lpstr>Violating the Optimal subpath property </vt:lpstr>
      <vt:lpstr>Inference</vt:lpstr>
      <vt:lpstr>Inference</vt:lpstr>
      <vt:lpstr>Exploiting the Optimal subpath property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1364</cp:revision>
  <dcterms:created xsi:type="dcterms:W3CDTF">2011-12-03T04:13:03Z</dcterms:created>
  <dcterms:modified xsi:type="dcterms:W3CDTF">2025-09-12T10:10:50Z</dcterms:modified>
</cp:coreProperties>
</file>