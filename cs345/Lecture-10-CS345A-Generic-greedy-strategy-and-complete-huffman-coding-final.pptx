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5"/>
  </p:notesMasterIdLst>
  <p:sldIdLst>
    <p:sldId id="593" r:id="rId2"/>
    <p:sldId id="757" r:id="rId3"/>
    <p:sldId id="760" r:id="rId4"/>
    <p:sldId id="740" r:id="rId5"/>
    <p:sldId id="748" r:id="rId6"/>
    <p:sldId id="619" r:id="rId7"/>
    <p:sldId id="552" r:id="rId8"/>
    <p:sldId id="620" r:id="rId9"/>
    <p:sldId id="751" r:id="rId10"/>
    <p:sldId id="750" r:id="rId11"/>
    <p:sldId id="579" r:id="rId12"/>
    <p:sldId id="580" r:id="rId13"/>
    <p:sldId id="581" r:id="rId14"/>
    <p:sldId id="582" r:id="rId15"/>
    <p:sldId id="621" r:id="rId16"/>
    <p:sldId id="623" r:id="rId17"/>
    <p:sldId id="555" r:id="rId18"/>
    <p:sldId id="624" r:id="rId19"/>
    <p:sldId id="519" r:id="rId20"/>
    <p:sldId id="752" r:id="rId21"/>
    <p:sldId id="592" r:id="rId22"/>
    <p:sldId id="755" r:id="rId23"/>
    <p:sldId id="528" r:id="rId24"/>
    <p:sldId id="521" r:id="rId25"/>
    <p:sldId id="525" r:id="rId26"/>
    <p:sldId id="526" r:id="rId27"/>
    <p:sldId id="527" r:id="rId28"/>
    <p:sldId id="530" r:id="rId29"/>
    <p:sldId id="628" r:id="rId30"/>
    <p:sldId id="529" r:id="rId31"/>
    <p:sldId id="627" r:id="rId32"/>
    <p:sldId id="604" r:id="rId33"/>
    <p:sldId id="603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6" autoAdjust="0"/>
    <p:restoredTop sz="94517" autoAdjust="0"/>
  </p:normalViewPr>
  <p:slideViewPr>
    <p:cSldViewPr>
      <p:cViewPr varScale="1">
        <p:scale>
          <a:sx n="105" d="100"/>
          <a:sy n="105" d="100"/>
        </p:scale>
        <p:origin x="122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F2F09-F490-63D5-756C-19FE8E98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8E601-AC2B-61CB-E5EC-7CD3EDA54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923BC-A24F-0EB3-F68F-087C6D2EC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illustrate its usefulness with the help of an example.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A5E97-6C83-8FDA-3378-779057BD7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65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8/23/2025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8/23/2025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8/23/2025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8/23/2025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8/23/2025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8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110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8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110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45.png"/><Relationship Id="rId4" Type="http://schemas.openxmlformats.org/officeDocument/2006/relationships/image" Target="../media/image4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2.png"/><Relationship Id="rId7" Type="http://schemas.openxmlformats.org/officeDocument/2006/relationships/image" Target="../media/image90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131.png"/><Relationship Id="rId5" Type="http://schemas.openxmlformats.org/officeDocument/2006/relationships/image" Target="../media/image72.png"/><Relationship Id="rId10" Type="http://schemas.openxmlformats.org/officeDocument/2006/relationships/image" Target="../media/image120.png"/><Relationship Id="rId4" Type="http://schemas.openxmlformats.org/officeDocument/2006/relationships/image" Target="../media/image62.png"/><Relationship Id="rId9" Type="http://schemas.openxmlformats.org/officeDocument/2006/relationships/image" Target="../media/image1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3.png"/><Relationship Id="rId4" Type="http://schemas.openxmlformats.org/officeDocument/2006/relationships/image" Target="../media/image4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png"/><Relationship Id="rId3" Type="http://schemas.openxmlformats.org/officeDocument/2006/relationships/image" Target="../media/image42.png"/><Relationship Id="rId7" Type="http://schemas.openxmlformats.org/officeDocument/2006/relationships/image" Target="../media/image241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image" Target="../media/image27.png"/><Relationship Id="rId5" Type="http://schemas.openxmlformats.org/officeDocument/2006/relationships/image" Target="../media/image172.png"/><Relationship Id="rId10" Type="http://schemas.openxmlformats.org/officeDocument/2006/relationships/image" Target="../media/image26.png"/><Relationship Id="rId4" Type="http://schemas.openxmlformats.org/officeDocument/2006/relationships/image" Target="../media/image43.png"/><Relationship Id="rId9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1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3" Type="http://schemas.openxmlformats.org/officeDocument/2006/relationships/image" Target="../media/image220.png"/><Relationship Id="rId7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4" Type="http://schemas.openxmlformats.org/officeDocument/2006/relationships/image" Target="../media/image29.png"/><Relationship Id="rId9" Type="http://schemas.openxmlformats.org/officeDocument/2006/relationships/image" Target="../media/image9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90.png"/><Relationship Id="rId7" Type="http://schemas.openxmlformats.org/officeDocument/2006/relationships/image" Target="../media/image30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3" Type="http://schemas.openxmlformats.org/officeDocument/2006/relationships/image" Target="../media/image220.png"/><Relationship Id="rId7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11" Type="http://schemas.openxmlformats.org/officeDocument/2006/relationships/image" Target="../media/image34.png"/><Relationship Id="rId5" Type="http://schemas.openxmlformats.org/officeDocument/2006/relationships/image" Target="../media/image230.pn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9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0.png"/><Relationship Id="rId7" Type="http://schemas.openxmlformats.org/officeDocument/2006/relationships/image" Target="../media/image37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8.png"/><Relationship Id="rId4" Type="http://schemas.openxmlformats.org/officeDocument/2006/relationships/image" Target="../media/image340.png"/><Relationship Id="rId9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39.png"/><Relationship Id="rId7" Type="http://schemas.openxmlformats.org/officeDocument/2006/relationships/image" Target="../media/image47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1.png"/><Relationship Id="rId10" Type="http://schemas.openxmlformats.org/officeDocument/2006/relationships/image" Target="../media/image50.png"/><Relationship Id="rId4" Type="http://schemas.openxmlformats.org/officeDocument/2006/relationships/image" Target="../media/image40.png"/><Relationship Id="rId9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99848"/>
            <a:ext cx="7239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10</a:t>
            </a:r>
            <a:endParaRPr lang="en-US" sz="2400" b="1" dirty="0">
              <a:solidFill>
                <a:srgbClr val="0070C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006C31"/>
                </a:solidFill>
              </a:rPr>
              <a:t>A </a:t>
            </a:r>
            <a:r>
              <a:rPr lang="en-US" sz="2800" b="1" dirty="0">
                <a:solidFill>
                  <a:srgbClr val="7030A0"/>
                </a:solidFill>
              </a:rPr>
              <a:t>generic </a:t>
            </a:r>
            <a:r>
              <a:rPr lang="en-US" sz="2800" b="1" dirty="0">
                <a:solidFill>
                  <a:srgbClr val="006C31"/>
                </a:solidFill>
              </a:rPr>
              <a:t>way to design </a:t>
            </a:r>
            <a:r>
              <a:rPr lang="en-US" sz="2800" b="1" dirty="0">
                <a:solidFill>
                  <a:srgbClr val="7030A0"/>
                </a:solidFill>
              </a:rPr>
              <a:t>Greedy Algorithms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3062734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               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202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07912A-C1B5-1943-D5D6-79334AECE7B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Quiz 1</a:t>
                </a:r>
                <a:br>
                  <a:rPr lang="en-US" sz="3200" b="1" dirty="0">
                    <a:solidFill>
                      <a:srgbClr val="7030A0"/>
                    </a:solidFill>
                  </a:rPr>
                </a:br>
                <a:r>
                  <a:rPr lang="en-US" sz="3200" dirty="0"/>
                  <a:t>Question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3(</m:t>
                    </m:r>
                    <m:r>
                      <a:rPr lang="en-US" sz="3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3200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07912A-C1B5-1943-D5D6-79334AECE7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723" b="-143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173C17-88F3-BD9D-1DEF-D40C123529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Refuting the assertion “Least weight edge of a cycle belongs to the MST.”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Idea: </a:t>
                </a:r>
                <a:r>
                  <a:rPr lang="en-US" sz="2000" dirty="0"/>
                  <a:t>Construct a cycle such that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) is the heaviest edge of the cycle.</a:t>
                </a:r>
                <a:endParaRPr lang="en-IN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173C17-88F3-BD9D-1DEF-D40C123529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C1C97-3F12-5A9B-C2AF-CF8E61CBF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8948237-1473-772C-D200-2652BDC764E4}"/>
              </a:ext>
            </a:extLst>
          </p:cNvPr>
          <p:cNvGrpSpPr/>
          <p:nvPr/>
        </p:nvGrpSpPr>
        <p:grpSpPr>
          <a:xfrm>
            <a:off x="2514600" y="2362200"/>
            <a:ext cx="3319271" cy="2667000"/>
            <a:chOff x="2514600" y="2362200"/>
            <a:chExt cx="3319271" cy="2667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F35FF43-DAFD-C79D-E771-FDF20A78D16E}"/>
                </a:ext>
              </a:extLst>
            </p:cNvPr>
            <p:cNvCxnSpPr>
              <a:cxnSpLocks/>
              <a:stCxn id="8" idx="4"/>
              <a:endCxn id="9" idx="0"/>
            </p:cNvCxnSpPr>
            <p:nvPr/>
          </p:nvCxnSpPr>
          <p:spPr>
            <a:xfrm>
              <a:off x="2590800" y="2514600"/>
              <a:ext cx="0" cy="23622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DF897EB-285F-A35F-93D4-41E0D5FB33C5}"/>
                </a:ext>
              </a:extLst>
            </p:cNvPr>
            <p:cNvSpPr/>
            <p:nvPr/>
          </p:nvSpPr>
          <p:spPr>
            <a:xfrm>
              <a:off x="2514600" y="23622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C0D8DBA-49AF-48F3-2A60-AAC80D46EC7A}"/>
                </a:ext>
              </a:extLst>
            </p:cNvPr>
            <p:cNvSpPr/>
            <p:nvPr/>
          </p:nvSpPr>
          <p:spPr>
            <a:xfrm>
              <a:off x="2514600" y="48768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CC1E952-CF85-6A07-E822-CEFB92174DFE}"/>
                </a:ext>
              </a:extLst>
            </p:cNvPr>
            <p:cNvSpPr/>
            <p:nvPr/>
          </p:nvSpPr>
          <p:spPr>
            <a:xfrm>
              <a:off x="5681471" y="23622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C080BC-BE75-B4B9-FD01-D4D1832DE0E2}"/>
                </a:ext>
              </a:extLst>
            </p:cNvPr>
            <p:cNvSpPr/>
            <p:nvPr/>
          </p:nvSpPr>
          <p:spPr>
            <a:xfrm>
              <a:off x="5681471" y="48768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5C62A53-B8DB-40E5-DD27-9BDFDAC3108F}"/>
                </a:ext>
              </a:extLst>
            </p:cNvPr>
            <p:cNvCxnSpPr>
              <a:cxnSpLocks/>
            </p:cNvCxnSpPr>
            <p:nvPr/>
          </p:nvCxnSpPr>
          <p:spPr>
            <a:xfrm>
              <a:off x="5757671" y="2514600"/>
              <a:ext cx="0" cy="23622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2A13DD5-08A1-1626-3B68-5A387DCFF27E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>
              <a:off x="2667000" y="2438400"/>
              <a:ext cx="301447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5C01FCC-25DA-5569-BAAB-309FF7935F0E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00" y="4953000"/>
              <a:ext cx="301447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45DBDAC0-A40A-2A6F-DA78-8DD7FB4499EB}"/>
              </a:ext>
            </a:extLst>
          </p:cNvPr>
          <p:cNvSpPr/>
          <p:nvPr/>
        </p:nvSpPr>
        <p:spPr>
          <a:xfrm>
            <a:off x="4143755" y="355092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2E4B018-FE89-07E9-4BEF-FFF20C9CE622}"/>
              </a:ext>
            </a:extLst>
          </p:cNvPr>
          <p:cNvCxnSpPr>
            <a:cxnSpLocks/>
            <a:stCxn id="8" idx="5"/>
            <a:endCxn id="22" idx="1"/>
          </p:cNvCxnSpPr>
          <p:nvPr/>
        </p:nvCxnSpPr>
        <p:spPr>
          <a:xfrm>
            <a:off x="2644682" y="2492282"/>
            <a:ext cx="1521391" cy="10809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DFA0030-FC48-197C-FE9D-CBC34F9A0270}"/>
              </a:ext>
            </a:extLst>
          </p:cNvPr>
          <p:cNvCxnSpPr>
            <a:cxnSpLocks/>
            <a:stCxn id="10" idx="3"/>
            <a:endCxn id="22" idx="7"/>
          </p:cNvCxnSpPr>
          <p:nvPr/>
        </p:nvCxnSpPr>
        <p:spPr>
          <a:xfrm flipH="1">
            <a:off x="4273837" y="2492282"/>
            <a:ext cx="1429952" cy="10809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DE890FB-155D-7AC4-E117-35F28888014F}"/>
              </a:ext>
            </a:extLst>
          </p:cNvPr>
          <p:cNvCxnSpPr>
            <a:cxnSpLocks/>
            <a:stCxn id="22" idx="2"/>
            <a:endCxn id="9" idx="7"/>
          </p:cNvCxnSpPr>
          <p:nvPr/>
        </p:nvCxnSpPr>
        <p:spPr>
          <a:xfrm flipH="1">
            <a:off x="2644682" y="3627120"/>
            <a:ext cx="1499073" cy="12719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CB99D9-D02A-E400-27EA-1BD188AC7462}"/>
              </a:ext>
            </a:extLst>
          </p:cNvPr>
          <p:cNvCxnSpPr>
            <a:cxnSpLocks/>
            <a:stCxn id="11" idx="1"/>
            <a:endCxn id="22" idx="5"/>
          </p:cNvCxnSpPr>
          <p:nvPr/>
        </p:nvCxnSpPr>
        <p:spPr>
          <a:xfrm flipH="1" flipV="1">
            <a:off x="4273837" y="3681002"/>
            <a:ext cx="1429952" cy="121811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DC1E53-CE4C-BDBA-1A38-53979C099D61}"/>
                  </a:ext>
                </a:extLst>
              </p:cNvPr>
              <p:cNvSpPr txBox="1"/>
              <p:nvPr/>
            </p:nvSpPr>
            <p:spPr>
              <a:xfrm>
                <a:off x="4000297" y="208462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DC1E53-CE4C-BDBA-1A38-53979C099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297" y="2084626"/>
                <a:ext cx="364202" cy="369332"/>
              </a:xfrm>
              <a:prstGeom prst="rect">
                <a:avLst/>
              </a:prstGeom>
              <a:blipFill>
                <a:blip r:embed="rId4"/>
                <a:stretch>
                  <a:fillRect t="-11475" r="-20000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1EC785-7AFF-F058-BF2F-F097BDDFE496}"/>
                  </a:ext>
                </a:extLst>
              </p:cNvPr>
              <p:cNvSpPr txBox="1"/>
              <p:nvPr/>
            </p:nvSpPr>
            <p:spPr>
              <a:xfrm>
                <a:off x="5795228" y="3511034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1EC785-7AFF-F058-BF2F-F097BDDFE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228" y="3511034"/>
                <a:ext cx="364202" cy="369332"/>
              </a:xfrm>
              <a:prstGeom prst="rect">
                <a:avLst/>
              </a:prstGeom>
              <a:blipFill>
                <a:blip r:embed="rId5"/>
                <a:stretch>
                  <a:fillRect t="-11475" r="-20339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5371A7C-AD9A-D8AC-BE26-077E875D6878}"/>
                  </a:ext>
                </a:extLst>
              </p:cNvPr>
              <p:cNvSpPr txBox="1"/>
              <p:nvPr/>
            </p:nvSpPr>
            <p:spPr>
              <a:xfrm>
                <a:off x="4037854" y="492861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5371A7C-AD9A-D8AC-BE26-077E875D6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854" y="4928616"/>
                <a:ext cx="364202" cy="369332"/>
              </a:xfrm>
              <a:prstGeom prst="rect">
                <a:avLst/>
              </a:prstGeom>
              <a:blipFill>
                <a:blip r:embed="rId6"/>
                <a:stretch>
                  <a:fillRect t="-11667" r="-20000" b="-2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E69D481-1A80-22B6-2054-0E40205FB50B}"/>
                  </a:ext>
                </a:extLst>
              </p:cNvPr>
              <p:cNvSpPr txBox="1"/>
              <p:nvPr/>
            </p:nvSpPr>
            <p:spPr>
              <a:xfrm>
                <a:off x="2261702" y="349633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E69D481-1A80-22B6-2054-0E40205FB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702" y="3496336"/>
                <a:ext cx="364202" cy="369332"/>
              </a:xfrm>
              <a:prstGeom prst="rect">
                <a:avLst/>
              </a:prstGeom>
              <a:blipFill>
                <a:blip r:embed="rId7"/>
                <a:stretch>
                  <a:fillRect t="-11667" r="-20000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36EE173-5DE6-1E2F-00CB-48993089B6AA}"/>
                  </a:ext>
                </a:extLst>
              </p:cNvPr>
              <p:cNvSpPr txBox="1"/>
              <p:nvPr/>
            </p:nvSpPr>
            <p:spPr>
              <a:xfrm>
                <a:off x="3394218" y="2792175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36EE173-5DE6-1E2F-00CB-48993089B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218" y="2792175"/>
                <a:ext cx="364202" cy="369332"/>
              </a:xfrm>
              <a:prstGeom prst="rect">
                <a:avLst/>
              </a:prstGeom>
              <a:blipFill>
                <a:blip r:embed="rId8"/>
                <a:stretch>
                  <a:fillRect t="-9836" r="-18333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5763FBB-30B6-8F8F-5130-6BA0497BF0FA}"/>
                  </a:ext>
                </a:extLst>
              </p:cNvPr>
              <p:cNvSpPr txBox="1"/>
              <p:nvPr/>
            </p:nvSpPr>
            <p:spPr>
              <a:xfrm>
                <a:off x="4686061" y="2792175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5763FBB-30B6-8F8F-5130-6BA0497BF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061" y="2792175"/>
                <a:ext cx="364202" cy="369332"/>
              </a:xfrm>
              <a:prstGeom prst="rect">
                <a:avLst/>
              </a:prstGeom>
              <a:blipFill>
                <a:blip r:embed="rId9"/>
                <a:stretch>
                  <a:fillRect t="-9836" r="-20339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B8384A-0AAB-67E2-944A-252E05A7EC4A}"/>
                  </a:ext>
                </a:extLst>
              </p:cNvPr>
              <p:cNvSpPr txBox="1"/>
              <p:nvPr/>
            </p:nvSpPr>
            <p:spPr>
              <a:xfrm>
                <a:off x="4973300" y="3975153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B8384A-0AAB-67E2-944A-252E05A7E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300" y="3975153"/>
                <a:ext cx="364202" cy="369332"/>
              </a:xfrm>
              <a:prstGeom prst="rect">
                <a:avLst/>
              </a:prstGeom>
              <a:blipFill>
                <a:blip r:embed="rId10"/>
                <a:stretch>
                  <a:fillRect t="-9836" r="-18333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8FC2A0B-C43F-B3E9-376E-C48CF54A4A46}"/>
                  </a:ext>
                </a:extLst>
              </p:cNvPr>
              <p:cNvSpPr txBox="1"/>
              <p:nvPr/>
            </p:nvSpPr>
            <p:spPr>
              <a:xfrm>
                <a:off x="3377803" y="4078453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8FC2A0B-C43F-B3E9-376E-C48CF54A4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803" y="4078453"/>
                <a:ext cx="364202" cy="369332"/>
              </a:xfrm>
              <a:prstGeom prst="rect">
                <a:avLst/>
              </a:prstGeom>
              <a:blipFill>
                <a:blip r:embed="rId11"/>
                <a:stretch>
                  <a:fillRect t="-9836" r="-20000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D1D4B434-0BCB-C98A-24C4-2F07D2314C3E}"/>
              </a:ext>
            </a:extLst>
          </p:cNvPr>
          <p:cNvGrpSpPr/>
          <p:nvPr/>
        </p:nvGrpSpPr>
        <p:grpSpPr>
          <a:xfrm>
            <a:off x="2220955" y="2046750"/>
            <a:ext cx="3924832" cy="3167116"/>
            <a:chOff x="2220955" y="2046750"/>
            <a:chExt cx="3924832" cy="316711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1F6E79A-EF05-87EE-FF12-BC9573D613D0}"/>
                    </a:ext>
                  </a:extLst>
                </p:cNvPr>
                <p:cNvSpPr txBox="1"/>
                <p:nvPr/>
              </p:nvSpPr>
              <p:spPr>
                <a:xfrm>
                  <a:off x="2220955" y="2122950"/>
                  <a:ext cx="3698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1F6E79A-EF05-87EE-FF12-BC9573D613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0955" y="2122950"/>
                  <a:ext cx="369845" cy="369332"/>
                </a:xfrm>
                <a:prstGeom prst="rect">
                  <a:avLst/>
                </a:prstGeom>
                <a:blipFill>
                  <a:blip r:embed="rId12"/>
                  <a:stretch>
                    <a:fillRect t="-9836" r="-19672" b="-2295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0321A8A-28ED-F2BE-520F-017B1629E47F}"/>
                    </a:ext>
                  </a:extLst>
                </p:cNvPr>
                <p:cNvSpPr txBox="1"/>
                <p:nvPr/>
              </p:nvSpPr>
              <p:spPr>
                <a:xfrm>
                  <a:off x="5681471" y="2046750"/>
                  <a:ext cx="3660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0321A8A-28ED-F2BE-520F-017B1629E4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1471" y="2046750"/>
                  <a:ext cx="366061" cy="369332"/>
                </a:xfrm>
                <a:prstGeom prst="rect">
                  <a:avLst/>
                </a:prstGeom>
                <a:blipFill>
                  <a:blip r:embed="rId13"/>
                  <a:stretch>
                    <a:fillRect t="-11667" r="-18333" b="-2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CC2EB3F-FABB-53F3-8DE7-636818848A2D}"/>
                    </a:ext>
                  </a:extLst>
                </p:cNvPr>
                <p:cNvSpPr txBox="1"/>
                <p:nvPr/>
              </p:nvSpPr>
              <p:spPr>
                <a:xfrm>
                  <a:off x="5796717" y="4844534"/>
                  <a:ext cx="3490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CC2EB3F-FABB-53F3-8DE7-636818848A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6717" y="4844534"/>
                  <a:ext cx="349070" cy="369332"/>
                </a:xfrm>
                <a:prstGeom prst="rect">
                  <a:avLst/>
                </a:prstGeom>
                <a:blipFill>
                  <a:blip r:embed="rId14"/>
                  <a:stretch>
                    <a:fillRect t="-11667" r="-19298" b="-2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F11E6FC-E50A-D967-64BE-103C7C31C9DF}"/>
                    </a:ext>
                  </a:extLst>
                </p:cNvPr>
                <p:cNvSpPr txBox="1"/>
                <p:nvPr/>
              </p:nvSpPr>
              <p:spPr>
                <a:xfrm>
                  <a:off x="2256567" y="4829546"/>
                  <a:ext cx="3763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F11E6FC-E50A-D967-64BE-103C7C31C9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6567" y="4829546"/>
                  <a:ext cx="376320" cy="369332"/>
                </a:xfrm>
                <a:prstGeom prst="rect">
                  <a:avLst/>
                </a:prstGeom>
                <a:blipFill>
                  <a:blip r:embed="rId15"/>
                  <a:stretch>
                    <a:fillRect t="-9836" r="-19355" b="-2295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55264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22" grpId="0" animBg="1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34B20-8C5A-7C76-8543-CADED7EB0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6ED61C1-EE89-5625-2E4E-DCAD62167B8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Quiz 1</a:t>
                </a:r>
                <a:br>
                  <a:rPr lang="en-US" sz="3200" b="1" dirty="0">
                    <a:solidFill>
                      <a:srgbClr val="7030A0"/>
                    </a:solidFill>
                  </a:rPr>
                </a:br>
                <a:r>
                  <a:rPr lang="en-US" sz="3200" dirty="0"/>
                  <a:t>Question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3(</m:t>
                    </m:r>
                    <m:r>
                      <a:rPr lang="en-US" sz="3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2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3200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6ED61C1-EE89-5625-2E4E-DCAD62167B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3723" b="-143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BDCF5-0CF9-373E-AC0A-75052E91CC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Refuting the assertion “Least weight edge of a cycle belongs to the MST.”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Idea: </a:t>
                </a:r>
                <a:r>
                  <a:rPr lang="en-US" sz="2000" dirty="0"/>
                  <a:t>Construct a cycle such that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) is the heaviest edge of the cycle.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In fact, MST does not have any edge from the cycle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BDCF5-0CF9-373E-AC0A-75052E91CC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809" b="-80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AE726-21D3-1883-191F-09FD896A3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FD2D75-B1AA-4648-0CC8-5F909D31FAD7}"/>
              </a:ext>
            </a:extLst>
          </p:cNvPr>
          <p:cNvGrpSpPr/>
          <p:nvPr/>
        </p:nvGrpSpPr>
        <p:grpSpPr>
          <a:xfrm>
            <a:off x="2514600" y="2362200"/>
            <a:ext cx="3319271" cy="2667000"/>
            <a:chOff x="2514600" y="2362200"/>
            <a:chExt cx="3319271" cy="2667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9CE695A-28DC-FC36-460E-DEE5231C039F}"/>
                </a:ext>
              </a:extLst>
            </p:cNvPr>
            <p:cNvCxnSpPr>
              <a:cxnSpLocks/>
              <a:stCxn id="8" idx="4"/>
              <a:endCxn id="9" idx="0"/>
            </p:cNvCxnSpPr>
            <p:nvPr/>
          </p:nvCxnSpPr>
          <p:spPr>
            <a:xfrm>
              <a:off x="2590800" y="2514600"/>
              <a:ext cx="0" cy="23622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D60E9B-BFFF-2290-EDD2-EB7C4E28DF6F}"/>
                </a:ext>
              </a:extLst>
            </p:cNvPr>
            <p:cNvSpPr/>
            <p:nvPr/>
          </p:nvSpPr>
          <p:spPr>
            <a:xfrm>
              <a:off x="2514600" y="23622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57B25E-8890-A9AD-42AA-DC34648F4B08}"/>
                </a:ext>
              </a:extLst>
            </p:cNvPr>
            <p:cNvSpPr/>
            <p:nvPr/>
          </p:nvSpPr>
          <p:spPr>
            <a:xfrm>
              <a:off x="2514600" y="48768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4071F6F-A3CF-61EB-BBC2-290B93B32CAA}"/>
                </a:ext>
              </a:extLst>
            </p:cNvPr>
            <p:cNvSpPr/>
            <p:nvPr/>
          </p:nvSpPr>
          <p:spPr>
            <a:xfrm>
              <a:off x="5681471" y="23622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CF5C9CC-C9B7-A31D-307E-D7B49176A49C}"/>
                </a:ext>
              </a:extLst>
            </p:cNvPr>
            <p:cNvSpPr/>
            <p:nvPr/>
          </p:nvSpPr>
          <p:spPr>
            <a:xfrm>
              <a:off x="5681471" y="48768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57957AD-4185-8BEB-E1A6-57E5DB28860B}"/>
                </a:ext>
              </a:extLst>
            </p:cNvPr>
            <p:cNvCxnSpPr>
              <a:cxnSpLocks/>
            </p:cNvCxnSpPr>
            <p:nvPr/>
          </p:nvCxnSpPr>
          <p:spPr>
            <a:xfrm>
              <a:off x="5757671" y="2514600"/>
              <a:ext cx="0" cy="23622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A0ED06-2ED9-86F3-A326-E9438CC3EEE2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>
              <a:off x="2667000" y="2438400"/>
              <a:ext cx="301447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440416C-B925-8CDB-C637-A7AE0FBCB500}"/>
                </a:ext>
              </a:extLst>
            </p:cNvPr>
            <p:cNvCxnSpPr>
              <a:cxnSpLocks/>
            </p:cNvCxnSpPr>
            <p:nvPr/>
          </p:nvCxnSpPr>
          <p:spPr>
            <a:xfrm>
              <a:off x="2667000" y="4953000"/>
              <a:ext cx="301447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2F97933A-3A71-2FA5-497A-C29C1C4101C4}"/>
              </a:ext>
            </a:extLst>
          </p:cNvPr>
          <p:cNvSpPr/>
          <p:nvPr/>
        </p:nvSpPr>
        <p:spPr>
          <a:xfrm>
            <a:off x="4143755" y="355092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DDF1599-B2A6-4550-11F9-2C032006D121}"/>
              </a:ext>
            </a:extLst>
          </p:cNvPr>
          <p:cNvCxnSpPr>
            <a:cxnSpLocks/>
            <a:stCxn id="8" idx="5"/>
            <a:endCxn id="22" idx="1"/>
          </p:cNvCxnSpPr>
          <p:nvPr/>
        </p:nvCxnSpPr>
        <p:spPr>
          <a:xfrm>
            <a:off x="2644682" y="2492282"/>
            <a:ext cx="1521391" cy="10809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6A3A200-BCA7-3E87-2D85-ED8CA196B3F9}"/>
              </a:ext>
            </a:extLst>
          </p:cNvPr>
          <p:cNvCxnSpPr>
            <a:cxnSpLocks/>
            <a:stCxn id="10" idx="3"/>
            <a:endCxn id="22" idx="7"/>
          </p:cNvCxnSpPr>
          <p:nvPr/>
        </p:nvCxnSpPr>
        <p:spPr>
          <a:xfrm flipH="1">
            <a:off x="4273837" y="2492282"/>
            <a:ext cx="1429952" cy="10809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3F7F4C9-3D18-4B74-B991-831B160B68C8}"/>
              </a:ext>
            </a:extLst>
          </p:cNvPr>
          <p:cNvCxnSpPr>
            <a:cxnSpLocks/>
            <a:stCxn id="22" idx="2"/>
            <a:endCxn id="9" idx="7"/>
          </p:cNvCxnSpPr>
          <p:nvPr/>
        </p:nvCxnSpPr>
        <p:spPr>
          <a:xfrm flipH="1">
            <a:off x="2644682" y="3627120"/>
            <a:ext cx="1499073" cy="127199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65B2982-DD0A-E4A8-9747-C0A61C5BCAC4}"/>
              </a:ext>
            </a:extLst>
          </p:cNvPr>
          <p:cNvCxnSpPr>
            <a:cxnSpLocks/>
            <a:stCxn id="11" idx="1"/>
            <a:endCxn id="22" idx="5"/>
          </p:cNvCxnSpPr>
          <p:nvPr/>
        </p:nvCxnSpPr>
        <p:spPr>
          <a:xfrm flipH="1" flipV="1">
            <a:off x="4273837" y="3681002"/>
            <a:ext cx="1429952" cy="121811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EB37A98-CD46-5E44-D004-04299035ED14}"/>
                  </a:ext>
                </a:extLst>
              </p:cNvPr>
              <p:cNvSpPr txBox="1"/>
              <p:nvPr/>
            </p:nvSpPr>
            <p:spPr>
              <a:xfrm>
                <a:off x="4000297" y="208462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DC1E53-CE4C-BDBA-1A38-53979C099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297" y="2084626"/>
                <a:ext cx="364202" cy="369332"/>
              </a:xfrm>
              <a:prstGeom prst="rect">
                <a:avLst/>
              </a:prstGeom>
              <a:blipFill>
                <a:blip r:embed="rId4"/>
                <a:stretch>
                  <a:fillRect t="-11475" r="-20000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73DC629-F341-B08B-DA65-D5748B7672A7}"/>
                  </a:ext>
                </a:extLst>
              </p:cNvPr>
              <p:cNvSpPr txBox="1"/>
              <p:nvPr/>
            </p:nvSpPr>
            <p:spPr>
              <a:xfrm>
                <a:off x="5795228" y="3511034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D1EC785-7AFF-F058-BF2F-F097BDDFE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228" y="3511034"/>
                <a:ext cx="364202" cy="369332"/>
              </a:xfrm>
              <a:prstGeom prst="rect">
                <a:avLst/>
              </a:prstGeom>
              <a:blipFill>
                <a:blip r:embed="rId5"/>
                <a:stretch>
                  <a:fillRect t="-11475" r="-20339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71338A0-AF34-1982-26B7-621A0AF60774}"/>
                  </a:ext>
                </a:extLst>
              </p:cNvPr>
              <p:cNvSpPr txBox="1"/>
              <p:nvPr/>
            </p:nvSpPr>
            <p:spPr>
              <a:xfrm>
                <a:off x="4037854" y="492861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5371A7C-AD9A-D8AC-BE26-077E875D6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854" y="4928616"/>
                <a:ext cx="364202" cy="369332"/>
              </a:xfrm>
              <a:prstGeom prst="rect">
                <a:avLst/>
              </a:prstGeom>
              <a:blipFill>
                <a:blip r:embed="rId6"/>
                <a:stretch>
                  <a:fillRect t="-11667" r="-20000" b="-2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EB667BC-6E41-7C12-CE44-D70F86E70B27}"/>
                  </a:ext>
                </a:extLst>
              </p:cNvPr>
              <p:cNvSpPr txBox="1"/>
              <p:nvPr/>
            </p:nvSpPr>
            <p:spPr>
              <a:xfrm>
                <a:off x="2261702" y="3496336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E69D481-1A80-22B6-2054-0E40205FB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702" y="3496336"/>
                <a:ext cx="364202" cy="369332"/>
              </a:xfrm>
              <a:prstGeom prst="rect">
                <a:avLst/>
              </a:prstGeom>
              <a:blipFill>
                <a:blip r:embed="rId7"/>
                <a:stretch>
                  <a:fillRect t="-11667" r="-20000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B364A08-27B7-9A16-5BA2-F07B66A87251}"/>
                  </a:ext>
                </a:extLst>
              </p:cNvPr>
              <p:cNvSpPr txBox="1"/>
              <p:nvPr/>
            </p:nvSpPr>
            <p:spPr>
              <a:xfrm>
                <a:off x="3394218" y="2792175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36EE173-5DE6-1E2F-00CB-48993089B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218" y="2792175"/>
                <a:ext cx="364202" cy="369332"/>
              </a:xfrm>
              <a:prstGeom prst="rect">
                <a:avLst/>
              </a:prstGeom>
              <a:blipFill>
                <a:blip r:embed="rId8"/>
                <a:stretch>
                  <a:fillRect t="-9836" r="-18333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541C75A-0940-E849-E6D1-732E31A04883}"/>
                  </a:ext>
                </a:extLst>
              </p:cNvPr>
              <p:cNvSpPr txBox="1"/>
              <p:nvPr/>
            </p:nvSpPr>
            <p:spPr>
              <a:xfrm>
                <a:off x="4686061" y="2792175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5763FBB-30B6-8F8F-5130-6BA0497BF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061" y="2792175"/>
                <a:ext cx="364202" cy="369332"/>
              </a:xfrm>
              <a:prstGeom prst="rect">
                <a:avLst/>
              </a:prstGeom>
              <a:blipFill>
                <a:blip r:embed="rId9"/>
                <a:stretch>
                  <a:fillRect t="-9836" r="-20339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F7A09BD-C102-C1B2-0FFC-5BDEFA315774}"/>
                  </a:ext>
                </a:extLst>
              </p:cNvPr>
              <p:cNvSpPr txBox="1"/>
              <p:nvPr/>
            </p:nvSpPr>
            <p:spPr>
              <a:xfrm>
                <a:off x="4973300" y="3975153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B8384A-0AAB-67E2-944A-252E05A7E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300" y="3975153"/>
                <a:ext cx="364202" cy="369332"/>
              </a:xfrm>
              <a:prstGeom prst="rect">
                <a:avLst/>
              </a:prstGeom>
              <a:blipFill>
                <a:blip r:embed="rId10"/>
                <a:stretch>
                  <a:fillRect t="-9836" r="-18333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4EC3BB2-8D17-47F0-5E66-F673D3B05B14}"/>
                  </a:ext>
                </a:extLst>
              </p:cNvPr>
              <p:cNvSpPr txBox="1"/>
              <p:nvPr/>
            </p:nvSpPr>
            <p:spPr>
              <a:xfrm>
                <a:off x="3377803" y="4078453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8FC2A0B-C43F-B3E9-376E-C48CF54A4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803" y="4078453"/>
                <a:ext cx="364202" cy="369332"/>
              </a:xfrm>
              <a:prstGeom prst="rect">
                <a:avLst/>
              </a:prstGeom>
              <a:blipFill>
                <a:blip r:embed="rId11"/>
                <a:stretch>
                  <a:fillRect t="-9836" r="-20000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1880FA61-C7B6-2339-CA5F-CBBA241C5941}"/>
              </a:ext>
            </a:extLst>
          </p:cNvPr>
          <p:cNvGrpSpPr/>
          <p:nvPr/>
        </p:nvGrpSpPr>
        <p:grpSpPr>
          <a:xfrm>
            <a:off x="2220955" y="2046750"/>
            <a:ext cx="3924832" cy="3167116"/>
            <a:chOff x="2220955" y="2046750"/>
            <a:chExt cx="3924832" cy="316711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789A8AB-B818-F114-333E-F0D5FD210099}"/>
                    </a:ext>
                  </a:extLst>
                </p:cNvPr>
                <p:cNvSpPr txBox="1"/>
                <p:nvPr/>
              </p:nvSpPr>
              <p:spPr>
                <a:xfrm>
                  <a:off x="2220955" y="2122950"/>
                  <a:ext cx="36984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789A8AB-B818-F114-333E-F0D5FD210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0955" y="2122950"/>
                  <a:ext cx="369845" cy="369332"/>
                </a:xfrm>
                <a:prstGeom prst="rect">
                  <a:avLst/>
                </a:prstGeom>
                <a:blipFill>
                  <a:blip r:embed="rId12"/>
                  <a:stretch>
                    <a:fillRect t="-9836" r="-19672" b="-2295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903F578-ECFA-A28F-6073-1894640DF719}"/>
                    </a:ext>
                  </a:extLst>
                </p:cNvPr>
                <p:cNvSpPr txBox="1"/>
                <p:nvPr/>
              </p:nvSpPr>
              <p:spPr>
                <a:xfrm>
                  <a:off x="5681471" y="2046750"/>
                  <a:ext cx="3660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903F578-ECFA-A28F-6073-1894640DF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1471" y="2046750"/>
                  <a:ext cx="366061" cy="369332"/>
                </a:xfrm>
                <a:prstGeom prst="rect">
                  <a:avLst/>
                </a:prstGeom>
                <a:blipFill>
                  <a:blip r:embed="rId13"/>
                  <a:stretch>
                    <a:fillRect t="-11667" r="-18333" b="-2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75D9E86-83F4-AA34-8F16-D2B379EDB27B}"/>
                    </a:ext>
                  </a:extLst>
                </p:cNvPr>
                <p:cNvSpPr txBox="1"/>
                <p:nvPr/>
              </p:nvSpPr>
              <p:spPr>
                <a:xfrm>
                  <a:off x="5796717" y="4844534"/>
                  <a:ext cx="3490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75D9E86-83F4-AA34-8F16-D2B379EDB2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6717" y="4844534"/>
                  <a:ext cx="349070" cy="369332"/>
                </a:xfrm>
                <a:prstGeom prst="rect">
                  <a:avLst/>
                </a:prstGeom>
                <a:blipFill>
                  <a:blip r:embed="rId14"/>
                  <a:stretch>
                    <a:fillRect t="-11667" r="-19298" b="-2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2AFF857-FDBD-0243-9F1D-84C6184D4D6C}"/>
                    </a:ext>
                  </a:extLst>
                </p:cNvPr>
                <p:cNvSpPr txBox="1"/>
                <p:nvPr/>
              </p:nvSpPr>
              <p:spPr>
                <a:xfrm>
                  <a:off x="2256567" y="4829546"/>
                  <a:ext cx="37632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2AFF857-FDBD-0243-9F1D-84C6184D4D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6567" y="4829546"/>
                  <a:ext cx="376320" cy="369332"/>
                </a:xfrm>
                <a:prstGeom prst="rect">
                  <a:avLst/>
                </a:prstGeom>
                <a:blipFill>
                  <a:blip r:embed="rId15"/>
                  <a:stretch>
                    <a:fillRect t="-9836" r="-19355" b="-2295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43704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How to schedule more than </a:t>
            </a:r>
            <a:r>
              <a:rPr lang="en-US" sz="3600" b="1" dirty="0">
                <a:solidFill>
                  <a:srgbClr val="0070C0"/>
                </a:solidFill>
              </a:rPr>
              <a:t>2</a:t>
            </a:r>
            <a:r>
              <a:rPr lang="en-US" sz="3600" b="1" dirty="0"/>
              <a:t> jobs 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Lemma</a:t>
            </a:r>
            <a:r>
              <a:rPr lang="en-US" sz="2000" dirty="0"/>
              <a:t>:</a:t>
            </a:r>
            <a:r>
              <a:rPr lang="en-US" sz="2000" dirty="0">
                <a:sym typeface="Wingdings" pitchFamily="2" charset="2"/>
              </a:rPr>
              <a:t>(for 2 jobs)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Scheduling ``the earlier deadline job’’ </a:t>
            </a:r>
            <a:r>
              <a:rPr lang="en-US" sz="2000" dirty="0">
                <a:sym typeface="Wingdings" pitchFamily="2" charset="2"/>
              </a:rPr>
              <a:t> an optimal solution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494232" y="3429000"/>
            <a:ext cx="7582968" cy="328136"/>
            <a:chOff x="494232" y="3429000"/>
            <a:chExt cx="7582968" cy="328136"/>
          </a:xfrm>
        </p:grpSpPr>
        <p:sp>
          <p:nvSpPr>
            <p:cNvPr id="9" name="Rounded Rectangle 8"/>
            <p:cNvSpPr/>
            <p:nvPr/>
          </p:nvSpPr>
          <p:spPr>
            <a:xfrm>
              <a:off x="494232" y="3440668"/>
              <a:ext cx="1066800" cy="316468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172200" y="3440668"/>
              <a:ext cx="1905000" cy="3048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588037" y="3446502"/>
              <a:ext cx="1600200" cy="3048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200400" y="3429000"/>
              <a:ext cx="528729" cy="328136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424271" y="3429000"/>
              <a:ext cx="909729" cy="322302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733800" y="3429000"/>
              <a:ext cx="690471" cy="322302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334000" y="3429000"/>
              <a:ext cx="838200" cy="32813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69488" y="3722132"/>
            <a:ext cx="7960112" cy="680815"/>
            <a:chOff x="269488" y="3722132"/>
            <a:chExt cx="7960112" cy="6808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269488" y="4033615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488" y="4033615"/>
                  <a:ext cx="375424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333" r="-2096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/>
            <p:cNvCxnSpPr/>
            <p:nvPr/>
          </p:nvCxnSpPr>
          <p:spPr>
            <a:xfrm>
              <a:off x="457200" y="3897868"/>
              <a:ext cx="7772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57200" y="3722132"/>
              <a:ext cx="0" cy="3164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4110129" y="3886200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6C1942F-F9BA-8A4E-5615-C4A233FAFCD9}"/>
              </a:ext>
            </a:extLst>
          </p:cNvPr>
          <p:cNvSpPr txBox="1"/>
          <p:nvPr/>
        </p:nvSpPr>
        <p:spPr>
          <a:xfrm>
            <a:off x="388515" y="2621577"/>
            <a:ext cx="2046779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Consider any schedule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3437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uiExpand="1" build="p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How to schedule more than </a:t>
            </a:r>
            <a:r>
              <a:rPr lang="en-US" sz="3600" b="1" dirty="0">
                <a:solidFill>
                  <a:srgbClr val="0070C0"/>
                </a:solidFill>
              </a:rPr>
              <a:t>2</a:t>
            </a:r>
            <a:r>
              <a:rPr lang="en-US" sz="3600" b="1" dirty="0"/>
              <a:t> jobs 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Lemma</a:t>
            </a:r>
            <a:r>
              <a:rPr lang="en-US" sz="2000" dirty="0"/>
              <a:t>:</a:t>
            </a:r>
            <a:r>
              <a:rPr lang="en-US" sz="2000" dirty="0">
                <a:sym typeface="Wingdings" pitchFamily="2" charset="2"/>
              </a:rPr>
              <a:t>(for 2 jobs)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Scheduling ``the earlier deadline job’’ </a:t>
            </a:r>
            <a:r>
              <a:rPr lang="en-US" sz="2000" dirty="0">
                <a:sym typeface="Wingdings" pitchFamily="2" charset="2"/>
              </a:rPr>
              <a:t> an optimal solution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Schedule the jobs in </a:t>
            </a:r>
            <a:r>
              <a:rPr lang="en-US" sz="2000" u="sng" dirty="0"/>
              <a:t>increasing order</a:t>
            </a:r>
            <a:r>
              <a:rPr lang="en-US" sz="2000" dirty="0"/>
              <a:t> of their </a:t>
            </a:r>
            <a:r>
              <a:rPr lang="en-US" sz="2000" b="1" dirty="0"/>
              <a:t>deadlines</a:t>
            </a:r>
            <a:r>
              <a:rPr lang="en-US" sz="2000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94232" y="3440668"/>
            <a:ext cx="1066800" cy="31646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6172200" y="3440668"/>
            <a:ext cx="1905000" cy="30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1588037" y="3446502"/>
            <a:ext cx="1600200" cy="30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3200400" y="3429000"/>
            <a:ext cx="528729" cy="3281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4424271" y="3429000"/>
            <a:ext cx="909729" cy="32230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3733800" y="3429000"/>
            <a:ext cx="690471" cy="32230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5334000" y="3429000"/>
            <a:ext cx="838200" cy="3281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Connector 25"/>
          <p:cNvCxnSpPr>
            <a:cxnSpLocks/>
          </p:cNvCxnSpPr>
          <p:nvPr/>
        </p:nvCxnSpPr>
        <p:spPr>
          <a:xfrm>
            <a:off x="3729129" y="2438400"/>
            <a:ext cx="0" cy="145946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cxnSpLocks/>
          </p:cNvCxnSpPr>
          <p:nvPr/>
        </p:nvCxnSpPr>
        <p:spPr>
          <a:xfrm>
            <a:off x="5329329" y="2438400"/>
            <a:ext cx="0" cy="145946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269488" y="3722132"/>
            <a:ext cx="7960112" cy="680815"/>
            <a:chOff x="269488" y="3722132"/>
            <a:chExt cx="7960112" cy="6808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269488" y="4033615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488" y="4033615"/>
                  <a:ext cx="375424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333" r="-2096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/>
            <p:cNvCxnSpPr/>
            <p:nvPr/>
          </p:nvCxnSpPr>
          <p:spPr>
            <a:xfrm>
              <a:off x="457200" y="3897868"/>
              <a:ext cx="7772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57200" y="3722132"/>
              <a:ext cx="0" cy="3164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4110129" y="3886200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</p:grpSp>
      <p:cxnSp>
        <p:nvCxnSpPr>
          <p:cNvPr id="20" name="Straight Connector 19"/>
          <p:cNvCxnSpPr/>
          <p:nvPr/>
        </p:nvCxnSpPr>
        <p:spPr>
          <a:xfrm>
            <a:off x="5029200" y="2590800"/>
            <a:ext cx="0" cy="45720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343400" y="2590800"/>
            <a:ext cx="0" cy="4572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FC90650-29AA-E8E4-B2C6-1CE2BAE6DBD5}"/>
              </a:ext>
            </a:extLst>
          </p:cNvPr>
          <p:cNvSpPr txBox="1"/>
          <p:nvPr/>
        </p:nvSpPr>
        <p:spPr>
          <a:xfrm>
            <a:off x="375043" y="1931620"/>
            <a:ext cx="5650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``jobs scheduled in the increasing order of deadline’’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22200D-95BA-216F-DF01-5980CA5D1C87}"/>
              </a:ext>
            </a:extLst>
          </p:cNvPr>
          <p:cNvSpPr txBox="1"/>
          <p:nvPr/>
        </p:nvSpPr>
        <p:spPr>
          <a:xfrm>
            <a:off x="5954041" y="1947009"/>
            <a:ext cx="2275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an optimal schedule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31818-1A7A-03FB-6E3D-AF001EA05C3B}"/>
              </a:ext>
            </a:extLst>
          </p:cNvPr>
          <p:cNvSpPr txBox="1"/>
          <p:nvPr/>
        </p:nvSpPr>
        <p:spPr>
          <a:xfrm>
            <a:off x="365475" y="4876800"/>
            <a:ext cx="13748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Algorithm</a:t>
            </a:r>
            <a:r>
              <a:rPr lang="en-US" sz="2000" dirty="0"/>
              <a:t>: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ACE5D75-3C9F-8878-B64B-79E875F6FC1E}"/>
              </a:ext>
            </a:extLst>
          </p:cNvPr>
          <p:cNvCxnSpPr>
            <a:cxnSpLocks/>
          </p:cNvCxnSpPr>
          <p:nvPr/>
        </p:nvCxnSpPr>
        <p:spPr>
          <a:xfrm>
            <a:off x="1600200" y="2438400"/>
            <a:ext cx="0" cy="145946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F8F7FF-DD60-8340-6006-EA1456968F72}"/>
              </a:ext>
            </a:extLst>
          </p:cNvPr>
          <p:cNvCxnSpPr>
            <a:cxnSpLocks/>
          </p:cNvCxnSpPr>
          <p:nvPr/>
        </p:nvCxnSpPr>
        <p:spPr>
          <a:xfrm>
            <a:off x="3733800" y="2438400"/>
            <a:ext cx="0" cy="145946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A2ECCB8-940A-C776-16A3-D5D81512E212}"/>
              </a:ext>
            </a:extLst>
          </p:cNvPr>
          <p:cNvCxnSpPr>
            <a:cxnSpLocks/>
          </p:cNvCxnSpPr>
          <p:nvPr/>
        </p:nvCxnSpPr>
        <p:spPr>
          <a:xfrm>
            <a:off x="4572000" y="2438400"/>
            <a:ext cx="0" cy="145946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F099AA-A275-D049-7C99-4645418D03A0}"/>
              </a:ext>
            </a:extLst>
          </p:cNvPr>
          <p:cNvCxnSpPr>
            <a:cxnSpLocks/>
          </p:cNvCxnSpPr>
          <p:nvPr/>
        </p:nvCxnSpPr>
        <p:spPr>
          <a:xfrm>
            <a:off x="6172200" y="2438400"/>
            <a:ext cx="0" cy="145946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958965-1866-5679-5587-C3E7613688FF}"/>
              </a:ext>
            </a:extLst>
          </p:cNvPr>
          <p:cNvCxnSpPr>
            <a:cxnSpLocks/>
          </p:cNvCxnSpPr>
          <p:nvPr/>
        </p:nvCxnSpPr>
        <p:spPr>
          <a:xfrm>
            <a:off x="5334000" y="2438400"/>
            <a:ext cx="0" cy="145946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034273-E815-2336-57F9-AD835E83CF5A}"/>
              </a:ext>
            </a:extLst>
          </p:cNvPr>
          <p:cNvCxnSpPr>
            <a:cxnSpLocks/>
          </p:cNvCxnSpPr>
          <p:nvPr/>
        </p:nvCxnSpPr>
        <p:spPr>
          <a:xfrm>
            <a:off x="8077200" y="2438400"/>
            <a:ext cx="0" cy="145946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17F2884-CFE0-926A-88A1-66D31C15AC4D}"/>
              </a:ext>
            </a:extLst>
          </p:cNvPr>
          <p:cNvSpPr/>
          <p:nvPr/>
        </p:nvSpPr>
        <p:spPr>
          <a:xfrm>
            <a:off x="1371600" y="1524000"/>
            <a:ext cx="3657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C963692-1B5D-3CEB-DA4A-A5DDA726E1EF}"/>
                  </a:ext>
                </a:extLst>
              </p:cNvPr>
              <p:cNvSpPr txBox="1"/>
              <p:nvPr/>
            </p:nvSpPr>
            <p:spPr>
              <a:xfrm>
                <a:off x="7239000" y="5257800"/>
                <a:ext cx="1723549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1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time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C963692-1B5D-3CEB-DA4A-A5DDA726E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5257800"/>
                <a:ext cx="1723549" cy="369332"/>
              </a:xfrm>
              <a:prstGeom prst="rect">
                <a:avLst/>
              </a:prstGeom>
              <a:blipFill>
                <a:blip r:embed="rId3"/>
                <a:stretch>
                  <a:fillRect t="-10000" r="-220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7AD3AC0E-1A3A-3093-DC9D-60B803408795}"/>
              </a:ext>
            </a:extLst>
          </p:cNvPr>
          <p:cNvSpPr txBox="1"/>
          <p:nvPr/>
        </p:nvSpPr>
        <p:spPr>
          <a:xfrm>
            <a:off x="388515" y="2621577"/>
            <a:ext cx="2046779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Consider any schedule</a:t>
            </a:r>
            <a:endParaRPr lang="en-IN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F28C56-8419-9531-C01E-1A24FAFC90C6}"/>
              </a:ext>
            </a:extLst>
          </p:cNvPr>
          <p:cNvSpPr txBox="1"/>
          <p:nvPr/>
        </p:nvSpPr>
        <p:spPr>
          <a:xfrm>
            <a:off x="1561032" y="4198203"/>
            <a:ext cx="62954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Consider any pair of consecutive jobs. </a:t>
            </a:r>
          </a:p>
          <a:p>
            <a:r>
              <a:rPr lang="en-US" sz="1600" dirty="0"/>
              <a:t>If they are not scheduled in the increasing order of their deadlines, </a:t>
            </a:r>
          </a:p>
          <a:p>
            <a:r>
              <a:rPr lang="en-US" sz="1600" dirty="0"/>
              <a:t>swapping them  will only minimize the </a:t>
            </a:r>
            <a:r>
              <a:rPr lang="en-US" sz="1600" b="1" dirty="0"/>
              <a:t>maximum lateness</a:t>
            </a:r>
            <a:r>
              <a:rPr lang="en-US" sz="1600" dirty="0"/>
              <a:t> of the schedule</a:t>
            </a:r>
            <a:endParaRPr lang="en-IN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E188C7-4772-FD70-6D6A-FBE7EC7835D0}"/>
              </a:ext>
            </a:extLst>
          </p:cNvPr>
          <p:cNvSpPr txBox="1"/>
          <p:nvPr/>
        </p:nvSpPr>
        <p:spPr>
          <a:xfrm>
            <a:off x="1561032" y="4200668"/>
            <a:ext cx="68380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By repeating this step for each pair of consecutive jobs, </a:t>
            </a:r>
          </a:p>
          <a:p>
            <a:r>
              <a:rPr lang="en-US" sz="1600" dirty="0"/>
              <a:t>we can transform the schedule into a schedule</a:t>
            </a:r>
          </a:p>
          <a:p>
            <a:r>
              <a:rPr lang="en-US" sz="1600" dirty="0"/>
              <a:t>whose </a:t>
            </a:r>
            <a:r>
              <a:rPr lang="en-US" sz="1600" b="1" dirty="0"/>
              <a:t>maximum lateness </a:t>
            </a:r>
            <a:r>
              <a:rPr lang="en-US" sz="1600" dirty="0"/>
              <a:t>is less than or equal to that of the  original schedule. </a:t>
            </a:r>
            <a:endParaRPr lang="en-IN" sz="1600" dirty="0"/>
          </a:p>
        </p:txBody>
      </p:sp>
      <p:sp>
        <p:nvSpPr>
          <p:cNvPr id="36" name="Thought Bubble: Cloud 35">
            <a:extLst>
              <a:ext uri="{FF2B5EF4-FFF2-40B4-BE49-F238E27FC236}">
                <a16:creationId xmlns:a16="http://schemas.microsoft.com/office/drawing/2014/main" id="{53FE1F29-7598-AC8B-9AAA-20C05937EAF2}"/>
              </a:ext>
            </a:extLst>
          </p:cNvPr>
          <p:cNvSpPr/>
          <p:nvPr/>
        </p:nvSpPr>
        <p:spPr>
          <a:xfrm>
            <a:off x="4110129" y="1157953"/>
            <a:ext cx="4764383" cy="894618"/>
          </a:xfrm>
          <a:prstGeom prst="cloudCallout">
            <a:avLst>
              <a:gd name="adj1" fmla="val 25974"/>
              <a:gd name="adj2" fmla="val 8554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do the jobs appear in the final schedule ?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B84493-A191-B2FD-A199-DD034121BA4E}"/>
              </a:ext>
            </a:extLst>
          </p:cNvPr>
          <p:cNvSpPr txBox="1"/>
          <p:nvPr/>
        </p:nvSpPr>
        <p:spPr>
          <a:xfrm>
            <a:off x="5313778" y="2357299"/>
            <a:ext cx="319375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In increasing order of deadlines.</a:t>
            </a:r>
            <a:endParaRPr lang="en-IN" dirty="0"/>
          </a:p>
        </p:txBody>
      </p:sp>
      <p:sp>
        <p:nvSpPr>
          <p:cNvPr id="38" name="Thought Bubble: Cloud 37">
            <a:extLst>
              <a:ext uri="{FF2B5EF4-FFF2-40B4-BE49-F238E27FC236}">
                <a16:creationId xmlns:a16="http://schemas.microsoft.com/office/drawing/2014/main" id="{CC8EF58B-9ABB-E9CE-B650-BEEEAA80B33E}"/>
              </a:ext>
            </a:extLst>
          </p:cNvPr>
          <p:cNvSpPr/>
          <p:nvPr/>
        </p:nvSpPr>
        <p:spPr>
          <a:xfrm>
            <a:off x="4191000" y="1143000"/>
            <a:ext cx="4764383" cy="894618"/>
          </a:xfrm>
          <a:prstGeom prst="cloudCallout">
            <a:avLst>
              <a:gd name="adj1" fmla="val 25974"/>
              <a:gd name="adj2" fmla="val 8554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if the original schedule was an optimal schedule ?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ADC3C3-3828-3339-65EB-FFFB06AFC977}"/>
              </a:ext>
            </a:extLst>
          </p:cNvPr>
          <p:cNvSpPr txBox="1"/>
          <p:nvPr/>
        </p:nvSpPr>
        <p:spPr>
          <a:xfrm>
            <a:off x="4257859" y="2362355"/>
            <a:ext cx="477143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 final schedule is also an optimal schedule.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1539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1.8043E-7 L 0.02552 0.04071 C 0.0309 0.04997 0.03889 0.05505 0.04739 0.05505 C 0.05694 0.05505 0.06458 0.04997 0.06996 0.04071 L 0.09566 1.8043E-7 " pathEditMode="relative" rAng="0" ptsTypes="FffFF">
                                      <p:cBhvr>
                                        <p:cTn id="3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74" y="275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043E-7 L -0.02014 -0.05043 C -0.02448 -0.06176 -0.03073 -0.06778 -0.03733 -0.06778 C -0.04479 -0.06778 -0.0507 -0.06176 -0.05504 -0.05043 L -0.075 1.8043E-7 " pathEditMode="relative" rAng="0" ptsTypes="FffFF">
                                      <p:cBhvr>
                                        <p:cTn id="3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-3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20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2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7" grpId="1" uiExpand="1" build="p"/>
      <p:bldP spid="19" grpId="0" animBg="1"/>
      <p:bldP spid="24" grpId="0" animBg="1"/>
      <p:bldP spid="2" grpId="0"/>
      <p:bldP spid="3" grpId="0"/>
      <p:bldP spid="4" grpId="0"/>
      <p:bldP spid="27" grpId="0" animBg="1"/>
      <p:bldP spid="29" grpId="0" animBg="1"/>
      <p:bldP spid="34" grpId="0" uiExpand="1" build="allAtOnce"/>
      <p:bldP spid="35" grpId="0" build="allAtOnce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2" grpId="0" animBg="1"/>
      <p:bldP spid="3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/>
          <a:lstStyle/>
          <a:p>
            <a:pPr algn="ctr"/>
            <a:r>
              <a:rPr lang="en-US" sz="3200" dirty="0"/>
              <a:t>Finding the </a:t>
            </a:r>
            <a:r>
              <a:rPr lang="en-US" sz="3200" dirty="0">
                <a:solidFill>
                  <a:srgbClr val="7030A0"/>
                </a:solidFill>
              </a:rPr>
              <a:t>labeled binary tree </a:t>
            </a:r>
            <a:r>
              <a:rPr lang="en-US" sz="3200" dirty="0"/>
              <a:t>for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590800" y="2743200"/>
            <a:ext cx="3884205" cy="52322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2800" b="1" dirty="0"/>
              <a:t>the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u="sng" dirty="0">
                <a:solidFill>
                  <a:srgbClr val="006C31"/>
                </a:solidFill>
              </a:rPr>
              <a:t>optimal</a:t>
            </a:r>
            <a:r>
              <a:rPr lang="en-US" sz="2800" b="1" dirty="0">
                <a:solidFill>
                  <a:srgbClr val="006C31"/>
                </a:solidFill>
              </a:rPr>
              <a:t> </a:t>
            </a:r>
            <a:r>
              <a:rPr lang="en-US" sz="2800" b="1" dirty="0"/>
              <a:t>prefix codes </a:t>
            </a: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383B82EF-B1A5-DFBB-F0A8-DDF9CFAB0B1F}"/>
              </a:ext>
            </a:extLst>
          </p:cNvPr>
          <p:cNvSpPr txBox="1">
            <a:spLocks/>
          </p:cNvSpPr>
          <p:nvPr/>
        </p:nvSpPr>
        <p:spPr bwMode="auto">
          <a:xfrm>
            <a:off x="685800" y="157163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>
                <a:solidFill>
                  <a:srgbClr val="7030A0"/>
                </a:solidFill>
              </a:rPr>
              <a:t>Recap </a:t>
            </a:r>
            <a:r>
              <a:rPr lang="en-US"/>
              <a:t>of last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355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Optimal </a:t>
            </a:r>
            <a:r>
              <a:rPr lang="en-US" sz="3600" b="1" dirty="0"/>
              <a:t>Prefix Coding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Algorithmic Problem</a:t>
                </a:r>
                <a:r>
                  <a:rPr lang="en-US" sz="2000" dirty="0"/>
                  <a:t>: Given a set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alphabets and their frequencies, </a:t>
                </a:r>
              </a:p>
              <a:p>
                <a:pPr marL="0" indent="0">
                  <a:buNone/>
                </a:pPr>
                <a:r>
                  <a:rPr lang="en-US" sz="2000" dirty="0"/>
                  <a:t>compute coding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2000" dirty="0"/>
                  <a:t> such that</a:t>
                </a:r>
              </a:p>
              <a:p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2000" dirty="0"/>
                  <a:t> is prefix coding</a:t>
                </a:r>
              </a:p>
              <a:p>
                <a14:m>
                  <m:oMath xmlns:m="http://schemas.openxmlformats.org/officeDocument/2006/math">
                    <m:r>
                      <a:rPr lang="en-US" sz="2000" b="1" dirty="0">
                        <a:latin typeface="Cambria Math"/>
                      </a:rPr>
                      <m:t>𝐀𝐁𝐋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𝜸</m:t>
                        </m:r>
                      </m:e>
                    </m:d>
                  </m:oMath>
                </a14:m>
                <a:r>
                  <a:rPr lang="en-US" sz="2000" dirty="0"/>
                  <a:t> is minimum.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819400" y="1524000"/>
            <a:ext cx="2971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91200" y="1524000"/>
            <a:ext cx="2971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C46DA-AB21-8FF7-24A3-3E78AB9D3649}"/>
                  </a:ext>
                </a:extLst>
              </p:cNvPr>
              <p:cNvSpPr txBox="1"/>
              <p:nvPr/>
            </p:nvSpPr>
            <p:spPr>
              <a:xfrm>
                <a:off x="2858383" y="4888468"/>
                <a:ext cx="2287557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 ,</a:t>
                </a:r>
                <a:r>
                  <a:rPr lang="en-US" dirty="0">
                    <a:solidFill>
                      <a:srgbClr val="006C3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 ,   …  ,</a:t>
                </a:r>
                <a:r>
                  <a:rPr lang="en-US" dirty="0">
                    <a:solidFill>
                      <a:srgbClr val="006C31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C46DA-AB21-8FF7-24A3-3E78AB9D3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383" y="4888468"/>
                <a:ext cx="2287557" cy="369332"/>
              </a:xfrm>
              <a:prstGeom prst="rect">
                <a:avLst/>
              </a:prstGeom>
              <a:blipFill>
                <a:blip r:embed="rId3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Arrow 3">
            <a:extLst>
              <a:ext uri="{FF2B5EF4-FFF2-40B4-BE49-F238E27FC236}">
                <a16:creationId xmlns:a16="http://schemas.microsoft.com/office/drawing/2014/main" id="{0213AC8F-29A9-4448-CFC2-0B88DA70B8F8}"/>
              </a:ext>
            </a:extLst>
          </p:cNvPr>
          <p:cNvSpPr/>
          <p:nvPr/>
        </p:nvSpPr>
        <p:spPr>
          <a:xfrm>
            <a:off x="2904577" y="4471424"/>
            <a:ext cx="2241363" cy="242316"/>
          </a:xfrm>
          <a:prstGeom prst="rightArrow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3B99E9-3300-14AB-BC18-CE680F24E5F8}"/>
              </a:ext>
            </a:extLst>
          </p:cNvPr>
          <p:cNvSpPr txBox="1"/>
          <p:nvPr/>
        </p:nvSpPr>
        <p:spPr>
          <a:xfrm>
            <a:off x="2362200" y="4102092"/>
            <a:ext cx="347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Non-decreasing order of frequency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F86F2F-832D-857F-0DFA-BD539E28063C}"/>
                  </a:ext>
                </a:extLst>
              </p:cNvPr>
              <p:cNvSpPr txBox="1"/>
              <p:nvPr/>
            </p:nvSpPr>
            <p:spPr>
              <a:xfrm>
                <a:off x="6248400" y="4471424"/>
                <a:ext cx="1835631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𝒂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)≤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𝒂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F86F2F-832D-857F-0DFA-BD539E280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4471424"/>
                <a:ext cx="1835631" cy="369332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198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uiExpand="1" build="p"/>
      <p:bldP spid="2" grpId="0" animBg="1"/>
      <p:bldP spid="8" grpId="0" animBg="1"/>
      <p:bldP spid="3" grpId="0" animBg="1"/>
      <p:bldP spid="4" grpId="0" animBg="1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0070C0"/>
                </a:solidFill>
              </a:rPr>
              <a:t>binary tree </a:t>
            </a:r>
            <a:r>
              <a:rPr lang="en-US" sz="3200" b="1" dirty="0"/>
              <a:t>of the </a:t>
            </a:r>
            <a:r>
              <a:rPr lang="en-US" sz="3200" b="1" dirty="0">
                <a:solidFill>
                  <a:srgbClr val="7030A0"/>
                </a:solidFill>
              </a:rPr>
              <a:t>optimal</a:t>
            </a:r>
            <a:r>
              <a:rPr lang="en-US" sz="3200" b="1" dirty="0">
                <a:solidFill>
                  <a:srgbClr val="0070C0"/>
                </a:solidFill>
              </a:rPr>
              <a:t> prefix code</a:t>
            </a:r>
            <a:endParaRPr lang="en-US" sz="3200" dirty="0"/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591533" y="1519793"/>
            <a:ext cx="3201865" cy="1255435"/>
            <a:chOff x="2667733" y="2069068"/>
            <a:chExt cx="3201865" cy="1255435"/>
          </a:xfrm>
        </p:grpSpPr>
        <p:grpSp>
          <p:nvGrpSpPr>
            <p:cNvPr id="28" name="Group 27"/>
            <p:cNvGrpSpPr/>
            <p:nvPr/>
          </p:nvGrpSpPr>
          <p:grpSpPr>
            <a:xfrm>
              <a:off x="2737338" y="2069068"/>
              <a:ext cx="3132260" cy="1255435"/>
              <a:chOff x="2819400" y="1447800"/>
              <a:chExt cx="3429000" cy="1416237"/>
            </a:xfrm>
          </p:grpSpPr>
          <p:cxnSp>
            <p:nvCxnSpPr>
              <p:cNvPr id="5" name="Straight Arrow Connector 4"/>
              <p:cNvCxnSpPr>
                <a:endCxn id="10" idx="7"/>
              </p:cNvCxnSpPr>
              <p:nvPr/>
            </p:nvCxnSpPr>
            <p:spPr>
              <a:xfrm flipH="1">
                <a:off x="3429000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>
                <a:stCxn id="11" idx="3"/>
              </p:cNvCxnSpPr>
              <p:nvPr/>
            </p:nvCxnSpPr>
            <p:spPr>
              <a:xfrm flipH="1">
                <a:off x="5029200" y="2317563"/>
                <a:ext cx="4702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>
                <a:endCxn id="11" idx="1"/>
              </p:cNvCxnSpPr>
              <p:nvPr/>
            </p:nvCxnSpPr>
            <p:spPr>
              <a:xfrm>
                <a:off x="4616637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>
                <a:stCxn id="10" idx="3"/>
              </p:cNvCxnSpPr>
              <p:nvPr/>
            </p:nvCxnSpPr>
            <p:spPr>
              <a:xfrm flipH="1">
                <a:off x="2819400" y="2317563"/>
                <a:ext cx="3940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>
                <a:stCxn id="10" idx="5"/>
              </p:cNvCxnSpPr>
              <p:nvPr/>
            </p:nvCxnSpPr>
            <p:spPr>
              <a:xfrm>
                <a:off x="3429000" y="2317563"/>
                <a:ext cx="3178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3168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454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311837" y="1447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>
                <a:off x="5759637" y="2286000"/>
                <a:ext cx="488763" cy="578037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/>
            <p:cNvSpPr txBox="1"/>
            <p:nvPr/>
          </p:nvSpPr>
          <p:spPr>
            <a:xfrm>
              <a:off x="3572608" y="2136616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17976" y="2146959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667733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05846" y="2822441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91175" y="2754892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689145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90600" y="1654889"/>
            <a:ext cx="3033822" cy="2865624"/>
            <a:chOff x="1066800" y="2204164"/>
            <a:chExt cx="3033822" cy="2865624"/>
          </a:xfrm>
        </p:grpSpPr>
        <p:sp>
          <p:nvSpPr>
            <p:cNvPr id="17" name="TextBox 16"/>
            <p:cNvSpPr txBox="1"/>
            <p:nvPr/>
          </p:nvSpPr>
          <p:spPr>
            <a:xfrm rot="5400000">
              <a:off x="1029995" y="3683159"/>
              <a:ext cx="709361" cy="47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1066800" y="2204164"/>
              <a:ext cx="30338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066800" y="2744549"/>
              <a:ext cx="19897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1145704" y="5069788"/>
              <a:ext cx="33873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990600" y="5128793"/>
            <a:ext cx="7239000" cy="365996"/>
            <a:chOff x="1066800" y="5678068"/>
            <a:chExt cx="7239000" cy="365996"/>
          </a:xfrm>
        </p:grpSpPr>
        <p:cxnSp>
          <p:nvCxnSpPr>
            <p:cNvPr id="43" name="Straight Connector 42"/>
            <p:cNvCxnSpPr/>
            <p:nvPr/>
          </p:nvCxnSpPr>
          <p:spPr>
            <a:xfrm>
              <a:off x="1066800" y="5678068"/>
              <a:ext cx="7239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3848186" y="5716667"/>
              <a:ext cx="1324413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Deepest level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071821" y="3264455"/>
            <a:ext cx="1327372" cy="2375773"/>
            <a:chOff x="6148021" y="3813730"/>
            <a:chExt cx="1327372" cy="2375773"/>
          </a:xfrm>
        </p:grpSpPr>
        <p:grpSp>
          <p:nvGrpSpPr>
            <p:cNvPr id="25" name="Group 24"/>
            <p:cNvGrpSpPr/>
            <p:nvPr/>
          </p:nvGrpSpPr>
          <p:grpSpPr>
            <a:xfrm>
              <a:off x="6148021" y="3813730"/>
              <a:ext cx="1327372" cy="2375773"/>
              <a:chOff x="6148021" y="3813730"/>
              <a:chExt cx="1327372" cy="2375773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6774473" y="4838541"/>
                <a:ext cx="278423" cy="270193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Arrow Connector 14"/>
              <p:cNvCxnSpPr>
                <a:stCxn id="14" idx="3"/>
              </p:cNvCxnSpPr>
              <p:nvPr/>
            </p:nvCxnSpPr>
            <p:spPr>
              <a:xfrm flipH="1">
                <a:off x="6635262" y="5069165"/>
                <a:ext cx="179986" cy="44485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>
                <a:off x="6524882" y="4461232"/>
                <a:ext cx="290366" cy="41687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Oval 25"/>
              <p:cNvSpPr/>
              <p:nvPr/>
            </p:nvSpPr>
            <p:spPr>
              <a:xfrm>
                <a:off x="6356838" y="4230608"/>
                <a:ext cx="278423" cy="270193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>
                <a:off x="6148021" y="3813730"/>
                <a:ext cx="290366" cy="416878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1" name="Group 50"/>
              <p:cNvGrpSpPr/>
              <p:nvPr/>
            </p:nvGrpSpPr>
            <p:grpSpPr>
              <a:xfrm>
                <a:off x="6333959" y="5514022"/>
                <a:ext cx="448304" cy="675481"/>
                <a:chOff x="6528153" y="5334000"/>
                <a:chExt cx="490775" cy="762000"/>
              </a:xfrm>
            </p:grpSpPr>
            <p:sp>
              <p:nvSpPr>
                <p:cNvPr id="18" name="Rectangle 17"/>
                <p:cNvSpPr/>
                <p:nvPr/>
              </p:nvSpPr>
              <p:spPr>
                <a:xfrm>
                  <a:off x="6553200" y="5334000"/>
                  <a:ext cx="457200" cy="369332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Rectangle 49"/>
                    <p:cNvSpPr/>
                    <p:nvPr/>
                  </p:nvSpPr>
                  <p:spPr>
                    <a:xfrm>
                      <a:off x="6528153" y="5726668"/>
                      <a:ext cx="490775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rgbClr val="006C3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0" name="Rectangle 4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8153" y="5726668"/>
                      <a:ext cx="490775" cy="369332"/>
                    </a:xfrm>
                    <a:prstGeom prst="rect">
                      <a:avLst/>
                    </a:prstGeom>
                    <a:blipFill rotWithShape="1">
                      <a:blip r:embed="rId3"/>
                      <a:stretch>
                        <a:fillRect t="-8197" r="-16250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Rectangle 39"/>
                  <p:cNvSpPr/>
                  <p:nvPr/>
                </p:nvSpPr>
                <p:spPr>
                  <a:xfrm>
                    <a:off x="7030017" y="5862106"/>
                    <a:ext cx="445376" cy="3273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Rectangle 3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0017" y="5862106"/>
                    <a:ext cx="445376" cy="327397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9434" r="-21918" b="-433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6" name="Group 15"/>
              <p:cNvGrpSpPr/>
              <p:nvPr/>
            </p:nvGrpSpPr>
            <p:grpSpPr>
              <a:xfrm>
                <a:off x="6983290" y="5097144"/>
                <a:ext cx="464361" cy="744276"/>
                <a:chOff x="7239000" y="4863726"/>
                <a:chExt cx="508353" cy="839606"/>
              </a:xfrm>
            </p:grpSpPr>
            <p:sp>
              <p:nvSpPr>
                <p:cNvPr id="39" name="Rectangle 38"/>
                <p:cNvSpPr/>
                <p:nvPr/>
              </p:nvSpPr>
              <p:spPr>
                <a:xfrm>
                  <a:off x="7290153" y="5334000"/>
                  <a:ext cx="457200" cy="369332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1" name="Straight Arrow Connector 40"/>
                <p:cNvCxnSpPr/>
                <p:nvPr/>
              </p:nvCxnSpPr>
              <p:spPr>
                <a:xfrm>
                  <a:off x="7239000" y="4863726"/>
                  <a:ext cx="317874" cy="4702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TextBox 44"/>
              <p:cNvSpPr txBox="1"/>
              <p:nvPr/>
            </p:nvSpPr>
            <p:spPr>
              <a:xfrm>
                <a:off x="6638106" y="4443596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7055741" y="5051529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6498895" y="5051529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DBCFB96-CF4A-3BE4-02F0-8D540F63E7CB}"/>
                  </a:ext>
                </a:extLst>
              </p:cNvPr>
              <p:cNvSpPr txBox="1"/>
              <p:nvPr/>
            </p:nvSpPr>
            <p:spPr>
              <a:xfrm>
                <a:off x="1821306" y="6101223"/>
                <a:ext cx="4579494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dirty="0" smtClean="0">
                          <a:latin typeface="Cambria Math"/>
                        </a:rPr>
                        <m:t>𝐀𝐁𝐋</m:t>
                      </m:r>
                      <m:d>
                        <m:d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𝜸</m:t>
                          </m:r>
                        </m:e>
                      </m:d>
                      <m:r>
                        <a:rPr lang="en-US" sz="1800" i="1" dirty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i="1" dirty="0">
                              <a:latin typeface="Cambria Math"/>
                            </a:rPr>
                            <m:t>𝑥</m:t>
                          </m:r>
                          <m:r>
                            <a:rPr lang="en-US" sz="1800" i="1" dirty="0">
                              <a:latin typeface="Cambria Math"/>
                            </a:rPr>
                            <m:t>∈</m:t>
                          </m:r>
                          <m:r>
                            <a:rPr lang="en-US" sz="1800" b="1" i="1" dirty="0">
                              <a:latin typeface="Cambria Math"/>
                            </a:rPr>
                            <m:t>𝑨</m:t>
                          </m:r>
                        </m:sub>
                        <m:sup/>
                        <m:e>
                          <m:r>
                            <a:rPr lang="en-US" sz="1800" i="1" dirty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dirty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800" i="1" dirty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𝐝𝐞𝐩𝐭</m:t>
                              </m:r>
                              <m:sSub>
                                <m:sSubPr>
                                  <m:ctrlPr>
                                    <a:rPr lang="en-US" sz="18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𝐡</m:t>
                                  </m:r>
                                </m:e>
                                <m:sub>
                                  <m:r>
                                    <a:rPr lang="en-US" sz="1800" b="1" i="0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dirty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DBCFB96-CF4A-3BE4-02F0-8D540F63E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306" y="6101223"/>
                <a:ext cx="4579494" cy="764505"/>
              </a:xfrm>
              <a:prstGeom prst="rect">
                <a:avLst/>
              </a:prstGeom>
              <a:blipFill>
                <a:blip r:embed="rId5"/>
                <a:stretch>
                  <a:fillRect t="-122951" b="-170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353A4DF5-A883-6E4E-76D9-C95C178E1489}"/>
              </a:ext>
            </a:extLst>
          </p:cNvPr>
          <p:cNvSpPr/>
          <p:nvPr/>
        </p:nvSpPr>
        <p:spPr>
          <a:xfrm>
            <a:off x="3567435" y="6027528"/>
            <a:ext cx="2558563" cy="9066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21FE96-A6B6-3FF1-2F82-D5E570E70621}"/>
              </a:ext>
            </a:extLst>
          </p:cNvPr>
          <p:cNvSpPr txBox="1"/>
          <p:nvPr/>
        </p:nvSpPr>
        <p:spPr>
          <a:xfrm>
            <a:off x="174885" y="5683441"/>
            <a:ext cx="4647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1800" b="1" dirty="0">
                <a:solidFill>
                  <a:srgbClr val="C00000"/>
                </a:solidFill>
              </a:rPr>
              <a:t>Theorem</a:t>
            </a:r>
            <a:r>
              <a:rPr lang="en-US" sz="1800" dirty="0">
                <a:solidFill>
                  <a:srgbClr val="C00000"/>
                </a:solidFill>
              </a:rPr>
              <a:t>:</a:t>
            </a:r>
            <a:r>
              <a:rPr lang="en-US" sz="1800" dirty="0"/>
              <a:t> There exists </a:t>
            </a:r>
            <a:r>
              <a:rPr lang="en-US" sz="1800" u="sng" dirty="0"/>
              <a:t>an</a:t>
            </a:r>
            <a:r>
              <a:rPr lang="en-US" sz="1800" dirty="0"/>
              <a:t> optimal prefix coding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DD6395B-4494-E9F0-D529-7D1DC1E7F0F1}"/>
                  </a:ext>
                </a:extLst>
              </p:cNvPr>
              <p:cNvSpPr txBox="1"/>
              <p:nvPr/>
            </p:nvSpPr>
            <p:spPr>
              <a:xfrm>
                <a:off x="4679706" y="5680134"/>
                <a:ext cx="37015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in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800" dirty="0"/>
                  <a:t> appear as siblings</a:t>
                </a:r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DD6395B-4494-E9F0-D529-7D1DC1E7F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706" y="5680134"/>
                <a:ext cx="3701526" cy="369332"/>
              </a:xfrm>
              <a:prstGeom prst="rect">
                <a:avLst/>
              </a:prstGeom>
              <a:blipFill>
                <a:blip r:embed="rId6"/>
                <a:stretch>
                  <a:fillRect l="-137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655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/>
      <p:bldP spid="37" grpId="0" animBg="1"/>
      <p:bldP spid="3" grpId="0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5AA0-E1BD-22FB-A060-F93636E39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</a:rPr>
              <a:t>Problems</a:t>
            </a:r>
            <a:r>
              <a:rPr lang="en-US" sz="3200" b="1" dirty="0"/>
              <a:t> solved using </a:t>
            </a:r>
            <a:r>
              <a:rPr lang="en-US" sz="3200" b="1" dirty="0">
                <a:solidFill>
                  <a:srgbClr val="7030A0"/>
                </a:solidFill>
              </a:rPr>
              <a:t>Greedy Paradigm</a:t>
            </a:r>
            <a:endParaRPr lang="en-IN" sz="32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7198-7A7C-D96F-BEA6-A17F0A10C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Maximum number of non-overlapping jobs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Scheduling jobs to minimize maximum lateness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Minimum Spanning tree</a:t>
            </a: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A2E7E-E388-F81F-3322-A72019520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2CCC57-B6D9-9EDB-DACC-618704C5ED46}"/>
              </a:ext>
            </a:extLst>
          </p:cNvPr>
          <p:cNvSpPr txBox="1"/>
          <p:nvPr/>
        </p:nvSpPr>
        <p:spPr>
          <a:xfrm>
            <a:off x="2941874" y="5410200"/>
            <a:ext cx="3260251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Adhoc</a:t>
            </a:r>
            <a:r>
              <a:rPr lang="en-US" dirty="0"/>
              <a:t> solution for each problem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19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01ADE-6C75-81D2-7887-D7F78A04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5ACD-47C7-6359-0F90-703A253D1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74638"/>
            <a:ext cx="8444744" cy="1143000"/>
          </a:xfrm>
        </p:spPr>
        <p:txBody>
          <a:bodyPr/>
          <a:lstStyle/>
          <a:p>
            <a:r>
              <a:rPr lang="en-US" sz="2800" b="1" dirty="0"/>
              <a:t>A </a:t>
            </a:r>
            <a:r>
              <a:rPr lang="en-US" sz="2800" b="1" u="sng" dirty="0"/>
              <a:t>generic</a:t>
            </a:r>
            <a:r>
              <a:rPr lang="en-US" sz="2800" b="1" dirty="0"/>
              <a:t> way to </a:t>
            </a:r>
            <a:r>
              <a:rPr lang="en-US" sz="2800" b="1" dirty="0">
                <a:solidFill>
                  <a:srgbClr val="7030A0"/>
                </a:solidFill>
              </a:rPr>
              <a:t>design</a:t>
            </a:r>
            <a:r>
              <a:rPr lang="en-US" sz="2800" b="1" dirty="0"/>
              <a:t> and </a:t>
            </a:r>
            <a:r>
              <a:rPr lang="en-US" sz="2800" b="1" dirty="0" err="1">
                <a:solidFill>
                  <a:srgbClr val="7030A0"/>
                </a:solidFill>
              </a:rPr>
              <a:t>analyse</a:t>
            </a:r>
            <a:r>
              <a:rPr lang="en-US" sz="2800" b="1" dirty="0"/>
              <a:t> a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>
                <a:solidFill>
                  <a:srgbClr val="006C31"/>
                </a:solidFill>
              </a:rPr>
              <a:t>greedy </a:t>
            </a:r>
            <a:r>
              <a:rPr lang="en-US" sz="2800" b="1" dirty="0"/>
              <a:t>algorithm</a:t>
            </a:r>
            <a:br>
              <a:rPr lang="en-US" sz="2800" b="1" dirty="0"/>
            </a:br>
            <a:endParaRPr 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32589-D5E9-414E-7D79-88C0EDF4B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P</a:t>
            </a:r>
            <a:r>
              <a:rPr lang="en-US" sz="2000" dirty="0"/>
              <a:t>: a given optimization problem </a:t>
            </a: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000" dirty="0"/>
              <a:t>So, all you need is to just design the Greedy step appropriately.</a:t>
            </a: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0156F-55A0-AF9C-2DE4-C6D54DF1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582BD158-86A7-E229-6AD9-398672E320D4}"/>
                  </a:ext>
                </a:extLst>
              </p:cNvPr>
              <p:cNvSpPr/>
              <p:nvPr/>
            </p:nvSpPr>
            <p:spPr>
              <a:xfrm>
                <a:off x="3161541" y="1828800"/>
                <a:ext cx="2514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541" y="1828800"/>
                <a:ext cx="2514600" cy="6096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E4573746-C228-C2F9-D87F-B23FF735EFB7}"/>
                  </a:ext>
                </a:extLst>
              </p:cNvPr>
              <p:cNvSpPr/>
              <p:nvPr/>
            </p:nvSpPr>
            <p:spPr>
              <a:xfrm>
                <a:off x="3313941" y="3657600"/>
                <a:ext cx="2133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941" y="3657600"/>
                <a:ext cx="2133600" cy="6096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13E469-4B94-82B2-239F-282E56D6D34E}"/>
                  </a:ext>
                </a:extLst>
              </p:cNvPr>
              <p:cNvSpPr txBox="1"/>
              <p:nvPr/>
            </p:nvSpPr>
            <p:spPr>
              <a:xfrm>
                <a:off x="5752341" y="1981200"/>
                <a:ext cx="30734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instance of size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of problem </a:t>
                </a:r>
                <a:r>
                  <a:rPr lang="en-US" b="1" dirty="0">
                    <a:solidFill>
                      <a:srgbClr val="00B050"/>
                    </a:solidFill>
                  </a:rPr>
                  <a:t>P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341" y="1981200"/>
                <a:ext cx="3073405" cy="369332"/>
              </a:xfrm>
              <a:prstGeom prst="rect">
                <a:avLst/>
              </a:prstGeom>
              <a:blipFill>
                <a:blip r:embed="rId5"/>
                <a:stretch>
                  <a:fillRect l="-2058" t="-6667" r="-412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own Arrow 7">
            <a:extLst>
              <a:ext uri="{FF2B5EF4-FFF2-40B4-BE49-F238E27FC236}">
                <a16:creationId xmlns:a16="http://schemas.microsoft.com/office/drawing/2014/main" id="{2AD98674-7664-CCDE-0BE2-51C392A71204}"/>
              </a:ext>
            </a:extLst>
          </p:cNvPr>
          <p:cNvSpPr/>
          <p:nvPr/>
        </p:nvSpPr>
        <p:spPr>
          <a:xfrm>
            <a:off x="3466341" y="2590800"/>
            <a:ext cx="1828800" cy="914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Greedy</a:t>
            </a:r>
          </a:p>
          <a:p>
            <a:pPr algn="ctr"/>
            <a:r>
              <a:rPr lang="en-US" dirty="0"/>
              <a:t>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B348E6-DED8-E92A-B913-330DC6C885C7}"/>
                  </a:ext>
                </a:extLst>
              </p:cNvPr>
              <p:cNvSpPr txBox="1"/>
              <p:nvPr/>
            </p:nvSpPr>
            <p:spPr>
              <a:xfrm>
                <a:off x="5752341" y="3733800"/>
                <a:ext cx="3315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instance of size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of problem </a:t>
                </a:r>
                <a:r>
                  <a:rPr lang="en-US" b="1" dirty="0">
                    <a:solidFill>
                      <a:srgbClr val="00B050"/>
                    </a:solidFill>
                  </a:rPr>
                  <a:t>P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341" y="3733800"/>
                <a:ext cx="3315459" cy="369332"/>
              </a:xfrm>
              <a:prstGeom prst="rect">
                <a:avLst/>
              </a:prstGeom>
              <a:blipFill>
                <a:blip r:embed="rId6"/>
                <a:stretch>
                  <a:fillRect l="-1908" t="-10000" r="-382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0B0E44BA-4F19-E395-0A5B-B950B4B73904}"/>
              </a:ext>
            </a:extLst>
          </p:cNvPr>
          <p:cNvSpPr/>
          <p:nvPr/>
        </p:nvSpPr>
        <p:spPr>
          <a:xfrm>
            <a:off x="5787900" y="1905000"/>
            <a:ext cx="3037845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8FA46-07FF-19B4-5F9E-CE5A3DF39231}"/>
              </a:ext>
            </a:extLst>
          </p:cNvPr>
          <p:cNvSpPr/>
          <p:nvPr/>
        </p:nvSpPr>
        <p:spPr>
          <a:xfrm>
            <a:off x="5791201" y="3657600"/>
            <a:ext cx="1904999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5B8B57-49F9-E917-3A58-D860FA5ADFF5}"/>
              </a:ext>
            </a:extLst>
          </p:cNvPr>
          <p:cNvSpPr/>
          <p:nvPr/>
        </p:nvSpPr>
        <p:spPr>
          <a:xfrm>
            <a:off x="7696201" y="3657600"/>
            <a:ext cx="1371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429140B5-A4A1-4092-8F88-8733257E4BFD}"/>
                  </a:ext>
                </a:extLst>
              </p:cNvPr>
              <p:cNvSpPr/>
              <p:nvPr/>
            </p:nvSpPr>
            <p:spPr>
              <a:xfrm>
                <a:off x="1276862" y="1874838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36F69B85-8BBB-EC30-6B76-12340155AC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862" y="1874838"/>
                <a:ext cx="1828800" cy="533400"/>
              </a:xfrm>
              <a:prstGeom prst="roundRect">
                <a:avLst/>
              </a:prstGeom>
              <a:blipFill>
                <a:blip r:embed="rId7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6E7BA313-5D71-B2E8-819B-D7AF57FFDACF}"/>
                  </a:ext>
                </a:extLst>
              </p:cNvPr>
              <p:cNvSpPr/>
              <p:nvPr/>
            </p:nvSpPr>
            <p:spPr>
              <a:xfrm>
                <a:off x="1435508" y="3687762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258BF84E-8FE1-BF5E-DF2B-929F8C7265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508" y="3687762"/>
                <a:ext cx="1828800" cy="5334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Up Arrow 22">
            <a:extLst>
              <a:ext uri="{FF2B5EF4-FFF2-40B4-BE49-F238E27FC236}">
                <a16:creationId xmlns:a16="http://schemas.microsoft.com/office/drawing/2014/main" id="{7346178E-D604-69D0-C481-9E76854718BE}"/>
              </a:ext>
            </a:extLst>
          </p:cNvPr>
          <p:cNvSpPr/>
          <p:nvPr/>
        </p:nvSpPr>
        <p:spPr>
          <a:xfrm>
            <a:off x="2107592" y="2629999"/>
            <a:ext cx="484632" cy="978408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9F6CD158-6609-F1EE-D0B9-745FE1425B22}"/>
                  </a:ext>
                </a:extLst>
              </p:cNvPr>
              <p:cNvSpPr/>
              <p:nvPr/>
            </p:nvSpPr>
            <p:spPr>
              <a:xfrm>
                <a:off x="3352800" y="5105400"/>
                <a:ext cx="2133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′′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2EBE90E8-9221-74AD-EF98-E34A2CB34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5105400"/>
                <a:ext cx="2133600" cy="6096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Down Arrow 24">
            <a:extLst>
              <a:ext uri="{FF2B5EF4-FFF2-40B4-BE49-F238E27FC236}">
                <a16:creationId xmlns:a16="http://schemas.microsoft.com/office/drawing/2014/main" id="{3C310CEE-626E-EF68-B995-5DCFFC20586B}"/>
              </a:ext>
            </a:extLst>
          </p:cNvPr>
          <p:cNvSpPr/>
          <p:nvPr/>
        </p:nvSpPr>
        <p:spPr>
          <a:xfrm>
            <a:off x="3505200" y="4419600"/>
            <a:ext cx="1789941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Greedy</a:t>
            </a:r>
          </a:p>
          <a:p>
            <a:pPr algn="ctr"/>
            <a:r>
              <a:rPr lang="en-US" dirty="0"/>
              <a:t>step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17EBA5-22C2-E546-1707-DF9AB4CAC95D}"/>
              </a:ext>
            </a:extLst>
          </p:cNvPr>
          <p:cNvSpPr txBox="1"/>
          <p:nvPr/>
        </p:nvSpPr>
        <p:spPr>
          <a:xfrm rot="5400000">
            <a:off x="4303607" y="5488599"/>
            <a:ext cx="7152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0070C0"/>
                </a:solidFill>
              </a:rPr>
              <a:t>…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B55E6AF-C24C-E2AB-371C-64A6ADA89510}"/>
              </a:ext>
            </a:extLst>
          </p:cNvPr>
          <p:cNvSpPr/>
          <p:nvPr/>
        </p:nvSpPr>
        <p:spPr>
          <a:xfrm>
            <a:off x="3352800" y="6248400"/>
            <a:ext cx="2133600" cy="6096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Base case </a:t>
            </a:r>
          </a:p>
        </p:txBody>
      </p:sp>
      <p:sp>
        <p:nvSpPr>
          <p:cNvPr id="28" name="Chevron 27">
            <a:extLst>
              <a:ext uri="{FF2B5EF4-FFF2-40B4-BE49-F238E27FC236}">
                <a16:creationId xmlns:a16="http://schemas.microsoft.com/office/drawing/2014/main" id="{F00D4BC8-D589-4B43-C188-B47DBBCC6F86}"/>
              </a:ext>
            </a:extLst>
          </p:cNvPr>
          <p:cNvSpPr/>
          <p:nvPr/>
        </p:nvSpPr>
        <p:spPr>
          <a:xfrm rot="16200000">
            <a:off x="2171590" y="4615453"/>
            <a:ext cx="484632" cy="484632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2D8DE0C2-D3A6-F8E6-14AD-C130150F3D1D}"/>
                  </a:ext>
                </a:extLst>
              </p:cNvPr>
              <p:cNvSpPr/>
              <p:nvPr/>
            </p:nvSpPr>
            <p:spPr>
              <a:xfrm>
                <a:off x="1485141" y="6270624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855132E2-C6FE-37D6-D93F-81E7B71042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141" y="6270624"/>
                <a:ext cx="1828800" cy="533400"/>
              </a:xfrm>
              <a:prstGeom prst="roundRect">
                <a:avLst/>
              </a:prstGeom>
              <a:blipFill>
                <a:blip r:embed="rId10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hevron 29">
            <a:extLst>
              <a:ext uri="{FF2B5EF4-FFF2-40B4-BE49-F238E27FC236}">
                <a16:creationId xmlns:a16="http://schemas.microsoft.com/office/drawing/2014/main" id="{C173D121-2339-B221-A537-E8E15CB10CF5}"/>
              </a:ext>
            </a:extLst>
          </p:cNvPr>
          <p:cNvSpPr/>
          <p:nvPr/>
        </p:nvSpPr>
        <p:spPr>
          <a:xfrm rot="16200000">
            <a:off x="2171590" y="5012827"/>
            <a:ext cx="484632" cy="484632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Chevron 30">
            <a:extLst>
              <a:ext uri="{FF2B5EF4-FFF2-40B4-BE49-F238E27FC236}">
                <a16:creationId xmlns:a16="http://schemas.microsoft.com/office/drawing/2014/main" id="{8521A5F0-EFF4-6865-8216-34B6C7BD0C67}"/>
              </a:ext>
            </a:extLst>
          </p:cNvPr>
          <p:cNvSpPr/>
          <p:nvPr/>
        </p:nvSpPr>
        <p:spPr>
          <a:xfrm rot="16200000">
            <a:off x="2171590" y="5410200"/>
            <a:ext cx="484632" cy="484632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117247-0FAB-BEB4-EF5D-59AE4F6AE7CC}"/>
              </a:ext>
            </a:extLst>
          </p:cNvPr>
          <p:cNvSpPr txBox="1"/>
          <p:nvPr/>
        </p:nvSpPr>
        <p:spPr>
          <a:xfrm flipH="1">
            <a:off x="5295140" y="2579133"/>
            <a:ext cx="4927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hought Bubble: Cloud 9">
                <a:extLst>
                  <a:ext uri="{FF2B5EF4-FFF2-40B4-BE49-F238E27FC236}">
                    <a16:creationId xmlns:a16="http://schemas.microsoft.com/office/drawing/2014/main" id="{FED8A949-2EAF-A490-6B69-0388160AB43D}"/>
                  </a:ext>
                </a:extLst>
              </p:cNvPr>
              <p:cNvSpPr/>
              <p:nvPr/>
            </p:nvSpPr>
            <p:spPr>
              <a:xfrm>
                <a:off x="5700555" y="2291721"/>
                <a:ext cx="3544059" cy="1360361"/>
              </a:xfrm>
              <a:prstGeom prst="cloudCallout">
                <a:avLst>
                  <a:gd name="adj1" fmla="val -23551"/>
                  <a:gd name="adj2" fmla="val 6995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Then can you see an efficient algorithm to compute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Opt</a:t>
                </a:r>
                <a:r>
                  <a:rPr lang="en-US" sz="16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) ?</a:t>
                </a:r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hought Bubble: Cloud 9">
                <a:extLst>
                  <a:ext uri="{FF2B5EF4-FFF2-40B4-BE49-F238E27FC236}">
                    <a16:creationId xmlns:a16="http://schemas.microsoft.com/office/drawing/2014/main" id="{0FFFF552-3141-8BAC-B5FB-360713D5B8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555" y="2291721"/>
                <a:ext cx="3544059" cy="1360361"/>
              </a:xfrm>
              <a:prstGeom prst="cloudCallout">
                <a:avLst>
                  <a:gd name="adj1" fmla="val -23551"/>
                  <a:gd name="adj2" fmla="val 69957"/>
                </a:avLst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0DDB9A-5B50-F99E-D274-7F86F25585D9}"/>
                  </a:ext>
                </a:extLst>
              </p:cNvPr>
              <p:cNvSpPr txBox="1"/>
              <p:nvPr/>
            </p:nvSpPr>
            <p:spPr>
              <a:xfrm>
                <a:off x="4572000" y="1069104"/>
                <a:ext cx="4579177" cy="64633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tx1"/>
                    </a:solidFill>
                  </a:rPr>
                  <a:t>Suppose the Greedy step is such that </a:t>
                </a:r>
              </a:p>
              <a:p>
                <a:pPr algn="ctr"/>
                <a:r>
                  <a:rPr lang="en-US" sz="1800" dirty="0">
                    <a:solidFill>
                      <a:schemeClr val="tx1"/>
                    </a:solidFill>
                  </a:rPr>
                  <a:t>we can efficiently obtain 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Opt</a:t>
                </a:r>
                <a:r>
                  <a:rPr lang="en-US" sz="18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) </a:t>
                </a:r>
                <a:r>
                  <a:rPr lang="en-IN" sz="1800" dirty="0">
                    <a:solidFill>
                      <a:schemeClr val="tx1"/>
                    </a:solidFill>
                  </a:rPr>
                  <a:t>from</a:t>
                </a:r>
                <a:r>
                  <a:rPr lang="en-IN" sz="1800" dirty="0"/>
                  <a:t> 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Opt</a:t>
                </a:r>
                <a:r>
                  <a:rPr lang="en-US" sz="18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).</a:t>
                </a:r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F03743-8A64-7830-D622-1809E14D7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069104"/>
                <a:ext cx="4579177" cy="646331"/>
              </a:xfrm>
              <a:prstGeom prst="rect">
                <a:avLst/>
              </a:prstGeom>
              <a:blipFill>
                <a:blip r:embed="rId12"/>
                <a:stretch>
                  <a:fillRect t="-4717" r="-133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4924B49-BC78-C271-2AB1-9DED645183E2}"/>
              </a:ext>
            </a:extLst>
          </p:cNvPr>
          <p:cNvSpPr txBox="1"/>
          <p:nvPr/>
        </p:nvSpPr>
        <p:spPr>
          <a:xfrm>
            <a:off x="1728589" y="5012827"/>
            <a:ext cx="3475503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Yes, a simple recursive algorithm.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IN" dirty="0"/>
          </a:p>
        </p:txBody>
      </p:sp>
      <p:sp>
        <p:nvSpPr>
          <p:cNvPr id="13" name="Thought Bubble: Cloud 12">
            <a:extLst>
              <a:ext uri="{FF2B5EF4-FFF2-40B4-BE49-F238E27FC236}">
                <a16:creationId xmlns:a16="http://schemas.microsoft.com/office/drawing/2014/main" id="{5A7623B6-D73D-DE33-EA7C-71AC2A4EC101}"/>
              </a:ext>
            </a:extLst>
          </p:cNvPr>
          <p:cNvSpPr/>
          <p:nvPr/>
        </p:nvSpPr>
        <p:spPr>
          <a:xfrm>
            <a:off x="5257800" y="3999770"/>
            <a:ext cx="4027068" cy="1100316"/>
          </a:xfrm>
          <a:prstGeom prst="cloudCallout">
            <a:avLst>
              <a:gd name="adj1" fmla="val -23551"/>
              <a:gd name="adj2" fmla="val 6995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Ponder over this inference for some time.</a:t>
            </a:r>
            <a:r>
              <a:rPr lang="en-IN" sz="16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Isn’t it amazing 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C57C1E-A220-1A81-96BA-36988A69C5B2}"/>
              </a:ext>
            </a:extLst>
          </p:cNvPr>
          <p:cNvSpPr/>
          <p:nvPr/>
        </p:nvSpPr>
        <p:spPr>
          <a:xfrm>
            <a:off x="2704340" y="5556954"/>
            <a:ext cx="4458459" cy="4842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851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2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3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8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8" grpId="0" animBg="1"/>
      <p:bldP spid="14" grpId="0" animBg="1"/>
      <p:bldP spid="15" grpId="0" animBg="1"/>
      <p:bldP spid="16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5" grpId="1" animBg="1"/>
      <p:bldP spid="26" grpId="0"/>
      <p:bldP spid="26" grpId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3" grpId="0"/>
      <p:bldP spid="10" grpId="0" animBg="1"/>
      <p:bldP spid="10" grpId="1" animBg="1"/>
      <p:bldP spid="11" grpId="0" animBg="1"/>
      <p:bldP spid="12" grpId="0" animBg="1"/>
      <p:bldP spid="13" grpId="0" animBg="1"/>
      <p:bldP spid="13" grpId="1" animBg="1"/>
      <p:bldP spid="17" grpId="0" animBg="1"/>
      <p:bldP spid="1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Example </a:t>
            </a:r>
            <a:br>
              <a:rPr lang="en-US" dirty="0">
                <a:solidFill>
                  <a:srgbClr val="7030A0"/>
                </a:solidFill>
              </a:rPr>
            </a:br>
            <a:r>
              <a:rPr lang="en-US" sz="3200" dirty="0">
                <a:solidFill>
                  <a:srgbClr val="0070C0"/>
                </a:solidFill>
              </a:rPr>
              <a:t>Minimum spanning tree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9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dirty="0">
                    <a:solidFill>
                      <a:srgbClr val="002060"/>
                    </a:solidFill>
                  </a:rPr>
                  <a:t>instance</a:t>
                </a:r>
                <a:r>
                  <a:rPr lang="en-US" sz="36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br>
                  <a:rPr lang="en-US" sz="3600" b="1" dirty="0"/>
                </a:br>
                <a:endParaRPr lang="en-US" sz="36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9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3"/>
            <a:endCxn id="16" idx="0"/>
          </p:cNvCxnSpPr>
          <p:nvPr/>
        </p:nvCxnSpPr>
        <p:spPr>
          <a:xfrm flipH="1">
            <a:off x="3048000" y="4092482"/>
            <a:ext cx="174718" cy="1012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6" idx="4"/>
            <a:endCxn id="10" idx="0"/>
          </p:cNvCxnSpPr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914400" y="1828800"/>
            <a:ext cx="6553200" cy="3581400"/>
            <a:chOff x="914400" y="1828800"/>
            <a:chExt cx="6553200" cy="3581400"/>
          </a:xfrm>
        </p:grpSpPr>
        <p:sp>
          <p:nvSpPr>
            <p:cNvPr id="108" name="TextBox 107"/>
            <p:cNvSpPr txBox="1"/>
            <p:nvPr/>
          </p:nvSpPr>
          <p:spPr>
            <a:xfrm>
              <a:off x="4953000" y="1828800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170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648200" y="23738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33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267200" y="28310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35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762896" y="2983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31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410200" y="3200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41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286896" y="3288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81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048896" y="3745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52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0582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42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010400" y="2743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953000" y="5040868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102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484076" y="44196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400800" y="4495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30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800600" y="4267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60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352800" y="3048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70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36960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657600" y="4648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57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153296" y="3962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371600" y="45836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133600" y="3886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80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600200" y="3429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78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943496" y="2590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63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086496" y="2438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2743200" y="3505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53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553096" y="4431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44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2248296" y="5029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29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914400" y="3352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64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4724400" y="3669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24200" y="4431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545144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dirty="0">
                    <a:solidFill>
                      <a:srgbClr val="002060"/>
                    </a:solidFill>
                  </a:rPr>
                  <a:t>instance</a:t>
                </a:r>
                <a:r>
                  <a:rPr lang="en-US" sz="36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br>
                  <a:rPr lang="en-US" sz="3600" b="1" dirty="0"/>
                </a:br>
                <a:endParaRPr lang="en-US" sz="36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9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1 </a:t>
                </a:r>
                <a:r>
                  <a:rPr lang="en-US" sz="2000" dirty="0"/>
                  <a:t>: There is an MST(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) with edge (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2000" dirty="0" err="1"/>
                  <a:t>,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>
                <a:blip r:embed="rId3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3"/>
            <a:endCxn id="16" idx="0"/>
          </p:cNvCxnSpPr>
          <p:nvPr/>
        </p:nvCxnSpPr>
        <p:spPr>
          <a:xfrm flipH="1">
            <a:off x="3048000" y="4092482"/>
            <a:ext cx="174718" cy="1012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6" idx="4"/>
            <a:endCxn id="10" idx="0"/>
          </p:cNvCxnSpPr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914400" y="1828800"/>
            <a:ext cx="6553200" cy="3581400"/>
            <a:chOff x="914400" y="1828800"/>
            <a:chExt cx="6553200" cy="3581400"/>
          </a:xfrm>
        </p:grpSpPr>
        <p:sp>
          <p:nvSpPr>
            <p:cNvPr id="108" name="TextBox 107"/>
            <p:cNvSpPr txBox="1"/>
            <p:nvPr/>
          </p:nvSpPr>
          <p:spPr>
            <a:xfrm>
              <a:off x="4953000" y="1828800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170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648200" y="23738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33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267200" y="28310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35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762896" y="2983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31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410200" y="3200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41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286896" y="3288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81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048896" y="3745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52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0582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42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010400" y="2743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953000" y="5040868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102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484076" y="44196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400800" y="4495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30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800600" y="4267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60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352800" y="3048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70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36960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657600" y="4648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57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153296" y="3962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371600" y="45836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133600" y="3886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80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600200" y="3429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78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943496" y="2590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63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086496" y="2438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2743200" y="3505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53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553096" y="4431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44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2248296" y="5029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29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914400" y="3352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64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4724400" y="3669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24200" y="4431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1200" y="49530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93906" y="518160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v</a:t>
            </a:r>
          </a:p>
        </p:txBody>
      </p:sp>
      <p:sp>
        <p:nvSpPr>
          <p:cNvPr id="24" name="Oval 23"/>
          <p:cNvSpPr/>
          <p:nvPr/>
        </p:nvSpPr>
        <p:spPr>
          <a:xfrm rot="1324037">
            <a:off x="1931347" y="4763699"/>
            <a:ext cx="1336190" cy="71443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5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dirty="0">
                    <a:solidFill>
                      <a:srgbClr val="002060"/>
                    </a:solidFill>
                  </a:rPr>
                  <a:t>instance</a:t>
                </a:r>
                <a:r>
                  <a:rPr lang="en-US" sz="36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sz="3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br>
                  <a:rPr lang="en-US" sz="3600" b="1" dirty="0">
                    <a:solidFill>
                      <a:srgbClr val="0070C0"/>
                    </a:solidFill>
                  </a:rPr>
                </a:br>
                <a:endParaRPr lang="en-US" sz="36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9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1 </a:t>
                </a:r>
                <a:r>
                  <a:rPr lang="en-US" sz="2000" dirty="0"/>
                  <a:t>: There is an MST(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) with edge (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2000" dirty="0" err="1"/>
                  <a:t>,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>
                <a:blip r:embed="rId3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590800" y="5029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590800" y="5029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2743200" y="5006882"/>
            <a:ext cx="3375118" cy="98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13400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2720882" y="4800600"/>
            <a:ext cx="16225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6" idx="4"/>
            <a:endCxn id="10" idx="0"/>
          </p:cNvCxnSpPr>
          <p:nvPr/>
        </p:nvCxnSpPr>
        <p:spPr>
          <a:xfrm flipH="1">
            <a:off x="2667000" y="3048000"/>
            <a:ext cx="152400" cy="1981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914400" y="1828800"/>
            <a:ext cx="6553200" cy="3581400"/>
            <a:chOff x="914400" y="1828800"/>
            <a:chExt cx="6553200" cy="3581400"/>
          </a:xfrm>
        </p:grpSpPr>
        <p:sp>
          <p:nvSpPr>
            <p:cNvPr id="108" name="TextBox 107"/>
            <p:cNvSpPr txBox="1"/>
            <p:nvPr/>
          </p:nvSpPr>
          <p:spPr>
            <a:xfrm>
              <a:off x="4953000" y="1828800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170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648200" y="23738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33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267200" y="28310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35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762896" y="2983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31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410200" y="3200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41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286896" y="3288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81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048896" y="3745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52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0582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42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010400" y="2743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953000" y="5040868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102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484076" y="44196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400800" y="4495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30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800600" y="4267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60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352800" y="3048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70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36960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657600" y="4572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57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153296" y="3962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371600" y="45836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362200" y="3886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80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600200" y="3429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78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943496" y="2590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63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086496" y="2438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2743200" y="3505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53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914400" y="3352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64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4724400" y="3669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42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2667000" y="4092482"/>
            <a:ext cx="647304" cy="936718"/>
            <a:chOff x="2667000" y="4092482"/>
            <a:chExt cx="647304" cy="936718"/>
          </a:xfrm>
        </p:grpSpPr>
        <p:cxnSp>
          <p:nvCxnSpPr>
            <p:cNvPr id="44" name="Straight Connector 43"/>
            <p:cNvCxnSpPr>
              <a:stCxn id="8" idx="3"/>
              <a:endCxn id="16" idx="0"/>
            </p:cNvCxnSpPr>
            <p:nvPr/>
          </p:nvCxnSpPr>
          <p:spPr>
            <a:xfrm flipH="1">
              <a:off x="2667000" y="4092482"/>
              <a:ext cx="555718" cy="9367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2895600" y="4343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44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438400" y="510540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w</a:t>
            </a:r>
          </a:p>
        </p:txBody>
      </p:sp>
      <p:sp>
        <p:nvSpPr>
          <p:cNvPr id="33" name="Freeform 32"/>
          <p:cNvSpPr/>
          <p:nvPr/>
        </p:nvSpPr>
        <p:spPr>
          <a:xfrm>
            <a:off x="2687444" y="4103649"/>
            <a:ext cx="614555" cy="947853"/>
          </a:xfrm>
          <a:custGeom>
            <a:avLst/>
            <a:gdLst>
              <a:gd name="connsiteX0" fmla="*/ 613317 w 614555"/>
              <a:gd name="connsiteY0" fmla="*/ 0 h 947853"/>
              <a:gd name="connsiteX1" fmla="*/ 602166 w 614555"/>
              <a:gd name="connsiteY1" fmla="*/ 356839 h 947853"/>
              <a:gd name="connsiteX2" fmla="*/ 524107 w 614555"/>
              <a:gd name="connsiteY2" fmla="*/ 624468 h 947853"/>
              <a:gd name="connsiteX3" fmla="*/ 0 w 614555"/>
              <a:gd name="connsiteY3" fmla="*/ 947853 h 947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555" h="947853">
                <a:moveTo>
                  <a:pt x="613317" y="0"/>
                </a:moveTo>
                <a:cubicBezTo>
                  <a:pt x="615175" y="126380"/>
                  <a:pt x="617034" y="252761"/>
                  <a:pt x="602166" y="356839"/>
                </a:cubicBezTo>
                <a:cubicBezTo>
                  <a:pt x="587298" y="460917"/>
                  <a:pt x="624468" y="525966"/>
                  <a:pt x="524107" y="624468"/>
                </a:cubicBezTo>
                <a:cubicBezTo>
                  <a:pt x="423746" y="722970"/>
                  <a:pt x="211873" y="835411"/>
                  <a:pt x="0" y="947853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3162696" y="449580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269293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>
                    <a:solidFill>
                      <a:srgbClr val="7030A0"/>
                    </a:solidFill>
                  </a:rPr>
                  <a:t>How to compute </a:t>
                </a:r>
                <a:r>
                  <a:rPr lang="en-US" sz="3600" dirty="0">
                    <a:solidFill>
                      <a:srgbClr val="002060"/>
                    </a:solidFill>
                  </a:rPr>
                  <a:t>instance</a:t>
                </a:r>
                <a:r>
                  <a:rPr lang="en-US" sz="36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1" i="1" dirty="0">
                        <a:latin typeface="Cambria Math"/>
                      </a:rPr>
                      <m:t>𝑨</m:t>
                    </m:r>
                    <m:r>
                      <a:rPr lang="en-US" sz="3600" b="1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3600" b="1" dirty="0"/>
                  <a:t> ?</a:t>
                </a:r>
                <a:br>
                  <a:rPr lang="en-US" sz="3600" b="1" dirty="0"/>
                </a:br>
                <a:endParaRPr lang="en-US" sz="36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01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Let (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1800" dirty="0" err="1"/>
                  <a:t>,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1800" dirty="0"/>
                  <a:t>) be the least weight edge in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=(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).  Transform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 into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/>
                  <a:t> as follows.</a:t>
                </a:r>
              </a:p>
              <a:p>
                <a:r>
                  <a:rPr lang="en-US" sz="1800" b="1" dirty="0"/>
                  <a:t>Remove</a:t>
                </a:r>
                <a:r>
                  <a:rPr lang="en-US" sz="1800" dirty="0"/>
                  <a:t> vertices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u</a:t>
                </a:r>
                <a:r>
                  <a:rPr lang="en-US" sz="1800" dirty="0"/>
                  <a:t> and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v</a:t>
                </a:r>
                <a:r>
                  <a:rPr lang="en-US" sz="1800" dirty="0"/>
                  <a:t> and </a:t>
                </a:r>
                <a:r>
                  <a:rPr lang="en-US" sz="1800" b="1" dirty="0"/>
                  <a:t>add </a:t>
                </a:r>
                <a:r>
                  <a:rPr lang="en-US" sz="1800" dirty="0"/>
                  <a:t>a new vertex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w</a:t>
                </a:r>
              </a:p>
              <a:p>
                <a:r>
                  <a:rPr lang="en-US" sz="1800" dirty="0"/>
                  <a:t>For each edge (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1800" dirty="0" err="1"/>
                  <a:t>,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x</a:t>
                </a:r>
                <a:r>
                  <a:rPr lang="en-US" sz="1800" dirty="0"/>
                  <a:t>)</a:t>
                </a:r>
                <a:r>
                  <a:rPr lang="el-GR" sz="1800" dirty="0"/>
                  <a:t>ϵ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,  add edge (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w</a:t>
                </a:r>
                <a:r>
                  <a:rPr lang="en-US" sz="1800" dirty="0" err="1"/>
                  <a:t>,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x</a:t>
                </a:r>
                <a:r>
                  <a:rPr lang="en-US" sz="1800" dirty="0"/>
                  <a:t>) in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For each edge (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1800" dirty="0" err="1"/>
                  <a:t>,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x</a:t>
                </a:r>
                <a:r>
                  <a:rPr lang="en-US" sz="1800" dirty="0"/>
                  <a:t>)</a:t>
                </a:r>
                <a:r>
                  <a:rPr lang="el-GR" sz="1800" dirty="0"/>
                  <a:t>ϵ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,  add edge (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w</a:t>
                </a:r>
                <a:r>
                  <a:rPr lang="en-US" sz="1800" dirty="0" err="1"/>
                  <a:t>,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x</a:t>
                </a:r>
                <a:r>
                  <a:rPr lang="en-US" sz="1800" dirty="0"/>
                  <a:t>) in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In case of multiple edges between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w </a:t>
                </a:r>
                <a:r>
                  <a:rPr lang="en-US" sz="1800" dirty="0"/>
                  <a:t>and 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x</a:t>
                </a:r>
                <a:r>
                  <a:rPr lang="en-US" sz="1800" dirty="0"/>
                  <a:t>, keep only the </a:t>
                </a:r>
                <a:r>
                  <a:rPr lang="en-US" sz="1800" b="1" dirty="0"/>
                  <a:t>lighter</a:t>
                </a:r>
                <a:r>
                  <a:rPr lang="en-US" sz="1800" dirty="0"/>
                  <a:t> weight edge.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3D941B-23F1-BBC7-08C2-A1DAE8E28B41}"/>
              </a:ext>
            </a:extLst>
          </p:cNvPr>
          <p:cNvSpPr/>
          <p:nvPr/>
        </p:nvSpPr>
        <p:spPr>
          <a:xfrm>
            <a:off x="3048000" y="2930371"/>
            <a:ext cx="28956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95EED6-48ED-E9A6-80F6-AB5F7D284208}"/>
              </a:ext>
            </a:extLst>
          </p:cNvPr>
          <p:cNvSpPr/>
          <p:nvPr/>
        </p:nvSpPr>
        <p:spPr>
          <a:xfrm>
            <a:off x="3124200" y="3197071"/>
            <a:ext cx="28956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22C193-D18C-39DA-44CF-CE116A6DD068}"/>
              </a:ext>
            </a:extLst>
          </p:cNvPr>
          <p:cNvSpPr/>
          <p:nvPr/>
        </p:nvSpPr>
        <p:spPr>
          <a:xfrm>
            <a:off x="4953000" y="3581400"/>
            <a:ext cx="34290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061FD8-99BC-78DA-430B-AB8662CC4239}"/>
              </a:ext>
            </a:extLst>
          </p:cNvPr>
          <p:cNvSpPr/>
          <p:nvPr/>
        </p:nvSpPr>
        <p:spPr>
          <a:xfrm>
            <a:off x="4876800" y="2133600"/>
            <a:ext cx="34290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820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CDA02-0643-8ACF-7547-A471C4EE0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097C7-2B73-3A3A-7F85-2672DDB6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704CEF89-4EFA-A353-8274-62D993302E01}"/>
                  </a:ext>
                </a:extLst>
              </p:cNvPr>
              <p:cNvSpPr/>
              <p:nvPr/>
            </p:nvSpPr>
            <p:spPr>
              <a:xfrm>
                <a:off x="3484879" y="2590800"/>
                <a:ext cx="2133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704CEF89-4EFA-A353-8274-62D993302E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879" y="2590800"/>
                <a:ext cx="2133600" cy="6096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950081E-9BCC-C7EC-0B80-64B13A0F791B}"/>
                  </a:ext>
                </a:extLst>
              </p:cNvPr>
              <p:cNvSpPr/>
              <p:nvPr/>
            </p:nvSpPr>
            <p:spPr>
              <a:xfrm>
                <a:off x="3484879" y="4419600"/>
                <a:ext cx="2133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6950081E-9BCC-C7EC-0B80-64B13A0F79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879" y="4419600"/>
                <a:ext cx="2133600" cy="6096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323476F-7E0F-16DD-4597-8D3033D6DD0F}"/>
                  </a:ext>
                </a:extLst>
              </p:cNvPr>
              <p:cNvSpPr/>
              <p:nvPr/>
            </p:nvSpPr>
            <p:spPr>
              <a:xfrm>
                <a:off x="1606446" y="2644441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MST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323476F-7E0F-16DD-4597-8D3033D6DD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446" y="2644441"/>
                <a:ext cx="1828800" cy="533400"/>
              </a:xfrm>
              <a:prstGeom prst="roundRect">
                <a:avLst/>
              </a:prstGeom>
              <a:blipFill>
                <a:blip r:embed="rId4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F92F8389-AEE8-9C1F-E991-8F7C1993E908}"/>
                  </a:ext>
                </a:extLst>
              </p:cNvPr>
              <p:cNvSpPr/>
              <p:nvPr/>
            </p:nvSpPr>
            <p:spPr>
              <a:xfrm>
                <a:off x="1606446" y="4449762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MST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F92F8389-AEE8-9C1F-E991-8F7C1993E9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446" y="4449762"/>
                <a:ext cx="1828800" cy="5334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77DE1B-A12F-676E-71DF-6AB15FFD10A5}"/>
                  </a:ext>
                </a:extLst>
              </p:cNvPr>
              <p:cNvSpPr txBox="1"/>
              <p:nvPr/>
            </p:nvSpPr>
            <p:spPr>
              <a:xfrm>
                <a:off x="1271005" y="528935"/>
                <a:ext cx="65613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Weight of MST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400" dirty="0"/>
                  <a:t>) 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dirty="0"/>
                  <a:t>Weight of MST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w</a:t>
                </a:r>
                <a:r>
                  <a:rPr lang="en-US" sz="2400" dirty="0"/>
                  <a:t>(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2400" dirty="0" err="1">
                    <a:solidFill>
                      <a:srgbClr val="0070C0"/>
                    </a:solidFill>
                  </a:rPr>
                  <a:t>,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77DE1B-A12F-676E-71DF-6AB15FFD1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005" y="528935"/>
                <a:ext cx="6561348" cy="461665"/>
              </a:xfrm>
              <a:prstGeom prst="rect">
                <a:avLst/>
              </a:prstGeom>
              <a:blipFill>
                <a:blip r:embed="rId6"/>
                <a:stretch>
                  <a:fillRect l="-1351"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Up Arrow 9">
            <a:extLst>
              <a:ext uri="{FF2B5EF4-FFF2-40B4-BE49-F238E27FC236}">
                <a16:creationId xmlns:a16="http://schemas.microsoft.com/office/drawing/2014/main" id="{120485F5-3E0C-2DE2-F583-CDF20E37B465}"/>
              </a:ext>
            </a:extLst>
          </p:cNvPr>
          <p:cNvSpPr/>
          <p:nvPr/>
        </p:nvSpPr>
        <p:spPr>
          <a:xfrm>
            <a:off x="2209800" y="3336684"/>
            <a:ext cx="484632" cy="978408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21E2DA-047A-6F60-2ABE-6D0A2A791722}"/>
              </a:ext>
            </a:extLst>
          </p:cNvPr>
          <p:cNvSpPr txBox="1"/>
          <p:nvPr/>
        </p:nvSpPr>
        <p:spPr>
          <a:xfrm>
            <a:off x="3407764" y="5715"/>
            <a:ext cx="1832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6C31"/>
                </a:solidFill>
              </a:rPr>
              <a:t>Homework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D820A477-EB55-AA0A-F638-EBA8166D938C}"/>
              </a:ext>
            </a:extLst>
          </p:cNvPr>
          <p:cNvSpPr/>
          <p:nvPr/>
        </p:nvSpPr>
        <p:spPr>
          <a:xfrm>
            <a:off x="3657600" y="3336684"/>
            <a:ext cx="1828800" cy="914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Greedy</a:t>
            </a:r>
          </a:p>
          <a:p>
            <a:pPr algn="ctr"/>
            <a:r>
              <a:rPr lang="en-US" dirty="0"/>
              <a:t>step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05F6E3-F6ED-5529-9A01-85A4A623D70B}"/>
              </a:ext>
            </a:extLst>
          </p:cNvPr>
          <p:cNvSpPr txBox="1"/>
          <p:nvPr/>
        </p:nvSpPr>
        <p:spPr>
          <a:xfrm>
            <a:off x="5372725" y="3680757"/>
            <a:ext cx="398464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Using  </a:t>
            </a:r>
            <a:r>
              <a:rPr lang="en-US" b="1" dirty="0">
                <a:solidFill>
                  <a:srgbClr val="C00000"/>
                </a:solidFill>
              </a:rPr>
              <a:t>Theorem </a:t>
            </a:r>
            <a:r>
              <a:rPr lang="en-US" b="1" dirty="0">
                <a:solidFill>
                  <a:srgbClr val="0070C0"/>
                </a:solidFill>
              </a:rPr>
              <a:t>1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677F75-A49C-FAE7-63A7-6ECA48E97AD6}"/>
              </a:ext>
            </a:extLst>
          </p:cNvPr>
          <p:cNvSpPr txBox="1"/>
          <p:nvPr/>
        </p:nvSpPr>
        <p:spPr>
          <a:xfrm flipH="1">
            <a:off x="1730956" y="3709292"/>
            <a:ext cx="712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How ?</a:t>
            </a:r>
            <a:endParaRPr lang="en-US" sz="5400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91F0C1-F504-0013-720B-AA61E0D82B3F}"/>
              </a:ext>
            </a:extLst>
          </p:cNvPr>
          <p:cNvSpPr txBox="1"/>
          <p:nvPr/>
        </p:nvSpPr>
        <p:spPr>
          <a:xfrm>
            <a:off x="3962401" y="1080594"/>
            <a:ext cx="5168456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In the rest of the lecture, we shall discuss a technique which wil</a:t>
            </a:r>
            <a:r>
              <a:rPr lang="en-US" dirty="0"/>
              <a:t>l also help you do this homework.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5683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2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0" grpId="0" animBg="1"/>
      <p:bldP spid="2" grpId="0"/>
      <p:bldP spid="11" grpId="0" animBg="1"/>
      <p:bldP spid="12" grpId="0" uiExpand="1" animBg="1"/>
      <p:bldP spid="13" grpId="0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/>
          <a:lstStyle/>
          <a:p>
            <a:pPr algn="ctr"/>
            <a:r>
              <a:rPr lang="en-US" sz="3200" dirty="0"/>
              <a:t>Finding the </a:t>
            </a:r>
            <a:r>
              <a:rPr lang="en-US" sz="3200" dirty="0">
                <a:solidFill>
                  <a:srgbClr val="7030A0"/>
                </a:solidFill>
              </a:rPr>
              <a:t>labeled binary tree </a:t>
            </a:r>
            <a:r>
              <a:rPr lang="en-US" sz="3200" dirty="0"/>
              <a:t>for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590800" y="2743200"/>
            <a:ext cx="3884205" cy="52322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2800" b="1" dirty="0"/>
              <a:t>the</a:t>
            </a:r>
            <a:r>
              <a:rPr lang="en-US" sz="2800" b="1" dirty="0">
                <a:solidFill>
                  <a:srgbClr val="0070C0"/>
                </a:solidFill>
              </a:rPr>
              <a:t> </a:t>
            </a:r>
            <a:r>
              <a:rPr lang="en-US" sz="2800" b="1" u="sng" dirty="0">
                <a:solidFill>
                  <a:srgbClr val="006C31"/>
                </a:solidFill>
              </a:rPr>
              <a:t>optimal</a:t>
            </a:r>
            <a:r>
              <a:rPr lang="en-US" sz="2800" b="1" dirty="0">
                <a:solidFill>
                  <a:srgbClr val="006C31"/>
                </a:solidFill>
              </a:rPr>
              <a:t> </a:t>
            </a:r>
            <a:r>
              <a:rPr lang="en-US" sz="2800" b="1" dirty="0"/>
              <a:t>prefix codes </a:t>
            </a:r>
          </a:p>
        </p:txBody>
      </p:sp>
    </p:spTree>
    <p:extLst>
      <p:ext uri="{BB962C8B-B14F-4D97-AF65-F5344CB8AC3E}">
        <p14:creationId xmlns:p14="http://schemas.microsoft.com/office/powerpoint/2010/main" val="362517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0070C0"/>
                </a:solidFill>
              </a:rPr>
              <a:t>binary tree </a:t>
            </a:r>
            <a:r>
              <a:rPr lang="en-US" sz="3200" b="1" dirty="0"/>
              <a:t>of the </a:t>
            </a:r>
            <a:r>
              <a:rPr lang="en-US" sz="3200" b="1" dirty="0">
                <a:solidFill>
                  <a:srgbClr val="7030A0"/>
                </a:solidFill>
              </a:rPr>
              <a:t>optimal</a:t>
            </a:r>
            <a:r>
              <a:rPr lang="en-US" sz="3200" b="1" dirty="0">
                <a:solidFill>
                  <a:srgbClr val="0070C0"/>
                </a:solidFill>
              </a:rPr>
              <a:t> prefix code</a:t>
            </a:r>
            <a:endParaRPr lang="en-US" sz="3200" dirty="0"/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591533" y="1519793"/>
            <a:ext cx="3201865" cy="1255435"/>
            <a:chOff x="2667733" y="2069068"/>
            <a:chExt cx="3201865" cy="1255435"/>
          </a:xfrm>
        </p:grpSpPr>
        <p:grpSp>
          <p:nvGrpSpPr>
            <p:cNvPr id="28" name="Group 27"/>
            <p:cNvGrpSpPr/>
            <p:nvPr/>
          </p:nvGrpSpPr>
          <p:grpSpPr>
            <a:xfrm>
              <a:off x="2737338" y="2069068"/>
              <a:ext cx="3132260" cy="1255435"/>
              <a:chOff x="2819400" y="1447800"/>
              <a:chExt cx="3429000" cy="1416237"/>
            </a:xfrm>
          </p:grpSpPr>
          <p:cxnSp>
            <p:nvCxnSpPr>
              <p:cNvPr id="5" name="Straight Arrow Connector 4"/>
              <p:cNvCxnSpPr>
                <a:endCxn id="10" idx="7"/>
              </p:cNvCxnSpPr>
              <p:nvPr/>
            </p:nvCxnSpPr>
            <p:spPr>
              <a:xfrm flipH="1">
                <a:off x="3429000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>
                <a:stCxn id="11" idx="3"/>
              </p:cNvCxnSpPr>
              <p:nvPr/>
            </p:nvCxnSpPr>
            <p:spPr>
              <a:xfrm flipH="1">
                <a:off x="5029200" y="2317563"/>
                <a:ext cx="4702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>
                <a:endCxn id="11" idx="1"/>
              </p:cNvCxnSpPr>
              <p:nvPr/>
            </p:nvCxnSpPr>
            <p:spPr>
              <a:xfrm>
                <a:off x="4616637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>
                <a:stCxn id="10" idx="3"/>
              </p:cNvCxnSpPr>
              <p:nvPr/>
            </p:nvCxnSpPr>
            <p:spPr>
              <a:xfrm flipH="1">
                <a:off x="2819400" y="2317563"/>
                <a:ext cx="3940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>
                <a:stCxn id="10" idx="5"/>
              </p:cNvCxnSpPr>
              <p:nvPr/>
            </p:nvCxnSpPr>
            <p:spPr>
              <a:xfrm>
                <a:off x="3429000" y="2317563"/>
                <a:ext cx="3178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3168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454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311837" y="1447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>
                <a:off x="5759637" y="2286000"/>
                <a:ext cx="488763" cy="578037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/>
            <p:cNvSpPr txBox="1"/>
            <p:nvPr/>
          </p:nvSpPr>
          <p:spPr>
            <a:xfrm>
              <a:off x="3572608" y="2136616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17976" y="2146959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667733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05846" y="2822441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91175" y="2754892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689145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90600" y="1654889"/>
            <a:ext cx="3033822" cy="2865624"/>
            <a:chOff x="1066800" y="2204164"/>
            <a:chExt cx="3033822" cy="2865624"/>
          </a:xfrm>
        </p:grpSpPr>
        <p:sp>
          <p:nvSpPr>
            <p:cNvPr id="17" name="TextBox 16"/>
            <p:cNvSpPr txBox="1"/>
            <p:nvPr/>
          </p:nvSpPr>
          <p:spPr>
            <a:xfrm rot="5400000">
              <a:off x="1029995" y="3683159"/>
              <a:ext cx="709361" cy="47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1066800" y="2204164"/>
              <a:ext cx="30338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066800" y="2744549"/>
              <a:ext cx="19897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1145704" y="5069788"/>
              <a:ext cx="33873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990600" y="5128793"/>
            <a:ext cx="7239000" cy="365996"/>
            <a:chOff x="1066800" y="5678068"/>
            <a:chExt cx="7239000" cy="365996"/>
          </a:xfrm>
        </p:grpSpPr>
        <p:cxnSp>
          <p:nvCxnSpPr>
            <p:cNvPr id="43" name="Straight Connector 42"/>
            <p:cNvCxnSpPr/>
            <p:nvPr/>
          </p:nvCxnSpPr>
          <p:spPr>
            <a:xfrm>
              <a:off x="1066800" y="5678068"/>
              <a:ext cx="7239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3848186" y="5716667"/>
              <a:ext cx="1324413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Deepest level</a:t>
              </a:r>
            </a:p>
          </p:txBody>
        </p:sp>
      </p:grpSp>
      <p:sp>
        <p:nvSpPr>
          <p:cNvPr id="19" name="Oval 18"/>
          <p:cNvSpPr/>
          <p:nvPr/>
        </p:nvSpPr>
        <p:spPr>
          <a:xfrm>
            <a:off x="6071821" y="4093845"/>
            <a:ext cx="1531327" cy="1697351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6071821" y="3264455"/>
            <a:ext cx="1327372" cy="2375773"/>
            <a:chOff x="6148021" y="3813730"/>
            <a:chExt cx="1327372" cy="2375773"/>
          </a:xfrm>
        </p:grpSpPr>
        <p:grpSp>
          <p:nvGrpSpPr>
            <p:cNvPr id="25" name="Group 24"/>
            <p:cNvGrpSpPr/>
            <p:nvPr/>
          </p:nvGrpSpPr>
          <p:grpSpPr>
            <a:xfrm>
              <a:off x="6148021" y="3813730"/>
              <a:ext cx="1327372" cy="2375773"/>
              <a:chOff x="6148021" y="3813730"/>
              <a:chExt cx="1327372" cy="2375773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6774473" y="4838541"/>
                <a:ext cx="278423" cy="270193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Arrow Connector 14"/>
              <p:cNvCxnSpPr>
                <a:stCxn id="14" idx="3"/>
              </p:cNvCxnSpPr>
              <p:nvPr/>
            </p:nvCxnSpPr>
            <p:spPr>
              <a:xfrm flipH="1">
                <a:off x="6635262" y="5069165"/>
                <a:ext cx="179986" cy="44485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>
                <a:off x="6524882" y="4461232"/>
                <a:ext cx="290366" cy="41687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Oval 25"/>
              <p:cNvSpPr/>
              <p:nvPr/>
            </p:nvSpPr>
            <p:spPr>
              <a:xfrm>
                <a:off x="6356838" y="4230608"/>
                <a:ext cx="278423" cy="270193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>
                <a:off x="6148021" y="3813730"/>
                <a:ext cx="290366" cy="416878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1" name="Group 50"/>
              <p:cNvGrpSpPr/>
              <p:nvPr/>
            </p:nvGrpSpPr>
            <p:grpSpPr>
              <a:xfrm>
                <a:off x="6333959" y="5514022"/>
                <a:ext cx="448304" cy="675481"/>
                <a:chOff x="6528153" y="5334000"/>
                <a:chExt cx="490775" cy="762000"/>
              </a:xfrm>
            </p:grpSpPr>
            <p:sp>
              <p:nvSpPr>
                <p:cNvPr id="18" name="Rectangle 17"/>
                <p:cNvSpPr/>
                <p:nvPr/>
              </p:nvSpPr>
              <p:spPr>
                <a:xfrm>
                  <a:off x="6553200" y="5334000"/>
                  <a:ext cx="457200" cy="369332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Rectangle 49"/>
                    <p:cNvSpPr/>
                    <p:nvPr/>
                  </p:nvSpPr>
                  <p:spPr>
                    <a:xfrm>
                      <a:off x="6528153" y="5726668"/>
                      <a:ext cx="490775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rgbClr val="006C3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0" name="Rectangle 4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8153" y="5726668"/>
                      <a:ext cx="490775" cy="369332"/>
                    </a:xfrm>
                    <a:prstGeom prst="rect">
                      <a:avLst/>
                    </a:prstGeom>
                    <a:blipFill rotWithShape="1">
                      <a:blip r:embed="rId3"/>
                      <a:stretch>
                        <a:fillRect t="-8197" r="-16250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Rectangle 39"/>
                  <p:cNvSpPr/>
                  <p:nvPr/>
                </p:nvSpPr>
                <p:spPr>
                  <a:xfrm>
                    <a:off x="7030017" y="5862106"/>
                    <a:ext cx="445376" cy="3273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Rectangle 3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0017" y="5862106"/>
                    <a:ext cx="445376" cy="327397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9434" r="-21918" b="-433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6" name="Group 15"/>
              <p:cNvGrpSpPr/>
              <p:nvPr/>
            </p:nvGrpSpPr>
            <p:grpSpPr>
              <a:xfrm>
                <a:off x="6983290" y="5097144"/>
                <a:ext cx="464361" cy="744276"/>
                <a:chOff x="7239000" y="4863726"/>
                <a:chExt cx="508353" cy="839606"/>
              </a:xfrm>
            </p:grpSpPr>
            <p:sp>
              <p:nvSpPr>
                <p:cNvPr id="39" name="Rectangle 38"/>
                <p:cNvSpPr/>
                <p:nvPr/>
              </p:nvSpPr>
              <p:spPr>
                <a:xfrm>
                  <a:off x="7290153" y="5334000"/>
                  <a:ext cx="457200" cy="369332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1" name="Straight Arrow Connector 40"/>
                <p:cNvCxnSpPr/>
                <p:nvPr/>
              </p:nvCxnSpPr>
              <p:spPr>
                <a:xfrm>
                  <a:off x="7239000" y="4863726"/>
                  <a:ext cx="317874" cy="4702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TextBox 44"/>
              <p:cNvSpPr txBox="1"/>
              <p:nvPr/>
            </p:nvSpPr>
            <p:spPr>
              <a:xfrm>
                <a:off x="6638106" y="4443596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7055741" y="5051529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6498895" y="5051529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914D2BCC-6293-6EE2-17EF-FC17CDD5927B}"/>
              </a:ext>
            </a:extLst>
          </p:cNvPr>
          <p:cNvSpPr txBox="1"/>
          <p:nvPr/>
        </p:nvSpPr>
        <p:spPr>
          <a:xfrm>
            <a:off x="174885" y="5683441"/>
            <a:ext cx="481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1800" b="1" dirty="0">
                <a:solidFill>
                  <a:srgbClr val="C00000"/>
                </a:solidFill>
              </a:rPr>
              <a:t>Theorem </a:t>
            </a:r>
            <a:r>
              <a:rPr lang="en-US" sz="1800" b="1" dirty="0">
                <a:solidFill>
                  <a:srgbClr val="0070C0"/>
                </a:solidFill>
              </a:rPr>
              <a:t>2</a:t>
            </a:r>
            <a:r>
              <a:rPr lang="en-US" sz="1800" dirty="0">
                <a:solidFill>
                  <a:srgbClr val="C00000"/>
                </a:solidFill>
              </a:rPr>
              <a:t>:</a:t>
            </a:r>
            <a:r>
              <a:rPr lang="en-US" sz="1800" dirty="0"/>
              <a:t> There exists </a:t>
            </a:r>
            <a:r>
              <a:rPr lang="en-US" sz="1800" u="sng" dirty="0"/>
              <a:t>an</a:t>
            </a:r>
            <a:r>
              <a:rPr lang="en-US" sz="1800" dirty="0"/>
              <a:t> optimal prefix coding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B7DFFEC-43E6-D242-0735-2A292C4645C6}"/>
                  </a:ext>
                </a:extLst>
              </p:cNvPr>
              <p:cNvSpPr txBox="1"/>
              <p:nvPr/>
            </p:nvSpPr>
            <p:spPr>
              <a:xfrm>
                <a:off x="4909074" y="5680134"/>
                <a:ext cx="37015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in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800" dirty="0"/>
                  <a:t> appear as siblings</a:t>
                </a:r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B7DFFEC-43E6-D242-0735-2A292C46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074" y="5680134"/>
                <a:ext cx="3701526" cy="369332"/>
              </a:xfrm>
              <a:prstGeom prst="rect">
                <a:avLst/>
              </a:prstGeom>
              <a:blipFill>
                <a:blip r:embed="rId5"/>
                <a:stretch>
                  <a:fillRect l="-136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loud Callout 51">
            <a:extLst>
              <a:ext uri="{FF2B5EF4-FFF2-40B4-BE49-F238E27FC236}">
                <a16:creationId xmlns:a16="http://schemas.microsoft.com/office/drawing/2014/main" id="{D0789B27-9B5D-9F2A-371C-2D6CE5D35526}"/>
              </a:ext>
            </a:extLst>
          </p:cNvPr>
          <p:cNvSpPr/>
          <p:nvPr/>
        </p:nvSpPr>
        <p:spPr>
          <a:xfrm>
            <a:off x="4970308" y="937465"/>
            <a:ext cx="4099324" cy="1339741"/>
          </a:xfrm>
          <a:prstGeom prst="cloudCallout">
            <a:avLst>
              <a:gd name="adj1" fmla="val -21918"/>
              <a:gd name="adj2" fmla="val 83379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From this picture, can you design the greedy step that you will perform to compute the smaller instance ?</a:t>
            </a:r>
          </a:p>
        </p:txBody>
      </p:sp>
    </p:spTree>
    <p:extLst>
      <p:ext uri="{BB962C8B-B14F-4D97-AF65-F5344CB8AC3E}">
        <p14:creationId xmlns:p14="http://schemas.microsoft.com/office/powerpoint/2010/main" val="4271615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 animBg="1"/>
      <p:bldP spid="44" grpId="0"/>
      <p:bldP spid="52" grpId="0"/>
      <p:bldP spid="3" grpId="0" animBg="1"/>
      <p:bldP spid="3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0070C0"/>
                </a:solidFill>
              </a:rPr>
              <a:t>binary tree </a:t>
            </a:r>
            <a:r>
              <a:rPr lang="en-US" sz="3200" b="1" dirty="0"/>
              <a:t>of the </a:t>
            </a:r>
            <a:r>
              <a:rPr lang="en-US" sz="3200" b="1" dirty="0">
                <a:solidFill>
                  <a:srgbClr val="7030A0"/>
                </a:solidFill>
              </a:rPr>
              <a:t>optimal</a:t>
            </a:r>
            <a:r>
              <a:rPr lang="en-US" sz="3200" b="1" dirty="0">
                <a:solidFill>
                  <a:srgbClr val="0070C0"/>
                </a:solidFill>
              </a:rPr>
              <a:t> prefix code</a:t>
            </a:r>
            <a:endParaRPr lang="en-US" sz="3200" dirty="0"/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591533" y="1519793"/>
            <a:ext cx="3201865" cy="1255435"/>
            <a:chOff x="2667733" y="2069068"/>
            <a:chExt cx="3201865" cy="1255435"/>
          </a:xfrm>
        </p:grpSpPr>
        <p:grpSp>
          <p:nvGrpSpPr>
            <p:cNvPr id="28" name="Group 27"/>
            <p:cNvGrpSpPr/>
            <p:nvPr/>
          </p:nvGrpSpPr>
          <p:grpSpPr>
            <a:xfrm>
              <a:off x="2737338" y="2069068"/>
              <a:ext cx="3132260" cy="1255435"/>
              <a:chOff x="2819400" y="1447800"/>
              <a:chExt cx="3429000" cy="1416237"/>
            </a:xfrm>
          </p:grpSpPr>
          <p:cxnSp>
            <p:nvCxnSpPr>
              <p:cNvPr id="5" name="Straight Arrow Connector 4"/>
              <p:cNvCxnSpPr>
                <a:endCxn id="10" idx="7"/>
              </p:cNvCxnSpPr>
              <p:nvPr/>
            </p:nvCxnSpPr>
            <p:spPr>
              <a:xfrm flipH="1">
                <a:off x="3429000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>
                <a:stCxn id="11" idx="3"/>
              </p:cNvCxnSpPr>
              <p:nvPr/>
            </p:nvCxnSpPr>
            <p:spPr>
              <a:xfrm flipH="1">
                <a:off x="5029200" y="2317563"/>
                <a:ext cx="4702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>
                <a:endCxn id="11" idx="1"/>
              </p:cNvCxnSpPr>
              <p:nvPr/>
            </p:nvCxnSpPr>
            <p:spPr>
              <a:xfrm>
                <a:off x="4616637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>
                <a:stCxn id="10" idx="3"/>
              </p:cNvCxnSpPr>
              <p:nvPr/>
            </p:nvCxnSpPr>
            <p:spPr>
              <a:xfrm flipH="1">
                <a:off x="2819400" y="2317563"/>
                <a:ext cx="3940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>
                <a:stCxn id="10" idx="5"/>
              </p:cNvCxnSpPr>
              <p:nvPr/>
            </p:nvCxnSpPr>
            <p:spPr>
              <a:xfrm>
                <a:off x="3429000" y="2317563"/>
                <a:ext cx="3178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3168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454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311837" y="1447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>
                <a:off x="5759637" y="2286000"/>
                <a:ext cx="488763" cy="578037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/>
            <p:cNvSpPr txBox="1"/>
            <p:nvPr/>
          </p:nvSpPr>
          <p:spPr>
            <a:xfrm>
              <a:off x="3572608" y="2136616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17976" y="2146959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667733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05846" y="2822441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91175" y="2754892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689145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90600" y="1654889"/>
            <a:ext cx="3033822" cy="2865624"/>
            <a:chOff x="1066800" y="2204164"/>
            <a:chExt cx="3033822" cy="2865624"/>
          </a:xfrm>
        </p:grpSpPr>
        <p:sp>
          <p:nvSpPr>
            <p:cNvPr id="17" name="TextBox 16"/>
            <p:cNvSpPr txBox="1"/>
            <p:nvPr/>
          </p:nvSpPr>
          <p:spPr>
            <a:xfrm rot="5400000">
              <a:off x="1029995" y="3683159"/>
              <a:ext cx="709361" cy="47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1066800" y="2204164"/>
              <a:ext cx="30338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066800" y="2744549"/>
              <a:ext cx="19897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1145704" y="5069788"/>
              <a:ext cx="33873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990600" y="5128793"/>
            <a:ext cx="7239000" cy="365996"/>
            <a:chOff x="1066800" y="5678068"/>
            <a:chExt cx="7239000" cy="365996"/>
          </a:xfrm>
        </p:grpSpPr>
        <p:cxnSp>
          <p:nvCxnSpPr>
            <p:cNvPr id="43" name="Straight Connector 42"/>
            <p:cNvCxnSpPr/>
            <p:nvPr/>
          </p:nvCxnSpPr>
          <p:spPr>
            <a:xfrm>
              <a:off x="1066800" y="5678068"/>
              <a:ext cx="7239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3848186" y="5716667"/>
              <a:ext cx="1324413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Deepest level</a:t>
              </a:r>
            </a:p>
          </p:txBody>
        </p:sp>
      </p:grpSp>
      <p:cxnSp>
        <p:nvCxnSpPr>
          <p:cNvPr id="20" name="Straight Arrow Connector 19"/>
          <p:cNvCxnSpPr/>
          <p:nvPr/>
        </p:nvCxnSpPr>
        <p:spPr>
          <a:xfrm>
            <a:off x="6448682" y="3911957"/>
            <a:ext cx="290366" cy="41687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280638" y="3681333"/>
            <a:ext cx="278423" cy="270193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071821" y="3264455"/>
            <a:ext cx="290366" cy="416878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6629400" y="5105400"/>
                <a:ext cx="3850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dirty="0" smtClean="0">
                        <a:solidFill>
                          <a:srgbClr val="7030A0"/>
                        </a:solidFill>
                        <a:latin typeface="Cambria Math"/>
                      </a:rPr>
                      <m:t>𝒂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’</a:t>
                </a:r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5105400"/>
                <a:ext cx="385041" cy="369332"/>
              </a:xfrm>
              <a:prstGeom prst="rect">
                <a:avLst/>
              </a:prstGeom>
              <a:blipFill>
                <a:blip r:embed="rId2"/>
                <a:stretch>
                  <a:fillRect t="-10000" r="-1111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/>
          <p:cNvSpPr txBox="1"/>
          <p:nvPr/>
        </p:nvSpPr>
        <p:spPr>
          <a:xfrm>
            <a:off x="6561906" y="3894321"/>
            <a:ext cx="275579" cy="327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48400" y="4343400"/>
            <a:ext cx="1159120" cy="79383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7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AEF54-62C6-4213-C8C0-9AD074295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7ED90-4BB5-F70A-C1D6-A39AA4569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0070C0"/>
                </a:solidFill>
              </a:rPr>
              <a:t>binary tree </a:t>
            </a:r>
            <a:r>
              <a:rPr lang="en-US" sz="3200" b="1" dirty="0"/>
              <a:t>of the </a:t>
            </a:r>
            <a:r>
              <a:rPr lang="en-US" sz="3200" b="1" dirty="0">
                <a:solidFill>
                  <a:srgbClr val="7030A0"/>
                </a:solidFill>
              </a:rPr>
              <a:t>optimal</a:t>
            </a:r>
            <a:r>
              <a:rPr lang="en-US" sz="3200" b="1" dirty="0">
                <a:solidFill>
                  <a:srgbClr val="0070C0"/>
                </a:solidFill>
              </a:rPr>
              <a:t> prefix code</a:t>
            </a:r>
            <a:endParaRPr lang="en-US" sz="3200" dirty="0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0E4F8586-CFE3-FE66-D6E4-0BB094D68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7B8C9-3255-E980-6130-8DD14C4E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FCED86E-958D-21AC-02F8-526C83EEA04A}"/>
              </a:ext>
            </a:extLst>
          </p:cNvPr>
          <p:cNvGrpSpPr/>
          <p:nvPr/>
        </p:nvGrpSpPr>
        <p:grpSpPr>
          <a:xfrm>
            <a:off x="2591533" y="1519793"/>
            <a:ext cx="3201865" cy="1255435"/>
            <a:chOff x="2667733" y="2069068"/>
            <a:chExt cx="3201865" cy="125543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9CAEAFB-807B-7FC1-5ECF-2A5B1B422465}"/>
                </a:ext>
              </a:extLst>
            </p:cNvPr>
            <p:cNvGrpSpPr/>
            <p:nvPr/>
          </p:nvGrpSpPr>
          <p:grpSpPr>
            <a:xfrm>
              <a:off x="2737338" y="2069068"/>
              <a:ext cx="3132260" cy="1255435"/>
              <a:chOff x="2819400" y="1447800"/>
              <a:chExt cx="3429000" cy="1416237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93FAEAB6-6488-69E4-0C83-BE220CCF139D}"/>
                  </a:ext>
                </a:extLst>
              </p:cNvPr>
              <p:cNvCxnSpPr>
                <a:endCxn id="10" idx="7"/>
              </p:cNvCxnSpPr>
              <p:nvPr/>
            </p:nvCxnSpPr>
            <p:spPr>
              <a:xfrm flipH="1">
                <a:off x="3429000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50423A45-E21A-6B82-10DC-DEE74DE6E1DE}"/>
                  </a:ext>
                </a:extLst>
              </p:cNvPr>
              <p:cNvCxnSpPr>
                <a:stCxn id="11" idx="3"/>
              </p:cNvCxnSpPr>
              <p:nvPr/>
            </p:nvCxnSpPr>
            <p:spPr>
              <a:xfrm flipH="1">
                <a:off x="5029200" y="2317563"/>
                <a:ext cx="4702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9746404D-482D-404F-5E68-C662E5B4FB84}"/>
                  </a:ext>
                </a:extLst>
              </p:cNvPr>
              <p:cNvCxnSpPr>
                <a:endCxn id="11" idx="1"/>
              </p:cNvCxnSpPr>
              <p:nvPr/>
            </p:nvCxnSpPr>
            <p:spPr>
              <a:xfrm>
                <a:off x="4616637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E3D68A9C-516C-4243-0402-A99595EB82F7}"/>
                  </a:ext>
                </a:extLst>
              </p:cNvPr>
              <p:cNvCxnSpPr>
                <a:stCxn id="10" idx="3"/>
              </p:cNvCxnSpPr>
              <p:nvPr/>
            </p:nvCxnSpPr>
            <p:spPr>
              <a:xfrm flipH="1">
                <a:off x="2819400" y="2317563"/>
                <a:ext cx="3940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5D8898FB-95C5-BC3A-A0D0-71E1507302FA}"/>
                  </a:ext>
                </a:extLst>
              </p:cNvPr>
              <p:cNvCxnSpPr>
                <a:stCxn id="10" idx="5"/>
              </p:cNvCxnSpPr>
              <p:nvPr/>
            </p:nvCxnSpPr>
            <p:spPr>
              <a:xfrm>
                <a:off x="3429000" y="2317563"/>
                <a:ext cx="3178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916C1E7-173E-8F2D-A66B-C1A405A04BEE}"/>
                  </a:ext>
                </a:extLst>
              </p:cNvPr>
              <p:cNvSpPr/>
              <p:nvPr/>
            </p:nvSpPr>
            <p:spPr>
              <a:xfrm>
                <a:off x="3168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7D74C81-C31D-7F33-258D-653F742B0BAA}"/>
                  </a:ext>
                </a:extLst>
              </p:cNvPr>
              <p:cNvSpPr/>
              <p:nvPr/>
            </p:nvSpPr>
            <p:spPr>
              <a:xfrm>
                <a:off x="5454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A691727-9D98-7522-232D-47273C2A56F0}"/>
                  </a:ext>
                </a:extLst>
              </p:cNvPr>
              <p:cNvSpPr/>
              <p:nvPr/>
            </p:nvSpPr>
            <p:spPr>
              <a:xfrm>
                <a:off x="4311837" y="1447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69BD7DAA-108E-34AA-F04E-27485A9E50CA}"/>
                  </a:ext>
                </a:extLst>
              </p:cNvPr>
              <p:cNvCxnSpPr/>
              <p:nvPr/>
            </p:nvCxnSpPr>
            <p:spPr>
              <a:xfrm>
                <a:off x="5759637" y="2286000"/>
                <a:ext cx="488763" cy="578037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DF27ED6-1118-04C6-5BD7-0F103693D569}"/>
                </a:ext>
              </a:extLst>
            </p:cNvPr>
            <p:cNvSpPr txBox="1"/>
            <p:nvPr/>
          </p:nvSpPr>
          <p:spPr>
            <a:xfrm>
              <a:off x="3572608" y="2136616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BC84251-81E7-6154-221E-FCF1F542E1C3}"/>
                </a:ext>
              </a:extLst>
            </p:cNvPr>
            <p:cNvSpPr txBox="1"/>
            <p:nvPr/>
          </p:nvSpPr>
          <p:spPr>
            <a:xfrm>
              <a:off x="4717976" y="2146959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1BF04EE-D717-AA1B-9A3C-0C8662F594AB}"/>
                </a:ext>
              </a:extLst>
            </p:cNvPr>
            <p:cNvSpPr txBox="1"/>
            <p:nvPr/>
          </p:nvSpPr>
          <p:spPr>
            <a:xfrm>
              <a:off x="2667733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BA61D50-FD58-239E-94C4-DFEDF047FD07}"/>
                </a:ext>
              </a:extLst>
            </p:cNvPr>
            <p:cNvSpPr txBox="1"/>
            <p:nvPr/>
          </p:nvSpPr>
          <p:spPr>
            <a:xfrm>
              <a:off x="3505846" y="2822441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55162FA-CEDB-BB79-9734-625CC550CA24}"/>
                </a:ext>
              </a:extLst>
            </p:cNvPr>
            <p:cNvSpPr txBox="1"/>
            <p:nvPr/>
          </p:nvSpPr>
          <p:spPr>
            <a:xfrm>
              <a:off x="5591175" y="2754892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F0F739D-26C1-5C18-ADFD-D190F90A4F0D}"/>
                </a:ext>
              </a:extLst>
            </p:cNvPr>
            <p:cNvSpPr txBox="1"/>
            <p:nvPr/>
          </p:nvSpPr>
          <p:spPr>
            <a:xfrm>
              <a:off x="4689145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F3749CB-E773-7F4B-5D92-DA756D5AF425}"/>
              </a:ext>
            </a:extLst>
          </p:cNvPr>
          <p:cNvGrpSpPr/>
          <p:nvPr/>
        </p:nvGrpSpPr>
        <p:grpSpPr>
          <a:xfrm>
            <a:off x="990600" y="1654889"/>
            <a:ext cx="3033822" cy="2865624"/>
            <a:chOff x="1066800" y="2204164"/>
            <a:chExt cx="3033822" cy="286562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82DCE0-F227-C54B-A018-5B988E549E96}"/>
                </a:ext>
              </a:extLst>
            </p:cNvPr>
            <p:cNvSpPr txBox="1"/>
            <p:nvPr/>
          </p:nvSpPr>
          <p:spPr>
            <a:xfrm rot="5400000">
              <a:off x="1029995" y="3683159"/>
              <a:ext cx="709361" cy="47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DEA484D-CC38-8796-86A2-FCDC7FCE918D}"/>
                </a:ext>
              </a:extLst>
            </p:cNvPr>
            <p:cNvCxnSpPr/>
            <p:nvPr/>
          </p:nvCxnSpPr>
          <p:spPr>
            <a:xfrm>
              <a:off x="1066800" y="2204164"/>
              <a:ext cx="30338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C205D23-3969-49B1-17A1-59ABA94FC540}"/>
                </a:ext>
              </a:extLst>
            </p:cNvPr>
            <p:cNvCxnSpPr/>
            <p:nvPr/>
          </p:nvCxnSpPr>
          <p:spPr>
            <a:xfrm>
              <a:off x="1066800" y="2744549"/>
              <a:ext cx="19897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C13B7FD-CACC-5F7F-9961-905F34503466}"/>
                </a:ext>
              </a:extLst>
            </p:cNvPr>
            <p:cNvCxnSpPr/>
            <p:nvPr/>
          </p:nvCxnSpPr>
          <p:spPr>
            <a:xfrm>
              <a:off x="1145704" y="5069788"/>
              <a:ext cx="33873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D86040F-0319-76FB-E5A1-4BB17C9DF14F}"/>
              </a:ext>
            </a:extLst>
          </p:cNvPr>
          <p:cNvGrpSpPr/>
          <p:nvPr/>
        </p:nvGrpSpPr>
        <p:grpSpPr>
          <a:xfrm>
            <a:off x="990600" y="5128793"/>
            <a:ext cx="7239000" cy="365996"/>
            <a:chOff x="1066800" y="5678068"/>
            <a:chExt cx="7239000" cy="365996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C1C523A-196C-86DB-D7A0-C9A5A2D3A954}"/>
                </a:ext>
              </a:extLst>
            </p:cNvPr>
            <p:cNvCxnSpPr/>
            <p:nvPr/>
          </p:nvCxnSpPr>
          <p:spPr>
            <a:xfrm>
              <a:off x="1066800" y="5678068"/>
              <a:ext cx="7239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3BEE6E6-5862-EF02-2168-E7AFBE88BB0F}"/>
                </a:ext>
              </a:extLst>
            </p:cNvPr>
            <p:cNvSpPr txBox="1"/>
            <p:nvPr/>
          </p:nvSpPr>
          <p:spPr>
            <a:xfrm>
              <a:off x="3848186" y="5716667"/>
              <a:ext cx="1324413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Deepest level</a:t>
              </a: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FA7E12-3334-52F4-D3E3-E7A264AE8273}"/>
              </a:ext>
            </a:extLst>
          </p:cNvPr>
          <p:cNvCxnSpPr/>
          <p:nvPr/>
        </p:nvCxnSpPr>
        <p:spPr>
          <a:xfrm>
            <a:off x="6448682" y="3911957"/>
            <a:ext cx="290366" cy="41687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7C8C0AE5-9DD8-805C-CACA-9304EC87D3C3}"/>
              </a:ext>
            </a:extLst>
          </p:cNvPr>
          <p:cNvSpPr/>
          <p:nvPr/>
        </p:nvSpPr>
        <p:spPr>
          <a:xfrm>
            <a:off x="6280638" y="3681333"/>
            <a:ext cx="278423" cy="270193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DEB37B2-5298-98E0-AEF1-2F1BA0B72FC9}"/>
              </a:ext>
            </a:extLst>
          </p:cNvPr>
          <p:cNvCxnSpPr/>
          <p:nvPr/>
        </p:nvCxnSpPr>
        <p:spPr>
          <a:xfrm>
            <a:off x="6071821" y="3264455"/>
            <a:ext cx="290366" cy="416878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A80BC29-1863-FF5A-E37C-55F087BE84A7}"/>
                  </a:ext>
                </a:extLst>
              </p:cNvPr>
              <p:cNvSpPr/>
              <p:nvPr/>
            </p:nvSpPr>
            <p:spPr>
              <a:xfrm>
                <a:off x="6546526" y="4710964"/>
                <a:ext cx="3850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dirty="0" smtClean="0">
                        <a:solidFill>
                          <a:srgbClr val="7030A0"/>
                        </a:solidFill>
                        <a:latin typeface="Cambria Math"/>
                      </a:rPr>
                      <m:t>𝒂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’</a:t>
                </a: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A80BC29-1863-FF5A-E37C-55F087BE84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526" y="4710964"/>
                <a:ext cx="385041" cy="369332"/>
              </a:xfrm>
              <a:prstGeom prst="rect">
                <a:avLst/>
              </a:prstGeom>
              <a:blipFill>
                <a:blip r:embed="rId2"/>
                <a:stretch>
                  <a:fillRect t="-10000" r="-11111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FFEB996D-3C0D-5FDE-09B5-9D9A06BD8BC7}"/>
              </a:ext>
            </a:extLst>
          </p:cNvPr>
          <p:cNvSpPr txBox="1"/>
          <p:nvPr/>
        </p:nvSpPr>
        <p:spPr>
          <a:xfrm>
            <a:off x="6561906" y="3894321"/>
            <a:ext cx="275579" cy="327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08F3B31-907B-BD0C-BF1C-960C0FC0FF79}"/>
              </a:ext>
            </a:extLst>
          </p:cNvPr>
          <p:cNvSpPr/>
          <p:nvPr/>
        </p:nvSpPr>
        <p:spPr>
          <a:xfrm>
            <a:off x="6400800" y="4343400"/>
            <a:ext cx="589085" cy="41606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5E7F07-E6BF-865F-4BAE-10DA9C9DA121}"/>
                  </a:ext>
                </a:extLst>
              </p:cNvPr>
              <p:cNvSpPr txBox="1"/>
              <p:nvPr/>
            </p:nvSpPr>
            <p:spPr>
              <a:xfrm>
                <a:off x="5528235" y="5843484"/>
                <a:ext cx="2421625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𝒂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7030A0"/>
                            </a:solidFill>
                          </a:rPr>
                          <m:t>’</m:t>
                        </m:r>
                      </m:e>
                    </m:d>
                    <m:r>
                      <a:rPr lang="en-US" b="1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/>
                      </a:rPr>
                      <m:t>+</m:t>
                    </m:r>
                    <m:r>
                      <a:rPr lang="en-US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272C6F-D9F2-B616-A9D4-6811C3D4A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235" y="5843484"/>
                <a:ext cx="2421625" cy="369332"/>
              </a:xfrm>
              <a:prstGeom prst="rect">
                <a:avLst/>
              </a:prstGeom>
              <a:blipFill>
                <a:blip r:embed="rId3"/>
                <a:stretch>
                  <a:fillRect l="-518" b="-129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4666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2400" b="1" i="0" dirty="0" smtClean="0">
                        <a:latin typeface="Cambria Math"/>
                      </a:rPr>
                      <m:t> </m:t>
                    </m:r>
                    <m:r>
                      <a:rPr lang="en-US" sz="2400" b="1" dirty="0">
                        <a:latin typeface="Cambria Math"/>
                      </a:rPr>
                      <m:t>=</m:t>
                    </m:r>
                    <m:r>
                      <a:rPr lang="en-US" sz="2400" b="1" i="0" dirty="0" smtClean="0">
                        <a:latin typeface="Cambria Math"/>
                      </a:rPr>
                      <m:t> 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 +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1800" i="1" dirty="0">
                        <a:latin typeface="Cambria Math"/>
                      </a:rPr>
                      <m:t>+</m:t>
                    </m:r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  <a:sym typeface="Wingdings" pitchFamily="2" charset="2"/>
                  </a:rPr>
                  <a:t>Note</a:t>
                </a:r>
                <a:r>
                  <a:rPr lang="en-US" sz="2000" b="1" dirty="0">
                    <a:sym typeface="Wingdings" pitchFamily="2" charset="2"/>
                  </a:rPr>
                  <a:t>:  </a:t>
                </a:r>
                <a:r>
                  <a:rPr lang="en-US" sz="2000" dirty="0">
                    <a:sym typeface="Wingdings" pitchFamily="2" charset="2"/>
                  </a:rPr>
                  <a:t>Establishing this relation will lead to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an efficient algorithm to extract </a:t>
                </a:r>
                <a:r>
                  <a:rPr lang="en-US" sz="2000" b="1" dirty="0"/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) from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)</a:t>
                </a:r>
                <a:endParaRPr lang="en-IN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  <a:blipFill>
                <a:blip r:embed="rId2"/>
                <a:stretch>
                  <a:fillRect l="-741" b="-47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2667000" y="1828800"/>
                <a:ext cx="2514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1828800"/>
                <a:ext cx="2514600" cy="609600"/>
              </a:xfrm>
              <a:prstGeom prst="round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2819400" y="3657600"/>
                <a:ext cx="2133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657600"/>
                <a:ext cx="2133600" cy="609600"/>
              </a:xfrm>
              <a:prstGeom prst="round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57800" y="1981200"/>
                <a:ext cx="2648225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dirty="0"/>
                  <a:t> , …            …</a:t>
                </a:r>
                <a:r>
                  <a:rPr lang="en-US" dirty="0">
                    <a:solidFill>
                      <a:srgbClr val="006C3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1981200"/>
                <a:ext cx="2648225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6349" r="-2523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own Arrow 7"/>
          <p:cNvSpPr/>
          <p:nvPr/>
        </p:nvSpPr>
        <p:spPr>
          <a:xfrm>
            <a:off x="2971800" y="2590800"/>
            <a:ext cx="1828800" cy="914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Greedy</a:t>
            </a:r>
          </a:p>
          <a:p>
            <a:pPr algn="ctr"/>
            <a:r>
              <a:rPr lang="en-US" dirty="0"/>
              <a:t>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004210" y="3745468"/>
                <a:ext cx="1920590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dirty="0"/>
                  <a:t> , …            …</a:t>
                </a:r>
                <a:r>
                  <a:rPr lang="en-US" dirty="0">
                    <a:solidFill>
                      <a:srgbClr val="006C3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210" y="3745468"/>
                <a:ext cx="1920590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6349" r="-3785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831268" y="3777734"/>
                <a:ext cx="439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268" y="3777734"/>
                <a:ext cx="439543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1805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731775" y="4631174"/>
                <a:ext cx="2421625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𝒂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7030A0"/>
                            </a:solidFill>
                          </a:rPr>
                          <m:t>’</m:t>
                        </m:r>
                      </m:e>
                    </m:d>
                    <m:r>
                      <a:rPr lang="en-US" b="1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/>
                      </a:rPr>
                      <m:t>+</m:t>
                    </m:r>
                    <m:r>
                      <a:rPr lang="en-US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775" y="4631174"/>
                <a:ext cx="2421625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250" t="-6452" r="-3250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3800777" y="5481042"/>
            <a:ext cx="2438400" cy="60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929068" y="5605790"/>
            <a:ext cx="433132" cy="5232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?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20040" y="2118360"/>
            <a:ext cx="2133600" cy="170688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/>
              <p:cNvSpPr/>
              <p:nvPr/>
            </p:nvSpPr>
            <p:spPr>
              <a:xfrm>
                <a:off x="457200" y="1905000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ounded 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05000"/>
                <a:ext cx="1828800" cy="533400"/>
              </a:xfrm>
              <a:prstGeom prst="round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/>
              <p:cNvSpPr/>
              <p:nvPr/>
            </p:nvSpPr>
            <p:spPr>
              <a:xfrm>
                <a:off x="533400" y="3657600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ounded 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657600"/>
                <a:ext cx="1828800" cy="533400"/>
              </a:xfrm>
              <a:prstGeom prst="round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524000" y="2895600"/>
            <a:ext cx="9273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Relation ?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4686F5-9B4B-A935-0C7C-F4562787E3B3}"/>
              </a:ext>
            </a:extLst>
          </p:cNvPr>
          <p:cNvSpPr/>
          <p:nvPr/>
        </p:nvSpPr>
        <p:spPr>
          <a:xfrm>
            <a:off x="1232170" y="6051550"/>
            <a:ext cx="3720830" cy="365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D35D3C-A395-67B0-32A5-F4A16C7D3647}"/>
              </a:ext>
            </a:extLst>
          </p:cNvPr>
          <p:cNvSpPr/>
          <p:nvPr/>
        </p:nvSpPr>
        <p:spPr>
          <a:xfrm>
            <a:off x="2819400" y="6410980"/>
            <a:ext cx="3720830" cy="5232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04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  <p:bldP spid="10" grpId="0" animBg="1"/>
      <p:bldP spid="11" grpId="0"/>
      <p:bldP spid="12" grpId="0" animBg="1"/>
      <p:bldP spid="13" grpId="0" animBg="1"/>
      <p:bldP spid="14" grpId="0" animBg="1"/>
      <p:bldP spid="14" grpId="1" animBg="1"/>
      <p:bldP spid="16" grpId="0" animBg="1"/>
      <p:bldP spid="17" grpId="0" animBg="1"/>
      <p:bldP spid="18" grpId="0"/>
      <p:bldP spid="9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FB9A3-0CA8-592B-412D-031E7FEF9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6D46FDB7-F003-7CBF-7BDD-BC59316768B8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r>
                  <a:rPr lang="en-US" sz="2800" b="1" dirty="0"/>
                  <a:t>Proof for</a:t>
                </a:r>
                <a:br>
                  <a:rPr lang="en-US" sz="2800" b="1" dirty="0"/>
                </a:br>
                <a:br>
                  <a:rPr lang="en-US" sz="2800" b="1" dirty="0"/>
                </a:br>
                <a14:m>
                  <m:oMath xmlns:m="http://schemas.openxmlformats.org/officeDocument/2006/math">
                    <m:r>
                      <a:rPr lang="en-US" sz="2800" b="1" dirty="0" smtClean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8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8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32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3200" b="1" i="1" dirty="0" smtClean="0">
                        <a:latin typeface="Cambria Math"/>
                      </a:rPr>
                      <m:t>=</m:t>
                    </m:r>
                    <m:r>
                      <a:rPr lang="en-US" sz="28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8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8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3200" b="1" dirty="0">
                        <a:latin typeface="Cambria Math"/>
                      </a:rPr>
                      <m:t>(</m:t>
                    </m:r>
                    <m:r>
                      <a:rPr lang="en-US" sz="3200" b="1" i="1" dirty="0">
                        <a:latin typeface="Cambria Math"/>
                      </a:rPr>
                      <m:t>𝑨</m:t>
                    </m:r>
                    <m:r>
                      <a:rPr lang="en-US" sz="32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 +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400" i="1" dirty="0">
                        <a:latin typeface="Cambria Math"/>
                      </a:rPr>
                      <m:t>+</m:t>
                    </m:r>
                    <m:r>
                      <a:rPr lang="en-US" sz="24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 rotWithShape="1">
                <a:blip r:embed="rId2"/>
                <a:stretch>
                  <a:fillRect t="-1240" b="-6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ubtitle 5">
            <a:extLst>
              <a:ext uri="{FF2B5EF4-FFF2-40B4-BE49-F238E27FC236}">
                <a16:creationId xmlns:a16="http://schemas.microsoft.com/office/drawing/2014/main" id="{12F4EC89-E3FA-D90B-DC7F-785832629E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006C31"/>
                </a:solidFill>
              </a:rPr>
              <a:t>Spend some time thinking about the proof  </a:t>
            </a:r>
          </a:p>
          <a:p>
            <a:r>
              <a:rPr lang="en-US" sz="2000" dirty="0">
                <a:solidFill>
                  <a:srgbClr val="006C31"/>
                </a:solidFill>
              </a:rPr>
              <a:t>before moving ahead.</a:t>
            </a:r>
          </a:p>
          <a:p>
            <a:r>
              <a:rPr lang="en-US" sz="2000" dirty="0">
                <a:solidFill>
                  <a:srgbClr val="006C31"/>
                </a:solidFill>
                <a:sym typeface="Wingdings" pitchFamily="2" charset="2"/>
              </a:rPr>
              <a:t></a:t>
            </a:r>
            <a:endParaRPr lang="en-US" sz="2000" dirty="0">
              <a:solidFill>
                <a:srgbClr val="006C3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1C84B-EC6E-71AF-4020-1C5265D3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15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C00000"/>
                    </a:solidFill>
                  </a:rPr>
                  <a:t>How to prove </a:t>
                </a:r>
                <a:br>
                  <a:rPr lang="en-US" sz="3200" b="1" dirty="0">
                    <a:solidFill>
                      <a:srgbClr val="C00000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8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8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32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3200" b="1" i="1" dirty="0">
                        <a:latin typeface="Cambria Math"/>
                      </a:rPr>
                      <m:t>=</m:t>
                    </m:r>
                    <m:r>
                      <a:rPr lang="en-US" sz="28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8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8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3200" b="1" dirty="0">
                        <a:latin typeface="Cambria Math"/>
                      </a:rPr>
                      <m:t>(</m:t>
                    </m:r>
                    <m:r>
                      <a:rPr lang="en-US" sz="3200" b="1" i="1" dirty="0">
                        <a:latin typeface="Cambria Math"/>
                      </a:rPr>
                      <m:t>𝑨</m:t>
                    </m:r>
                    <m:r>
                      <a:rPr lang="en-US" sz="32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 +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400" i="1" dirty="0">
                        <a:latin typeface="Cambria Math"/>
                      </a:rPr>
                      <m:t>+</m:t>
                    </m:r>
                    <m:r>
                      <a:rPr lang="en-US" sz="24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 </a:t>
                </a:r>
                <a:r>
                  <a:rPr lang="en-US" sz="2800" dirty="0">
                    <a:solidFill>
                      <a:srgbClr val="C0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2128" b="-10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Can we derive a </a:t>
                </a:r>
                <a:r>
                  <a:rPr lang="en-US" sz="2000" u="sng" dirty="0"/>
                  <a:t>prefix coding</a:t>
                </a:r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from 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r>
                      <a:rPr lang="en-US" sz="2000" b="1" i="0" dirty="0" smtClean="0">
                        <a:solidFill>
                          <a:srgbClr val="7030A0"/>
                        </a:solidFill>
                        <a:latin typeface="Cambria Math"/>
                      </a:rPr>
                      <m:t>𝐓</m:t>
                    </m:r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 smtClean="0">
                        <a:latin typeface="Cambria Math"/>
                      </a:rPr>
                      <m:t>′)</m:t>
                    </m:r>
                  </m:oMath>
                </a14:m>
                <a:r>
                  <a:rPr lang="en-US" sz="2000" dirty="0"/>
                  <a:t> ? </a:t>
                </a:r>
              </a:p>
              <a:p>
                <a:pPr marL="0" indent="0">
                  <a:buNone/>
                </a:pPr>
                <a:endParaRPr lang="en-US" sz="2000" dirty="0"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Can we derive a </a:t>
                </a:r>
                <a:r>
                  <a:rPr lang="en-US" sz="2000" u="sng" dirty="0"/>
                  <a:t>prefix coding </a:t>
                </a:r>
                <a:r>
                  <a:rPr lang="en-US" sz="2000" dirty="0"/>
                  <a:t>for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 smtClean="0">
                        <a:latin typeface="Cambria Math"/>
                      </a:rPr>
                      <m:t>′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from 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𝐎𝐏𝐓</m:t>
                    </m:r>
                    <m:r>
                      <a:rPr lang="en-US" sz="2000" b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? </a:t>
                </a:r>
              </a:p>
              <a:p>
                <a:pPr marL="0" indent="0">
                  <a:buNone/>
                </a:pPr>
                <a:endParaRPr lang="en-US" sz="2000" dirty="0">
                  <a:latin typeface="Cambria Math"/>
                </a:endParaRPr>
              </a:p>
              <a:p>
                <a:pPr marL="0" indent="0">
                  <a:buNone/>
                </a:pPr>
                <a:br>
                  <a:rPr lang="en-US" sz="2400" dirty="0"/>
                </a:b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11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00200" y="2667000"/>
            <a:ext cx="3657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257800" y="2743200"/>
            <a:ext cx="3657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00200" y="3810000"/>
            <a:ext cx="3886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334000" y="3733800"/>
            <a:ext cx="3657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5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304800"/>
                <a:ext cx="8229600" cy="1143000"/>
              </a:xfrm>
            </p:spPr>
            <p:txBody>
              <a:bodyPr/>
              <a:lstStyle/>
              <a:p>
                <a:r>
                  <a:rPr lang="en-US" sz="2400" dirty="0"/>
                  <a:t>A </a:t>
                </a:r>
                <a:r>
                  <a:rPr lang="en-US" sz="2400" u="sng" dirty="0"/>
                  <a:t>prefix coding</a:t>
                </a:r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from  </a:t>
                </a:r>
                <a14:m>
                  <m:oMath xmlns:m="http://schemas.openxmlformats.org/officeDocument/2006/math">
                    <m:r>
                      <a:rPr lang="en-US" sz="2400" b="1" dirty="0">
                        <a:solidFill>
                          <a:srgbClr val="7030A0"/>
                        </a:solidFill>
                        <a:latin typeface="Cambria Math"/>
                      </a:rPr>
                      <m:t>𝐎𝐏𝐓</m:t>
                    </m:r>
                    <m:d>
                      <m:dPr>
                        <m:ctrlPr>
                          <a:rPr lang="en-US" sz="24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dirty="0">
                                <a:latin typeface="Cambria Math"/>
                              </a:rPr>
                              <m:t>𝑨</m:t>
                            </m:r>
                          </m:e>
                          <m:sup>
                            <m:r>
                              <a:rPr lang="en-US" sz="2400" b="1" i="1" dirty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304800"/>
                <a:ext cx="8229600" cy="11430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9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: the binary tree corresponding to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0" name="Content Placeholder 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3"/>
                <a:stretch>
                  <a:fillRect l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990600" y="1963896"/>
            <a:ext cx="3033822" cy="2072646"/>
            <a:chOff x="1066800" y="2204164"/>
            <a:chExt cx="3033822" cy="2072646"/>
          </a:xfrm>
        </p:grpSpPr>
        <p:sp>
          <p:nvSpPr>
            <p:cNvPr id="17" name="TextBox 16"/>
            <p:cNvSpPr txBox="1"/>
            <p:nvPr/>
          </p:nvSpPr>
          <p:spPr>
            <a:xfrm rot="5400000">
              <a:off x="1029995" y="3683159"/>
              <a:ext cx="709361" cy="47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1066800" y="2204164"/>
              <a:ext cx="30338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066800" y="2744549"/>
              <a:ext cx="19897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2591533" y="1828800"/>
            <a:ext cx="4021813" cy="1440339"/>
            <a:chOff x="2591533" y="2064861"/>
            <a:chExt cx="4021813" cy="1440339"/>
          </a:xfrm>
        </p:grpSpPr>
        <p:grpSp>
          <p:nvGrpSpPr>
            <p:cNvPr id="22" name="Group 21"/>
            <p:cNvGrpSpPr/>
            <p:nvPr/>
          </p:nvGrpSpPr>
          <p:grpSpPr>
            <a:xfrm>
              <a:off x="2591533" y="2064861"/>
              <a:ext cx="3201865" cy="1255435"/>
              <a:chOff x="2667733" y="2069068"/>
              <a:chExt cx="3201865" cy="1255435"/>
            </a:xfrm>
          </p:grpSpPr>
          <p:grpSp>
            <p:nvGrpSpPr>
              <p:cNvPr id="28" name="Group 27"/>
              <p:cNvGrpSpPr/>
              <p:nvPr/>
            </p:nvGrpSpPr>
            <p:grpSpPr>
              <a:xfrm>
                <a:off x="2737338" y="2069068"/>
                <a:ext cx="3132260" cy="1255435"/>
                <a:chOff x="2819400" y="1447800"/>
                <a:chExt cx="3429000" cy="1416237"/>
              </a:xfrm>
            </p:grpSpPr>
            <p:cxnSp>
              <p:nvCxnSpPr>
                <p:cNvPr id="5" name="Straight Arrow Connector 4"/>
                <p:cNvCxnSpPr>
                  <a:endCxn id="10" idx="7"/>
                </p:cNvCxnSpPr>
                <p:nvPr/>
              </p:nvCxnSpPr>
              <p:spPr>
                <a:xfrm flipH="1">
                  <a:off x="3429000" y="16002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Arrow Connector 5"/>
                <p:cNvCxnSpPr>
                  <a:stCxn id="11" idx="3"/>
                </p:cNvCxnSpPr>
                <p:nvPr/>
              </p:nvCxnSpPr>
              <p:spPr>
                <a:xfrm flipH="1">
                  <a:off x="5029200" y="2317563"/>
                  <a:ext cx="4702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Arrow Connector 6"/>
                <p:cNvCxnSpPr>
                  <a:endCxn id="11" idx="1"/>
                </p:cNvCxnSpPr>
                <p:nvPr/>
              </p:nvCxnSpPr>
              <p:spPr>
                <a:xfrm>
                  <a:off x="4616637" y="16002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/>
                <p:cNvCxnSpPr>
                  <a:stCxn id="10" idx="3"/>
                </p:cNvCxnSpPr>
                <p:nvPr/>
              </p:nvCxnSpPr>
              <p:spPr>
                <a:xfrm flipH="1">
                  <a:off x="2819400" y="2317563"/>
                  <a:ext cx="3940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/>
                <p:cNvCxnSpPr>
                  <a:stCxn id="10" idx="5"/>
                </p:cNvCxnSpPr>
                <p:nvPr/>
              </p:nvCxnSpPr>
              <p:spPr>
                <a:xfrm>
                  <a:off x="3429000" y="2317563"/>
                  <a:ext cx="3178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Oval 9"/>
                <p:cNvSpPr/>
                <p:nvPr/>
              </p:nvSpPr>
              <p:spPr>
                <a:xfrm>
                  <a:off x="3168837" y="2057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/>
                <p:cNvSpPr/>
                <p:nvPr/>
              </p:nvSpPr>
              <p:spPr>
                <a:xfrm>
                  <a:off x="5454837" y="2057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/>
                <p:cNvSpPr/>
                <p:nvPr/>
              </p:nvSpPr>
              <p:spPr>
                <a:xfrm>
                  <a:off x="4311837" y="1447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5759637" y="2286000"/>
                  <a:ext cx="488763" cy="578037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TextBox 30"/>
              <p:cNvSpPr txBox="1"/>
              <p:nvPr/>
            </p:nvSpPr>
            <p:spPr>
              <a:xfrm>
                <a:off x="3572608" y="2136616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717976" y="2146959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2667733" y="2812097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505846" y="2822441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591175" y="2754892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4689145" y="2812097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6172200" y="3135868"/>
                  <a:ext cx="4411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𝑻</m:t>
                        </m:r>
                        <m:r>
                          <a:rPr lang="en-US" b="1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3135868"/>
                  <a:ext cx="441146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805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Rectangle 17"/>
          <p:cNvSpPr/>
          <p:nvPr/>
        </p:nvSpPr>
        <p:spPr>
          <a:xfrm>
            <a:off x="838200" y="1219200"/>
            <a:ext cx="5486400" cy="3939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AB0A391-C203-CB4C-B35D-2F3C7D987BDA}"/>
              </a:ext>
            </a:extLst>
          </p:cNvPr>
          <p:cNvGrpSpPr/>
          <p:nvPr/>
        </p:nvGrpSpPr>
        <p:grpSpPr>
          <a:xfrm>
            <a:off x="3069029" y="3086815"/>
            <a:ext cx="1502971" cy="2087324"/>
            <a:chOff x="3069029" y="3086815"/>
            <a:chExt cx="1502971" cy="2087324"/>
          </a:xfrm>
        </p:grpSpPr>
        <p:grpSp>
          <p:nvGrpSpPr>
            <p:cNvPr id="16" name="Group 15"/>
            <p:cNvGrpSpPr/>
            <p:nvPr/>
          </p:nvGrpSpPr>
          <p:grpSpPr>
            <a:xfrm>
              <a:off x="3429000" y="3086815"/>
              <a:ext cx="1143000" cy="2087324"/>
              <a:chOff x="3429000" y="3322876"/>
              <a:chExt cx="1143000" cy="20873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Rectangle 49"/>
                  <p:cNvSpPr/>
                  <p:nvPr/>
                </p:nvSpPr>
                <p:spPr>
                  <a:xfrm>
                    <a:off x="4114800" y="5040868"/>
                    <a:ext cx="38504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𝒂</m:t>
                        </m:r>
                      </m:oMath>
                    </a14:m>
                    <a:r>
                      <a:rPr lang="en-US" dirty="0">
                        <a:solidFill>
                          <a:srgbClr val="7030A0"/>
                        </a:solidFill>
                      </a:rPr>
                      <a:t>’</a:t>
                    </a:r>
                  </a:p>
                </p:txBody>
              </p:sp>
            </mc:Choice>
            <mc:Fallback xmlns="">
              <p:sp>
                <p:nvSpPr>
                  <p:cNvPr id="50" name="Rectangle 4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4800" y="5040868"/>
                    <a:ext cx="38504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8197" r="-11111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" name="Group 2"/>
              <p:cNvGrpSpPr/>
              <p:nvPr/>
            </p:nvGrpSpPr>
            <p:grpSpPr>
              <a:xfrm>
                <a:off x="3657600" y="3593068"/>
                <a:ext cx="914400" cy="1475860"/>
                <a:chOff x="3429000" y="3264455"/>
                <a:chExt cx="914400" cy="1475860"/>
              </a:xfrm>
            </p:grpSpPr>
            <p:cxnSp>
              <p:nvCxnSpPr>
                <p:cNvPr id="20" name="Straight Arrow Connector 19"/>
                <p:cNvCxnSpPr/>
                <p:nvPr/>
              </p:nvCxnSpPr>
              <p:spPr>
                <a:xfrm>
                  <a:off x="3824434" y="3911957"/>
                  <a:ext cx="290366" cy="416878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Oval 25"/>
                <p:cNvSpPr/>
                <p:nvPr/>
              </p:nvSpPr>
              <p:spPr>
                <a:xfrm>
                  <a:off x="3637817" y="3681333"/>
                  <a:ext cx="278423" cy="270193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7" name="Straight Arrow Connector 26"/>
                <p:cNvCxnSpPr/>
                <p:nvPr/>
              </p:nvCxnSpPr>
              <p:spPr>
                <a:xfrm>
                  <a:off x="3429000" y="3264455"/>
                  <a:ext cx="290366" cy="416878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Box 44"/>
                <p:cNvSpPr txBox="1"/>
                <p:nvPr/>
              </p:nvSpPr>
              <p:spPr>
                <a:xfrm>
                  <a:off x="3919085" y="3894321"/>
                  <a:ext cx="275579" cy="3273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1</a:t>
                  </a:r>
                </a:p>
              </p:txBody>
            </p:sp>
            <p:sp>
              <p:nvSpPr>
                <p:cNvPr id="52" name="Rectangle 51"/>
                <p:cNvSpPr/>
                <p:nvPr/>
              </p:nvSpPr>
              <p:spPr>
                <a:xfrm>
                  <a:off x="3829049" y="4343400"/>
                  <a:ext cx="514351" cy="396915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7" name="Oval 36"/>
              <p:cNvSpPr/>
              <p:nvPr/>
            </p:nvSpPr>
            <p:spPr>
              <a:xfrm>
                <a:off x="3429000" y="3322876"/>
                <a:ext cx="278423" cy="270192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798C1AF-E610-F04C-BA5D-5F156DC6FEB6}"/>
                </a:ext>
              </a:extLst>
            </p:cNvPr>
            <p:cNvCxnSpPr/>
            <p:nvPr/>
          </p:nvCxnSpPr>
          <p:spPr>
            <a:xfrm flipH="1">
              <a:off x="3069029" y="3325574"/>
              <a:ext cx="359971" cy="484426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C7F66CD-B762-A54F-B7FF-47A7EBB89E14}"/>
                </a:ext>
              </a:extLst>
            </p:cNvPr>
            <p:cNvCxnSpPr/>
            <p:nvPr/>
          </p:nvCxnSpPr>
          <p:spPr>
            <a:xfrm flipH="1">
              <a:off x="3526229" y="4011374"/>
              <a:ext cx="359971" cy="484426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039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0" grpId="0" build="p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9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: the binary tree corresponding to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This gives a prefix coding for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1" dirty="0">
                        <a:latin typeface="Cambria Math"/>
                      </a:rPr>
                      <m:t>𝐀𝐁𝐋</m:t>
                    </m:r>
                  </m:oMath>
                </a14:m>
                <a:r>
                  <a:rPr lang="en-US" sz="2000" dirty="0"/>
                  <a:t> =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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2400" b="1" i="1" dirty="0">
                        <a:latin typeface="Cambria Math"/>
                      </a:rPr>
                      <m:t>≤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+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1800" i="1" dirty="0">
                        <a:latin typeface="Cambria Math"/>
                      </a:rPr>
                      <m:t>+</m:t>
                    </m:r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Content Placeholder 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5410200"/>
              </a:xfrm>
              <a:blipFill rotWithShape="1">
                <a:blip r:embed="rId3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591533" y="1828800"/>
            <a:ext cx="3201865" cy="1255435"/>
            <a:chOff x="2667733" y="2069068"/>
            <a:chExt cx="3201865" cy="1255435"/>
          </a:xfrm>
        </p:grpSpPr>
        <p:grpSp>
          <p:nvGrpSpPr>
            <p:cNvPr id="28" name="Group 27"/>
            <p:cNvGrpSpPr/>
            <p:nvPr/>
          </p:nvGrpSpPr>
          <p:grpSpPr>
            <a:xfrm>
              <a:off x="2737338" y="2069068"/>
              <a:ext cx="3132260" cy="1255435"/>
              <a:chOff x="2819400" y="1447800"/>
              <a:chExt cx="3429000" cy="1416237"/>
            </a:xfrm>
          </p:grpSpPr>
          <p:cxnSp>
            <p:nvCxnSpPr>
              <p:cNvPr id="5" name="Straight Arrow Connector 4"/>
              <p:cNvCxnSpPr>
                <a:endCxn id="10" idx="7"/>
              </p:cNvCxnSpPr>
              <p:nvPr/>
            </p:nvCxnSpPr>
            <p:spPr>
              <a:xfrm flipH="1">
                <a:off x="3429000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>
                <a:stCxn id="11" idx="3"/>
              </p:cNvCxnSpPr>
              <p:nvPr/>
            </p:nvCxnSpPr>
            <p:spPr>
              <a:xfrm flipH="1">
                <a:off x="5029200" y="2317563"/>
                <a:ext cx="4702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>
                <a:endCxn id="11" idx="1"/>
              </p:cNvCxnSpPr>
              <p:nvPr/>
            </p:nvCxnSpPr>
            <p:spPr>
              <a:xfrm>
                <a:off x="4616637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>
                <a:stCxn id="10" idx="3"/>
              </p:cNvCxnSpPr>
              <p:nvPr/>
            </p:nvCxnSpPr>
            <p:spPr>
              <a:xfrm flipH="1">
                <a:off x="2819400" y="2317563"/>
                <a:ext cx="3940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>
                <a:stCxn id="10" idx="5"/>
              </p:cNvCxnSpPr>
              <p:nvPr/>
            </p:nvCxnSpPr>
            <p:spPr>
              <a:xfrm>
                <a:off x="3429000" y="2317563"/>
                <a:ext cx="3178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3168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454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311837" y="1447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>
                <a:off x="5759637" y="2286000"/>
                <a:ext cx="488763" cy="578037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/>
            <p:cNvSpPr txBox="1"/>
            <p:nvPr/>
          </p:nvSpPr>
          <p:spPr>
            <a:xfrm>
              <a:off x="3572608" y="2136616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17976" y="2146959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667733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05846" y="2822441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91175" y="2754892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689145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90600" y="1963896"/>
            <a:ext cx="3033822" cy="2072646"/>
            <a:chOff x="1066800" y="2204164"/>
            <a:chExt cx="3033822" cy="2072646"/>
          </a:xfrm>
        </p:grpSpPr>
        <p:sp>
          <p:nvSpPr>
            <p:cNvPr id="17" name="TextBox 16"/>
            <p:cNvSpPr txBox="1"/>
            <p:nvPr/>
          </p:nvSpPr>
          <p:spPr>
            <a:xfrm rot="5400000">
              <a:off x="1029995" y="3683159"/>
              <a:ext cx="709361" cy="47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1066800" y="2204164"/>
              <a:ext cx="30338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066800" y="2744549"/>
              <a:ext cx="19897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Arrow Connector 19"/>
          <p:cNvCxnSpPr/>
          <p:nvPr/>
        </p:nvCxnSpPr>
        <p:spPr>
          <a:xfrm>
            <a:off x="4053034" y="4004509"/>
            <a:ext cx="290366" cy="41687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866417" y="3773885"/>
            <a:ext cx="278423" cy="270193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3657600" y="3357007"/>
            <a:ext cx="290366" cy="416878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147685" y="3986873"/>
            <a:ext cx="275579" cy="327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057649" y="4435952"/>
            <a:ext cx="514351" cy="738187"/>
            <a:chOff x="4057649" y="4672013"/>
            <a:chExt cx="514351" cy="7381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4114800" y="5040868"/>
                  <a:ext cx="38504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𝒂</m:t>
                      </m:r>
                    </m:oMath>
                  </a14:m>
                  <a:r>
                    <a:rPr lang="en-US" dirty="0">
                      <a:solidFill>
                        <a:srgbClr val="7030A0"/>
                      </a:solidFill>
                    </a:rPr>
                    <a:t>’</a:t>
                  </a:r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4800" y="5040868"/>
                  <a:ext cx="385041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8197" r="-111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Rectangle 51"/>
            <p:cNvSpPr/>
            <p:nvPr/>
          </p:nvSpPr>
          <p:spPr>
            <a:xfrm>
              <a:off x="4057649" y="4672013"/>
              <a:ext cx="514351" cy="396915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Oval 36"/>
          <p:cNvSpPr/>
          <p:nvPr/>
        </p:nvSpPr>
        <p:spPr>
          <a:xfrm>
            <a:off x="3429000" y="3086815"/>
            <a:ext cx="278423" cy="27019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172200" y="2899807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C00000"/>
                          </a:solidFill>
                          <a:latin typeface="Cambria Math"/>
                        </a:rPr>
                        <m:t>𝑻</m:t>
                      </m:r>
                      <m:r>
                        <a:rPr lang="en-US" b="1" i="1" dirty="0">
                          <a:solidFill>
                            <a:srgbClr val="C0000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2899807"/>
                <a:ext cx="441146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1805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/>
          <p:cNvGrpSpPr/>
          <p:nvPr/>
        </p:nvGrpSpPr>
        <p:grpSpPr>
          <a:xfrm>
            <a:off x="3735366" y="4432777"/>
            <a:ext cx="1141434" cy="1221163"/>
            <a:chOff x="6333959" y="4838541"/>
            <a:chExt cx="1141434" cy="1221163"/>
          </a:xfrm>
        </p:grpSpPr>
        <p:grpSp>
          <p:nvGrpSpPr>
            <p:cNvPr id="39" name="Group 38"/>
            <p:cNvGrpSpPr/>
            <p:nvPr/>
          </p:nvGrpSpPr>
          <p:grpSpPr>
            <a:xfrm>
              <a:off x="6333959" y="4838541"/>
              <a:ext cx="1141434" cy="1221163"/>
              <a:chOff x="6333959" y="4838541"/>
              <a:chExt cx="1141434" cy="1221163"/>
            </a:xfrm>
          </p:grpSpPr>
          <p:sp>
            <p:nvSpPr>
              <p:cNvPr id="41" name="Oval 40"/>
              <p:cNvSpPr/>
              <p:nvPr/>
            </p:nvSpPr>
            <p:spPr>
              <a:xfrm>
                <a:off x="6774473" y="4838541"/>
                <a:ext cx="278423" cy="270193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Arrow Connector 41"/>
              <p:cNvCxnSpPr>
                <a:stCxn id="41" idx="3"/>
              </p:cNvCxnSpPr>
              <p:nvPr/>
            </p:nvCxnSpPr>
            <p:spPr>
              <a:xfrm flipH="1">
                <a:off x="6635262" y="5069165"/>
                <a:ext cx="179986" cy="44485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>
              <a:xfrm>
                <a:off x="6333959" y="5514029"/>
                <a:ext cx="448304" cy="545675"/>
                <a:chOff x="6528153" y="5334000"/>
                <a:chExt cx="490775" cy="615567"/>
              </a:xfrm>
            </p:grpSpPr>
            <p:sp>
              <p:nvSpPr>
                <p:cNvPr id="58" name="Rectangle 57"/>
                <p:cNvSpPr/>
                <p:nvPr/>
              </p:nvSpPr>
              <p:spPr>
                <a:xfrm>
                  <a:off x="6553200" y="5334000"/>
                  <a:ext cx="457200" cy="369332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Rectangle 58"/>
                    <p:cNvSpPr/>
                    <p:nvPr/>
                  </p:nvSpPr>
                  <p:spPr>
                    <a:xfrm>
                      <a:off x="6528153" y="5580236"/>
                      <a:ext cx="490775" cy="369331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rgbClr val="006C3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9" name="Rectangle 5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8153" y="5580236"/>
                      <a:ext cx="490775" cy="369331"/>
                    </a:xfrm>
                    <a:prstGeom prst="rect">
                      <a:avLst/>
                    </a:prstGeom>
                    <a:blipFill rotWithShape="1">
                      <a:blip r:embed="rId6"/>
                      <a:stretch>
                        <a:fillRect t="-9434" r="-21918" b="-4339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Rectangle 50"/>
                  <p:cNvSpPr/>
                  <p:nvPr/>
                </p:nvSpPr>
                <p:spPr>
                  <a:xfrm>
                    <a:off x="7030017" y="5732303"/>
                    <a:ext cx="445376" cy="3273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Rectangle 5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0017" y="5732303"/>
                    <a:ext cx="445376" cy="327397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9434" r="-21918" b="-433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3" name="Group 52"/>
              <p:cNvGrpSpPr/>
              <p:nvPr/>
            </p:nvGrpSpPr>
            <p:grpSpPr>
              <a:xfrm>
                <a:off x="6983290" y="5097144"/>
                <a:ext cx="464361" cy="744276"/>
                <a:chOff x="7239000" y="4863726"/>
                <a:chExt cx="508353" cy="839606"/>
              </a:xfrm>
            </p:grpSpPr>
            <p:sp>
              <p:nvSpPr>
                <p:cNvPr id="56" name="Rectangle 55"/>
                <p:cNvSpPr/>
                <p:nvPr/>
              </p:nvSpPr>
              <p:spPr>
                <a:xfrm>
                  <a:off x="7290153" y="5334000"/>
                  <a:ext cx="457200" cy="369332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7" name="Straight Arrow Connector 56"/>
                <p:cNvCxnSpPr/>
                <p:nvPr/>
              </p:nvCxnSpPr>
              <p:spPr>
                <a:xfrm>
                  <a:off x="7239000" y="4863726"/>
                  <a:ext cx="317874" cy="4702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TextBox 54"/>
              <p:cNvSpPr txBox="1"/>
              <p:nvPr/>
            </p:nvSpPr>
            <p:spPr>
              <a:xfrm>
                <a:off x="7055741" y="5051529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6498895" y="5051529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999998" y="5486400"/>
                <a:ext cx="3229602" cy="43345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+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/>
                      </a:rPr>
                      <m:t>+</m:t>
                    </m:r>
                    <m:r>
                      <a:rPr lang="en-US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998" y="5486400"/>
                <a:ext cx="3229602" cy="433452"/>
              </a:xfrm>
              <a:prstGeom prst="rect">
                <a:avLst/>
              </a:prstGeom>
              <a:blipFill rotWithShape="1">
                <a:blip r:embed="rId8"/>
                <a:stretch>
                  <a:fillRect r="-2453" b="-2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/>
          <p:cNvSpPr/>
          <p:nvPr/>
        </p:nvSpPr>
        <p:spPr>
          <a:xfrm>
            <a:off x="2209800" y="5943600"/>
            <a:ext cx="5486400" cy="3939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FB6D92C-FD3A-AE46-B884-D92F21EA227D}"/>
              </a:ext>
            </a:extLst>
          </p:cNvPr>
          <p:cNvCxnSpPr/>
          <p:nvPr/>
        </p:nvCxnSpPr>
        <p:spPr>
          <a:xfrm flipH="1">
            <a:off x="3069029" y="3325574"/>
            <a:ext cx="359971" cy="484426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2A1744C-BFFD-4E41-B805-7CD34C0E6156}"/>
              </a:ext>
            </a:extLst>
          </p:cNvPr>
          <p:cNvCxnSpPr/>
          <p:nvPr/>
        </p:nvCxnSpPr>
        <p:spPr>
          <a:xfrm flipH="1">
            <a:off x="3526229" y="4011374"/>
            <a:ext cx="359971" cy="484426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D1424EEB-C418-CA4B-99B1-6F4235F94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itle 1">
                <a:extLst>
                  <a:ext uri="{FF2B5EF4-FFF2-40B4-BE49-F238E27FC236}">
                    <a16:creationId xmlns:a16="http://schemas.microsoft.com/office/drawing/2014/main" id="{F5D67FDA-49EA-3F42-A472-8053E116FAF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304800"/>
                <a:ext cx="8229600" cy="1143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2400" dirty="0"/>
                  <a:t>A </a:t>
                </a:r>
                <a:r>
                  <a:rPr lang="en-US" sz="2400" u="sng" dirty="0"/>
                  <a:t>prefix coding</a:t>
                </a:r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from  </a:t>
                </a:r>
                <a14:m>
                  <m:oMath xmlns:m="http://schemas.openxmlformats.org/officeDocument/2006/math">
                    <m:r>
                      <a:rPr lang="en-US" sz="2400" b="1" dirty="0">
                        <a:solidFill>
                          <a:srgbClr val="7030A0"/>
                        </a:solidFill>
                        <a:latin typeface="Cambria Math"/>
                      </a:rPr>
                      <m:t>𝐎𝐏𝐓</m:t>
                    </m:r>
                    <m:d>
                      <m:dPr>
                        <m:ctrlPr>
                          <a:rPr lang="en-US" sz="24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dirty="0">
                                <a:latin typeface="Cambria Math"/>
                              </a:rPr>
                              <m:t>𝑨</m:t>
                            </m:r>
                          </m:e>
                          <m:sup>
                            <m:r>
                              <a:rPr lang="en-US" sz="2400" b="1" i="1" dirty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62" name="Title 1">
                <a:extLst>
                  <a:ext uri="{FF2B5EF4-FFF2-40B4-BE49-F238E27FC236}">
                    <a16:creationId xmlns:a16="http://schemas.microsoft.com/office/drawing/2014/main" id="{F5D67FDA-49EA-3F42-A472-8053E116F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304800"/>
                <a:ext cx="8229600" cy="1143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283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0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1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uiExpand="1" build="p"/>
      <p:bldP spid="16" grpId="0" animBg="1"/>
      <p:bldP spid="5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2400" dirty="0"/>
                  <a:t>A </a:t>
                </a:r>
                <a:r>
                  <a:rPr lang="en-US" sz="2400" u="sng" dirty="0"/>
                  <a:t>prefix coding</a:t>
                </a:r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i="1" dirty="0">
                        <a:latin typeface="Cambria Math"/>
                      </a:rPr>
                      <m:t>′ </m:t>
                    </m:r>
                  </m:oMath>
                </a14:m>
                <a:r>
                  <a:rPr lang="en-US" sz="2400" dirty="0"/>
                  <a:t>from  </a:t>
                </a:r>
                <a14:m>
                  <m:oMath xmlns:m="http://schemas.openxmlformats.org/officeDocument/2006/math">
                    <m:r>
                      <a:rPr lang="en-US" sz="2400" b="1" dirty="0">
                        <a:solidFill>
                          <a:srgbClr val="7030A0"/>
                        </a:solidFill>
                        <a:latin typeface="Cambria Math"/>
                      </a:rPr>
                      <m:t>𝐎𝐏𝐓</m:t>
                    </m:r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i="1" dirty="0">
                        <a:latin typeface="Cambria Math"/>
                      </a:rPr>
                      <m:t>)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9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: the binary tree corresponding to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0" name="Content Placeholder 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3"/>
                <a:stretch>
                  <a:fillRect l="-741" t="-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1447800" y="1999981"/>
            <a:ext cx="2601257" cy="2353149"/>
            <a:chOff x="1066800" y="2204164"/>
            <a:chExt cx="3033822" cy="2865624"/>
          </a:xfrm>
        </p:grpSpPr>
        <p:sp>
          <p:nvSpPr>
            <p:cNvPr id="17" name="TextBox 16"/>
            <p:cNvSpPr txBox="1"/>
            <p:nvPr/>
          </p:nvSpPr>
          <p:spPr>
            <a:xfrm rot="5400000">
              <a:off x="1029995" y="3683159"/>
              <a:ext cx="709361" cy="47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1066800" y="2204164"/>
              <a:ext cx="30338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066800" y="2744549"/>
              <a:ext cx="19897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1145704" y="5069788"/>
              <a:ext cx="33873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1447800" y="4852628"/>
            <a:ext cx="6206856" cy="300543"/>
            <a:chOff x="1066800" y="5678068"/>
            <a:chExt cx="7239000" cy="365996"/>
          </a:xfrm>
        </p:grpSpPr>
        <p:cxnSp>
          <p:nvCxnSpPr>
            <p:cNvPr id="43" name="Straight Connector 42"/>
            <p:cNvCxnSpPr/>
            <p:nvPr/>
          </p:nvCxnSpPr>
          <p:spPr>
            <a:xfrm>
              <a:off x="1066800" y="5678068"/>
              <a:ext cx="7239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3848186" y="5716667"/>
              <a:ext cx="1324413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Deepest level</a:t>
              </a:r>
            </a:p>
          </p:txBody>
        </p:sp>
      </p:grpSp>
      <p:sp>
        <p:nvSpPr>
          <p:cNvPr id="19" name="Oval 18"/>
          <p:cNvSpPr/>
          <p:nvPr/>
        </p:nvSpPr>
        <p:spPr>
          <a:xfrm>
            <a:off x="5804535" y="4002765"/>
            <a:ext cx="1312989" cy="1331235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5804535" y="3321699"/>
            <a:ext cx="1138114" cy="1823948"/>
            <a:chOff x="6148021" y="3813730"/>
            <a:chExt cx="1327372" cy="2221173"/>
          </a:xfrm>
        </p:grpSpPr>
        <p:grpSp>
          <p:nvGrpSpPr>
            <p:cNvPr id="25" name="Group 24"/>
            <p:cNvGrpSpPr/>
            <p:nvPr/>
          </p:nvGrpSpPr>
          <p:grpSpPr>
            <a:xfrm>
              <a:off x="6148021" y="3813730"/>
              <a:ext cx="1327372" cy="2221173"/>
              <a:chOff x="6148021" y="3813730"/>
              <a:chExt cx="1327372" cy="2221173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6774473" y="4838541"/>
                <a:ext cx="278423" cy="270193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Arrow Connector 14"/>
              <p:cNvCxnSpPr>
                <a:stCxn id="14" idx="3"/>
              </p:cNvCxnSpPr>
              <p:nvPr/>
            </p:nvCxnSpPr>
            <p:spPr>
              <a:xfrm flipH="1">
                <a:off x="6635262" y="5069165"/>
                <a:ext cx="179986" cy="44485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>
                <a:off x="6524882" y="4461232"/>
                <a:ext cx="290366" cy="41687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Oval 25"/>
              <p:cNvSpPr/>
              <p:nvPr/>
            </p:nvSpPr>
            <p:spPr>
              <a:xfrm>
                <a:off x="6356838" y="4230608"/>
                <a:ext cx="278423" cy="270193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>
                <a:off x="6148021" y="3813730"/>
                <a:ext cx="290366" cy="416878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1" name="Group 50"/>
              <p:cNvGrpSpPr/>
              <p:nvPr/>
            </p:nvGrpSpPr>
            <p:grpSpPr>
              <a:xfrm>
                <a:off x="6356840" y="5514016"/>
                <a:ext cx="486601" cy="520883"/>
                <a:chOff x="6553200" y="5334000"/>
                <a:chExt cx="532700" cy="587601"/>
              </a:xfrm>
            </p:grpSpPr>
            <p:sp>
              <p:nvSpPr>
                <p:cNvPr id="18" name="Rectangle 17"/>
                <p:cNvSpPr/>
                <p:nvPr/>
              </p:nvSpPr>
              <p:spPr>
                <a:xfrm>
                  <a:off x="6553200" y="5334000"/>
                  <a:ext cx="457200" cy="369332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Rectangle 49"/>
                    <p:cNvSpPr/>
                    <p:nvPr/>
                  </p:nvSpPr>
                  <p:spPr>
                    <a:xfrm>
                      <a:off x="6595124" y="5552269"/>
                      <a:ext cx="490776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rgbClr val="006C3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0" name="Rectangle 4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95124" y="5552269"/>
                      <a:ext cx="490776" cy="369332"/>
                    </a:xfrm>
                    <a:prstGeom prst="rect">
                      <a:avLst/>
                    </a:prstGeom>
                    <a:blipFill rotWithShape="1">
                      <a:blip r:embed="rId4"/>
                      <a:stretch>
                        <a:fillRect t="-11364" r="-39683" b="-7272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Rectangle 39"/>
                  <p:cNvSpPr/>
                  <p:nvPr/>
                </p:nvSpPr>
                <p:spPr>
                  <a:xfrm>
                    <a:off x="7030017" y="5707506"/>
                    <a:ext cx="445376" cy="3273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Rectangle 3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0017" y="5707506"/>
                    <a:ext cx="445376" cy="327397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11364" r="-41270" b="-7272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6" name="Group 15"/>
              <p:cNvGrpSpPr/>
              <p:nvPr/>
            </p:nvGrpSpPr>
            <p:grpSpPr>
              <a:xfrm>
                <a:off x="6983290" y="5097144"/>
                <a:ext cx="464361" cy="744276"/>
                <a:chOff x="7239000" y="4863726"/>
                <a:chExt cx="508353" cy="839606"/>
              </a:xfrm>
            </p:grpSpPr>
            <p:sp>
              <p:nvSpPr>
                <p:cNvPr id="39" name="Rectangle 38"/>
                <p:cNvSpPr/>
                <p:nvPr/>
              </p:nvSpPr>
              <p:spPr>
                <a:xfrm>
                  <a:off x="7290153" y="5334000"/>
                  <a:ext cx="457200" cy="369332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1" name="Straight Arrow Connector 40"/>
                <p:cNvCxnSpPr/>
                <p:nvPr/>
              </p:nvCxnSpPr>
              <p:spPr>
                <a:xfrm>
                  <a:off x="7239000" y="4863726"/>
                  <a:ext cx="317874" cy="4702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TextBox 44"/>
              <p:cNvSpPr txBox="1"/>
              <p:nvPr/>
            </p:nvSpPr>
            <p:spPr>
              <a:xfrm>
                <a:off x="6638106" y="4443596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7055741" y="4965145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6498895" y="4965145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820470" y="1889045"/>
            <a:ext cx="3809766" cy="1235155"/>
            <a:chOff x="2820470" y="1889045"/>
            <a:chExt cx="3809766" cy="1235155"/>
          </a:xfrm>
        </p:grpSpPr>
        <p:grpSp>
          <p:nvGrpSpPr>
            <p:cNvPr id="22" name="Group 21"/>
            <p:cNvGrpSpPr/>
            <p:nvPr/>
          </p:nvGrpSpPr>
          <p:grpSpPr>
            <a:xfrm>
              <a:off x="2820470" y="1889045"/>
              <a:ext cx="2745340" cy="1030919"/>
              <a:chOff x="2667733" y="2069068"/>
              <a:chExt cx="3201865" cy="1255435"/>
            </a:xfrm>
          </p:grpSpPr>
          <p:grpSp>
            <p:nvGrpSpPr>
              <p:cNvPr id="28" name="Group 27"/>
              <p:cNvGrpSpPr/>
              <p:nvPr/>
            </p:nvGrpSpPr>
            <p:grpSpPr>
              <a:xfrm>
                <a:off x="2737338" y="2069068"/>
                <a:ext cx="3132260" cy="1255435"/>
                <a:chOff x="2819400" y="1447800"/>
                <a:chExt cx="3429000" cy="1416237"/>
              </a:xfrm>
            </p:grpSpPr>
            <p:cxnSp>
              <p:nvCxnSpPr>
                <p:cNvPr id="5" name="Straight Arrow Connector 4"/>
                <p:cNvCxnSpPr>
                  <a:endCxn id="10" idx="7"/>
                </p:cNvCxnSpPr>
                <p:nvPr/>
              </p:nvCxnSpPr>
              <p:spPr>
                <a:xfrm flipH="1">
                  <a:off x="3429000" y="16002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Arrow Connector 5"/>
                <p:cNvCxnSpPr>
                  <a:stCxn id="11" idx="3"/>
                </p:cNvCxnSpPr>
                <p:nvPr/>
              </p:nvCxnSpPr>
              <p:spPr>
                <a:xfrm flipH="1">
                  <a:off x="5029200" y="2317563"/>
                  <a:ext cx="4702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Arrow Connector 6"/>
                <p:cNvCxnSpPr>
                  <a:endCxn id="11" idx="1"/>
                </p:cNvCxnSpPr>
                <p:nvPr/>
              </p:nvCxnSpPr>
              <p:spPr>
                <a:xfrm>
                  <a:off x="4616637" y="16002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/>
                <p:cNvCxnSpPr>
                  <a:stCxn id="10" idx="3"/>
                </p:cNvCxnSpPr>
                <p:nvPr/>
              </p:nvCxnSpPr>
              <p:spPr>
                <a:xfrm flipH="1">
                  <a:off x="2819400" y="2317563"/>
                  <a:ext cx="3940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/>
                <p:cNvCxnSpPr>
                  <a:stCxn id="10" idx="5"/>
                </p:cNvCxnSpPr>
                <p:nvPr/>
              </p:nvCxnSpPr>
              <p:spPr>
                <a:xfrm>
                  <a:off x="3429000" y="2317563"/>
                  <a:ext cx="3178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Oval 9"/>
                <p:cNvSpPr/>
                <p:nvPr/>
              </p:nvSpPr>
              <p:spPr>
                <a:xfrm>
                  <a:off x="3168837" y="2057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/>
                <p:cNvSpPr/>
                <p:nvPr/>
              </p:nvSpPr>
              <p:spPr>
                <a:xfrm>
                  <a:off x="5454837" y="2057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/>
                <p:cNvSpPr/>
                <p:nvPr/>
              </p:nvSpPr>
              <p:spPr>
                <a:xfrm>
                  <a:off x="4311837" y="1447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5759637" y="2286000"/>
                  <a:ext cx="488763" cy="578037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TextBox 30"/>
              <p:cNvSpPr txBox="1"/>
              <p:nvPr/>
            </p:nvSpPr>
            <p:spPr>
              <a:xfrm>
                <a:off x="3466327" y="2088498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717976" y="2146959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2667733" y="2812097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505846" y="2822441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591175" y="2754892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4689145" y="2812097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6248400" y="2754868"/>
                  <a:ext cx="3818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2754868"/>
                  <a:ext cx="38183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904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Down Ribbon 20"/>
          <p:cNvSpPr/>
          <p:nvPr/>
        </p:nvSpPr>
        <p:spPr>
          <a:xfrm>
            <a:off x="6918862" y="1999981"/>
            <a:ext cx="1844137" cy="786514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Using </a:t>
            </a:r>
            <a:r>
              <a:rPr lang="en-US" b="1" dirty="0">
                <a:solidFill>
                  <a:srgbClr val="C00000"/>
                </a:solidFill>
              </a:rPr>
              <a:t>Theorem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8200" y="1143000"/>
            <a:ext cx="5486400" cy="3939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9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0" grpId="0" build="p"/>
      <p:bldP spid="19" grpId="0" animBg="1"/>
      <p:bldP spid="21" grpId="0" animBg="1"/>
      <p:bldP spid="5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2400" dirty="0"/>
                  <a:t>A </a:t>
                </a:r>
                <a:r>
                  <a:rPr lang="en-US" sz="2400" u="sng" dirty="0"/>
                  <a:t>prefix coding</a:t>
                </a:r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i="1" dirty="0">
                        <a:latin typeface="Cambria Math"/>
                      </a:rPr>
                      <m:t>′ </m:t>
                    </m:r>
                  </m:oMath>
                </a14:m>
                <a:r>
                  <a:rPr lang="en-US" sz="2400" dirty="0"/>
                  <a:t>from  </a:t>
                </a:r>
                <a14:m>
                  <m:oMath xmlns:m="http://schemas.openxmlformats.org/officeDocument/2006/math">
                    <m:r>
                      <a:rPr lang="en-US" sz="2400" b="1" dirty="0">
                        <a:solidFill>
                          <a:srgbClr val="7030A0"/>
                        </a:solidFill>
                        <a:latin typeface="Cambria Math"/>
                      </a:rPr>
                      <m:t>𝐎𝐏𝐓</m:t>
                    </m:r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i="1" dirty="0">
                        <a:latin typeface="Cambria Math"/>
                      </a:rPr>
                      <m:t>)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9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: the binary tree corresponding to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This gives a prefix coding for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1" dirty="0">
                        <a:latin typeface="Cambria Math"/>
                      </a:rPr>
                      <m:t>𝐀𝐁𝐋</m:t>
                    </m:r>
                  </m:oMath>
                </a14:m>
                <a:r>
                  <a:rPr lang="en-US" sz="2000" dirty="0"/>
                  <a:t> =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 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/>
                          </a:rPr>
                          <m:t>𝑨</m:t>
                        </m:r>
                        <m:r>
                          <a:rPr lang="en-US" sz="2400" b="1" i="1" dirty="0">
                            <a:latin typeface="Cambria Math"/>
                          </a:rPr>
                          <m:t>′</m:t>
                        </m:r>
                      </m:e>
                    </m:d>
                    <m:r>
                      <a:rPr lang="en-US" sz="2400" b="1" i="1" dirty="0">
                        <a:latin typeface="Cambria Math"/>
                      </a:rPr>
                      <m:t>≤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)</m:t>
                    </m:r>
                    <m:r>
                      <a:rPr lang="en-US" sz="1800" dirty="0">
                        <a:latin typeface="Cambria Math"/>
                      </a:rPr>
                      <m:t>−</m:t>
                    </m:r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1800" i="1" dirty="0">
                        <a:latin typeface="Cambria Math"/>
                      </a:rPr>
                      <m:t>−</m:t>
                    </m:r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Content Placeholder 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3"/>
                <a:stretch>
                  <a:fillRect l="-741" t="-367" b="-7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1447800" y="1999981"/>
            <a:ext cx="2601257" cy="2353149"/>
            <a:chOff x="1066800" y="2204164"/>
            <a:chExt cx="3033822" cy="2865624"/>
          </a:xfrm>
        </p:grpSpPr>
        <p:sp>
          <p:nvSpPr>
            <p:cNvPr id="17" name="TextBox 16"/>
            <p:cNvSpPr txBox="1"/>
            <p:nvPr/>
          </p:nvSpPr>
          <p:spPr>
            <a:xfrm rot="5400000">
              <a:off x="1029995" y="3683159"/>
              <a:ext cx="709361" cy="47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1066800" y="2204164"/>
              <a:ext cx="30338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066800" y="2744549"/>
              <a:ext cx="19897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1145704" y="5069788"/>
              <a:ext cx="33873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1447800" y="4852628"/>
            <a:ext cx="6206856" cy="300543"/>
            <a:chOff x="1066800" y="5678068"/>
            <a:chExt cx="7239000" cy="365996"/>
          </a:xfrm>
        </p:grpSpPr>
        <p:cxnSp>
          <p:nvCxnSpPr>
            <p:cNvPr id="43" name="Straight Connector 42"/>
            <p:cNvCxnSpPr/>
            <p:nvPr/>
          </p:nvCxnSpPr>
          <p:spPr>
            <a:xfrm>
              <a:off x="1066800" y="5678068"/>
              <a:ext cx="7239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3848186" y="5716667"/>
              <a:ext cx="1324413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Deepest level</a:t>
              </a:r>
            </a:p>
          </p:txBody>
        </p:sp>
      </p:grpSp>
      <p:sp>
        <p:nvSpPr>
          <p:cNvPr id="19" name="Oval 18"/>
          <p:cNvSpPr/>
          <p:nvPr/>
        </p:nvSpPr>
        <p:spPr>
          <a:xfrm>
            <a:off x="5804535" y="4002765"/>
            <a:ext cx="1312989" cy="1331235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6127663" y="3853405"/>
            <a:ext cx="248965" cy="3423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983579" y="3664024"/>
            <a:ext cx="238725" cy="221873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5804535" y="3321699"/>
            <a:ext cx="248965" cy="342325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224743" y="3838922"/>
            <a:ext cx="236287" cy="268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983580" y="4163237"/>
            <a:ext cx="959069" cy="982410"/>
            <a:chOff x="5983580" y="4163237"/>
            <a:chExt cx="959069" cy="982410"/>
          </a:xfrm>
        </p:grpSpPr>
        <p:sp>
          <p:nvSpPr>
            <p:cNvPr id="14" name="Oval 13"/>
            <p:cNvSpPr/>
            <p:nvPr/>
          </p:nvSpPr>
          <p:spPr>
            <a:xfrm>
              <a:off x="6341667" y="4163237"/>
              <a:ext cx="238725" cy="221873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>
              <a:stCxn id="14" idx="3"/>
            </p:cNvCxnSpPr>
            <p:nvPr/>
          </p:nvCxnSpPr>
          <p:spPr>
            <a:xfrm flipH="1">
              <a:off x="6222305" y="4352617"/>
              <a:ext cx="154323" cy="36530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/>
            <p:cNvGrpSpPr/>
            <p:nvPr/>
          </p:nvGrpSpPr>
          <p:grpSpPr>
            <a:xfrm>
              <a:off x="5983580" y="4717913"/>
              <a:ext cx="417221" cy="427731"/>
              <a:chOff x="6553200" y="5334000"/>
              <a:chExt cx="532700" cy="587601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6553200" y="5334000"/>
                <a:ext cx="457200" cy="36933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Rectangle 49"/>
                  <p:cNvSpPr/>
                  <p:nvPr/>
                </p:nvSpPr>
                <p:spPr>
                  <a:xfrm>
                    <a:off x="6595124" y="5552269"/>
                    <a:ext cx="49077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Rectangle 4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95124" y="5552269"/>
                    <a:ext cx="490776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11364" r="-39683" b="-7272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/>
                <p:cNvSpPr/>
                <p:nvPr/>
              </p:nvSpPr>
              <p:spPr>
                <a:xfrm>
                  <a:off x="6560775" y="4876800"/>
                  <a:ext cx="381874" cy="26884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0775" y="4876800"/>
                  <a:ext cx="381874" cy="268847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11364" r="-41270" b="-727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Group 15"/>
            <p:cNvGrpSpPr/>
            <p:nvPr/>
          </p:nvGrpSpPr>
          <p:grpSpPr>
            <a:xfrm>
              <a:off x="6520711" y="4375593"/>
              <a:ext cx="398152" cy="611173"/>
              <a:chOff x="7239000" y="4863726"/>
              <a:chExt cx="508353" cy="839606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7290153" y="5334000"/>
                <a:ext cx="457200" cy="36933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" name="Straight Arrow Connector 40"/>
              <p:cNvCxnSpPr/>
              <p:nvPr/>
            </p:nvCxnSpPr>
            <p:spPr>
              <a:xfrm>
                <a:off x="7239000" y="4863726"/>
                <a:ext cx="317874" cy="4702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/>
            <p:cNvSpPr txBox="1"/>
            <p:nvPr/>
          </p:nvSpPr>
          <p:spPr>
            <a:xfrm>
              <a:off x="6582831" y="4267200"/>
              <a:ext cx="236287" cy="268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105381" y="4267200"/>
              <a:ext cx="236287" cy="268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820470" y="1889045"/>
            <a:ext cx="3809766" cy="1235155"/>
            <a:chOff x="2820470" y="1889045"/>
            <a:chExt cx="3809766" cy="1235155"/>
          </a:xfrm>
        </p:grpSpPr>
        <p:grpSp>
          <p:nvGrpSpPr>
            <p:cNvPr id="22" name="Group 21"/>
            <p:cNvGrpSpPr/>
            <p:nvPr/>
          </p:nvGrpSpPr>
          <p:grpSpPr>
            <a:xfrm>
              <a:off x="2820470" y="1889045"/>
              <a:ext cx="2745340" cy="1030919"/>
              <a:chOff x="2667733" y="2069068"/>
              <a:chExt cx="3201865" cy="1255435"/>
            </a:xfrm>
          </p:grpSpPr>
          <p:grpSp>
            <p:nvGrpSpPr>
              <p:cNvPr id="28" name="Group 27"/>
              <p:cNvGrpSpPr/>
              <p:nvPr/>
            </p:nvGrpSpPr>
            <p:grpSpPr>
              <a:xfrm>
                <a:off x="2737338" y="2069068"/>
                <a:ext cx="3132260" cy="1255435"/>
                <a:chOff x="2819400" y="1447800"/>
                <a:chExt cx="3429000" cy="1416237"/>
              </a:xfrm>
            </p:grpSpPr>
            <p:cxnSp>
              <p:nvCxnSpPr>
                <p:cNvPr id="5" name="Straight Arrow Connector 4"/>
                <p:cNvCxnSpPr>
                  <a:endCxn id="10" idx="7"/>
                </p:cNvCxnSpPr>
                <p:nvPr/>
              </p:nvCxnSpPr>
              <p:spPr>
                <a:xfrm flipH="1">
                  <a:off x="3429000" y="16002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Arrow Connector 5"/>
                <p:cNvCxnSpPr>
                  <a:stCxn id="11" idx="3"/>
                </p:cNvCxnSpPr>
                <p:nvPr/>
              </p:nvCxnSpPr>
              <p:spPr>
                <a:xfrm flipH="1">
                  <a:off x="5029200" y="2317563"/>
                  <a:ext cx="4702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Arrow Connector 6"/>
                <p:cNvCxnSpPr>
                  <a:endCxn id="11" idx="1"/>
                </p:cNvCxnSpPr>
                <p:nvPr/>
              </p:nvCxnSpPr>
              <p:spPr>
                <a:xfrm>
                  <a:off x="4616637" y="16002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/>
                <p:cNvCxnSpPr>
                  <a:stCxn id="10" idx="3"/>
                </p:cNvCxnSpPr>
                <p:nvPr/>
              </p:nvCxnSpPr>
              <p:spPr>
                <a:xfrm flipH="1">
                  <a:off x="2819400" y="2317563"/>
                  <a:ext cx="3940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/>
                <p:cNvCxnSpPr>
                  <a:stCxn id="10" idx="5"/>
                </p:cNvCxnSpPr>
                <p:nvPr/>
              </p:nvCxnSpPr>
              <p:spPr>
                <a:xfrm>
                  <a:off x="3429000" y="2317563"/>
                  <a:ext cx="3178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Oval 9"/>
                <p:cNvSpPr/>
                <p:nvPr/>
              </p:nvSpPr>
              <p:spPr>
                <a:xfrm>
                  <a:off x="3168837" y="2057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/>
                <p:cNvSpPr/>
                <p:nvPr/>
              </p:nvSpPr>
              <p:spPr>
                <a:xfrm>
                  <a:off x="5454837" y="2057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/>
                <p:cNvSpPr/>
                <p:nvPr/>
              </p:nvSpPr>
              <p:spPr>
                <a:xfrm>
                  <a:off x="4311837" y="1447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5759637" y="2286000"/>
                  <a:ext cx="488763" cy="578037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TextBox 30"/>
              <p:cNvSpPr txBox="1"/>
              <p:nvPr/>
            </p:nvSpPr>
            <p:spPr>
              <a:xfrm>
                <a:off x="3466327" y="2088498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717976" y="2146959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2667733" y="2812097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505846" y="2822441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591175" y="2754892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4689145" y="2812097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6248400" y="2754868"/>
                  <a:ext cx="3818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2754868"/>
                  <a:ext cx="38183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904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Down Ribbon 20"/>
          <p:cNvSpPr/>
          <p:nvPr/>
        </p:nvSpPr>
        <p:spPr>
          <a:xfrm>
            <a:off x="6918862" y="1999981"/>
            <a:ext cx="1844137" cy="786514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Using </a:t>
            </a:r>
            <a:r>
              <a:rPr lang="en-US" b="1" dirty="0">
                <a:solidFill>
                  <a:srgbClr val="C00000"/>
                </a:solidFill>
              </a:rPr>
              <a:t>Theorem </a:t>
            </a:r>
            <a:r>
              <a:rPr lang="en-US" b="1" dirty="0">
                <a:solidFill>
                  <a:srgbClr val="0070C0"/>
                </a:solidFill>
              </a:rPr>
              <a:t>2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6212022" y="4191000"/>
            <a:ext cx="493578" cy="597932"/>
            <a:chOff x="4057650" y="4672013"/>
            <a:chExt cx="493578" cy="597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/>
                <p:cNvSpPr/>
                <p:nvPr/>
              </p:nvSpPr>
              <p:spPr>
                <a:xfrm>
                  <a:off x="4114800" y="4900613"/>
                  <a:ext cx="436428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𝒂</m:t>
                      </m:r>
                    </m:oMath>
                  </a14:m>
                  <a:r>
                    <a:rPr lang="en-US" dirty="0">
                      <a:solidFill>
                        <a:srgbClr val="7030A0"/>
                      </a:solidFill>
                    </a:rPr>
                    <a:t>’</a:t>
                  </a:r>
                </a:p>
              </p:txBody>
            </p:sp>
          </mc:Choice>
          <mc:Fallback xmlns="">
            <p:sp>
              <p:nvSpPr>
                <p:cNvPr id="55" name="Rectangle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4800" y="4900613"/>
                  <a:ext cx="436428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Rectangle 55"/>
            <p:cNvSpPr/>
            <p:nvPr/>
          </p:nvSpPr>
          <p:spPr>
            <a:xfrm>
              <a:off x="4057650" y="4672013"/>
              <a:ext cx="493578" cy="314747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4999998" y="5510148"/>
                <a:ext cx="3275127" cy="41498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𝐎𝐏</m:t>
                      </m:r>
                      <m:sSub>
                        <m:sSubPr>
                          <m:ctrlPr>
                            <a:rPr lang="en-US" sz="20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𝐓</m:t>
                          </m:r>
                        </m:e>
                        <m:sub>
                          <m:r>
                            <a:rPr lang="en-US" sz="2000" b="1" dirty="0">
                              <a:latin typeface="Cambria Math"/>
                            </a:rPr>
                            <m:t>𝐀𝐁𝐋</m:t>
                          </m:r>
                        </m:sub>
                      </m:sSub>
                      <m:d>
                        <m:dPr>
                          <m:ctrlPr>
                            <a:rPr lang="en-US" sz="2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b="0" i="0" dirty="0" smtClean="0">
                          <a:latin typeface="Cambria Math"/>
                        </a:rPr>
                        <m:t>−</m:t>
                      </m:r>
                      <m:r>
                        <a:rPr lang="en-US" b="1" i="1" dirty="0"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dirty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dirty="0"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998" y="5510148"/>
                <a:ext cx="3275127" cy="414985"/>
              </a:xfrm>
              <a:prstGeom prst="rect">
                <a:avLst/>
              </a:prstGeom>
              <a:blipFill rotWithShape="1">
                <a:blip r:embed="rId8"/>
                <a:stretch>
                  <a:fillRect r="-2048" b="-2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/>
          <p:cNvSpPr/>
          <p:nvPr/>
        </p:nvSpPr>
        <p:spPr>
          <a:xfrm>
            <a:off x="2439801" y="6006811"/>
            <a:ext cx="5486400" cy="3939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5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1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uiExpand="1" build="p"/>
      <p:bldP spid="57" grpId="0" animBg="1"/>
      <p:bldP spid="5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We proved</a:t>
                </a:r>
              </a:p>
              <a:p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2000" b="1" i="1" dirty="0">
                        <a:latin typeface="Cambria Math"/>
                      </a:rPr>
                      <m:t>≤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dirty="0">
                                <a:latin typeface="Cambria Math"/>
                              </a:rPr>
                              <m:t>𝑨</m:t>
                            </m:r>
                          </m:e>
                          <m:sup>
                            <m:r>
                              <a:rPr lang="en-US" sz="2000" b="1" i="1" dirty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latin typeface="Cambria Math"/>
                          </a:rPr>
                          <m:t>𝑨</m:t>
                        </m:r>
                        <m:r>
                          <a:rPr lang="en-US" sz="2000" b="1" i="1" dirty="0">
                            <a:latin typeface="Cambria Math"/>
                          </a:rPr>
                          <m:t>′</m:t>
                        </m:r>
                      </m:e>
                    </m:d>
                    <m:r>
                      <a:rPr lang="en-US" sz="2000" b="1" i="1" dirty="0">
                        <a:latin typeface="Cambria Math"/>
                      </a:rPr>
                      <m:t>≤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000" b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dirty="0">
                        <a:latin typeface="Cambria Math"/>
                      </a:rPr>
                      <m:t>)</m:t>
                    </m:r>
                    <m:r>
                      <a:rPr lang="en-US" sz="2000" dirty="0">
                        <a:latin typeface="Cambria Math"/>
                      </a:rPr>
                      <m:t>−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/>
                      </a:rPr>
                      <m:t>−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2000" b="1" i="1" dirty="0" smtClean="0">
                        <a:latin typeface="Cambria Math"/>
                      </a:rPr>
                      <m:t>≥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dirty="0">
                                <a:latin typeface="Cambria Math"/>
                              </a:rPr>
                              <m:t>𝑨</m:t>
                            </m:r>
                          </m:e>
                          <m:sup>
                            <m:r>
                              <a:rPr lang="en-US" sz="2000" b="1" i="1" dirty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Using (1) and (2)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2000" b="1" i="1" dirty="0" smtClean="0">
                        <a:latin typeface="Cambria Math"/>
                      </a:rPr>
                      <m:t>=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dirty="0">
                                <a:latin typeface="Cambria Math"/>
                              </a:rPr>
                              <m:t>𝑨</m:t>
                            </m:r>
                          </m:e>
                          <m:sup>
                            <m:r>
                              <a:rPr lang="en-US" sz="2000" b="1" i="1" dirty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8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3352800" y="3124200"/>
            <a:ext cx="914400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0" y="1981200"/>
            <a:ext cx="44275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3810000"/>
            <a:ext cx="44275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(2)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7800" y="5143500"/>
            <a:ext cx="5090950" cy="6477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hought Bubble: Cloud 8">
                <a:extLst>
                  <a:ext uri="{FF2B5EF4-FFF2-40B4-BE49-F238E27FC236}">
                    <a16:creationId xmlns:a16="http://schemas.microsoft.com/office/drawing/2014/main" id="{EA2C7115-CD7D-C92D-EA1F-143BD3D4E792}"/>
                  </a:ext>
                </a:extLst>
              </p:cNvPr>
              <p:cNvSpPr/>
              <p:nvPr/>
            </p:nvSpPr>
            <p:spPr>
              <a:xfrm>
                <a:off x="5715000" y="3287371"/>
                <a:ext cx="4267200" cy="1414589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Can you see how this relation can help us extract </a:t>
                </a:r>
                <a:r>
                  <a:rPr lang="en-US" b="1" dirty="0" err="1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from </a:t>
                </a:r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r>
                  <a:rPr lang="en-IN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hought Bubble: Cloud 8">
                <a:extLst>
                  <a:ext uri="{FF2B5EF4-FFF2-40B4-BE49-F238E27FC236}">
                    <a16:creationId xmlns:a16="http://schemas.microsoft.com/office/drawing/2014/main" id="{EA2C7115-CD7D-C92D-EA1F-143BD3D4E7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287371"/>
                <a:ext cx="4267200" cy="1414589"/>
              </a:xfrm>
              <a:prstGeom prst="cloudCallou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8801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9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: the binary tree corresponding to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This gives a prefix coding for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1" dirty="0">
                        <a:latin typeface="Cambria Math"/>
                      </a:rPr>
                      <m:t>𝐀𝐁𝐋</m:t>
                    </m:r>
                  </m:oMath>
                </a14:m>
                <a:r>
                  <a:rPr lang="en-US" sz="2000" dirty="0"/>
                  <a:t> =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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2400" b="1" i="1" dirty="0">
                        <a:latin typeface="Cambria Math"/>
                      </a:rPr>
                      <m:t>≤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+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1800" i="1" dirty="0">
                        <a:latin typeface="Cambria Math"/>
                      </a:rPr>
                      <m:t>+</m:t>
                    </m:r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Content Placeholder 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5410200"/>
              </a:xfrm>
              <a:blipFill rotWithShape="1">
                <a:blip r:embed="rId3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591533" y="1828800"/>
            <a:ext cx="3201865" cy="1255435"/>
            <a:chOff x="2667733" y="2069068"/>
            <a:chExt cx="3201865" cy="1255435"/>
          </a:xfrm>
        </p:grpSpPr>
        <p:grpSp>
          <p:nvGrpSpPr>
            <p:cNvPr id="28" name="Group 27"/>
            <p:cNvGrpSpPr/>
            <p:nvPr/>
          </p:nvGrpSpPr>
          <p:grpSpPr>
            <a:xfrm>
              <a:off x="2737338" y="2069068"/>
              <a:ext cx="3132260" cy="1255435"/>
              <a:chOff x="2819400" y="1447800"/>
              <a:chExt cx="3429000" cy="1416237"/>
            </a:xfrm>
          </p:grpSpPr>
          <p:cxnSp>
            <p:nvCxnSpPr>
              <p:cNvPr id="5" name="Straight Arrow Connector 4"/>
              <p:cNvCxnSpPr>
                <a:endCxn id="10" idx="7"/>
              </p:cNvCxnSpPr>
              <p:nvPr/>
            </p:nvCxnSpPr>
            <p:spPr>
              <a:xfrm flipH="1">
                <a:off x="3429000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>
                <a:stCxn id="11" idx="3"/>
              </p:cNvCxnSpPr>
              <p:nvPr/>
            </p:nvCxnSpPr>
            <p:spPr>
              <a:xfrm flipH="1">
                <a:off x="5029200" y="2317563"/>
                <a:ext cx="4702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>
                <a:endCxn id="11" idx="1"/>
              </p:cNvCxnSpPr>
              <p:nvPr/>
            </p:nvCxnSpPr>
            <p:spPr>
              <a:xfrm>
                <a:off x="4616637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>
                <a:stCxn id="10" idx="3"/>
              </p:cNvCxnSpPr>
              <p:nvPr/>
            </p:nvCxnSpPr>
            <p:spPr>
              <a:xfrm flipH="1">
                <a:off x="2819400" y="2317563"/>
                <a:ext cx="3940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>
                <a:stCxn id="10" idx="5"/>
              </p:cNvCxnSpPr>
              <p:nvPr/>
            </p:nvCxnSpPr>
            <p:spPr>
              <a:xfrm>
                <a:off x="3429000" y="2317563"/>
                <a:ext cx="3178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3168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454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311837" y="1447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>
                <a:off x="5759637" y="2286000"/>
                <a:ext cx="488763" cy="578037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/>
            <p:cNvSpPr txBox="1"/>
            <p:nvPr/>
          </p:nvSpPr>
          <p:spPr>
            <a:xfrm>
              <a:off x="3572608" y="2136616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17976" y="2146959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667733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05846" y="2822441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91175" y="2754892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689145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90600" y="1963896"/>
            <a:ext cx="3033822" cy="2072646"/>
            <a:chOff x="1066800" y="2204164"/>
            <a:chExt cx="3033822" cy="2072646"/>
          </a:xfrm>
        </p:grpSpPr>
        <p:sp>
          <p:nvSpPr>
            <p:cNvPr id="17" name="TextBox 16"/>
            <p:cNvSpPr txBox="1"/>
            <p:nvPr/>
          </p:nvSpPr>
          <p:spPr>
            <a:xfrm rot="5400000">
              <a:off x="1029995" y="3683159"/>
              <a:ext cx="709361" cy="47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1066800" y="2204164"/>
              <a:ext cx="30338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066800" y="2744549"/>
              <a:ext cx="19897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Arrow Connector 19"/>
          <p:cNvCxnSpPr/>
          <p:nvPr/>
        </p:nvCxnSpPr>
        <p:spPr>
          <a:xfrm>
            <a:off x="4053034" y="4004509"/>
            <a:ext cx="290366" cy="41687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866417" y="3773885"/>
            <a:ext cx="278423" cy="270193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3657600" y="3357007"/>
            <a:ext cx="290366" cy="416878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147685" y="3986873"/>
            <a:ext cx="275579" cy="327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057649" y="4435952"/>
            <a:ext cx="514351" cy="738187"/>
            <a:chOff x="4057649" y="4672013"/>
            <a:chExt cx="514351" cy="7381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4114800" y="5040868"/>
                  <a:ext cx="38504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𝒂</m:t>
                      </m:r>
                    </m:oMath>
                  </a14:m>
                  <a:r>
                    <a:rPr lang="en-US" dirty="0">
                      <a:solidFill>
                        <a:srgbClr val="7030A0"/>
                      </a:solidFill>
                    </a:rPr>
                    <a:t>’</a:t>
                  </a:r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4800" y="5040868"/>
                  <a:ext cx="385041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8197" r="-111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Rectangle 51"/>
            <p:cNvSpPr/>
            <p:nvPr/>
          </p:nvSpPr>
          <p:spPr>
            <a:xfrm>
              <a:off x="4057649" y="4672013"/>
              <a:ext cx="514351" cy="396915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Oval 36"/>
          <p:cNvSpPr/>
          <p:nvPr/>
        </p:nvSpPr>
        <p:spPr>
          <a:xfrm>
            <a:off x="3429000" y="3086815"/>
            <a:ext cx="278423" cy="27019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172200" y="2899807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C00000"/>
                          </a:solidFill>
                          <a:latin typeface="Cambria Math"/>
                        </a:rPr>
                        <m:t>𝑻</m:t>
                      </m:r>
                      <m:r>
                        <a:rPr lang="en-US" b="1" i="1" dirty="0">
                          <a:solidFill>
                            <a:srgbClr val="C0000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2899807"/>
                <a:ext cx="441146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1805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/>
          <p:cNvGrpSpPr/>
          <p:nvPr/>
        </p:nvGrpSpPr>
        <p:grpSpPr>
          <a:xfrm>
            <a:off x="3735366" y="4432777"/>
            <a:ext cx="1141434" cy="1221163"/>
            <a:chOff x="6333959" y="4838541"/>
            <a:chExt cx="1141434" cy="1221163"/>
          </a:xfrm>
        </p:grpSpPr>
        <p:grpSp>
          <p:nvGrpSpPr>
            <p:cNvPr id="39" name="Group 38"/>
            <p:cNvGrpSpPr/>
            <p:nvPr/>
          </p:nvGrpSpPr>
          <p:grpSpPr>
            <a:xfrm>
              <a:off x="6333959" y="4838541"/>
              <a:ext cx="1141434" cy="1221163"/>
              <a:chOff x="6333959" y="4838541"/>
              <a:chExt cx="1141434" cy="1221163"/>
            </a:xfrm>
          </p:grpSpPr>
          <p:sp>
            <p:nvSpPr>
              <p:cNvPr id="41" name="Oval 40"/>
              <p:cNvSpPr/>
              <p:nvPr/>
            </p:nvSpPr>
            <p:spPr>
              <a:xfrm>
                <a:off x="6774473" y="4838541"/>
                <a:ext cx="278423" cy="270193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Arrow Connector 41"/>
              <p:cNvCxnSpPr>
                <a:stCxn id="41" idx="3"/>
              </p:cNvCxnSpPr>
              <p:nvPr/>
            </p:nvCxnSpPr>
            <p:spPr>
              <a:xfrm flipH="1">
                <a:off x="6635262" y="5069165"/>
                <a:ext cx="179986" cy="44485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>
              <a:xfrm>
                <a:off x="6333959" y="5514029"/>
                <a:ext cx="448304" cy="545675"/>
                <a:chOff x="6528153" y="5334000"/>
                <a:chExt cx="490775" cy="615567"/>
              </a:xfrm>
            </p:grpSpPr>
            <p:sp>
              <p:nvSpPr>
                <p:cNvPr id="58" name="Rectangle 57"/>
                <p:cNvSpPr/>
                <p:nvPr/>
              </p:nvSpPr>
              <p:spPr>
                <a:xfrm>
                  <a:off x="6553200" y="5334000"/>
                  <a:ext cx="457200" cy="369332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Rectangle 58"/>
                    <p:cNvSpPr/>
                    <p:nvPr/>
                  </p:nvSpPr>
                  <p:spPr>
                    <a:xfrm>
                      <a:off x="6528153" y="5580236"/>
                      <a:ext cx="490775" cy="369331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rgbClr val="006C3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9" name="Rectangle 5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8153" y="5580236"/>
                      <a:ext cx="490775" cy="369331"/>
                    </a:xfrm>
                    <a:prstGeom prst="rect">
                      <a:avLst/>
                    </a:prstGeom>
                    <a:blipFill rotWithShape="1">
                      <a:blip r:embed="rId6"/>
                      <a:stretch>
                        <a:fillRect t="-9434" r="-21918" b="-4339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Rectangle 50"/>
                  <p:cNvSpPr/>
                  <p:nvPr/>
                </p:nvSpPr>
                <p:spPr>
                  <a:xfrm>
                    <a:off x="7030017" y="5732303"/>
                    <a:ext cx="445376" cy="3273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Rectangle 5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0017" y="5732303"/>
                    <a:ext cx="445376" cy="327397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9434" r="-21918" b="-433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3" name="Group 52"/>
              <p:cNvGrpSpPr/>
              <p:nvPr/>
            </p:nvGrpSpPr>
            <p:grpSpPr>
              <a:xfrm>
                <a:off x="6983290" y="5097144"/>
                <a:ext cx="464361" cy="744276"/>
                <a:chOff x="7239000" y="4863726"/>
                <a:chExt cx="508353" cy="839606"/>
              </a:xfrm>
            </p:grpSpPr>
            <p:sp>
              <p:nvSpPr>
                <p:cNvPr id="56" name="Rectangle 55"/>
                <p:cNvSpPr/>
                <p:nvPr/>
              </p:nvSpPr>
              <p:spPr>
                <a:xfrm>
                  <a:off x="7290153" y="5334000"/>
                  <a:ext cx="457200" cy="369332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7" name="Straight Arrow Connector 56"/>
                <p:cNvCxnSpPr/>
                <p:nvPr/>
              </p:nvCxnSpPr>
              <p:spPr>
                <a:xfrm>
                  <a:off x="7239000" y="4863726"/>
                  <a:ext cx="317874" cy="4702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TextBox 54"/>
              <p:cNvSpPr txBox="1"/>
              <p:nvPr/>
            </p:nvSpPr>
            <p:spPr>
              <a:xfrm>
                <a:off x="7055741" y="5051529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6498895" y="5051529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999998" y="5486400"/>
                <a:ext cx="3229602" cy="43345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+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/>
                      </a:rPr>
                      <m:t>+</m:t>
                    </m:r>
                    <m:r>
                      <a:rPr lang="en-US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998" y="5486400"/>
                <a:ext cx="3229602" cy="433452"/>
              </a:xfrm>
              <a:prstGeom prst="rect">
                <a:avLst/>
              </a:prstGeom>
              <a:blipFill rotWithShape="1">
                <a:blip r:embed="rId8"/>
                <a:stretch>
                  <a:fillRect r="-2453" b="-2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/>
          <p:cNvSpPr/>
          <p:nvPr/>
        </p:nvSpPr>
        <p:spPr>
          <a:xfrm>
            <a:off x="2286000" y="5943600"/>
            <a:ext cx="5486400" cy="3939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FB6D92C-FD3A-AE46-B884-D92F21EA227D}"/>
              </a:ext>
            </a:extLst>
          </p:cNvPr>
          <p:cNvCxnSpPr/>
          <p:nvPr/>
        </p:nvCxnSpPr>
        <p:spPr>
          <a:xfrm flipH="1">
            <a:off x="3069029" y="3325574"/>
            <a:ext cx="359971" cy="484426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2A1744C-BFFD-4E41-B805-7CD34C0E6156}"/>
              </a:ext>
            </a:extLst>
          </p:cNvPr>
          <p:cNvCxnSpPr/>
          <p:nvPr/>
        </p:nvCxnSpPr>
        <p:spPr>
          <a:xfrm flipH="1">
            <a:off x="3526229" y="4011374"/>
            <a:ext cx="359971" cy="484426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D1424EEB-C418-CA4B-99B1-6F4235F94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itle 1">
                <a:extLst>
                  <a:ext uri="{FF2B5EF4-FFF2-40B4-BE49-F238E27FC236}">
                    <a16:creationId xmlns:a16="http://schemas.microsoft.com/office/drawing/2014/main" id="{F5D67FDA-49EA-3F42-A472-8053E116FAF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304800"/>
                <a:ext cx="8229600" cy="1143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r>
                  <a:rPr lang="en-US" sz="2400" dirty="0"/>
                  <a:t>A </a:t>
                </a:r>
                <a:r>
                  <a:rPr lang="en-US" sz="2400" u="sng" dirty="0"/>
                  <a:t>prefix coding</a:t>
                </a:r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from  </a:t>
                </a:r>
                <a14:m>
                  <m:oMath xmlns:m="http://schemas.openxmlformats.org/officeDocument/2006/math">
                    <m:r>
                      <a:rPr lang="en-US" sz="2400" b="1" dirty="0">
                        <a:solidFill>
                          <a:srgbClr val="7030A0"/>
                        </a:solidFill>
                        <a:latin typeface="Cambria Math"/>
                      </a:rPr>
                      <m:t>𝐎𝐏𝐓</m:t>
                    </m:r>
                    <m:d>
                      <m:dPr>
                        <m:ctrlPr>
                          <a:rPr lang="en-US" sz="24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dirty="0">
                                <a:latin typeface="Cambria Math"/>
                              </a:rPr>
                              <m:t>𝑨</m:t>
                            </m:r>
                          </m:e>
                          <m:sup>
                            <m:r>
                              <a:rPr lang="en-US" sz="2400" b="1" i="1" dirty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62" name="Title 1">
                <a:extLst>
                  <a:ext uri="{FF2B5EF4-FFF2-40B4-BE49-F238E27FC236}">
                    <a16:creationId xmlns:a16="http://schemas.microsoft.com/office/drawing/2014/main" id="{F5D67FDA-49EA-3F42-A472-8053E116F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304800"/>
                <a:ext cx="8229600" cy="1143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0BD8E1-C471-4496-CFA5-2D4B602F2EB5}"/>
                  </a:ext>
                </a:extLst>
              </p:cNvPr>
              <p:cNvSpPr txBox="1"/>
              <p:nvPr/>
            </p:nvSpPr>
            <p:spPr>
              <a:xfrm>
                <a:off x="2209800" y="111563"/>
                <a:ext cx="4532972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𝐎𝐏</m:t>
                      </m:r>
                      <m:sSub>
                        <m:sSubPr>
                          <m:ctrlPr>
                            <a:rPr lang="en-US" sz="18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𝐓</m:t>
                          </m:r>
                        </m:e>
                        <m:sub>
                          <m:r>
                            <a:rPr lang="en-US" sz="1800" b="1" dirty="0">
                              <a:latin typeface="Cambria Math"/>
                            </a:rPr>
                            <m:t>𝐀𝐁𝐋</m:t>
                          </m:r>
                        </m:sub>
                      </m:sSub>
                      <m:d>
                        <m:dPr>
                          <m:ctrlPr>
                            <a:rPr lang="en-US" sz="18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dirty="0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sz="1800" b="1" i="1" dirty="0" smtClean="0">
                          <a:latin typeface="Cambria Math"/>
                        </a:rPr>
                        <m:t>=</m:t>
                      </m:r>
                      <m:r>
                        <a:rPr lang="en-US" sz="1800" b="1" dirty="0">
                          <a:solidFill>
                            <a:srgbClr val="7030A0"/>
                          </a:solidFill>
                          <a:latin typeface="Cambria Math"/>
                        </a:rPr>
                        <m:t>𝐎𝐏</m:t>
                      </m:r>
                      <m:sSub>
                        <m:sSubPr>
                          <m:ctrlPr>
                            <a:rPr lang="en-US" sz="18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𝐓</m:t>
                          </m:r>
                        </m:e>
                        <m:sub>
                          <m:r>
                            <a:rPr lang="en-US" sz="1800" b="1" dirty="0">
                              <a:latin typeface="Cambria Math"/>
                            </a:rPr>
                            <m:t>𝐀𝐁𝐋</m:t>
                          </m:r>
                        </m:sub>
                      </m:sSub>
                      <m:d>
                        <m:dPr>
                          <m:ctrlPr>
                            <a:rPr lang="en-US" sz="18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 dirty="0">
                                  <a:latin typeface="Cambria Math"/>
                                </a:rPr>
                                <m:t>𝑨</m:t>
                              </m:r>
                            </m:e>
                            <m:sup>
                              <m:r>
                                <a:rPr lang="en-US" sz="1800" b="1" i="1" dirty="0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1800" b="0" i="1" dirty="0" smtClean="0">
                          <a:latin typeface="Cambria Math"/>
                        </a:rPr>
                        <m:t>+</m:t>
                      </m:r>
                      <m:r>
                        <a:rPr lang="en-US" sz="1800" b="1" i="1" dirty="0"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sz="18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1" i="1" dirty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dirty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1800" b="1" dirty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sz="1800" i="1" dirty="0">
                          <a:latin typeface="Cambria Math"/>
                        </a:rPr>
                        <m:t>+</m:t>
                      </m:r>
                      <m:r>
                        <a:rPr lang="en-US" sz="1800" b="1" i="1" dirty="0"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sz="18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1" i="1" dirty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dirty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1800" b="1" i="1" dirty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0BD8E1-C471-4496-CFA5-2D4B602F2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111563"/>
                <a:ext cx="4532972" cy="369332"/>
              </a:xfrm>
              <a:prstGeom prst="rect">
                <a:avLst/>
              </a:prstGeom>
              <a:blipFill>
                <a:blip r:embed="rId10"/>
                <a:stretch>
                  <a:fillRect b="-1111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471BF77-5D1D-7366-4379-89286FEA7C79}"/>
              </a:ext>
            </a:extLst>
          </p:cNvPr>
          <p:cNvSpPr txBox="1"/>
          <p:nvPr/>
        </p:nvSpPr>
        <p:spPr>
          <a:xfrm>
            <a:off x="97427" y="120134"/>
            <a:ext cx="2112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have established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12CA6A0-3121-A3BC-F392-E7FD273B32A7}"/>
                  </a:ext>
                </a:extLst>
              </p:cNvPr>
              <p:cNvSpPr txBox="1"/>
              <p:nvPr/>
            </p:nvSpPr>
            <p:spPr>
              <a:xfrm>
                <a:off x="2168773" y="5960645"/>
                <a:ext cx="410689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12CA6A0-3121-A3BC-F392-E7FD273B3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773" y="5960645"/>
                <a:ext cx="41068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EF1B57B6-15F6-1E64-1330-E51AEE0B8E12}"/>
              </a:ext>
            </a:extLst>
          </p:cNvPr>
          <p:cNvSpPr txBox="1"/>
          <p:nvPr/>
        </p:nvSpPr>
        <p:spPr>
          <a:xfrm>
            <a:off x="108734" y="489466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928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0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1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uiExpand="1" build="p"/>
      <p:bldP spid="16" grpId="0" animBg="1"/>
      <p:bldP spid="54" grpId="0" animBg="1"/>
      <p:bldP spid="2" grpId="0" animBg="1"/>
      <p:bldP spid="18" grpId="0"/>
      <p:bldP spid="19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The algorithm </a:t>
                </a:r>
                <a:r>
                  <a:rPr lang="en-US" sz="3200" b="1" dirty="0"/>
                  <a:t>based on</a:t>
                </a:r>
                <a:br>
                  <a:rPr lang="en-US" sz="3200" b="1" dirty="0"/>
                </a:br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2400" b="1" i="1" dirty="0">
                        <a:latin typeface="Cambria Math"/>
                      </a:rPr>
                      <m:t>=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+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1800" i="1" dirty="0">
                        <a:latin typeface="Cambria Math"/>
                      </a:rPr>
                      <m:t>+</m:t>
                    </m:r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723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    </a:t>
                </a:r>
                <a:r>
                  <a:rPr lang="en-US" sz="2000" b="1" dirty="0"/>
                  <a:t>If</a:t>
                </a:r>
                <a:r>
                  <a:rPr lang="en-US" sz="2000" dirty="0"/>
                  <a:t> |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|=</a:t>
                </a:r>
                <a:r>
                  <a:rPr lang="en-US" sz="2000" dirty="0">
                    <a:solidFill>
                      <a:srgbClr val="0070C0"/>
                    </a:solidFill>
                  </a:rPr>
                  <a:t>2</a:t>
                </a:r>
                <a:r>
                  <a:rPr lang="en-US" sz="2000" dirty="0"/>
                  <a:t>,  return                         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</a:t>
                </a:r>
                <a:r>
                  <a:rPr lang="en-US" sz="2000" b="1" dirty="0"/>
                  <a:t>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{    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be the two alphabets with </a:t>
                </a:r>
                <a:r>
                  <a:rPr lang="en-US" sz="2000" b="1" dirty="0"/>
                  <a:t>least frequencies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</a:t>
                </a:r>
                <a:r>
                  <a:rPr lang="en-US" sz="2000" b="1" dirty="0"/>
                  <a:t>Remove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</a:t>
                </a:r>
                <a:r>
                  <a:rPr lang="en-US" sz="2000" b="1" dirty="0"/>
                  <a:t>Create</a:t>
                </a:r>
                <a:r>
                  <a:rPr lang="en-US" sz="2000" dirty="0"/>
                  <a:t> a new alphabet </a:t>
                </a:r>
                <a14:m>
                  <m:oMath xmlns:m="http://schemas.openxmlformats.org/officeDocument/2006/math">
                    <m:r>
                      <a:rPr lang="en-US" sz="2000" dirty="0">
                        <a:solidFill>
                          <a:srgbClr val="006C31"/>
                        </a:solidFill>
                        <a:latin typeface="Cambria Math"/>
                      </a:rPr>
                      <m:t>𝒂</m:t>
                    </m:r>
                    <m:r>
                      <a:rPr lang="en-US" sz="2000" b="0" i="0" dirty="0" smtClean="0">
                        <a:solidFill>
                          <a:srgbClr val="006C31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solidFill>
                          <a:srgbClr val="006C31"/>
                        </a:solidFill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Insert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𝒂</m:t>
                    </m:r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′ </m:t>
                    </m:r>
                  </m:oMath>
                </a14:m>
                <a:r>
                  <a:rPr lang="en-US" sz="2000" dirty="0"/>
                  <a:t>into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T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b="1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</a:t>
                </a:r>
                <a:r>
                  <a:rPr lang="en-US" sz="2000" b="1" dirty="0"/>
                  <a:t>Replace</a:t>
                </a:r>
                <a:r>
                  <a:rPr lang="en-US" sz="2000" dirty="0"/>
                  <a:t> node               in 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T </a:t>
                </a:r>
                <a:r>
                  <a:rPr lang="en-US" sz="2000" dirty="0"/>
                  <a:t>by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        return 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T </a:t>
                </a:r>
                <a:r>
                  <a:rPr lang="en-US" sz="2000" dirty="0"/>
                  <a:t>;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}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5105400"/>
              </a:xfrm>
              <a:blipFill>
                <a:blip r:embed="rId3"/>
                <a:stretch>
                  <a:fillRect l="-741" t="-597" b="-2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048000" y="4778710"/>
            <a:ext cx="457200" cy="584047"/>
            <a:chOff x="4057650" y="4672013"/>
            <a:chExt cx="493578" cy="6218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4114800" y="4900613"/>
                  <a:ext cx="436428" cy="39321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𝒂</m:t>
                      </m:r>
                    </m:oMath>
                  </a14:m>
                  <a:r>
                    <a:rPr lang="en-US" dirty="0">
                      <a:solidFill>
                        <a:srgbClr val="7030A0"/>
                      </a:solidFill>
                    </a:rPr>
                    <a:t>’</a:t>
                  </a:r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4800" y="4900613"/>
                  <a:ext cx="436428" cy="393216"/>
                </a:xfrm>
                <a:prstGeom prst="rect">
                  <a:avLst/>
                </a:prstGeom>
                <a:blipFill>
                  <a:blip r:embed="rId4"/>
                  <a:stretch>
                    <a:fillRect t="-8197" r="-606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/>
            <p:cNvSpPr/>
            <p:nvPr/>
          </p:nvSpPr>
          <p:spPr>
            <a:xfrm>
              <a:off x="4057650" y="4672013"/>
              <a:ext cx="493578" cy="314747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571999" y="4724400"/>
            <a:ext cx="769014" cy="713563"/>
            <a:chOff x="5942575" y="4163237"/>
            <a:chExt cx="1000074" cy="982410"/>
          </a:xfrm>
        </p:grpSpPr>
        <p:sp>
          <p:nvSpPr>
            <p:cNvPr id="9" name="Oval 8"/>
            <p:cNvSpPr/>
            <p:nvPr/>
          </p:nvSpPr>
          <p:spPr>
            <a:xfrm>
              <a:off x="6341667" y="4163237"/>
              <a:ext cx="238725" cy="221873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9" idx="3"/>
            </p:cNvCxnSpPr>
            <p:nvPr/>
          </p:nvCxnSpPr>
          <p:spPr>
            <a:xfrm flipH="1">
              <a:off x="6222305" y="4352617"/>
              <a:ext cx="154323" cy="36530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/>
            <p:cNvGrpSpPr/>
            <p:nvPr/>
          </p:nvGrpSpPr>
          <p:grpSpPr>
            <a:xfrm>
              <a:off x="5983580" y="4717913"/>
              <a:ext cx="417221" cy="427731"/>
              <a:chOff x="6553200" y="5334000"/>
              <a:chExt cx="532700" cy="587601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6553200" y="5334000"/>
                <a:ext cx="457200" cy="36933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595124" y="5552269"/>
                    <a:ext cx="49077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95124" y="5552269"/>
                    <a:ext cx="490776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15625" r="-81633" b="-137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6560775" y="4876800"/>
                  <a:ext cx="381874" cy="26884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0775" y="4876800"/>
                  <a:ext cx="381874" cy="268847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15625" r="-83333" b="-13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oup 12"/>
            <p:cNvGrpSpPr/>
            <p:nvPr/>
          </p:nvGrpSpPr>
          <p:grpSpPr>
            <a:xfrm>
              <a:off x="6520711" y="4375593"/>
              <a:ext cx="398152" cy="611173"/>
              <a:chOff x="7239000" y="4863726"/>
              <a:chExt cx="508353" cy="83960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7290153" y="5334000"/>
                <a:ext cx="457200" cy="36933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" name="Straight Arrow Connector 16"/>
              <p:cNvCxnSpPr/>
              <p:nvPr/>
            </p:nvCxnSpPr>
            <p:spPr>
              <a:xfrm>
                <a:off x="7239000" y="4863726"/>
                <a:ext cx="317874" cy="4702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/>
            <p:cNvSpPr txBox="1"/>
            <p:nvPr/>
          </p:nvSpPr>
          <p:spPr>
            <a:xfrm>
              <a:off x="6582830" y="4209119"/>
              <a:ext cx="236288" cy="268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942575" y="4268147"/>
              <a:ext cx="236288" cy="268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964786" y="1600200"/>
            <a:ext cx="769014" cy="713563"/>
            <a:chOff x="5942575" y="4163237"/>
            <a:chExt cx="1000074" cy="982410"/>
          </a:xfrm>
        </p:grpSpPr>
        <p:sp>
          <p:nvSpPr>
            <p:cNvPr id="21" name="Oval 20"/>
            <p:cNvSpPr/>
            <p:nvPr/>
          </p:nvSpPr>
          <p:spPr>
            <a:xfrm>
              <a:off x="6341667" y="4163237"/>
              <a:ext cx="238725" cy="221873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>
              <a:stCxn id="21" idx="3"/>
            </p:cNvCxnSpPr>
            <p:nvPr/>
          </p:nvCxnSpPr>
          <p:spPr>
            <a:xfrm flipH="1">
              <a:off x="6222305" y="4352617"/>
              <a:ext cx="154323" cy="36530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>
            <a:xfrm>
              <a:off x="5983580" y="4717913"/>
              <a:ext cx="417221" cy="427731"/>
              <a:chOff x="6553200" y="5334000"/>
              <a:chExt cx="532700" cy="587601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6553200" y="5334000"/>
                <a:ext cx="457200" cy="36933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Rectangle 30"/>
                  <p:cNvSpPr/>
                  <p:nvPr/>
                </p:nvSpPr>
                <p:spPr>
                  <a:xfrm>
                    <a:off x="6595124" y="5552269"/>
                    <a:ext cx="49077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" name="Rectangle 3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95124" y="5552269"/>
                    <a:ext cx="490776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15625" r="-83333" b="-137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/>
                <p:cNvSpPr/>
                <p:nvPr/>
              </p:nvSpPr>
              <p:spPr>
                <a:xfrm>
                  <a:off x="6560775" y="4876800"/>
                  <a:ext cx="381874" cy="26884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0775" y="4876800"/>
                  <a:ext cx="381874" cy="268847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15625" r="-81633" b="-13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Group 24"/>
            <p:cNvGrpSpPr/>
            <p:nvPr/>
          </p:nvGrpSpPr>
          <p:grpSpPr>
            <a:xfrm>
              <a:off x="6520711" y="4375593"/>
              <a:ext cx="398152" cy="611173"/>
              <a:chOff x="7239000" y="4863726"/>
              <a:chExt cx="508353" cy="839606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7290153" y="5334000"/>
                <a:ext cx="457200" cy="36933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Arrow Connector 28"/>
              <p:cNvCxnSpPr/>
              <p:nvPr/>
            </p:nvCxnSpPr>
            <p:spPr>
              <a:xfrm>
                <a:off x="7239000" y="4863726"/>
                <a:ext cx="317874" cy="4702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/>
            <p:cNvSpPr txBox="1"/>
            <p:nvPr/>
          </p:nvSpPr>
          <p:spPr>
            <a:xfrm>
              <a:off x="6582830" y="4209119"/>
              <a:ext cx="236288" cy="268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942575" y="4268147"/>
              <a:ext cx="236288" cy="268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019800" y="3505200"/>
                <a:ext cx="2362506" cy="3755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time complexity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3505200"/>
                <a:ext cx="2362506" cy="375552"/>
              </a:xfrm>
              <a:prstGeom prst="rect">
                <a:avLst/>
              </a:prstGeom>
              <a:blipFill rotWithShape="1">
                <a:blip r:embed="rId9"/>
                <a:stretch>
                  <a:fillRect t="-6452" r="-4134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Down Ribbon 32"/>
              <p:cNvSpPr/>
              <p:nvPr/>
            </p:nvSpPr>
            <p:spPr>
              <a:xfrm>
                <a:off x="5867400" y="3880752"/>
                <a:ext cx="3200400" cy="1246531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6C31"/>
                    </a:solidFill>
                  </a:rPr>
                  <a:t>Homework: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Achieve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𝐥𝐨𝐠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time complexity</a:t>
                </a: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33" name="Down Ribbon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3880752"/>
                <a:ext cx="3200400" cy="1246531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ounded Rectangle 33"/>
          <p:cNvSpPr/>
          <p:nvPr/>
        </p:nvSpPr>
        <p:spPr>
          <a:xfrm>
            <a:off x="5715000" y="2438400"/>
            <a:ext cx="1905000" cy="45720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1504348" y="2895600"/>
            <a:ext cx="934052" cy="30480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1504348" y="3962400"/>
            <a:ext cx="705452" cy="39404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27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876800" y="3581400"/>
                <a:ext cx="4251969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b="1" dirty="0"/>
                  <a:t>based on </a:t>
                </a:r>
                <a:r>
                  <a:rPr lang="en-US" dirty="0"/>
                  <a:t>a suitable </a:t>
                </a:r>
                <a:r>
                  <a:rPr lang="en-US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dirty="0"/>
                  <a:t>about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b="1" dirty="0"/>
                  <a:t>Opt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3581400"/>
                <a:ext cx="4251969" cy="369332"/>
              </a:xfrm>
              <a:prstGeom prst="rect">
                <a:avLst/>
              </a:prstGeom>
              <a:blipFill>
                <a:blip r:embed="rId2"/>
                <a:stretch>
                  <a:fillRect t="-8065" r="-857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274638"/>
            <a:ext cx="8444744" cy="1143000"/>
          </a:xfrm>
        </p:spPr>
        <p:txBody>
          <a:bodyPr/>
          <a:lstStyle/>
          <a:p>
            <a:r>
              <a:rPr lang="en-US" sz="2800" b="1" dirty="0"/>
              <a:t>A </a:t>
            </a:r>
            <a:r>
              <a:rPr lang="en-US" sz="2800" b="1" u="sng" dirty="0"/>
              <a:t>generic</a:t>
            </a:r>
            <a:r>
              <a:rPr lang="en-US" sz="2800" b="1" dirty="0"/>
              <a:t> way to </a:t>
            </a:r>
            <a:r>
              <a:rPr lang="en-US" sz="2800" b="1" dirty="0">
                <a:solidFill>
                  <a:srgbClr val="7030A0"/>
                </a:solidFill>
              </a:rPr>
              <a:t>design</a:t>
            </a:r>
            <a:r>
              <a:rPr lang="en-US" sz="2800" b="1" dirty="0"/>
              <a:t> and </a:t>
            </a:r>
            <a:r>
              <a:rPr lang="en-US" sz="2800" b="1" dirty="0" err="1">
                <a:solidFill>
                  <a:srgbClr val="7030A0"/>
                </a:solidFill>
              </a:rPr>
              <a:t>analyse</a:t>
            </a:r>
            <a:r>
              <a:rPr lang="en-US" sz="2800" b="1" dirty="0"/>
              <a:t> a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b="1" dirty="0">
                <a:solidFill>
                  <a:srgbClr val="006C31"/>
                </a:solidFill>
              </a:rPr>
              <a:t>greedy </a:t>
            </a:r>
            <a:r>
              <a:rPr lang="en-US" sz="2800" b="1" dirty="0"/>
              <a:t>algorithm</a:t>
            </a:r>
            <a:br>
              <a:rPr lang="en-US" sz="2800" b="1" dirty="0"/>
            </a:b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P</a:t>
                </a:r>
                <a:r>
                  <a:rPr lang="en-US" sz="2000" dirty="0"/>
                  <a:t>: a given optimization problem 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1. Try to establish </a:t>
                </a:r>
                <a:r>
                  <a:rPr lang="en-US" sz="2000" dirty="0"/>
                  <a:t>a relation between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) and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2. Try to prove </a:t>
                </a:r>
                <a:r>
                  <a:rPr lang="en-US" sz="2000" dirty="0"/>
                  <a:t>the relation formally by</a:t>
                </a:r>
              </a:p>
              <a:p>
                <a:pPr>
                  <a:buFont typeface="Wingdings" pitchFamily="2" charset="2"/>
                  <a:buChar char="q"/>
                </a:pPr>
                <a:r>
                  <a:rPr lang="en-US" sz="2000" dirty="0"/>
                  <a:t>     deriving a solution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from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>
                  <a:buFont typeface="Wingdings" pitchFamily="2" charset="2"/>
                  <a:buChar char="q"/>
                </a:pPr>
                <a:r>
                  <a:rPr lang="en-US" sz="2000" dirty="0"/>
                  <a:t>     deriving a solution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 from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)</a:t>
                </a: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  <a:blipFill rotWithShape="1">
                <a:blip r:embed="rId3"/>
                <a:stretch>
                  <a:fillRect l="-741" t="-563" b="-71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3161541" y="2667000"/>
                <a:ext cx="2514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541" y="2667000"/>
                <a:ext cx="2514600" cy="609600"/>
              </a:xfrm>
              <a:prstGeom prst="round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3313941" y="4495800"/>
                <a:ext cx="2133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941" y="4495800"/>
                <a:ext cx="2133600" cy="609600"/>
              </a:xfrm>
              <a:prstGeom prst="round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52341" y="2819400"/>
                <a:ext cx="30734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instance of size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of problem </a:t>
                </a:r>
                <a:r>
                  <a:rPr lang="en-US" b="1" dirty="0">
                    <a:solidFill>
                      <a:srgbClr val="00B050"/>
                    </a:solidFill>
                  </a:rPr>
                  <a:t>P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341" y="2819400"/>
                <a:ext cx="3073405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786" t="-8333" r="-257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own Arrow 7"/>
          <p:cNvSpPr/>
          <p:nvPr/>
        </p:nvSpPr>
        <p:spPr>
          <a:xfrm>
            <a:off x="3466341" y="3429000"/>
            <a:ext cx="1828800" cy="914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Greedy</a:t>
            </a:r>
          </a:p>
          <a:p>
            <a:pPr algn="ctr"/>
            <a:r>
              <a:rPr lang="en-US" dirty="0"/>
              <a:t>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752341" y="4572000"/>
                <a:ext cx="3315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instance of size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of problem </a:t>
                </a:r>
                <a:r>
                  <a:rPr lang="en-US" b="1" dirty="0">
                    <a:solidFill>
                      <a:srgbClr val="00B050"/>
                    </a:solidFill>
                  </a:rPr>
                  <a:t>P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341" y="4572000"/>
                <a:ext cx="3315459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654" t="-8197" r="-202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20040" y="2956560"/>
            <a:ext cx="2133600" cy="1706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/>
              <p:cNvSpPr/>
              <p:nvPr/>
            </p:nvSpPr>
            <p:spPr>
              <a:xfrm>
                <a:off x="457200" y="2743200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43200"/>
                <a:ext cx="1828800" cy="533400"/>
              </a:xfrm>
              <a:prstGeom prst="round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/>
              <p:cNvSpPr/>
              <p:nvPr/>
            </p:nvSpPr>
            <p:spPr>
              <a:xfrm>
                <a:off x="533400" y="4495800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495800"/>
                <a:ext cx="1828800" cy="533400"/>
              </a:xfrm>
              <a:prstGeom prst="round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410742" y="6400800"/>
            <a:ext cx="1478931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006C31"/>
                </a:solidFill>
              </a:rPr>
              <a:t>use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Theorem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5787900" y="2743200"/>
            <a:ext cx="3037845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791201" y="4495800"/>
            <a:ext cx="1904999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696201" y="4495800"/>
            <a:ext cx="1371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324660" y="1600200"/>
            <a:ext cx="2275816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If you succeed, </a:t>
            </a:r>
          </a:p>
          <a:p>
            <a:pPr algn="ctr"/>
            <a:r>
              <a:rPr lang="en-US" dirty="0"/>
              <a:t>you have an algorithm</a:t>
            </a:r>
          </a:p>
        </p:txBody>
      </p:sp>
      <p:sp>
        <p:nvSpPr>
          <p:cNvPr id="20" name="Smiley Face 19"/>
          <p:cNvSpPr/>
          <p:nvPr/>
        </p:nvSpPr>
        <p:spPr>
          <a:xfrm>
            <a:off x="6248400" y="1143000"/>
            <a:ext cx="561340" cy="457200"/>
          </a:xfrm>
          <a:prstGeom prst="smileyFac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410200" y="5943600"/>
            <a:ext cx="1949444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/>
              <a:t>from construction</a:t>
            </a:r>
            <a:endParaRPr lang="en-IN" dirty="0"/>
          </a:p>
        </p:txBody>
      </p:sp>
      <p:sp>
        <p:nvSpPr>
          <p:cNvPr id="21" name="Arrow: Left-Up 20">
            <a:extLst>
              <a:ext uri="{FF2B5EF4-FFF2-40B4-BE49-F238E27FC236}">
                <a16:creationId xmlns:a16="http://schemas.microsoft.com/office/drawing/2014/main" id="{0CBD8A6D-A5F3-BFB2-C82E-7B8973A2AE45}"/>
              </a:ext>
            </a:extLst>
          </p:cNvPr>
          <p:cNvSpPr/>
          <p:nvPr/>
        </p:nvSpPr>
        <p:spPr>
          <a:xfrm>
            <a:off x="6891194" y="3994150"/>
            <a:ext cx="843866" cy="2705616"/>
          </a:xfrm>
          <a:prstGeom prst="leftUpArrow">
            <a:avLst>
              <a:gd name="adj1" fmla="val 14247"/>
              <a:gd name="adj2" fmla="val 15323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animBg="1"/>
      <p:bldP spid="2" grpId="0"/>
      <p:bldP spid="3" grpId="0" uiExpand="1" build="p"/>
      <p:bldP spid="5" grpId="0" uiExpand="1" animBg="1"/>
      <p:bldP spid="6" grpId="0" uiExpand="1" animBg="1"/>
      <p:bldP spid="8" grpId="0" uiExpand="1" animBg="1"/>
      <p:bldP spid="11" grpId="0" animBg="1"/>
      <p:bldP spid="12" grpId="0" animBg="1"/>
      <p:bldP spid="13" grpId="0" animBg="1"/>
      <p:bldP spid="14" grpId="0" uiExpand="1" animBg="1"/>
      <p:bldP spid="15" grpId="0" uiExpand="1" animBg="1"/>
      <p:bldP spid="16" grpId="0" uiExpand="1" animBg="1"/>
      <p:bldP spid="18" grpId="0" animBg="1"/>
      <p:bldP spid="20" grpId="0" animBg="1"/>
      <p:bldP spid="19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More Homework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71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The</a:t>
            </a:r>
            <a:r>
              <a:rPr lang="en-US" sz="3600" b="1" dirty="0">
                <a:solidFill>
                  <a:srgbClr val="7030A0"/>
                </a:solidFill>
              </a:rPr>
              <a:t> 2 problems </a:t>
            </a:r>
            <a:r>
              <a:rPr lang="en-US" sz="3600" b="1" dirty="0"/>
              <a:t>we discussed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sz="2000" dirty="0"/>
              <a:t>Largest set of </a:t>
            </a:r>
            <a:r>
              <a:rPr lang="en-US" sz="2000" dirty="0">
                <a:solidFill>
                  <a:srgbClr val="C00000"/>
                </a:solidFill>
              </a:rPr>
              <a:t>non-overlapping </a:t>
            </a:r>
            <a:r>
              <a:rPr lang="en-US" sz="2000" dirty="0"/>
              <a:t>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20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sz="1800" dirty="0">
                <a:solidFill>
                  <a:srgbClr val="C00000"/>
                </a:solidFill>
              </a:rPr>
              <a:t>Scheduling jobs </a:t>
            </a:r>
            <a:r>
              <a:rPr lang="en-US" sz="1800" dirty="0"/>
              <a:t>to minimize maximum lateness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grpSp>
        <p:nvGrpSpPr>
          <p:cNvPr id="94" name="Group 93"/>
          <p:cNvGrpSpPr/>
          <p:nvPr/>
        </p:nvGrpSpPr>
        <p:grpSpPr>
          <a:xfrm>
            <a:off x="4724400" y="3967385"/>
            <a:ext cx="4076378" cy="604615"/>
            <a:chOff x="269488" y="3429000"/>
            <a:chExt cx="7960112" cy="973947"/>
          </a:xfrm>
        </p:grpSpPr>
        <p:grpSp>
          <p:nvGrpSpPr>
            <p:cNvPr id="81" name="Group 80"/>
            <p:cNvGrpSpPr/>
            <p:nvPr/>
          </p:nvGrpSpPr>
          <p:grpSpPr>
            <a:xfrm>
              <a:off x="494232" y="3429000"/>
              <a:ext cx="7582968" cy="328136"/>
              <a:chOff x="494232" y="3429000"/>
              <a:chExt cx="7582968" cy="328136"/>
            </a:xfrm>
          </p:grpSpPr>
          <p:sp>
            <p:nvSpPr>
              <p:cNvPr id="82" name="Rounded Rectangle 81"/>
              <p:cNvSpPr/>
              <p:nvPr/>
            </p:nvSpPr>
            <p:spPr>
              <a:xfrm>
                <a:off x="494232" y="3440668"/>
                <a:ext cx="1066800" cy="316468"/>
              </a:xfrm>
              <a:prstGeom prst="roundRect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Rounded Rectangle 82"/>
              <p:cNvSpPr/>
              <p:nvPr/>
            </p:nvSpPr>
            <p:spPr>
              <a:xfrm>
                <a:off x="6172200" y="3440668"/>
                <a:ext cx="1905000" cy="304800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Rounded Rectangle 83"/>
              <p:cNvSpPr/>
              <p:nvPr/>
            </p:nvSpPr>
            <p:spPr>
              <a:xfrm>
                <a:off x="1588037" y="3446502"/>
                <a:ext cx="1600200" cy="3048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Rounded Rectangle 84"/>
              <p:cNvSpPr/>
              <p:nvPr/>
            </p:nvSpPr>
            <p:spPr>
              <a:xfrm>
                <a:off x="3200400" y="3429000"/>
                <a:ext cx="528729" cy="328136"/>
              </a:xfrm>
              <a:prstGeom prst="roundRect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Rounded Rectangle 85"/>
              <p:cNvSpPr/>
              <p:nvPr/>
            </p:nvSpPr>
            <p:spPr>
              <a:xfrm>
                <a:off x="4424271" y="3429000"/>
                <a:ext cx="909729" cy="322302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Rounded Rectangle 86"/>
              <p:cNvSpPr/>
              <p:nvPr/>
            </p:nvSpPr>
            <p:spPr>
              <a:xfrm>
                <a:off x="3733800" y="3429000"/>
                <a:ext cx="690471" cy="32230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Rounded Rectangle 87"/>
              <p:cNvSpPr/>
              <p:nvPr/>
            </p:nvSpPr>
            <p:spPr>
              <a:xfrm>
                <a:off x="5334000" y="3429000"/>
                <a:ext cx="838200" cy="3281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269488" y="3722132"/>
              <a:ext cx="7960112" cy="680815"/>
              <a:chOff x="269488" y="3722132"/>
              <a:chExt cx="7960112" cy="68081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/>
                  <p:cNvSpPr txBox="1"/>
                  <p:nvPr/>
                </p:nvSpPr>
                <p:spPr>
                  <a:xfrm>
                    <a:off x="269488" y="4033615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0" name="TextBox 8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9488" y="4033615"/>
                    <a:ext cx="375424" cy="36933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t="-13158" r="-115625" b="-10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1" name="Straight Arrow Connector 90"/>
              <p:cNvCxnSpPr/>
              <p:nvPr/>
            </p:nvCxnSpPr>
            <p:spPr>
              <a:xfrm>
                <a:off x="457200" y="3897868"/>
                <a:ext cx="77724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457200" y="3722132"/>
                <a:ext cx="0" cy="31646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TextBox 92"/>
              <p:cNvSpPr txBox="1"/>
              <p:nvPr/>
            </p:nvSpPr>
            <p:spPr>
              <a:xfrm>
                <a:off x="4110129" y="3886200"/>
                <a:ext cx="6142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time</a:t>
                </a:r>
              </a:p>
            </p:txBody>
          </p:sp>
        </p:grpSp>
      </p:grpSp>
      <p:sp>
        <p:nvSpPr>
          <p:cNvPr id="5" name="TextBox 4"/>
          <p:cNvSpPr txBox="1"/>
          <p:nvPr/>
        </p:nvSpPr>
        <p:spPr>
          <a:xfrm>
            <a:off x="980394" y="6247677"/>
            <a:ext cx="6712158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6C3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Design and </a:t>
            </a:r>
            <a:r>
              <a:rPr lang="en-US" dirty="0" err="1"/>
              <a:t>analyse</a:t>
            </a:r>
            <a:r>
              <a:rPr lang="en-US" dirty="0"/>
              <a:t> a greed algorithm based on the </a:t>
            </a:r>
            <a:r>
              <a:rPr lang="en-US" b="1" u="sng" dirty="0"/>
              <a:t>generic</a:t>
            </a:r>
            <a:r>
              <a:rPr lang="en-US" dirty="0"/>
              <a:t> technique.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11A7C77-65EB-FD97-3123-A74EE5F63F05}"/>
              </a:ext>
            </a:extLst>
          </p:cNvPr>
          <p:cNvGrpSpPr/>
          <p:nvPr/>
        </p:nvGrpSpPr>
        <p:grpSpPr>
          <a:xfrm>
            <a:off x="1109817" y="3471709"/>
            <a:ext cx="3048000" cy="533399"/>
            <a:chOff x="1219200" y="3048000"/>
            <a:chExt cx="4495800" cy="609600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4DF68B22-85EC-760E-E826-D33EA927D69F}"/>
                </a:ext>
              </a:extLst>
            </p:cNvPr>
            <p:cNvGrpSpPr/>
            <p:nvPr/>
          </p:nvGrpSpPr>
          <p:grpSpPr>
            <a:xfrm>
              <a:off x="1219200" y="3048000"/>
              <a:ext cx="4495800" cy="304800"/>
              <a:chOff x="1219200" y="3048000"/>
              <a:chExt cx="4495800" cy="304800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4638A886-EEC6-D8D2-972C-0B76A6E132FD}"/>
                  </a:ext>
                </a:extLst>
              </p:cNvPr>
              <p:cNvGrpSpPr/>
              <p:nvPr/>
            </p:nvGrpSpPr>
            <p:grpSpPr>
              <a:xfrm>
                <a:off x="1219200" y="3048000"/>
                <a:ext cx="3657600" cy="304800"/>
                <a:chOff x="1219200" y="3048000"/>
                <a:chExt cx="3657600" cy="304800"/>
              </a:xfrm>
            </p:grpSpPr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7CCFF213-599F-3BE7-9092-3F2F9B6BB254}"/>
                    </a:ext>
                  </a:extLst>
                </p:cNvPr>
                <p:cNvCxnSpPr/>
                <p:nvPr/>
              </p:nvCxnSpPr>
              <p:spPr>
                <a:xfrm>
                  <a:off x="2971800" y="3352800"/>
                  <a:ext cx="11430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A96F85EE-92B4-7624-84AE-F4253906F31B}"/>
                    </a:ext>
                  </a:extLst>
                </p:cNvPr>
                <p:cNvCxnSpPr/>
                <p:nvPr/>
              </p:nvCxnSpPr>
              <p:spPr>
                <a:xfrm>
                  <a:off x="1219200" y="3200400"/>
                  <a:ext cx="19812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BF868626-6F75-AF4E-CCBC-9C515622EAAC}"/>
                    </a:ext>
                  </a:extLst>
                </p:cNvPr>
                <p:cNvCxnSpPr/>
                <p:nvPr/>
              </p:nvCxnSpPr>
              <p:spPr>
                <a:xfrm>
                  <a:off x="2057400" y="3048000"/>
                  <a:ext cx="6858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5EDDDE50-3A21-4FF9-1A0F-FEC7C28C5170}"/>
                    </a:ext>
                  </a:extLst>
                </p:cNvPr>
                <p:cNvCxnSpPr/>
                <p:nvPr/>
              </p:nvCxnSpPr>
              <p:spPr>
                <a:xfrm>
                  <a:off x="4343400" y="3352800"/>
                  <a:ext cx="533400" cy="0"/>
                </a:xfrm>
                <a:prstGeom prst="line">
                  <a:avLst/>
                </a:prstGeom>
                <a:ln w="19050">
                  <a:solidFill>
                    <a:srgbClr val="006C3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AA9CB7AE-4A5B-F057-160F-272EE115BFF4}"/>
                  </a:ext>
                </a:extLst>
              </p:cNvPr>
              <p:cNvCxnSpPr/>
              <p:nvPr/>
            </p:nvCxnSpPr>
            <p:spPr>
              <a:xfrm>
                <a:off x="3962400" y="3200400"/>
                <a:ext cx="1485900" cy="0"/>
              </a:xfrm>
              <a:prstGeom prst="line">
                <a:avLst/>
              </a:prstGeom>
              <a:ln w="19050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B3F32C61-7C50-3C2C-94CA-50960B5278BC}"/>
                  </a:ext>
                </a:extLst>
              </p:cNvPr>
              <p:cNvCxnSpPr/>
              <p:nvPr/>
            </p:nvCxnSpPr>
            <p:spPr>
              <a:xfrm>
                <a:off x="5181600" y="3352800"/>
                <a:ext cx="533400" cy="0"/>
              </a:xfrm>
              <a:prstGeom prst="line">
                <a:avLst/>
              </a:prstGeom>
              <a:ln w="19050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D37C4B51-3BF8-3CCB-B418-6990D607F990}"/>
                </a:ext>
              </a:extLst>
            </p:cNvPr>
            <p:cNvCxnSpPr/>
            <p:nvPr/>
          </p:nvCxnSpPr>
          <p:spPr>
            <a:xfrm>
              <a:off x="3276600" y="3657600"/>
              <a:ext cx="685800" cy="0"/>
            </a:xfrm>
            <a:prstGeom prst="line">
              <a:avLst/>
            </a:prstGeom>
            <a:ln w="19050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858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uiExpand="1" build="p" animBg="1"/>
      <p:bldP spid="7" grpId="0" uiExpand="1" build="p" animBg="1"/>
      <p:bldP spid="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14939</TotalTime>
  <Words>1940</Words>
  <Application>Microsoft Office PowerPoint</Application>
  <PresentationFormat>On-screen Show (4:3)</PresentationFormat>
  <Paragraphs>707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Quiz 1 Question 3(b)</vt:lpstr>
      <vt:lpstr>Quiz 1 Question 3(b)</vt:lpstr>
      <vt:lpstr>How to schedule more than 2 jobs ?</vt:lpstr>
      <vt:lpstr>How to schedule more than 2 jobs ?</vt:lpstr>
      <vt:lpstr>Finding the labeled binary tree for</vt:lpstr>
      <vt:lpstr>Optimal Prefix Coding</vt:lpstr>
      <vt:lpstr>The binary tree of the optimal prefix code</vt:lpstr>
      <vt:lpstr>Problems solved using Greedy Paradigm</vt:lpstr>
      <vt:lpstr>A generic way to design and analyse a greedy algorithm </vt:lpstr>
      <vt:lpstr>Example  Minimum spanning tree</vt:lpstr>
      <vt:lpstr>instance A </vt:lpstr>
      <vt:lpstr>instance A </vt:lpstr>
      <vt:lpstr>instance A′ </vt:lpstr>
      <vt:lpstr>How to compute instance A′ ? </vt:lpstr>
      <vt:lpstr>PowerPoint Presentation</vt:lpstr>
      <vt:lpstr>Finding the labeled binary tree for</vt:lpstr>
      <vt:lpstr>The binary tree of the optimal prefix code</vt:lpstr>
      <vt:lpstr>The binary tree of the optimal prefix code</vt:lpstr>
      <vt:lpstr>The binary tree of the optimal prefix code</vt:lpstr>
      <vt:lpstr>PowerPoint Presentation</vt:lpstr>
      <vt:lpstr>Proof for  OPT_ABL (A)=OPT_ABL (A′) + f(a_1 )+f(a_2 )</vt:lpstr>
      <vt:lpstr>How to prove  OPT_ABL (A)=OPT_ABL (A′) + f(a_1 )+f(a_2 )  ?</vt:lpstr>
      <vt:lpstr>A prefix coding for A from  OPT(A^′ ) </vt:lpstr>
      <vt:lpstr>PowerPoint Presentation</vt:lpstr>
      <vt:lpstr>A prefix coding for A′ from  OPT(A) </vt:lpstr>
      <vt:lpstr>A prefix coding for A′ from  OPT(A) </vt:lpstr>
      <vt:lpstr>PowerPoint Presentation</vt:lpstr>
      <vt:lpstr>PowerPoint Presentation</vt:lpstr>
      <vt:lpstr>The algorithm based on  OPT_ABL (A)=OPT_ABL (A′) + f(a_1 )+f(a_2 )</vt:lpstr>
      <vt:lpstr>A generic way to design and analyse a greedy algorithm </vt:lpstr>
      <vt:lpstr>More Homework</vt:lpstr>
      <vt:lpstr>The 2 problems we discussed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1396</cp:revision>
  <dcterms:created xsi:type="dcterms:W3CDTF">2011-12-03T04:13:03Z</dcterms:created>
  <dcterms:modified xsi:type="dcterms:W3CDTF">2025-08-23T07:50:18Z</dcterms:modified>
</cp:coreProperties>
</file>